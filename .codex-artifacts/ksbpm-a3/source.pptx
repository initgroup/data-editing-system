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6638" r:id="rId4"/>
    <p:sldMasterId id="2147486633" r:id="rId5"/>
  </p:sldMasterIdLst>
  <p:notesMasterIdLst>
    <p:notesMasterId r:id="rId21"/>
  </p:notesMasterIdLst>
  <p:sldIdLst>
    <p:sldId id="447" r:id="rId6"/>
    <p:sldId id="1160" r:id="rId7"/>
    <p:sldId id="1161" r:id="rId8"/>
    <p:sldId id="1162" r:id="rId9"/>
    <p:sldId id="1163" r:id="rId10"/>
    <p:sldId id="1164" r:id="rId11"/>
    <p:sldId id="1165" r:id="rId12"/>
    <p:sldId id="1166" r:id="rId13"/>
    <p:sldId id="1167" r:id="rId14"/>
    <p:sldId id="1168" r:id="rId15"/>
    <p:sldId id="1169" r:id="rId16"/>
    <p:sldId id="1170" r:id="rId17"/>
    <p:sldId id="1171" r:id="rId18"/>
    <p:sldId id="1175" r:id="rId19"/>
    <p:sldId id="715" r:id="rId20"/>
  </p:sldIdLst>
  <p:sldSz cx="9906000" cy="6858000" type="A4"/>
  <p:notesSz cx="6889750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3">
          <p15:clr>
            <a:srgbClr val="A4A3A4"/>
          </p15:clr>
        </p15:guide>
        <p15:guide id="2" orient="horz" pos="3884" userDrawn="1">
          <p15:clr>
            <a:srgbClr val="A4A3A4"/>
          </p15:clr>
        </p15:guide>
        <p15:guide id="3" orient="horz" pos="2886">
          <p15:clr>
            <a:srgbClr val="A4A3A4"/>
          </p15:clr>
        </p15:guide>
        <p15:guide id="4" pos="398">
          <p15:clr>
            <a:srgbClr val="A4A3A4"/>
          </p15:clr>
        </p15:guide>
        <p15:guide id="5" pos="5932">
          <p15:clr>
            <a:srgbClr val="A4A3A4"/>
          </p15:clr>
        </p15:guide>
        <p15:guide id="6" pos="2621">
          <p15:clr>
            <a:srgbClr val="A4A3A4"/>
          </p15:clr>
        </p15:guide>
        <p15:guide id="7" pos="3982">
          <p15:clr>
            <a:srgbClr val="A4A3A4"/>
          </p15:clr>
        </p15:guide>
        <p15:guide id="8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EF4"/>
    <a:srgbClr val="1692D3"/>
    <a:srgbClr val="2E6CB8"/>
    <a:srgbClr val="2A63A8"/>
    <a:srgbClr val="0000FF"/>
    <a:srgbClr val="F1F7FF"/>
    <a:srgbClr val="FFFF00"/>
    <a:srgbClr val="EEF8FC"/>
    <a:srgbClr val="E6F4FA"/>
    <a:srgbClr val="DE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99" autoAdjust="0"/>
    <p:restoredTop sz="99566" autoAdjust="0"/>
  </p:normalViewPr>
  <p:slideViewPr>
    <p:cSldViewPr snapToObjects="1">
      <p:cViewPr>
        <p:scale>
          <a:sx n="100" d="100"/>
          <a:sy n="100" d="100"/>
        </p:scale>
        <p:origin x="4062" y="1446"/>
      </p:cViewPr>
      <p:guideLst>
        <p:guide orient="horz" pos="1253"/>
        <p:guide orient="horz" pos="3884"/>
        <p:guide orient="horz" pos="2886"/>
        <p:guide pos="398"/>
        <p:guide pos="5932"/>
        <p:guide pos="2621"/>
        <p:guide pos="3982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67" d="100"/>
          <a:sy n="67" d="100"/>
        </p:scale>
        <p:origin x="-3198" y="-11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84701" cy="499894"/>
          </a:xfrm>
          <a:prstGeom prst="rect">
            <a:avLst/>
          </a:prstGeom>
        </p:spPr>
        <p:txBody>
          <a:bodyPr vert="horz" lIns="91649" tIns="45825" rIns="91649" bIns="4582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3443" y="1"/>
            <a:ext cx="2984701" cy="499894"/>
          </a:xfrm>
          <a:prstGeom prst="rect">
            <a:avLst/>
          </a:prstGeom>
        </p:spPr>
        <p:txBody>
          <a:bodyPr vert="horz" lIns="91649" tIns="45825" rIns="91649" bIns="4582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BD03AF6-02CF-4C09-9A72-31552D66804E}" type="datetimeFigureOut">
              <a:rPr lang="ko-KR" altLang="en-US"/>
              <a:pPr>
                <a:defRPr/>
              </a:pPr>
              <a:t>2026-08-04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30250" y="750888"/>
            <a:ext cx="5429250" cy="3759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49" tIns="45825" rIns="91649" bIns="45825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90265" y="4758610"/>
            <a:ext cx="5510834" cy="4508661"/>
          </a:xfrm>
          <a:prstGeom prst="rect">
            <a:avLst/>
          </a:prstGeom>
        </p:spPr>
        <p:txBody>
          <a:bodyPr vert="horz" lIns="91649" tIns="45825" rIns="91649" bIns="45825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517217"/>
            <a:ext cx="2984701" cy="499894"/>
          </a:xfrm>
          <a:prstGeom prst="rect">
            <a:avLst/>
          </a:prstGeom>
        </p:spPr>
        <p:txBody>
          <a:bodyPr vert="horz" lIns="91649" tIns="45825" rIns="91649" bIns="4582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3443" y="9517217"/>
            <a:ext cx="2984701" cy="499894"/>
          </a:xfrm>
          <a:prstGeom prst="rect">
            <a:avLst/>
          </a:prstGeom>
        </p:spPr>
        <p:txBody>
          <a:bodyPr vert="horz" lIns="91649" tIns="45825" rIns="91649" bIns="4582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E03D67F-CC09-4E4C-9B0B-2278E3BB3A1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3352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 userDrawn="1"/>
        </p:nvSpPr>
        <p:spPr>
          <a:xfrm>
            <a:off x="272480" y="2335877"/>
            <a:ext cx="9334837" cy="1911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b="0" dirty="0">
              <a:solidFill>
                <a:srgbClr val="FFFFF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75B3D93-AAD6-DE67-A698-CAD2FD9B7C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853" y="392633"/>
            <a:ext cx="2053337" cy="50400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D1771239-4C41-E7E6-DDF2-A49A658E0F41}"/>
              </a:ext>
            </a:extLst>
          </p:cNvPr>
          <p:cNvGrpSpPr/>
          <p:nvPr userDrawn="1"/>
        </p:nvGrpSpPr>
        <p:grpSpPr>
          <a:xfrm>
            <a:off x="6681192" y="6237312"/>
            <a:ext cx="2909538" cy="228403"/>
            <a:chOff x="6681192" y="6069715"/>
            <a:chExt cx="2909538" cy="228403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E12E4CB8-87F8-C35A-BDC9-6BC6D73F6E2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/>
          </p:blipFill>
          <p:spPr bwMode="auto">
            <a:xfrm>
              <a:off x="7714390" y="6069715"/>
              <a:ext cx="1019188" cy="2160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그림 8" descr="init_s.png">
              <a:extLst>
                <a:ext uri="{FF2B5EF4-FFF2-40B4-BE49-F238E27FC236}">
                  <a16:creationId xmlns:a16="http://schemas.microsoft.com/office/drawing/2014/main" id="{8ACF73DD-1815-9BFB-7772-8DC662BA02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0772" y="6093312"/>
              <a:ext cx="639958" cy="18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2" descr="I:\2019년 나라통계시스템 위탁운영 사업\00. 내문서\1_image\ocean_logo_k.png">
              <a:extLst>
                <a:ext uri="{FF2B5EF4-FFF2-40B4-BE49-F238E27FC236}">
                  <a16:creationId xmlns:a16="http://schemas.microsoft.com/office/drawing/2014/main" id="{A3F0A7B6-C317-B800-2EDB-0AE8B6B2EF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681192" y="6082118"/>
              <a:ext cx="816004" cy="2160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4463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8" name="제목 개체 틀 1"/>
          <p:cNvSpPr>
            <a:spLocks noGrp="1"/>
          </p:cNvSpPr>
          <p:nvPr>
            <p:ph type="ctrTitle"/>
          </p:nvPr>
        </p:nvSpPr>
        <p:spPr>
          <a:xfrm>
            <a:off x="1141413" y="1814959"/>
            <a:ext cx="7411987" cy="1470025"/>
          </a:xfrm>
          <a:prstGeom prst="rect">
            <a:avLst/>
          </a:prstGeom>
          <a:ln algn="ctr"/>
        </p:spPr>
        <p:txBody>
          <a:bodyPr/>
          <a:lstStyle>
            <a:lvl1pPr algn="ctr"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59079" name="텍스트 개체 틀 2"/>
          <p:cNvSpPr>
            <a:spLocks noGrp="1"/>
          </p:cNvSpPr>
          <p:nvPr>
            <p:ph type="subTitle" idx="1"/>
          </p:nvPr>
        </p:nvSpPr>
        <p:spPr>
          <a:xfrm>
            <a:off x="2216696" y="3789363"/>
            <a:ext cx="5195490" cy="766762"/>
          </a:xfrm>
          <a:prstGeom prst="rect">
            <a:avLst/>
          </a:prstGeom>
          <a:ln algn="ctr"/>
        </p:spPr>
        <p:txBody>
          <a:bodyPr/>
          <a:lstStyle>
            <a:lvl1pPr marL="0" indent="0" algn="ctr">
              <a:buFont typeface="Wingdings" pitchFamily="2" charset="2"/>
              <a:buNone/>
              <a:tabLst>
                <a:tab pos="357188" algn="l"/>
              </a:tabLst>
              <a:defRPr/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23849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2587" y="540420"/>
            <a:ext cx="9142411" cy="3683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5138" y="1137138"/>
            <a:ext cx="9149862" cy="5171587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446753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개체 틀 1"/>
          <p:cNvSpPr>
            <a:spLocks noGrp="1"/>
          </p:cNvSpPr>
          <p:nvPr>
            <p:ph type="title"/>
          </p:nvPr>
        </p:nvSpPr>
        <p:spPr bwMode="auto">
          <a:xfrm>
            <a:off x="382587" y="540420"/>
            <a:ext cx="9142411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10682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624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e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0967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63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28"/>
          <p:cNvSpPr txBox="1">
            <a:spLocks noChangeArrowheads="1"/>
          </p:cNvSpPr>
          <p:nvPr userDrawn="1"/>
        </p:nvSpPr>
        <p:spPr bwMode="auto">
          <a:xfrm>
            <a:off x="4713229" y="6597352"/>
            <a:ext cx="49725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-</a:t>
            </a:r>
            <a:fld id="{E2D0E1CF-DD72-46D0-BDEA-0A9218CD3A64}" type="slidenum">
              <a:rPr lang="en-US" altLang="ko-KR" sz="1000" b="0" smtClean="0">
                <a:latin typeface="맑은 고딕" pitchFamily="50" charset="-127"/>
                <a:ea typeface="맑은 고딕" pitchFamily="50" charset="-127"/>
              </a:rPr>
              <a:pPr algn="ctr"/>
              <a:t>‹#›</a:t>
            </a:fld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- </a:t>
            </a:r>
          </a:p>
        </p:txBody>
      </p:sp>
      <p:sp>
        <p:nvSpPr>
          <p:cNvPr id="19" name="Text Box 2"/>
          <p:cNvSpPr txBox="1">
            <a:spLocks noChangeArrowheads="1"/>
          </p:cNvSpPr>
          <p:nvPr userDrawn="1"/>
        </p:nvSpPr>
        <p:spPr bwMode="auto">
          <a:xfrm>
            <a:off x="6496124" y="154732"/>
            <a:ext cx="3281412" cy="1614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36000" rIns="0" bIns="360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>
              <a:buClr>
                <a:srgbClr val="0066CC"/>
              </a:buClr>
              <a:defRPr/>
            </a:pPr>
            <a:r>
              <a:rPr lang="ko-KR" altLang="en-US" sz="1100" b="1" 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나라통계시스템 </a:t>
            </a:r>
            <a:r>
              <a:rPr lang="en-US" altLang="ko-KR" sz="1100" b="1" 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AI </a:t>
            </a:r>
            <a:r>
              <a:rPr lang="ko-KR" altLang="en-US" sz="1100" b="1" 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활용 서비스 발굴</a:t>
            </a:r>
            <a:endParaRPr lang="en-US" altLang="ko-KR" sz="1100" b="1" i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연결선 20"/>
          <p:cNvCxnSpPr/>
          <p:nvPr userDrawn="1"/>
        </p:nvCxnSpPr>
        <p:spPr bwMode="auto">
          <a:xfrm>
            <a:off x="0" y="428728"/>
            <a:ext cx="990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직선 연결선 21"/>
          <p:cNvCxnSpPr/>
          <p:nvPr userDrawn="1"/>
        </p:nvCxnSpPr>
        <p:spPr bwMode="auto">
          <a:xfrm>
            <a:off x="0" y="6580911"/>
            <a:ext cx="9906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76637750-A690-9E7F-A338-07A300C5734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2033" y="33988"/>
            <a:ext cx="1466669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413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634" r:id="rId1"/>
    <p:sldLayoutId id="2147486635" r:id="rId2"/>
    <p:sldLayoutId id="2147486636" r:id="rId3"/>
    <p:sldLayoutId id="2147486640" r:id="rId4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8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265113" indent="-265113" algn="l" rtl="0" eaLnBrk="0" fontAlgn="base" latinLnBrk="1" hangingPunct="0">
        <a:spcBef>
          <a:spcPct val="30000"/>
        </a:spcBef>
        <a:spcAft>
          <a:spcPct val="0"/>
        </a:spcAft>
        <a:buFont typeface="Wingdings" panose="05000000000000000000" pitchFamily="2" charset="2"/>
        <a:buChar char="q"/>
        <a:defRPr kumimoji="1" sz="1600" b="1">
          <a:solidFill>
            <a:schemeClr val="tx1"/>
          </a:solidFill>
          <a:latin typeface="+mn-lt"/>
          <a:ea typeface="+mn-ea"/>
          <a:cs typeface="+mn-cs"/>
        </a:defRPr>
      </a:lvl1pPr>
      <a:lvl2pPr marL="360363" indent="-174625" algn="l" rtl="0" eaLnBrk="0" fontAlgn="base" latinLnBrk="1" hangingPunct="0">
        <a:spcBef>
          <a:spcPct val="30000"/>
        </a:spcBef>
        <a:spcAft>
          <a:spcPct val="0"/>
        </a:spcAft>
        <a:buFont typeface="Wingdings" pitchFamily="2" charset="2"/>
        <a:buChar char="§"/>
        <a:defRPr kumimoji="1" sz="1600">
          <a:solidFill>
            <a:schemeClr val="tx1"/>
          </a:solidFill>
          <a:latin typeface="+mn-lt"/>
          <a:ea typeface="+mn-ea"/>
        </a:defRPr>
      </a:lvl2pPr>
      <a:lvl3pPr marL="539750" indent="-169863" algn="l" rtl="0" eaLnBrk="0" fontAlgn="base" latinLnBrk="1" hangingPunct="0">
        <a:spcBef>
          <a:spcPct val="30000"/>
        </a:spcBef>
        <a:spcAft>
          <a:spcPct val="0"/>
        </a:spcAft>
        <a:buFont typeface="Arial" charset="0"/>
        <a:buChar char="•"/>
        <a:defRPr kumimoji="1" sz="1400">
          <a:solidFill>
            <a:schemeClr val="tx1"/>
          </a:solidFill>
          <a:latin typeface="+mn-lt"/>
          <a:ea typeface="+mn-ea"/>
        </a:defRPr>
      </a:lvl3pPr>
      <a:lvl4pPr marL="809625" indent="-185738" algn="l" rtl="0" eaLnBrk="0" fontAlgn="base" latinLnBrk="1" hangingPunct="0">
        <a:spcBef>
          <a:spcPct val="30000"/>
        </a:spcBef>
        <a:spcAft>
          <a:spcPct val="0"/>
        </a:spcAft>
        <a:buFont typeface="Arial" charset="0"/>
        <a:buChar char="–"/>
        <a:defRPr kumimoji="1" sz="1200">
          <a:solidFill>
            <a:schemeClr val="tx1"/>
          </a:solidFill>
          <a:latin typeface="+mn-lt"/>
          <a:ea typeface="+mn-ea"/>
        </a:defRPr>
      </a:lvl4pPr>
      <a:lvl5pPr marL="984250" indent="-173038" algn="l" rtl="0" eaLnBrk="0" fontAlgn="base" latinLnBrk="1" hangingPunct="0">
        <a:spcBef>
          <a:spcPct val="30000"/>
        </a:spcBef>
        <a:spcAft>
          <a:spcPct val="0"/>
        </a:spcAft>
        <a:buFont typeface="Arial" charset="0"/>
        <a:buChar char="»"/>
        <a:defRPr kumimoji="1" sz="1200">
          <a:solidFill>
            <a:schemeClr val="tx1"/>
          </a:solidFill>
          <a:latin typeface="+mn-lt"/>
          <a:ea typeface="+mn-ea"/>
        </a:defRPr>
      </a:lvl5pPr>
      <a:lvl6pPr marL="1441450" indent="-173038" algn="l" rtl="0" fontAlgn="base" latinLnBrk="1">
        <a:spcBef>
          <a:spcPct val="30000"/>
        </a:spcBef>
        <a:spcAft>
          <a:spcPct val="0"/>
        </a:spcAft>
        <a:buFont typeface="Arial" pitchFamily="34" charset="0"/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1898650" indent="-173038" algn="l" rtl="0" fontAlgn="base" latinLnBrk="1">
        <a:spcBef>
          <a:spcPct val="30000"/>
        </a:spcBef>
        <a:spcAft>
          <a:spcPct val="0"/>
        </a:spcAft>
        <a:buFont typeface="Arial" pitchFamily="34" charset="0"/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2355850" indent="-173038" algn="l" rtl="0" fontAlgn="base" latinLnBrk="1">
        <a:spcBef>
          <a:spcPct val="30000"/>
        </a:spcBef>
        <a:spcAft>
          <a:spcPct val="0"/>
        </a:spcAft>
        <a:buFont typeface="Arial" pitchFamily="34" charset="0"/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2813050" indent="-173038" algn="l" rtl="0" fontAlgn="base" latinLnBrk="1">
        <a:spcBef>
          <a:spcPct val="30000"/>
        </a:spcBef>
        <a:spcAft>
          <a:spcPct val="0"/>
        </a:spcAft>
        <a:buFont typeface="Arial" pitchFamily="34" charset="0"/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07"/>
          <p:cNvSpPr>
            <a:spLocks noChangeArrowheads="1"/>
          </p:cNvSpPr>
          <p:nvPr/>
        </p:nvSpPr>
        <p:spPr bwMode="auto">
          <a:xfrm>
            <a:off x="2819400" y="2564904"/>
            <a:ext cx="6858000" cy="454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Version 0.5</a:t>
            </a:r>
            <a:endParaRPr lang="ko-KR" altLang="ko-KR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Rectangle 207">
            <a:extLst>
              <a:ext uri="{FF2B5EF4-FFF2-40B4-BE49-F238E27FC236}">
                <a16:creationId xmlns:a16="http://schemas.microsoft.com/office/drawing/2014/main" id="{9E26D858-72B8-E8E1-1D98-5974E0DE1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653136"/>
            <a:ext cx="6858000" cy="1112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김진열 상무</a:t>
            </a:r>
            <a:endParaRPr lang="en-US" altLang="ko-KR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1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lang="en-US" altLang="ko-KR" sz="1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인아이티</a:t>
            </a:r>
            <a:br>
              <a:rPr lang="en-US" altLang="ko-KR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2026.03.01</a:t>
            </a:r>
            <a:endParaRPr lang="ko-KR" altLang="ko-KR" sz="14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207">
            <a:extLst>
              <a:ext uri="{FF2B5EF4-FFF2-40B4-BE49-F238E27FC236}">
                <a16:creationId xmlns:a16="http://schemas.microsoft.com/office/drawing/2014/main" id="{AF964934-09FD-8826-AC31-5D7F3054D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268760"/>
            <a:ext cx="6858000" cy="956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20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나라통계시스템 </a:t>
            </a:r>
            <a:r>
              <a:rPr lang="en-US" altLang="ko-KR" sz="20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2.0</a:t>
            </a:r>
            <a:br>
              <a:rPr lang="en-US" altLang="ko-KR" sz="20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20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20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 서비스 발굴</a:t>
            </a:r>
            <a:r>
              <a:rPr lang="en-US" altLang="ko-KR" sz="20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초안</a:t>
            </a:r>
            <a:r>
              <a:rPr lang="en-US" altLang="ko-KR" sz="20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ko-KR" sz="20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9898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44489" y="620688"/>
            <a:ext cx="9199391" cy="3683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ts val="2000"/>
              </a:lnSpc>
            </a:pP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나라통계시스템 </a:t>
            </a:r>
            <a:r>
              <a:rPr lang="en-US" altLang="ko-KR" sz="2000">
                <a:solidFill>
                  <a:prstClr val="black"/>
                </a:solidFill>
                <a:latin typeface="+mn-ea"/>
                <a:ea typeface="+mn-ea"/>
              </a:rPr>
              <a:t>AI 10</a:t>
            </a: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대 과제</a:t>
            </a:r>
            <a:endParaRPr lang="ko-KR" altLang="en-US" sz="20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7FE19520-BCCC-C5BB-C8AF-0BBE1A9754D3}"/>
              </a:ext>
            </a:extLst>
          </p:cNvPr>
          <p:cNvGrpSpPr/>
          <p:nvPr/>
        </p:nvGrpSpPr>
        <p:grpSpPr>
          <a:xfrm>
            <a:off x="445071" y="1124744"/>
            <a:ext cx="9188449" cy="338554"/>
            <a:chOff x="445071" y="1124744"/>
            <a:chExt cx="9188449" cy="338554"/>
          </a:xfrm>
        </p:grpSpPr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119C4970-B753-3519-BE02-B254D5097F8E}"/>
                </a:ext>
              </a:extLst>
            </p:cNvPr>
            <p:cNvSpPr/>
            <p:nvPr/>
          </p:nvSpPr>
          <p:spPr>
            <a:xfrm>
              <a:off x="697071" y="1124744"/>
              <a:ext cx="89364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KSBPM 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기반 통계생산 전 과정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(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설계→수집→처리→공표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)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을 업무지원형 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AI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로 혁신하는 로드맵</a:t>
              </a:r>
              <a:endParaRPr lang="ko-KR" altLang="en-US" sz="2000" dirty="0">
                <a:solidFill>
                  <a:srgbClr val="1692D3"/>
                </a:solidFill>
                <a:latin typeface="+mn-ea"/>
                <a:ea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4F6FA582-6393-C7E6-79D9-89A65B0FFA0A}"/>
                </a:ext>
              </a:extLst>
            </p:cNvPr>
            <p:cNvSpPr/>
            <p:nvPr/>
          </p:nvSpPr>
          <p:spPr bwMode="auto">
            <a:xfrm>
              <a:off x="445071" y="1173892"/>
              <a:ext cx="252000" cy="248283"/>
            </a:xfrm>
            <a:prstGeom prst="roundRect">
              <a:avLst/>
            </a:prstGeom>
            <a:solidFill>
              <a:srgbClr val="2E6CB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79488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▶</a:t>
              </a:r>
              <a:endParaRPr kumimoji="1" lang="ko-KR" altLang="en-US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F0A858A-D198-E969-0E0A-7E0AD6A338D9}"/>
              </a:ext>
            </a:extLst>
          </p:cNvPr>
          <p:cNvGrpSpPr/>
          <p:nvPr/>
        </p:nvGrpSpPr>
        <p:grpSpPr>
          <a:xfrm>
            <a:off x="430785" y="1484784"/>
            <a:ext cx="5298300" cy="354255"/>
            <a:chOff x="430785" y="1653103"/>
            <a:chExt cx="5298300" cy="35425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8E7945A-B6A7-165E-5A74-D30CCCF4E184}"/>
                </a:ext>
              </a:extLst>
            </p:cNvPr>
            <p:cNvSpPr txBox="1"/>
            <p:nvPr/>
          </p:nvSpPr>
          <p:spPr>
            <a:xfrm>
              <a:off x="779232" y="1653103"/>
              <a:ext cx="4949853" cy="35425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altLang="ko-KR" sz="1400">
                  <a:latin typeface="+mn-ea"/>
                  <a:ea typeface="+mn-ea"/>
                </a:rPr>
                <a:t>10</a:t>
              </a:r>
              <a:r>
                <a:rPr lang="ko-KR" altLang="en-US" sz="1400">
                  <a:latin typeface="+mn-ea"/>
                  <a:ea typeface="+mn-ea"/>
                </a:rPr>
                <a:t>대 </a:t>
              </a:r>
              <a:r>
                <a:rPr lang="en-US" altLang="ko-KR" sz="1400">
                  <a:latin typeface="+mn-ea"/>
                  <a:ea typeface="+mn-ea"/>
                </a:rPr>
                <a:t>AI </a:t>
              </a:r>
              <a:r>
                <a:rPr lang="ko-KR" altLang="en-US" sz="1400">
                  <a:latin typeface="+mn-ea"/>
                  <a:ea typeface="+mn-ea"/>
                </a:rPr>
                <a:t>과제 한눈에 보기</a:t>
              </a:r>
              <a:endParaRPr lang="en-US" altLang="ko-KR" sz="1400" dirty="0">
                <a:latin typeface="+mn-ea"/>
                <a:ea typeface="+mn-ea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EB49463-A1AE-004E-6605-79CA218C6249}"/>
                </a:ext>
              </a:extLst>
            </p:cNvPr>
            <p:cNvGrpSpPr/>
            <p:nvPr/>
          </p:nvGrpSpPr>
          <p:grpSpPr>
            <a:xfrm>
              <a:off x="430785" y="1783971"/>
              <a:ext cx="288032" cy="161439"/>
              <a:chOff x="1424608" y="3267561"/>
              <a:chExt cx="288032" cy="161439"/>
            </a:xfrm>
            <a:solidFill>
              <a:srgbClr val="1692D3"/>
            </a:solidFill>
          </p:grpSpPr>
          <p:sp>
            <p:nvSpPr>
              <p:cNvPr id="14" name="순서도: 판단 13">
                <a:extLst>
                  <a:ext uri="{FF2B5EF4-FFF2-40B4-BE49-F238E27FC236}">
                    <a16:creationId xmlns:a16="http://schemas.microsoft.com/office/drawing/2014/main" id="{DB22FC92-010A-9778-B62B-8EB3AC444A3E}"/>
                  </a:ext>
                </a:extLst>
              </p:cNvPr>
              <p:cNvSpPr/>
              <p:nvPr/>
            </p:nvSpPr>
            <p:spPr bwMode="auto">
              <a:xfrm>
                <a:off x="1424608" y="3327277"/>
                <a:ext cx="288032" cy="101723"/>
              </a:xfrm>
              <a:prstGeom prst="flowChartDecision">
                <a:avLst/>
              </a:prstGeom>
              <a:grp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36000" rIns="7200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92075" marR="0" indent="-92075" algn="l" defTabSz="979488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</a:pPr>
                <a:endParaRPr kumimoji="1" lang="ko-KR" altLang="en-US" sz="1200" b="0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endParaRPr>
              </a:p>
            </p:txBody>
          </p:sp>
          <p:sp>
            <p:nvSpPr>
              <p:cNvPr id="15" name="순서도: 판단 14">
                <a:extLst>
                  <a:ext uri="{FF2B5EF4-FFF2-40B4-BE49-F238E27FC236}">
                    <a16:creationId xmlns:a16="http://schemas.microsoft.com/office/drawing/2014/main" id="{4AE596ED-71FC-E9A5-CC09-EE010D5BBADB}"/>
                  </a:ext>
                </a:extLst>
              </p:cNvPr>
              <p:cNvSpPr/>
              <p:nvPr/>
            </p:nvSpPr>
            <p:spPr bwMode="auto">
              <a:xfrm>
                <a:off x="1424608" y="3297419"/>
                <a:ext cx="288032" cy="101723"/>
              </a:xfrm>
              <a:prstGeom prst="flowChartDecision">
                <a:avLst/>
              </a:prstGeom>
              <a:grp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36000" rIns="7200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92075" indent="-92075" defTabSz="979488">
                  <a:spcBef>
                    <a:spcPct val="50000"/>
                  </a:spcBef>
                  <a:buFont typeface="Arial" pitchFamily="34" charset="0"/>
                  <a:buChar char="•"/>
                </a:pPr>
                <a:endParaRPr lang="ko-KR" altLang="en-US" sz="1200">
                  <a:latin typeface="+mn-ea"/>
                  <a:ea typeface="+mn-ea"/>
                </a:endParaRPr>
              </a:p>
            </p:txBody>
          </p:sp>
          <p:sp>
            <p:nvSpPr>
              <p:cNvPr id="16" name="순서도: 판단 15">
                <a:extLst>
                  <a:ext uri="{FF2B5EF4-FFF2-40B4-BE49-F238E27FC236}">
                    <a16:creationId xmlns:a16="http://schemas.microsoft.com/office/drawing/2014/main" id="{7A4C734D-8A1D-69B8-2F41-6BB08EFB0F7D}"/>
                  </a:ext>
                </a:extLst>
              </p:cNvPr>
              <p:cNvSpPr/>
              <p:nvPr/>
            </p:nvSpPr>
            <p:spPr bwMode="auto">
              <a:xfrm>
                <a:off x="1424608" y="3267561"/>
                <a:ext cx="288032" cy="101723"/>
              </a:xfrm>
              <a:prstGeom prst="flowChartDecision">
                <a:avLst/>
              </a:prstGeom>
              <a:grp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36000" rIns="7200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92075" indent="-92075" defTabSz="979488">
                  <a:spcBef>
                    <a:spcPct val="50000"/>
                  </a:spcBef>
                  <a:buFont typeface="Arial" pitchFamily="34" charset="0"/>
                  <a:buChar char="•"/>
                </a:pPr>
                <a:endParaRPr lang="ko-KR" altLang="en-US" sz="1200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AF863E1-6F80-6C73-D911-1CE152A61BFE}"/>
              </a:ext>
            </a:extLst>
          </p:cNvPr>
          <p:cNvGrpSpPr/>
          <p:nvPr/>
        </p:nvGrpSpPr>
        <p:grpSpPr>
          <a:xfrm>
            <a:off x="432274" y="1939096"/>
            <a:ext cx="1728191" cy="1170719"/>
            <a:chOff x="344489" y="2258281"/>
            <a:chExt cx="1728191" cy="117071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887F6383-3B90-5D8A-5E8A-72AAF3747502}"/>
                </a:ext>
              </a:extLst>
            </p:cNvPr>
            <p:cNvSpPr/>
            <p:nvPr/>
          </p:nvSpPr>
          <p:spPr bwMode="auto">
            <a:xfrm>
              <a:off x="344489" y="2258281"/>
              <a:ext cx="1728191" cy="1170719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9DEB8CD-A2DE-6B8D-F9EB-CF8DE4BF235B}"/>
                </a:ext>
              </a:extLst>
            </p:cNvPr>
            <p:cNvSpPr txBox="1"/>
            <p:nvPr/>
          </p:nvSpPr>
          <p:spPr>
            <a:xfrm>
              <a:off x="416499" y="2645424"/>
              <a:ext cx="1368149" cy="34970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900"/>
                <a:t>조사표∙항목</a:t>
              </a:r>
              <a:endParaRPr lang="en-US" altLang="ko-KR" sz="900"/>
            </a:p>
            <a:p>
              <a:pPr>
                <a:lnSpc>
                  <a:spcPct val="100000"/>
                </a:lnSpc>
              </a:pPr>
              <a:r>
                <a:rPr lang="ko-KR" altLang="en-US" sz="900"/>
                <a:t>자동 설계 보조</a:t>
              </a:r>
              <a:endParaRPr lang="en-US" altLang="ko-KR" sz="9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A112789-E577-A790-4C61-F05CD18ECFCD}"/>
                </a:ext>
              </a:extLst>
            </p:cNvPr>
            <p:cNvSpPr txBox="1"/>
            <p:nvPr/>
          </p:nvSpPr>
          <p:spPr>
            <a:xfrm>
              <a:off x="416499" y="2996952"/>
              <a:ext cx="163452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초안 생성</a:t>
              </a:r>
              <a:r>
                <a:rPr lang="en-US" altLang="ko-KR" sz="700" b="0"/>
                <a:t>+</a:t>
              </a:r>
              <a:r>
                <a:rPr lang="ko-KR" altLang="en-US" sz="700" b="0"/>
                <a:t>표준항목 추천</a:t>
              </a:r>
              <a:r>
                <a:rPr lang="en-US" altLang="ko-KR" sz="700" b="0"/>
                <a:t>+</a:t>
              </a:r>
              <a:r>
                <a:rPr lang="ko-KR" altLang="en-US" sz="700" b="0"/>
                <a:t>지표 매핑</a:t>
              </a:r>
              <a:endParaRPr lang="en-US" altLang="ko-KR" sz="700" b="0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60C8843-C7C5-0C75-64D5-5CBA701731AE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noFill/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01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0FD51871-74F0-B6B1-0FF7-13EECCE2BC24}"/>
              </a:ext>
            </a:extLst>
          </p:cNvPr>
          <p:cNvGrpSpPr/>
          <p:nvPr/>
        </p:nvGrpSpPr>
        <p:grpSpPr>
          <a:xfrm>
            <a:off x="2264534" y="1939096"/>
            <a:ext cx="1728191" cy="1170719"/>
            <a:chOff x="344489" y="2258281"/>
            <a:chExt cx="1728191" cy="1170719"/>
          </a:xfrm>
        </p:grpSpPr>
        <p:sp>
          <p:nvSpPr>
            <p:cNvPr id="169" name="사각형: 둥근 모서리 168">
              <a:extLst>
                <a:ext uri="{FF2B5EF4-FFF2-40B4-BE49-F238E27FC236}">
                  <a16:creationId xmlns:a16="http://schemas.microsoft.com/office/drawing/2014/main" id="{C806F8E2-8071-32E2-5991-2B4586F31C18}"/>
                </a:ext>
              </a:extLst>
            </p:cNvPr>
            <p:cNvSpPr/>
            <p:nvPr/>
          </p:nvSpPr>
          <p:spPr bwMode="auto">
            <a:xfrm>
              <a:off x="344489" y="2258281"/>
              <a:ext cx="1728191" cy="1170719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4FE4B7CF-B9CE-5DDA-8BD6-216C054AF4D5}"/>
                </a:ext>
              </a:extLst>
            </p:cNvPr>
            <p:cNvSpPr txBox="1"/>
            <p:nvPr/>
          </p:nvSpPr>
          <p:spPr>
            <a:xfrm>
              <a:off x="416499" y="2645424"/>
              <a:ext cx="1368149" cy="34970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900"/>
                <a:t>조사지침서와</a:t>
              </a:r>
              <a:endParaRPr lang="en-US" altLang="ko-KR" sz="900"/>
            </a:p>
            <a:p>
              <a:pPr>
                <a:lnSpc>
                  <a:spcPct val="100000"/>
                </a:lnSpc>
              </a:pPr>
              <a:r>
                <a:rPr lang="ko-KR" altLang="en-US" sz="900"/>
                <a:t>조사표 문서 검증</a:t>
              </a:r>
              <a:endParaRPr lang="en-US" altLang="ko-KR" sz="900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A2DC621C-8317-7548-E5F6-D534D8ECA4C5}"/>
                </a:ext>
              </a:extLst>
            </p:cNvPr>
            <p:cNvSpPr txBox="1"/>
            <p:nvPr/>
          </p:nvSpPr>
          <p:spPr>
            <a:xfrm>
              <a:off x="416499" y="2996952"/>
              <a:ext cx="163452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중의성∙중복∙정의 불일치 자동 경고</a:t>
              </a:r>
              <a:endParaRPr lang="en-US" altLang="ko-KR" sz="700" b="0"/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DC372504-EC85-A801-A23E-FB92A272B880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noFill/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02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35DDD2B0-E731-2BA0-A853-177C20C4ED4C}"/>
              </a:ext>
            </a:extLst>
          </p:cNvPr>
          <p:cNvGrpSpPr/>
          <p:nvPr/>
        </p:nvGrpSpPr>
        <p:grpSpPr>
          <a:xfrm>
            <a:off x="4096794" y="1939096"/>
            <a:ext cx="1728191" cy="1170719"/>
            <a:chOff x="344489" y="2258281"/>
            <a:chExt cx="1728191" cy="1170719"/>
          </a:xfrm>
        </p:grpSpPr>
        <p:sp>
          <p:nvSpPr>
            <p:cNvPr id="174" name="사각형: 둥근 모서리 173">
              <a:extLst>
                <a:ext uri="{FF2B5EF4-FFF2-40B4-BE49-F238E27FC236}">
                  <a16:creationId xmlns:a16="http://schemas.microsoft.com/office/drawing/2014/main" id="{754BF395-7486-A913-F051-40E5D626D8D0}"/>
                </a:ext>
              </a:extLst>
            </p:cNvPr>
            <p:cNvSpPr/>
            <p:nvPr/>
          </p:nvSpPr>
          <p:spPr bwMode="auto">
            <a:xfrm>
              <a:off x="344489" y="2258281"/>
              <a:ext cx="1728191" cy="1170719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43D72EFC-75FE-8BA7-636A-7E60FA8CBBE9}"/>
                </a:ext>
              </a:extLst>
            </p:cNvPr>
            <p:cNvSpPr txBox="1"/>
            <p:nvPr/>
          </p:nvSpPr>
          <p:spPr>
            <a:xfrm>
              <a:off x="416499" y="2645424"/>
              <a:ext cx="1368149" cy="34970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900"/>
                <a:t>모바일 전자조사표</a:t>
              </a:r>
              <a:endParaRPr lang="en-US" altLang="ko-KR" sz="900"/>
            </a:p>
            <a:p>
              <a:pPr>
                <a:lnSpc>
                  <a:spcPct val="100000"/>
                </a:lnSpc>
              </a:pPr>
              <a:r>
                <a:rPr lang="en-US" altLang="ko-KR" sz="900"/>
                <a:t>UX </a:t>
              </a:r>
              <a:r>
                <a:rPr lang="ko-KR" altLang="en-US" sz="900"/>
                <a:t>자동 변환</a:t>
              </a:r>
              <a:endParaRPr lang="en-US" altLang="ko-KR" sz="900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132D4D59-9E63-19AB-9436-A08E85B48AF8}"/>
                </a:ext>
              </a:extLst>
            </p:cNvPr>
            <p:cNvSpPr txBox="1"/>
            <p:nvPr/>
          </p:nvSpPr>
          <p:spPr>
            <a:xfrm>
              <a:off x="416499" y="2996952"/>
              <a:ext cx="163452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화면 분할∙입력</a:t>
              </a:r>
              <a:r>
                <a:rPr lang="en-US" altLang="ko-KR" sz="700" b="0"/>
                <a:t>UI∙</a:t>
              </a:r>
              <a:r>
                <a:rPr lang="ko-KR" altLang="en-US" sz="700" b="0"/>
                <a:t>접근성 자동 추천</a:t>
              </a:r>
              <a:endParaRPr lang="en-US" altLang="ko-KR" sz="700" b="0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760999A0-8CE7-BB0B-4D0A-1A7399E43B5B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noFill/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03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AC0A1796-9D1A-6B04-C5EF-4D6818AA3176}"/>
              </a:ext>
            </a:extLst>
          </p:cNvPr>
          <p:cNvGrpSpPr/>
          <p:nvPr/>
        </p:nvGrpSpPr>
        <p:grpSpPr>
          <a:xfrm>
            <a:off x="5929054" y="1939096"/>
            <a:ext cx="1728191" cy="1170719"/>
            <a:chOff x="344489" y="2258281"/>
            <a:chExt cx="1728191" cy="1170719"/>
          </a:xfrm>
        </p:grpSpPr>
        <p:sp>
          <p:nvSpPr>
            <p:cNvPr id="179" name="사각형: 둥근 모서리 178">
              <a:extLst>
                <a:ext uri="{FF2B5EF4-FFF2-40B4-BE49-F238E27FC236}">
                  <a16:creationId xmlns:a16="http://schemas.microsoft.com/office/drawing/2014/main" id="{81D345D7-64A6-577E-08C2-2C6274A72C4A}"/>
                </a:ext>
              </a:extLst>
            </p:cNvPr>
            <p:cNvSpPr/>
            <p:nvPr/>
          </p:nvSpPr>
          <p:spPr bwMode="auto">
            <a:xfrm>
              <a:off x="344489" y="2258281"/>
              <a:ext cx="1728191" cy="1170719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4621E104-9C07-1EC2-10F5-601BF3E52A85}"/>
                </a:ext>
              </a:extLst>
            </p:cNvPr>
            <p:cNvSpPr txBox="1"/>
            <p:nvPr/>
          </p:nvSpPr>
          <p:spPr>
            <a:xfrm>
              <a:off x="416499" y="2645424"/>
              <a:ext cx="1368149" cy="34970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900"/>
                <a:t>항목이동∙유효성</a:t>
              </a:r>
              <a:endParaRPr lang="en-US" altLang="ko-KR" sz="900"/>
            </a:p>
            <a:p>
              <a:pPr>
                <a:lnSpc>
                  <a:spcPct val="100000"/>
                </a:lnSpc>
              </a:pPr>
              <a:r>
                <a:rPr lang="ko-KR" altLang="en-US" sz="900"/>
                <a:t>검증 룰 자동 생성</a:t>
              </a:r>
              <a:endParaRPr lang="en-US" altLang="ko-KR" sz="900"/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65296A81-F107-E25E-210E-D5B110351E1B}"/>
                </a:ext>
              </a:extLst>
            </p:cNvPr>
            <p:cNvSpPr txBox="1"/>
            <p:nvPr/>
          </p:nvSpPr>
          <p:spPr>
            <a:xfrm>
              <a:off x="416499" y="2996952"/>
              <a:ext cx="163452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조사표 스크립트 코딩 자동 생성</a:t>
              </a:r>
              <a:endParaRPr lang="en-US" altLang="ko-KR" sz="700" b="0"/>
            </a:p>
          </p:txBody>
        </p:sp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C33115A4-C951-A468-E5C6-BB25E5F40D4B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noFill/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04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87CD0029-EFED-F8CB-C42C-811A09EA5EB0}"/>
              </a:ext>
            </a:extLst>
          </p:cNvPr>
          <p:cNvGrpSpPr/>
          <p:nvPr/>
        </p:nvGrpSpPr>
        <p:grpSpPr>
          <a:xfrm>
            <a:off x="7761313" y="1939096"/>
            <a:ext cx="1728191" cy="1170719"/>
            <a:chOff x="344489" y="2258281"/>
            <a:chExt cx="1728191" cy="1170719"/>
          </a:xfrm>
        </p:grpSpPr>
        <p:sp>
          <p:nvSpPr>
            <p:cNvPr id="200" name="사각형: 둥근 모서리 199">
              <a:extLst>
                <a:ext uri="{FF2B5EF4-FFF2-40B4-BE49-F238E27FC236}">
                  <a16:creationId xmlns:a16="http://schemas.microsoft.com/office/drawing/2014/main" id="{0656CA5A-A721-760C-815E-BB4ED3FCB1BC}"/>
                </a:ext>
              </a:extLst>
            </p:cNvPr>
            <p:cNvSpPr/>
            <p:nvPr/>
          </p:nvSpPr>
          <p:spPr bwMode="auto">
            <a:xfrm>
              <a:off x="344489" y="2258281"/>
              <a:ext cx="1728191" cy="1170719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12ADD43F-8E79-6152-F369-E97D4472A4C8}"/>
                </a:ext>
              </a:extLst>
            </p:cNvPr>
            <p:cNvSpPr txBox="1"/>
            <p:nvPr/>
          </p:nvSpPr>
          <p:spPr>
            <a:xfrm>
              <a:off x="416499" y="2645424"/>
              <a:ext cx="1368149" cy="34970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900"/>
                <a:t>에디팅</a:t>
              </a:r>
              <a:endParaRPr lang="en-US" altLang="ko-KR" sz="900"/>
            </a:p>
            <a:p>
              <a:pPr>
                <a:lnSpc>
                  <a:spcPct val="100000"/>
                </a:lnSpc>
              </a:pPr>
              <a:r>
                <a:rPr lang="ko-KR" altLang="en-US" sz="900"/>
                <a:t>우선순위 추천</a:t>
              </a:r>
              <a:endParaRPr lang="en-US" altLang="ko-KR" sz="900"/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0C7E5EEA-A8AE-C72C-A2FD-DAF0A434D9EF}"/>
                </a:ext>
              </a:extLst>
            </p:cNvPr>
            <p:cNvSpPr txBox="1"/>
            <p:nvPr/>
          </p:nvSpPr>
          <p:spPr>
            <a:xfrm>
              <a:off x="416499" y="2996952"/>
              <a:ext cx="163452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영향도 기반 오류 후보 선별</a:t>
              </a:r>
              <a:endParaRPr lang="en-US" altLang="ko-KR" sz="700" b="0"/>
            </a:p>
          </p:txBody>
        </p:sp>
        <p:sp>
          <p:nvSpPr>
            <p:cNvPr id="203" name="타원 202">
              <a:extLst>
                <a:ext uri="{FF2B5EF4-FFF2-40B4-BE49-F238E27FC236}">
                  <a16:creationId xmlns:a16="http://schemas.microsoft.com/office/drawing/2014/main" id="{530DE599-2799-C536-1086-62C96B984612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noFill/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05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9E410719-0C29-7118-BD4C-11FB0E46A7BE}"/>
              </a:ext>
            </a:extLst>
          </p:cNvPr>
          <p:cNvGrpSpPr/>
          <p:nvPr/>
        </p:nvGrpSpPr>
        <p:grpSpPr>
          <a:xfrm>
            <a:off x="432274" y="3253831"/>
            <a:ext cx="1728191" cy="1170719"/>
            <a:chOff x="344489" y="2258281"/>
            <a:chExt cx="1728191" cy="1170719"/>
          </a:xfrm>
        </p:grpSpPr>
        <p:sp>
          <p:nvSpPr>
            <p:cNvPr id="208" name="사각형: 둥근 모서리 207">
              <a:extLst>
                <a:ext uri="{FF2B5EF4-FFF2-40B4-BE49-F238E27FC236}">
                  <a16:creationId xmlns:a16="http://schemas.microsoft.com/office/drawing/2014/main" id="{8504D7D5-16E4-B2D3-A9BD-45FCD6516011}"/>
                </a:ext>
              </a:extLst>
            </p:cNvPr>
            <p:cNvSpPr/>
            <p:nvPr/>
          </p:nvSpPr>
          <p:spPr bwMode="auto">
            <a:xfrm>
              <a:off x="344489" y="2258281"/>
              <a:ext cx="1728191" cy="1170719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371056C7-6982-3A7C-65BC-F3E15A46B2B0}"/>
                </a:ext>
              </a:extLst>
            </p:cNvPr>
            <p:cNvSpPr txBox="1"/>
            <p:nvPr/>
          </p:nvSpPr>
          <p:spPr>
            <a:xfrm>
              <a:off x="416499" y="2645424"/>
              <a:ext cx="1368149" cy="34970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900"/>
                <a:t>자동 대체</a:t>
              </a:r>
              <a:br>
                <a:rPr lang="en-US" altLang="ko-KR" sz="900"/>
              </a:br>
              <a:r>
                <a:rPr lang="en-US" altLang="ko-KR" sz="900"/>
                <a:t>(Imputation) </a:t>
              </a:r>
              <a:r>
                <a:rPr lang="ko-KR" altLang="en-US" sz="900"/>
                <a:t>추천</a:t>
              </a:r>
              <a:endParaRPr lang="en-US" altLang="ko-KR" sz="900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21B8CA79-C894-D122-6F16-469CC819B525}"/>
                </a:ext>
              </a:extLst>
            </p:cNvPr>
            <p:cNvSpPr txBox="1"/>
            <p:nvPr/>
          </p:nvSpPr>
          <p:spPr>
            <a:xfrm>
              <a:off x="416499" y="2996952"/>
              <a:ext cx="163452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후보값 </a:t>
              </a:r>
              <a:r>
                <a:rPr lang="en-US" altLang="ko-KR" sz="700" b="0"/>
                <a:t>+ </a:t>
              </a:r>
              <a:r>
                <a:rPr lang="ko-KR" altLang="en-US" sz="700" b="0"/>
                <a:t>근거</a:t>
              </a:r>
              <a:r>
                <a:rPr lang="en-US" altLang="ko-KR" sz="700" b="0"/>
                <a:t>(</a:t>
              </a:r>
              <a:r>
                <a:rPr lang="ko-KR" altLang="en-US" sz="700" b="0"/>
                <a:t>유사군 ∙ 시계열</a:t>
              </a:r>
              <a:r>
                <a:rPr lang="en-US" altLang="ko-KR" sz="700" b="0"/>
                <a:t>)</a:t>
              </a:r>
            </a:p>
          </p:txBody>
        </p:sp>
        <p:sp>
          <p:nvSpPr>
            <p:cNvPr id="211" name="타원 210">
              <a:extLst>
                <a:ext uri="{FF2B5EF4-FFF2-40B4-BE49-F238E27FC236}">
                  <a16:creationId xmlns:a16="http://schemas.microsoft.com/office/drawing/2014/main" id="{D07D9FD2-86E1-63A2-2B99-2884CDB03928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noFill/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06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3450B8F2-563A-A86D-583E-645110CEB0BB}"/>
              </a:ext>
            </a:extLst>
          </p:cNvPr>
          <p:cNvGrpSpPr/>
          <p:nvPr/>
        </p:nvGrpSpPr>
        <p:grpSpPr>
          <a:xfrm>
            <a:off x="2264534" y="3253831"/>
            <a:ext cx="1728191" cy="1170719"/>
            <a:chOff x="344489" y="2258281"/>
            <a:chExt cx="1728191" cy="1170719"/>
          </a:xfrm>
        </p:grpSpPr>
        <p:sp>
          <p:nvSpPr>
            <p:cNvPr id="217" name="사각형: 둥근 모서리 216">
              <a:extLst>
                <a:ext uri="{FF2B5EF4-FFF2-40B4-BE49-F238E27FC236}">
                  <a16:creationId xmlns:a16="http://schemas.microsoft.com/office/drawing/2014/main" id="{493C7978-2BF4-865F-2218-A71C9AC4CBC2}"/>
                </a:ext>
              </a:extLst>
            </p:cNvPr>
            <p:cNvSpPr/>
            <p:nvPr/>
          </p:nvSpPr>
          <p:spPr bwMode="auto">
            <a:xfrm>
              <a:off x="344489" y="2258281"/>
              <a:ext cx="1728191" cy="1170719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85B30E27-219B-A745-8CF9-BDDE5FF1B00D}"/>
                </a:ext>
              </a:extLst>
            </p:cNvPr>
            <p:cNvSpPr txBox="1"/>
            <p:nvPr/>
          </p:nvSpPr>
          <p:spPr>
            <a:xfrm>
              <a:off x="416499" y="2645424"/>
              <a:ext cx="1368149" cy="34970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900"/>
                <a:t>분류코딩 자동화</a:t>
              </a:r>
              <a:endParaRPr lang="en-US" altLang="ko-KR" sz="900"/>
            </a:p>
            <a:p>
              <a:pPr>
                <a:lnSpc>
                  <a:spcPct val="100000"/>
                </a:lnSpc>
              </a:pPr>
              <a:r>
                <a:rPr lang="en-US" altLang="ko-KR" sz="900"/>
                <a:t>(</a:t>
              </a:r>
              <a:r>
                <a:rPr lang="ko-KR" altLang="en-US" sz="900"/>
                <a:t>텍스트 </a:t>
              </a:r>
              <a:r>
                <a:rPr lang="en-US" altLang="ko-KR" sz="900"/>
                <a:t>→ </a:t>
              </a:r>
              <a:r>
                <a:rPr lang="ko-KR" altLang="en-US" sz="900"/>
                <a:t>분류코드</a:t>
              </a:r>
              <a:r>
                <a:rPr lang="en-US" altLang="ko-KR" sz="900"/>
                <a:t>)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12137FAE-4D33-E5DD-0D7F-30888A14A713}"/>
                </a:ext>
              </a:extLst>
            </p:cNvPr>
            <p:cNvSpPr txBox="1"/>
            <p:nvPr/>
          </p:nvSpPr>
          <p:spPr>
            <a:xfrm>
              <a:off x="416499" y="2996952"/>
              <a:ext cx="163452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en-US" altLang="ko-KR" sz="700" b="0"/>
                <a:t>Top k + </a:t>
              </a:r>
              <a:r>
                <a:rPr lang="ko-KR" altLang="en-US" sz="700" b="0"/>
                <a:t>확신도 기반 검토 최소화</a:t>
              </a:r>
              <a:endParaRPr lang="en-US" altLang="ko-KR" sz="700" b="0"/>
            </a:p>
          </p:txBody>
        </p:sp>
        <p:sp>
          <p:nvSpPr>
            <p:cNvPr id="254" name="타원 253">
              <a:extLst>
                <a:ext uri="{FF2B5EF4-FFF2-40B4-BE49-F238E27FC236}">
                  <a16:creationId xmlns:a16="http://schemas.microsoft.com/office/drawing/2014/main" id="{3322DB26-06E9-C0BA-9EC0-60417E909908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noFill/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07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7A34A0DB-4ED8-CB2A-A7B7-9F00876E1554}"/>
              </a:ext>
            </a:extLst>
          </p:cNvPr>
          <p:cNvGrpSpPr/>
          <p:nvPr/>
        </p:nvGrpSpPr>
        <p:grpSpPr>
          <a:xfrm>
            <a:off x="4096794" y="3253831"/>
            <a:ext cx="1728191" cy="1170719"/>
            <a:chOff x="344489" y="2258281"/>
            <a:chExt cx="1728191" cy="1170719"/>
          </a:xfrm>
        </p:grpSpPr>
        <p:sp>
          <p:nvSpPr>
            <p:cNvPr id="256" name="사각형: 둥근 모서리 255">
              <a:extLst>
                <a:ext uri="{FF2B5EF4-FFF2-40B4-BE49-F238E27FC236}">
                  <a16:creationId xmlns:a16="http://schemas.microsoft.com/office/drawing/2014/main" id="{BD6BA214-A2EB-3D84-480E-B0D88B64911E}"/>
                </a:ext>
              </a:extLst>
            </p:cNvPr>
            <p:cNvSpPr/>
            <p:nvPr/>
          </p:nvSpPr>
          <p:spPr bwMode="auto">
            <a:xfrm>
              <a:off x="344489" y="2258281"/>
              <a:ext cx="1728191" cy="1170719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4BE8C8C7-CF1B-16D3-C8A1-FDA98B9532E3}"/>
                </a:ext>
              </a:extLst>
            </p:cNvPr>
            <p:cNvSpPr txBox="1"/>
            <p:nvPr/>
          </p:nvSpPr>
          <p:spPr>
            <a:xfrm>
              <a:off x="416499" y="2645424"/>
              <a:ext cx="1368149" cy="34970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900"/>
                <a:t>통계표</a:t>
              </a:r>
              <a:endParaRPr lang="en-US" altLang="ko-KR" sz="900"/>
            </a:p>
            <a:p>
              <a:pPr>
                <a:lnSpc>
                  <a:spcPct val="100000"/>
                </a:lnSpc>
              </a:pPr>
              <a:r>
                <a:rPr lang="ko-KR" altLang="en-US" sz="900"/>
                <a:t>자동 생성</a:t>
              </a:r>
              <a:endParaRPr lang="en-US" altLang="ko-KR" sz="900"/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AC1E6F8F-4BE5-E4CE-C49F-8B3923BB3E9F}"/>
                </a:ext>
              </a:extLst>
            </p:cNvPr>
            <p:cNvSpPr txBox="1"/>
            <p:nvPr/>
          </p:nvSpPr>
          <p:spPr>
            <a:xfrm>
              <a:off x="416499" y="2996952"/>
              <a:ext cx="163452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명세 → 집계 파이프라인 </a:t>
              </a:r>
              <a:r>
                <a:rPr lang="en-US" altLang="ko-KR" sz="700" b="0"/>
                <a:t>+ </a:t>
              </a:r>
              <a:r>
                <a:rPr lang="ko-KR" altLang="en-US" sz="700" b="0"/>
                <a:t>레이아웃</a:t>
              </a:r>
              <a:endParaRPr lang="en-US" altLang="ko-KR" sz="700" b="0"/>
            </a:p>
          </p:txBody>
        </p:sp>
        <p:sp>
          <p:nvSpPr>
            <p:cNvPr id="259" name="타원 258">
              <a:extLst>
                <a:ext uri="{FF2B5EF4-FFF2-40B4-BE49-F238E27FC236}">
                  <a16:creationId xmlns:a16="http://schemas.microsoft.com/office/drawing/2014/main" id="{28AB3D23-3FEA-8EB7-C06B-2FB135D26B57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noFill/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08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D9CFF983-72E2-E835-84B7-128AEE9E32AC}"/>
              </a:ext>
            </a:extLst>
          </p:cNvPr>
          <p:cNvGrpSpPr/>
          <p:nvPr/>
        </p:nvGrpSpPr>
        <p:grpSpPr>
          <a:xfrm>
            <a:off x="5929054" y="3253831"/>
            <a:ext cx="1728191" cy="1170719"/>
            <a:chOff x="344489" y="2258281"/>
            <a:chExt cx="1728191" cy="1170719"/>
          </a:xfrm>
        </p:grpSpPr>
        <p:sp>
          <p:nvSpPr>
            <p:cNvPr id="261" name="사각형: 둥근 모서리 260">
              <a:extLst>
                <a:ext uri="{FF2B5EF4-FFF2-40B4-BE49-F238E27FC236}">
                  <a16:creationId xmlns:a16="http://schemas.microsoft.com/office/drawing/2014/main" id="{D35587D3-4133-AD5E-3986-E8AC3AA803D7}"/>
                </a:ext>
              </a:extLst>
            </p:cNvPr>
            <p:cNvSpPr/>
            <p:nvPr/>
          </p:nvSpPr>
          <p:spPr bwMode="auto">
            <a:xfrm>
              <a:off x="344489" y="2258281"/>
              <a:ext cx="1728191" cy="1170719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7FAEB391-8861-EADA-0521-FE05260AEE08}"/>
                </a:ext>
              </a:extLst>
            </p:cNvPr>
            <p:cNvSpPr txBox="1"/>
            <p:nvPr/>
          </p:nvSpPr>
          <p:spPr>
            <a:xfrm>
              <a:off x="416499" y="2645424"/>
              <a:ext cx="1368149" cy="34970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900"/>
                <a:t>공표 전</a:t>
              </a:r>
              <a:endParaRPr lang="en-US" altLang="ko-KR" sz="900"/>
            </a:p>
            <a:p>
              <a:pPr>
                <a:lnSpc>
                  <a:spcPct val="100000"/>
                </a:lnSpc>
              </a:pPr>
              <a:r>
                <a:rPr lang="ko-KR" altLang="en-US" sz="900"/>
                <a:t>자동 검증</a:t>
              </a:r>
              <a:endParaRPr lang="en-US" altLang="ko-KR" sz="900"/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9FD13A38-6428-3A9A-8D77-268029CABAD4}"/>
                </a:ext>
              </a:extLst>
            </p:cNvPr>
            <p:cNvSpPr txBox="1"/>
            <p:nvPr/>
          </p:nvSpPr>
          <p:spPr>
            <a:xfrm>
              <a:off x="416499" y="2996952"/>
              <a:ext cx="163452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합계∙급변∙불가능값∙비밀보호</a:t>
              </a:r>
              <a:endParaRPr lang="en-US" altLang="ko-KR" sz="700" b="0"/>
            </a:p>
          </p:txBody>
        </p:sp>
        <p:sp>
          <p:nvSpPr>
            <p:cNvPr id="264" name="타원 263">
              <a:extLst>
                <a:ext uri="{FF2B5EF4-FFF2-40B4-BE49-F238E27FC236}">
                  <a16:creationId xmlns:a16="http://schemas.microsoft.com/office/drawing/2014/main" id="{0C9975FD-E666-696D-74EE-47C6F44F3BD6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noFill/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09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1DB42DB5-D702-AEA7-0623-7EEA384445AB}"/>
              </a:ext>
            </a:extLst>
          </p:cNvPr>
          <p:cNvGrpSpPr/>
          <p:nvPr/>
        </p:nvGrpSpPr>
        <p:grpSpPr>
          <a:xfrm>
            <a:off x="7761313" y="3253831"/>
            <a:ext cx="1728191" cy="1170719"/>
            <a:chOff x="344489" y="2258281"/>
            <a:chExt cx="1728191" cy="1170719"/>
          </a:xfrm>
        </p:grpSpPr>
        <p:sp>
          <p:nvSpPr>
            <p:cNvPr id="266" name="사각형: 둥근 모서리 265">
              <a:extLst>
                <a:ext uri="{FF2B5EF4-FFF2-40B4-BE49-F238E27FC236}">
                  <a16:creationId xmlns:a16="http://schemas.microsoft.com/office/drawing/2014/main" id="{710C1D16-1CDB-8733-CD27-CFD8A9017D05}"/>
                </a:ext>
              </a:extLst>
            </p:cNvPr>
            <p:cNvSpPr/>
            <p:nvPr/>
          </p:nvSpPr>
          <p:spPr bwMode="auto">
            <a:xfrm>
              <a:off x="344489" y="2258281"/>
              <a:ext cx="1728191" cy="1170719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AA3B2D38-D967-1800-7542-E6C5F0463929}"/>
                </a:ext>
              </a:extLst>
            </p:cNvPr>
            <p:cNvSpPr txBox="1"/>
            <p:nvPr/>
          </p:nvSpPr>
          <p:spPr>
            <a:xfrm>
              <a:off x="416499" y="2645424"/>
              <a:ext cx="1368149" cy="34970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900"/>
                <a:t>공표 설명자료</a:t>
              </a:r>
              <a:endParaRPr lang="en-US" altLang="ko-KR" sz="900"/>
            </a:p>
            <a:p>
              <a:pPr>
                <a:lnSpc>
                  <a:spcPct val="100000"/>
                </a:lnSpc>
              </a:pPr>
              <a:r>
                <a:rPr lang="ko-KR" altLang="en-US" sz="900"/>
                <a:t>초안</a:t>
              </a:r>
              <a:r>
                <a:rPr lang="en-US" altLang="ko-KR" sz="900"/>
                <a:t> </a:t>
              </a:r>
              <a:r>
                <a:rPr lang="ko-KR" altLang="en-US" sz="900"/>
                <a:t>생성</a:t>
              </a:r>
              <a:endParaRPr lang="en-US" altLang="ko-KR" sz="900"/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18D0F890-E893-FC8B-5981-ED32C2DDBB43}"/>
                </a:ext>
              </a:extLst>
            </p:cNvPr>
            <p:cNvSpPr txBox="1"/>
            <p:nvPr/>
          </p:nvSpPr>
          <p:spPr>
            <a:xfrm>
              <a:off x="416499" y="2996952"/>
              <a:ext cx="163452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근거 기반 해설∙주석∙</a:t>
              </a:r>
              <a:r>
                <a:rPr lang="en-US" altLang="ko-KR" sz="700" b="0"/>
                <a:t>FAQ </a:t>
              </a:r>
              <a:r>
                <a:rPr lang="ko-KR" altLang="en-US" sz="700" b="0"/>
                <a:t>초안화</a:t>
              </a:r>
              <a:endParaRPr lang="en-US" altLang="ko-KR" sz="700" b="0"/>
            </a:p>
          </p:txBody>
        </p:sp>
        <p:sp>
          <p:nvSpPr>
            <p:cNvPr id="269" name="타원 268">
              <a:extLst>
                <a:ext uri="{FF2B5EF4-FFF2-40B4-BE49-F238E27FC236}">
                  <a16:creationId xmlns:a16="http://schemas.microsoft.com/office/drawing/2014/main" id="{C85FB481-919F-BBEA-7FCF-152CEEA6808C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noFill/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10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305" name="그룹 304">
            <a:extLst>
              <a:ext uri="{FF2B5EF4-FFF2-40B4-BE49-F238E27FC236}">
                <a16:creationId xmlns:a16="http://schemas.microsoft.com/office/drawing/2014/main" id="{B4F01C48-5E9C-0CA8-127B-3BD7222B93B1}"/>
              </a:ext>
            </a:extLst>
          </p:cNvPr>
          <p:cNvGrpSpPr/>
          <p:nvPr/>
        </p:nvGrpSpPr>
        <p:grpSpPr>
          <a:xfrm>
            <a:off x="419053" y="4536414"/>
            <a:ext cx="9070451" cy="620778"/>
            <a:chOff x="419053" y="4561855"/>
            <a:chExt cx="9070451" cy="620778"/>
          </a:xfrm>
        </p:grpSpPr>
        <p:sp>
          <p:nvSpPr>
            <p:cNvPr id="278" name="사각형: 둥근 모서리 277">
              <a:extLst>
                <a:ext uri="{FF2B5EF4-FFF2-40B4-BE49-F238E27FC236}">
                  <a16:creationId xmlns:a16="http://schemas.microsoft.com/office/drawing/2014/main" id="{2AD9AD6D-A2E8-DF5F-60B1-2574633FD195}"/>
                </a:ext>
              </a:extLst>
            </p:cNvPr>
            <p:cNvSpPr/>
            <p:nvPr/>
          </p:nvSpPr>
          <p:spPr bwMode="auto">
            <a:xfrm>
              <a:off x="419053" y="4561855"/>
              <a:ext cx="9070451" cy="620778"/>
            </a:xfrm>
            <a:prstGeom prst="roundRect">
              <a:avLst>
                <a:gd name="adj" fmla="val 10117"/>
              </a:avLst>
            </a:prstGeom>
            <a:solidFill>
              <a:schemeClr val="tx2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9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FD559E8B-B039-DD50-5C5E-CD6C2B788A5E}"/>
                </a:ext>
              </a:extLst>
            </p:cNvPr>
            <p:cNvSpPr txBox="1"/>
            <p:nvPr/>
          </p:nvSpPr>
          <p:spPr>
            <a:xfrm>
              <a:off x="459171" y="4581128"/>
              <a:ext cx="821421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800" b="0">
                  <a:solidFill>
                    <a:schemeClr val="bg1"/>
                  </a:solidFill>
                  <a:latin typeface="+mn-ea"/>
                  <a:ea typeface="+mn-ea"/>
                </a:rPr>
                <a:t>실행 </a:t>
              </a:r>
              <a:r>
                <a:rPr lang="en-US" altLang="ko-KR" sz="800" b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r>
                <a:rPr lang="ko-KR" altLang="en-US" sz="800" b="0">
                  <a:solidFill>
                    <a:schemeClr val="bg1"/>
                  </a:solidFill>
                  <a:latin typeface="+mn-ea"/>
                  <a:ea typeface="+mn-ea"/>
                </a:rPr>
                <a:t>대 원칙</a:t>
              </a:r>
              <a:endParaRPr lang="en-US" altLang="ko-KR" sz="800" b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80" name="사각형: 둥근 모서리 279">
              <a:extLst>
                <a:ext uri="{FF2B5EF4-FFF2-40B4-BE49-F238E27FC236}">
                  <a16:creationId xmlns:a16="http://schemas.microsoft.com/office/drawing/2014/main" id="{0B60934F-9806-3A98-DD73-CE9C65027B03}"/>
                </a:ext>
              </a:extLst>
            </p:cNvPr>
            <p:cNvSpPr/>
            <p:nvPr/>
          </p:nvSpPr>
          <p:spPr bwMode="auto">
            <a:xfrm>
              <a:off x="493318" y="4824125"/>
              <a:ext cx="1075305" cy="197294"/>
            </a:xfrm>
            <a:prstGeom prst="roundRect">
              <a:avLst>
                <a:gd name="adj" fmla="val 5741"/>
              </a:avLst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R="0" defTabSz="979488" rtl="0" eaLnBrk="1" fontAlgn="base" latinLnBrk="1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ko-KR" altLang="en-US" sz="1100" b="1">
                  <a:solidFill>
                    <a:schemeClr val="bg1"/>
                  </a:solidFill>
                  <a:latin typeface="+mn-ea"/>
                  <a:ea typeface="+mn-ea"/>
                </a:rPr>
                <a:t>업무지원형 </a:t>
              </a:r>
              <a:r>
                <a:rPr lang="en-US" altLang="ko-KR" sz="1100" b="1">
                  <a:solidFill>
                    <a:schemeClr val="bg1"/>
                  </a:solidFill>
                  <a:latin typeface="+mn-ea"/>
                  <a:ea typeface="+mn-ea"/>
                </a:rPr>
                <a:t>AI</a:t>
              </a:r>
              <a:endParaRPr kumimoji="1" lang="ko-KR" altLang="en-US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endParaRPr>
            </a:p>
          </p:txBody>
        </p:sp>
        <p:grpSp>
          <p:nvGrpSpPr>
            <p:cNvPr id="292" name="그룹 291">
              <a:extLst>
                <a:ext uri="{FF2B5EF4-FFF2-40B4-BE49-F238E27FC236}">
                  <a16:creationId xmlns:a16="http://schemas.microsoft.com/office/drawing/2014/main" id="{A093F305-CBE9-53D0-D66A-8F32123EA45B}"/>
                </a:ext>
              </a:extLst>
            </p:cNvPr>
            <p:cNvGrpSpPr/>
            <p:nvPr/>
          </p:nvGrpSpPr>
          <p:grpSpPr>
            <a:xfrm>
              <a:off x="2000672" y="4670269"/>
              <a:ext cx="1728190" cy="408565"/>
              <a:chOff x="2264535" y="4581128"/>
              <a:chExt cx="1728190" cy="408565"/>
            </a:xfrm>
          </p:grpSpPr>
          <p:sp>
            <p:nvSpPr>
              <p:cNvPr id="281" name="사각형: 둥근 모서리 280">
                <a:extLst>
                  <a:ext uri="{FF2B5EF4-FFF2-40B4-BE49-F238E27FC236}">
                    <a16:creationId xmlns:a16="http://schemas.microsoft.com/office/drawing/2014/main" id="{2D6F17FA-58B9-8A54-F8F3-7AC86E6EFB24}"/>
                  </a:ext>
                </a:extLst>
              </p:cNvPr>
              <p:cNvSpPr/>
              <p:nvPr/>
            </p:nvSpPr>
            <p:spPr bwMode="auto">
              <a:xfrm>
                <a:off x="2264535" y="4600653"/>
                <a:ext cx="1728190" cy="389040"/>
              </a:xfrm>
              <a:prstGeom prst="roundRect">
                <a:avLst>
                  <a:gd name="adj" fmla="val 10117"/>
                </a:avLst>
              </a:prstGeom>
              <a:solidFill>
                <a:srgbClr val="2A63A8"/>
              </a:solidFill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9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AC42575F-7D1C-B493-383B-01C7BE811CBA}"/>
                  </a:ext>
                </a:extLst>
              </p:cNvPr>
              <p:cNvSpPr txBox="1"/>
              <p:nvPr/>
            </p:nvSpPr>
            <p:spPr>
              <a:xfrm>
                <a:off x="2288704" y="4581128"/>
                <a:ext cx="369145" cy="2134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Wingdings" panose="05000000000000000000" pitchFamily="2" charset="2"/>
                  <a:buChar char="§"/>
                  <a:defRPr sz="1100" b="1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700" b="0">
                    <a:solidFill>
                      <a:schemeClr val="bg1"/>
                    </a:solidFill>
                    <a:latin typeface="+mn-ea"/>
                    <a:ea typeface="+mn-ea"/>
                  </a:rPr>
                  <a:t>안전</a:t>
                </a:r>
                <a:endParaRPr lang="en-US" altLang="ko-KR" sz="700" b="0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91" name="사각형: 둥근 모서리 290">
                <a:extLst>
                  <a:ext uri="{FF2B5EF4-FFF2-40B4-BE49-F238E27FC236}">
                    <a16:creationId xmlns:a16="http://schemas.microsoft.com/office/drawing/2014/main" id="{F56081A8-B3EF-4BFA-04C0-680B33CA2AB4}"/>
                  </a:ext>
                </a:extLst>
              </p:cNvPr>
              <p:cNvSpPr/>
              <p:nvPr/>
            </p:nvSpPr>
            <p:spPr bwMode="auto">
              <a:xfrm>
                <a:off x="2306220" y="4744194"/>
                <a:ext cx="1107886" cy="197294"/>
              </a:xfrm>
              <a:prstGeom prst="roundRect">
                <a:avLst>
                  <a:gd name="adj" fmla="val 5741"/>
                </a:avLst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defTabSz="979488" rtl="0" eaLnBrk="1" fontAlgn="base" latinLnBrk="1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ko-KR" altLang="en-US" sz="900" b="1">
                    <a:solidFill>
                      <a:schemeClr val="bg1"/>
                    </a:solidFill>
                    <a:latin typeface="+mn-ea"/>
                    <a:ea typeface="+mn-ea"/>
                  </a:rPr>
                  <a:t>보안∙개인정보 우선</a:t>
                </a:r>
                <a:endParaRPr kumimoji="1" lang="ko-KR" altLang="en-US" sz="9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endParaRPr>
              </a:p>
            </p:txBody>
          </p:sp>
        </p:grpSp>
        <p:grpSp>
          <p:nvGrpSpPr>
            <p:cNvPr id="293" name="그룹 292">
              <a:extLst>
                <a:ext uri="{FF2B5EF4-FFF2-40B4-BE49-F238E27FC236}">
                  <a16:creationId xmlns:a16="http://schemas.microsoft.com/office/drawing/2014/main" id="{A9325395-52D4-91DE-9E93-459C23797597}"/>
                </a:ext>
              </a:extLst>
            </p:cNvPr>
            <p:cNvGrpSpPr/>
            <p:nvPr/>
          </p:nvGrpSpPr>
          <p:grpSpPr>
            <a:xfrm>
              <a:off x="3856099" y="4670269"/>
              <a:ext cx="1728190" cy="408565"/>
              <a:chOff x="2264535" y="4581128"/>
              <a:chExt cx="1728190" cy="408565"/>
            </a:xfrm>
          </p:grpSpPr>
          <p:sp>
            <p:nvSpPr>
              <p:cNvPr id="294" name="사각형: 둥근 모서리 293">
                <a:extLst>
                  <a:ext uri="{FF2B5EF4-FFF2-40B4-BE49-F238E27FC236}">
                    <a16:creationId xmlns:a16="http://schemas.microsoft.com/office/drawing/2014/main" id="{430689A8-BF08-BF46-E5B7-6ED49ABF5E8C}"/>
                  </a:ext>
                </a:extLst>
              </p:cNvPr>
              <p:cNvSpPr/>
              <p:nvPr/>
            </p:nvSpPr>
            <p:spPr bwMode="auto">
              <a:xfrm>
                <a:off x="2264535" y="4600653"/>
                <a:ext cx="1728190" cy="389040"/>
              </a:xfrm>
              <a:prstGeom prst="roundRect">
                <a:avLst>
                  <a:gd name="adj" fmla="val 10117"/>
                </a:avLst>
              </a:prstGeom>
              <a:solidFill>
                <a:srgbClr val="2A63A8"/>
              </a:solidFill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9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A82C96F1-9C98-FD13-DD80-7C8FE8D23C4E}"/>
                  </a:ext>
                </a:extLst>
              </p:cNvPr>
              <p:cNvSpPr txBox="1"/>
              <p:nvPr/>
            </p:nvSpPr>
            <p:spPr>
              <a:xfrm>
                <a:off x="2288704" y="4581128"/>
                <a:ext cx="369145" cy="2134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Wingdings" panose="05000000000000000000" pitchFamily="2" charset="2"/>
                  <a:buChar char="§"/>
                  <a:defRPr sz="1100" b="1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700" b="0">
                    <a:solidFill>
                      <a:schemeClr val="bg1"/>
                    </a:solidFill>
                    <a:latin typeface="+mn-ea"/>
                    <a:ea typeface="+mn-ea"/>
                  </a:rPr>
                  <a:t>투명</a:t>
                </a:r>
                <a:endParaRPr lang="en-US" altLang="ko-KR" sz="700" b="0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96" name="사각형: 둥근 모서리 295">
                <a:extLst>
                  <a:ext uri="{FF2B5EF4-FFF2-40B4-BE49-F238E27FC236}">
                    <a16:creationId xmlns:a16="http://schemas.microsoft.com/office/drawing/2014/main" id="{98BAA8DA-6096-BAFA-12A4-742516D8D8C7}"/>
                  </a:ext>
                </a:extLst>
              </p:cNvPr>
              <p:cNvSpPr/>
              <p:nvPr/>
            </p:nvSpPr>
            <p:spPr bwMode="auto">
              <a:xfrm>
                <a:off x="2306220" y="4744194"/>
                <a:ext cx="1107886" cy="197294"/>
              </a:xfrm>
              <a:prstGeom prst="roundRect">
                <a:avLst>
                  <a:gd name="adj" fmla="val 5741"/>
                </a:avLst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defTabSz="979488" rtl="0" eaLnBrk="1" fontAlgn="base" latinLnBrk="1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ko-KR" altLang="en-US" sz="900" b="1">
                    <a:solidFill>
                      <a:schemeClr val="bg1"/>
                    </a:solidFill>
                    <a:latin typeface="+mn-ea"/>
                    <a:ea typeface="+mn-ea"/>
                  </a:rPr>
                  <a:t>근거∙로그</a:t>
                </a:r>
                <a:r>
                  <a:rPr lang="en-US" altLang="ko-KR" sz="900" b="1">
                    <a:solidFill>
                      <a:schemeClr val="bg1"/>
                    </a:solidFill>
                    <a:latin typeface="+mn-ea"/>
                    <a:ea typeface="+mn-ea"/>
                  </a:rPr>
                  <a:t>(RAG)</a:t>
                </a:r>
                <a:endParaRPr kumimoji="1" lang="ko-KR" altLang="en-US" sz="9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endParaRPr>
              </a:p>
            </p:txBody>
          </p:sp>
        </p:grpSp>
        <p:grpSp>
          <p:nvGrpSpPr>
            <p:cNvPr id="297" name="그룹 296">
              <a:extLst>
                <a:ext uri="{FF2B5EF4-FFF2-40B4-BE49-F238E27FC236}">
                  <a16:creationId xmlns:a16="http://schemas.microsoft.com/office/drawing/2014/main" id="{8743D0A7-7055-212D-0759-54D30AE26A43}"/>
                </a:ext>
              </a:extLst>
            </p:cNvPr>
            <p:cNvGrpSpPr/>
            <p:nvPr/>
          </p:nvGrpSpPr>
          <p:grpSpPr>
            <a:xfrm>
              <a:off x="5711526" y="4670269"/>
              <a:ext cx="1728190" cy="408565"/>
              <a:chOff x="2264535" y="4581128"/>
              <a:chExt cx="1728190" cy="408565"/>
            </a:xfrm>
          </p:grpSpPr>
          <p:sp>
            <p:nvSpPr>
              <p:cNvPr id="298" name="사각형: 둥근 모서리 297">
                <a:extLst>
                  <a:ext uri="{FF2B5EF4-FFF2-40B4-BE49-F238E27FC236}">
                    <a16:creationId xmlns:a16="http://schemas.microsoft.com/office/drawing/2014/main" id="{83CA9E6C-C17B-C42A-9A15-584866BF8D19}"/>
                  </a:ext>
                </a:extLst>
              </p:cNvPr>
              <p:cNvSpPr/>
              <p:nvPr/>
            </p:nvSpPr>
            <p:spPr bwMode="auto">
              <a:xfrm>
                <a:off x="2264535" y="4600653"/>
                <a:ext cx="1728190" cy="389040"/>
              </a:xfrm>
              <a:prstGeom prst="roundRect">
                <a:avLst>
                  <a:gd name="adj" fmla="val 10117"/>
                </a:avLst>
              </a:prstGeom>
              <a:solidFill>
                <a:srgbClr val="2A63A8"/>
              </a:solidFill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9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B683A59-FD6F-0A61-086F-F80472FE0514}"/>
                  </a:ext>
                </a:extLst>
              </p:cNvPr>
              <p:cNvSpPr txBox="1"/>
              <p:nvPr/>
            </p:nvSpPr>
            <p:spPr>
              <a:xfrm>
                <a:off x="2288704" y="4581128"/>
                <a:ext cx="369145" cy="2134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Wingdings" panose="05000000000000000000" pitchFamily="2" charset="2"/>
                  <a:buChar char="§"/>
                  <a:defRPr sz="1100" b="1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700" b="0">
                    <a:solidFill>
                      <a:schemeClr val="bg1"/>
                    </a:solidFill>
                    <a:latin typeface="+mn-ea"/>
                    <a:ea typeface="+mn-ea"/>
                  </a:rPr>
                  <a:t>검증</a:t>
                </a:r>
                <a:endParaRPr lang="en-US" altLang="ko-KR" sz="700" b="0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00" name="사각형: 둥근 모서리 299">
                <a:extLst>
                  <a:ext uri="{FF2B5EF4-FFF2-40B4-BE49-F238E27FC236}">
                    <a16:creationId xmlns:a16="http://schemas.microsoft.com/office/drawing/2014/main" id="{A71415CE-1790-7FAE-ED77-5F8A4924A1D0}"/>
                  </a:ext>
                </a:extLst>
              </p:cNvPr>
              <p:cNvSpPr/>
              <p:nvPr/>
            </p:nvSpPr>
            <p:spPr bwMode="auto">
              <a:xfrm>
                <a:off x="2306220" y="4744194"/>
                <a:ext cx="1616002" cy="197294"/>
              </a:xfrm>
              <a:prstGeom prst="roundRect">
                <a:avLst>
                  <a:gd name="adj" fmla="val 5741"/>
                </a:avLst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defTabSz="979488" rtl="0" eaLnBrk="1" fontAlgn="base" latinLnBrk="1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ko-KR" altLang="en-US" sz="900" b="1">
                    <a:solidFill>
                      <a:schemeClr val="bg1"/>
                    </a:solidFill>
                    <a:latin typeface="+mn-ea"/>
                    <a:ea typeface="+mn-ea"/>
                  </a:rPr>
                  <a:t>룰 </a:t>
                </a:r>
                <a:r>
                  <a:rPr lang="en-US" altLang="ko-KR" sz="900" b="1">
                    <a:solidFill>
                      <a:schemeClr val="bg1"/>
                    </a:solidFill>
                    <a:latin typeface="+mn-ea"/>
                    <a:ea typeface="+mn-ea"/>
                  </a:rPr>
                  <a:t>+ Human-in-the-loop</a:t>
                </a:r>
                <a:endParaRPr kumimoji="1" lang="ko-KR" altLang="en-US" sz="9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endParaRPr>
              </a:p>
            </p:txBody>
          </p:sp>
        </p:grpSp>
        <p:grpSp>
          <p:nvGrpSpPr>
            <p:cNvPr id="301" name="그룹 300">
              <a:extLst>
                <a:ext uri="{FF2B5EF4-FFF2-40B4-BE49-F238E27FC236}">
                  <a16:creationId xmlns:a16="http://schemas.microsoft.com/office/drawing/2014/main" id="{DFEE899C-049B-07B0-79D5-ECDE59225394}"/>
                </a:ext>
              </a:extLst>
            </p:cNvPr>
            <p:cNvGrpSpPr/>
            <p:nvPr/>
          </p:nvGrpSpPr>
          <p:grpSpPr>
            <a:xfrm>
              <a:off x="7566952" y="4670269"/>
              <a:ext cx="1728190" cy="408565"/>
              <a:chOff x="2264535" y="4581128"/>
              <a:chExt cx="1728190" cy="408565"/>
            </a:xfrm>
          </p:grpSpPr>
          <p:sp>
            <p:nvSpPr>
              <p:cNvPr id="302" name="사각형: 둥근 모서리 301">
                <a:extLst>
                  <a:ext uri="{FF2B5EF4-FFF2-40B4-BE49-F238E27FC236}">
                    <a16:creationId xmlns:a16="http://schemas.microsoft.com/office/drawing/2014/main" id="{6FCDD92E-53DF-ACF0-D029-57A6FD7F2319}"/>
                  </a:ext>
                </a:extLst>
              </p:cNvPr>
              <p:cNvSpPr/>
              <p:nvPr/>
            </p:nvSpPr>
            <p:spPr bwMode="auto">
              <a:xfrm>
                <a:off x="2264535" y="4600653"/>
                <a:ext cx="1728190" cy="389040"/>
              </a:xfrm>
              <a:prstGeom prst="roundRect">
                <a:avLst>
                  <a:gd name="adj" fmla="val 10117"/>
                </a:avLst>
              </a:prstGeom>
              <a:solidFill>
                <a:srgbClr val="2A63A8"/>
              </a:solidFill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9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59CC851D-21D3-3D1B-52F8-831D9B904CEB}"/>
                  </a:ext>
                </a:extLst>
              </p:cNvPr>
              <p:cNvSpPr txBox="1"/>
              <p:nvPr/>
            </p:nvSpPr>
            <p:spPr>
              <a:xfrm>
                <a:off x="2288704" y="4581128"/>
                <a:ext cx="369145" cy="2134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Wingdings" panose="05000000000000000000" pitchFamily="2" charset="2"/>
                  <a:buChar char="§"/>
                  <a:defRPr sz="1100" b="1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700" b="0">
                    <a:solidFill>
                      <a:schemeClr val="bg1"/>
                    </a:solidFill>
                    <a:latin typeface="+mn-ea"/>
                    <a:ea typeface="+mn-ea"/>
                  </a:rPr>
                  <a:t>표준</a:t>
                </a:r>
                <a:endParaRPr lang="en-US" altLang="ko-KR" sz="700" b="0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04" name="사각형: 둥근 모서리 303">
                <a:extLst>
                  <a:ext uri="{FF2B5EF4-FFF2-40B4-BE49-F238E27FC236}">
                    <a16:creationId xmlns:a16="http://schemas.microsoft.com/office/drawing/2014/main" id="{772A1C6F-F26A-C784-2EB3-32C3CD86C49E}"/>
                  </a:ext>
                </a:extLst>
              </p:cNvPr>
              <p:cNvSpPr/>
              <p:nvPr/>
            </p:nvSpPr>
            <p:spPr bwMode="auto">
              <a:xfrm>
                <a:off x="2306220" y="4744194"/>
                <a:ext cx="1107886" cy="197294"/>
              </a:xfrm>
              <a:prstGeom prst="roundRect">
                <a:avLst>
                  <a:gd name="adj" fmla="val 5741"/>
                </a:avLst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defTabSz="979488" rtl="0" eaLnBrk="1" fontAlgn="base" latinLnBrk="1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ko-KR" altLang="en-US" sz="900" b="1">
                    <a:solidFill>
                      <a:schemeClr val="bg1"/>
                    </a:solidFill>
                    <a:latin typeface="+mn-ea"/>
                    <a:ea typeface="+mn-ea"/>
                  </a:rPr>
                  <a:t>메타 연결성</a:t>
                </a:r>
                <a:endParaRPr kumimoji="1" lang="ko-KR" altLang="en-US" sz="9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endParaRPr>
              </a:p>
            </p:txBody>
          </p:sp>
        </p:grpSp>
      </p:grpSp>
      <p:sp>
        <p:nvSpPr>
          <p:cNvPr id="306" name="사각형: 둥근 모서리 305">
            <a:extLst>
              <a:ext uri="{FF2B5EF4-FFF2-40B4-BE49-F238E27FC236}">
                <a16:creationId xmlns:a16="http://schemas.microsoft.com/office/drawing/2014/main" id="{9F7ED5B0-7DF2-2B80-D31A-F5A3E058B235}"/>
              </a:ext>
            </a:extLst>
          </p:cNvPr>
          <p:cNvSpPr/>
          <p:nvPr/>
        </p:nvSpPr>
        <p:spPr bwMode="auto">
          <a:xfrm>
            <a:off x="432273" y="5288369"/>
            <a:ext cx="8980597" cy="1178083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16252C-FAD3-049A-8A6B-73AB0C14A0CD}"/>
              </a:ext>
            </a:extLst>
          </p:cNvPr>
          <p:cNvSpPr txBox="1"/>
          <p:nvPr/>
        </p:nvSpPr>
        <p:spPr>
          <a:xfrm>
            <a:off x="493129" y="5329783"/>
            <a:ext cx="3523767" cy="35425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40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r>
              <a:rPr lang="ko-KR" altLang="en-US"/>
              <a:t>품질 ∙ 정시성 ∙ 생산성 동시 제고</a:t>
            </a:r>
            <a:endParaRPr lang="en-US" altLang="ko-KR"/>
          </a:p>
        </p:txBody>
      </p:sp>
      <p:grpSp>
        <p:nvGrpSpPr>
          <p:cNvPr id="309" name="그룹 308">
            <a:extLst>
              <a:ext uri="{FF2B5EF4-FFF2-40B4-BE49-F238E27FC236}">
                <a16:creationId xmlns:a16="http://schemas.microsoft.com/office/drawing/2014/main" id="{B32036D6-DEE5-7FB5-51B3-8F1B27334DA2}"/>
              </a:ext>
            </a:extLst>
          </p:cNvPr>
          <p:cNvGrpSpPr/>
          <p:nvPr/>
        </p:nvGrpSpPr>
        <p:grpSpPr>
          <a:xfrm>
            <a:off x="560512" y="5733256"/>
            <a:ext cx="1395806" cy="577423"/>
            <a:chOff x="2792760" y="6821387"/>
            <a:chExt cx="1150745" cy="577423"/>
          </a:xfrm>
        </p:grpSpPr>
        <p:sp>
          <p:nvSpPr>
            <p:cNvPr id="310" name="사각형: 둥근 모서리 309">
              <a:extLst>
                <a:ext uri="{FF2B5EF4-FFF2-40B4-BE49-F238E27FC236}">
                  <a16:creationId xmlns:a16="http://schemas.microsoft.com/office/drawing/2014/main" id="{DB85886B-95FE-F91E-DA62-D9F19A4AD4E4}"/>
                </a:ext>
              </a:extLst>
            </p:cNvPr>
            <p:cNvSpPr/>
            <p:nvPr/>
          </p:nvSpPr>
          <p:spPr bwMode="auto">
            <a:xfrm>
              <a:off x="2792760" y="6821387"/>
              <a:ext cx="1150745" cy="577423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1B69856F-B881-FACF-592F-8595905C759B}"/>
                </a:ext>
              </a:extLst>
            </p:cNvPr>
            <p:cNvSpPr txBox="1"/>
            <p:nvPr/>
          </p:nvSpPr>
          <p:spPr>
            <a:xfrm>
              <a:off x="2842692" y="7021708"/>
              <a:ext cx="928455" cy="28385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50"/>
                <a:t>과제 </a:t>
              </a:r>
              <a:r>
                <a:rPr lang="en-US" altLang="ko-KR" sz="1050"/>
                <a:t>1 ~ 4</a:t>
              </a: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EABE6911-C2D3-374C-D9F5-C53D6DC203DC}"/>
                </a:ext>
              </a:extLst>
            </p:cNvPr>
            <p:cNvSpPr txBox="1"/>
            <p:nvPr/>
          </p:nvSpPr>
          <p:spPr>
            <a:xfrm>
              <a:off x="2842692" y="6849197"/>
              <a:ext cx="1073338" cy="25365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900" spc="-100"/>
                <a:t>자료수집</a:t>
              </a:r>
              <a:r>
                <a:rPr lang="en-US" altLang="ko-KR" sz="900" spc="-100"/>
                <a:t>(</a:t>
              </a:r>
              <a:r>
                <a:rPr lang="ko-KR" altLang="en-US" sz="900" spc="-100"/>
                <a:t>조사표</a:t>
              </a:r>
              <a:r>
                <a:rPr lang="en-US" altLang="ko-KR" sz="900" spc="-100"/>
                <a:t>/</a:t>
              </a:r>
              <a:r>
                <a:rPr lang="ko-KR" altLang="en-US" sz="900" spc="-100"/>
                <a:t>내검 설계</a:t>
              </a:r>
              <a:r>
                <a:rPr lang="en-US" altLang="ko-KR" sz="900" spc="-100"/>
                <a:t>)</a:t>
              </a:r>
            </a:p>
          </p:txBody>
        </p:sp>
      </p:grpSp>
      <p:grpSp>
        <p:nvGrpSpPr>
          <p:cNvPr id="343" name="그룹 342">
            <a:extLst>
              <a:ext uri="{FF2B5EF4-FFF2-40B4-BE49-F238E27FC236}">
                <a16:creationId xmlns:a16="http://schemas.microsoft.com/office/drawing/2014/main" id="{052C6F2C-56A8-443A-06C8-0456B98D5B5A}"/>
              </a:ext>
            </a:extLst>
          </p:cNvPr>
          <p:cNvGrpSpPr/>
          <p:nvPr/>
        </p:nvGrpSpPr>
        <p:grpSpPr>
          <a:xfrm>
            <a:off x="5443862" y="5733256"/>
            <a:ext cx="3851280" cy="602097"/>
            <a:chOff x="-2408886" y="7461448"/>
            <a:chExt cx="3851280" cy="602097"/>
          </a:xfrm>
        </p:grpSpPr>
        <p:sp>
          <p:nvSpPr>
            <p:cNvPr id="344" name="사각형: 둥근 모서리 343">
              <a:extLst>
                <a:ext uri="{FF2B5EF4-FFF2-40B4-BE49-F238E27FC236}">
                  <a16:creationId xmlns:a16="http://schemas.microsoft.com/office/drawing/2014/main" id="{CFA6ECA1-E245-52D9-4704-6000FA02A82E}"/>
                </a:ext>
              </a:extLst>
            </p:cNvPr>
            <p:cNvSpPr/>
            <p:nvPr/>
          </p:nvSpPr>
          <p:spPr bwMode="auto">
            <a:xfrm>
              <a:off x="-2408886" y="7461448"/>
              <a:ext cx="3779030" cy="602097"/>
            </a:xfrm>
            <a:prstGeom prst="roundRect">
              <a:avLst>
                <a:gd name="adj" fmla="val 3129"/>
              </a:avLst>
            </a:prstGeom>
            <a:solidFill>
              <a:schemeClr val="tx2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9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FE25CBD4-1FAD-AC5F-D122-EA134DAD6869}"/>
                </a:ext>
              </a:extLst>
            </p:cNvPr>
            <p:cNvSpPr txBox="1"/>
            <p:nvPr/>
          </p:nvSpPr>
          <p:spPr>
            <a:xfrm>
              <a:off x="-2378010" y="7487713"/>
              <a:ext cx="1541501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1000" b="0">
                  <a:solidFill>
                    <a:schemeClr val="bg1"/>
                  </a:solidFill>
                  <a:latin typeface="+mn-ea"/>
                  <a:ea typeface="+mn-ea"/>
                </a:rPr>
                <a:t>의사결정 포인트</a:t>
              </a:r>
              <a:endParaRPr lang="en-US" altLang="ko-KR" sz="1000" b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346" name="사각형: 둥근 모서리 345">
              <a:extLst>
                <a:ext uri="{FF2B5EF4-FFF2-40B4-BE49-F238E27FC236}">
                  <a16:creationId xmlns:a16="http://schemas.microsoft.com/office/drawing/2014/main" id="{F8BF7CEA-EA55-62E8-6066-77E09D54A2FB}"/>
                </a:ext>
              </a:extLst>
            </p:cNvPr>
            <p:cNvSpPr/>
            <p:nvPr/>
          </p:nvSpPr>
          <p:spPr bwMode="auto">
            <a:xfrm>
              <a:off x="-2334621" y="7745342"/>
              <a:ext cx="3777015" cy="270578"/>
            </a:xfrm>
            <a:prstGeom prst="roundRect">
              <a:avLst>
                <a:gd name="adj" fmla="val 5741"/>
              </a:avLst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R="0" defTabSz="979488" rtl="0" eaLnBrk="1" fontAlgn="base" latinLnBrk="1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ko-KR" altLang="en-US" sz="105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나라통계시스템</a:t>
              </a:r>
              <a:r>
                <a:rPr kumimoji="1" lang="en-US" altLang="ko-KR" sz="105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 AI </a:t>
              </a:r>
              <a:r>
                <a:rPr kumimoji="1" lang="ko-KR" altLang="en-US" sz="105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활용</a:t>
              </a:r>
              <a:r>
                <a:rPr kumimoji="1" lang="en-US" altLang="ko-KR" sz="105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 </a:t>
              </a:r>
              <a:r>
                <a:rPr kumimoji="1" lang="ko-KR" altLang="en-US" sz="105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서비스 발굴 과제 선별</a:t>
              </a:r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AF0E70C2-1996-44C9-4BBE-757688F6DA30}"/>
              </a:ext>
            </a:extLst>
          </p:cNvPr>
          <p:cNvGrpSpPr/>
          <p:nvPr/>
        </p:nvGrpSpPr>
        <p:grpSpPr>
          <a:xfrm>
            <a:off x="2209295" y="5733256"/>
            <a:ext cx="1395806" cy="577423"/>
            <a:chOff x="2792760" y="6821387"/>
            <a:chExt cx="1150745" cy="577423"/>
          </a:xfrm>
        </p:grpSpPr>
        <p:sp>
          <p:nvSpPr>
            <p:cNvPr id="348" name="사각형: 둥근 모서리 347">
              <a:extLst>
                <a:ext uri="{FF2B5EF4-FFF2-40B4-BE49-F238E27FC236}">
                  <a16:creationId xmlns:a16="http://schemas.microsoft.com/office/drawing/2014/main" id="{17F9A6C2-B548-0903-3DDF-B95D86984C36}"/>
                </a:ext>
              </a:extLst>
            </p:cNvPr>
            <p:cNvSpPr/>
            <p:nvPr/>
          </p:nvSpPr>
          <p:spPr bwMode="auto">
            <a:xfrm>
              <a:off x="2792760" y="6821387"/>
              <a:ext cx="1150745" cy="577423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AFB468D4-FF7E-83DA-CCEF-32435CB671B3}"/>
                </a:ext>
              </a:extLst>
            </p:cNvPr>
            <p:cNvSpPr txBox="1"/>
            <p:nvPr/>
          </p:nvSpPr>
          <p:spPr>
            <a:xfrm>
              <a:off x="2842692" y="7021708"/>
              <a:ext cx="928455" cy="28385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50"/>
                <a:t>과제 </a:t>
              </a:r>
              <a:r>
                <a:rPr lang="en-US" altLang="ko-KR" sz="1050"/>
                <a:t>5 ~ 7</a:t>
              </a: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B0B6D47B-EFA8-EA2F-0E0F-F36CB2DC3CEE}"/>
                </a:ext>
              </a:extLst>
            </p:cNvPr>
            <p:cNvSpPr txBox="1"/>
            <p:nvPr/>
          </p:nvSpPr>
          <p:spPr>
            <a:xfrm>
              <a:off x="2842694" y="6849197"/>
              <a:ext cx="987818" cy="25365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900"/>
                <a:t>자료처리</a:t>
              </a:r>
              <a:r>
                <a:rPr lang="en-US" altLang="ko-KR" sz="900"/>
                <a:t>(</a:t>
              </a:r>
              <a:r>
                <a:rPr lang="ko-KR" altLang="en-US" sz="900"/>
                <a:t>에디팅</a:t>
              </a:r>
              <a:r>
                <a:rPr lang="en-US" altLang="ko-KR" sz="900"/>
                <a:t>)</a:t>
              </a:r>
            </a:p>
          </p:txBody>
        </p:sp>
      </p:grpSp>
      <p:grpSp>
        <p:nvGrpSpPr>
          <p:cNvPr id="351" name="그룹 350">
            <a:extLst>
              <a:ext uri="{FF2B5EF4-FFF2-40B4-BE49-F238E27FC236}">
                <a16:creationId xmlns:a16="http://schemas.microsoft.com/office/drawing/2014/main" id="{317FA081-06E1-AF4E-A1F5-CD171C4F8C2F}"/>
              </a:ext>
            </a:extLst>
          </p:cNvPr>
          <p:cNvGrpSpPr/>
          <p:nvPr/>
        </p:nvGrpSpPr>
        <p:grpSpPr>
          <a:xfrm>
            <a:off x="3858078" y="5733256"/>
            <a:ext cx="1395806" cy="577423"/>
            <a:chOff x="2792760" y="6821387"/>
            <a:chExt cx="1150745" cy="577423"/>
          </a:xfrm>
        </p:grpSpPr>
        <p:sp>
          <p:nvSpPr>
            <p:cNvPr id="352" name="사각형: 둥근 모서리 351">
              <a:extLst>
                <a:ext uri="{FF2B5EF4-FFF2-40B4-BE49-F238E27FC236}">
                  <a16:creationId xmlns:a16="http://schemas.microsoft.com/office/drawing/2014/main" id="{83A1F319-B2F0-2B4D-8E2D-8ACAEE946006}"/>
                </a:ext>
              </a:extLst>
            </p:cNvPr>
            <p:cNvSpPr/>
            <p:nvPr/>
          </p:nvSpPr>
          <p:spPr bwMode="auto">
            <a:xfrm>
              <a:off x="2792760" y="6821387"/>
              <a:ext cx="1150745" cy="577423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EA29224C-DBCD-9352-7734-26C0215EA4A4}"/>
                </a:ext>
              </a:extLst>
            </p:cNvPr>
            <p:cNvSpPr txBox="1"/>
            <p:nvPr/>
          </p:nvSpPr>
          <p:spPr>
            <a:xfrm>
              <a:off x="2842692" y="7021708"/>
              <a:ext cx="928455" cy="28385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50"/>
                <a:t>과제 </a:t>
              </a:r>
              <a:r>
                <a:rPr lang="en-US" altLang="ko-KR" sz="1050"/>
                <a:t>8 ~ 10</a:t>
              </a:r>
            </a:p>
          </p:txBody>
        </p: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2986630B-EDD6-FED1-E38E-E135C2D8DB47}"/>
                </a:ext>
              </a:extLst>
            </p:cNvPr>
            <p:cNvSpPr txBox="1"/>
            <p:nvPr/>
          </p:nvSpPr>
          <p:spPr>
            <a:xfrm>
              <a:off x="2842694" y="6849197"/>
              <a:ext cx="1074660" cy="25365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900" spc="-100"/>
                <a:t>자료보관</a:t>
              </a:r>
              <a:r>
                <a:rPr lang="en-US" altLang="ko-KR" sz="900" spc="-100"/>
                <a:t>(</a:t>
              </a:r>
              <a:r>
                <a:rPr lang="ko-KR" altLang="en-US" sz="900" spc="-100"/>
                <a:t>공표 ∙ 검증 ∙ 설명</a:t>
              </a:r>
              <a:r>
                <a:rPr lang="en-US" altLang="ko-KR" sz="900" spc="-100"/>
                <a:t>)</a:t>
              </a:r>
            </a:p>
          </p:txBody>
        </p:sp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598CE1B-8DBA-206E-9CFC-F9AA64094E1C}"/>
              </a:ext>
            </a:extLst>
          </p:cNvPr>
          <p:cNvCxnSpPr/>
          <p:nvPr/>
        </p:nvCxnSpPr>
        <p:spPr bwMode="auto">
          <a:xfrm>
            <a:off x="590991" y="5776306"/>
            <a:ext cx="13320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120055A-CB3F-54B3-219F-E98C35DBC507}"/>
              </a:ext>
            </a:extLst>
          </p:cNvPr>
          <p:cNvCxnSpPr/>
          <p:nvPr/>
        </p:nvCxnSpPr>
        <p:spPr bwMode="auto">
          <a:xfrm>
            <a:off x="2249294" y="5776306"/>
            <a:ext cx="13320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3714D60-8A01-6614-90A9-064C5A7DE073}"/>
              </a:ext>
            </a:extLst>
          </p:cNvPr>
          <p:cNvCxnSpPr/>
          <p:nvPr/>
        </p:nvCxnSpPr>
        <p:spPr bwMode="auto">
          <a:xfrm>
            <a:off x="3890164" y="5776306"/>
            <a:ext cx="13320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D99F16F4-746A-F229-45B1-A5F814E2BCAC}"/>
              </a:ext>
            </a:extLst>
          </p:cNvPr>
          <p:cNvSpPr/>
          <p:nvPr/>
        </p:nvSpPr>
        <p:spPr bwMode="auto">
          <a:xfrm>
            <a:off x="1638433" y="2003701"/>
            <a:ext cx="468000" cy="180000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+mn-ea"/>
                <a:ea typeface="+mn-ea"/>
              </a:rPr>
              <a:t>자료수집</a:t>
            </a:r>
          </a:p>
        </p:txBody>
      </p:sp>
      <p:sp>
        <p:nvSpPr>
          <p:cNvPr id="8" name="순서도: 수행의 시작/종료 7">
            <a:extLst>
              <a:ext uri="{FF2B5EF4-FFF2-40B4-BE49-F238E27FC236}">
                <a16:creationId xmlns:a16="http://schemas.microsoft.com/office/drawing/2014/main" id="{8920CCDB-BA2F-03B6-0731-9782243C2128}"/>
              </a:ext>
            </a:extLst>
          </p:cNvPr>
          <p:cNvSpPr/>
          <p:nvPr/>
        </p:nvSpPr>
        <p:spPr bwMode="auto">
          <a:xfrm>
            <a:off x="3450646" y="2003701"/>
            <a:ext cx="468000" cy="180000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+mn-ea"/>
                <a:ea typeface="+mn-ea"/>
              </a:rPr>
              <a:t>자료수집</a:t>
            </a:r>
          </a:p>
        </p:txBody>
      </p:sp>
      <p:sp>
        <p:nvSpPr>
          <p:cNvPr id="9" name="순서도: 수행의 시작/종료 8">
            <a:extLst>
              <a:ext uri="{FF2B5EF4-FFF2-40B4-BE49-F238E27FC236}">
                <a16:creationId xmlns:a16="http://schemas.microsoft.com/office/drawing/2014/main" id="{B580ED9F-EF99-8AAC-C62C-0E3735A57B43}"/>
              </a:ext>
            </a:extLst>
          </p:cNvPr>
          <p:cNvSpPr/>
          <p:nvPr/>
        </p:nvSpPr>
        <p:spPr bwMode="auto">
          <a:xfrm>
            <a:off x="5253884" y="2003701"/>
            <a:ext cx="468000" cy="180000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+mn-ea"/>
                <a:ea typeface="+mn-ea"/>
              </a:rPr>
              <a:t>자료수집</a:t>
            </a:r>
          </a:p>
        </p:txBody>
      </p:sp>
      <p:sp>
        <p:nvSpPr>
          <p:cNvPr id="10" name="순서도: 수행의 시작/종료 9">
            <a:extLst>
              <a:ext uri="{FF2B5EF4-FFF2-40B4-BE49-F238E27FC236}">
                <a16:creationId xmlns:a16="http://schemas.microsoft.com/office/drawing/2014/main" id="{89F4BF61-692A-1B37-B58D-0794F591846B}"/>
              </a:ext>
            </a:extLst>
          </p:cNvPr>
          <p:cNvSpPr/>
          <p:nvPr/>
        </p:nvSpPr>
        <p:spPr bwMode="auto">
          <a:xfrm>
            <a:off x="7099377" y="2003701"/>
            <a:ext cx="468000" cy="180000"/>
          </a:xfrm>
          <a:prstGeom prst="flowChartTerminator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+mn-ea"/>
                <a:ea typeface="+mn-ea"/>
              </a:rPr>
              <a:t>자료수집</a:t>
            </a:r>
          </a:p>
        </p:txBody>
      </p:sp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id="{097EBBF0-524A-F489-14B4-64B3C7BDF0C7}"/>
              </a:ext>
            </a:extLst>
          </p:cNvPr>
          <p:cNvSpPr/>
          <p:nvPr/>
        </p:nvSpPr>
        <p:spPr bwMode="auto">
          <a:xfrm>
            <a:off x="8945449" y="2003701"/>
            <a:ext cx="468000" cy="180000"/>
          </a:xfrm>
          <a:prstGeom prst="flowChartTerminator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+mn-ea"/>
                <a:ea typeface="+mn-ea"/>
              </a:rPr>
              <a:t>자료처리</a:t>
            </a:r>
          </a:p>
        </p:txBody>
      </p:sp>
      <p:sp>
        <p:nvSpPr>
          <p:cNvPr id="20" name="순서도: 수행의 시작/종료 19">
            <a:extLst>
              <a:ext uri="{FF2B5EF4-FFF2-40B4-BE49-F238E27FC236}">
                <a16:creationId xmlns:a16="http://schemas.microsoft.com/office/drawing/2014/main" id="{4A505BC3-C606-A49A-76F8-E73059284D24}"/>
              </a:ext>
            </a:extLst>
          </p:cNvPr>
          <p:cNvSpPr/>
          <p:nvPr/>
        </p:nvSpPr>
        <p:spPr bwMode="auto">
          <a:xfrm>
            <a:off x="1638433" y="3312565"/>
            <a:ext cx="468000" cy="180000"/>
          </a:xfrm>
          <a:prstGeom prst="flowChartTerminator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+mn-ea"/>
                <a:ea typeface="+mn-ea"/>
              </a:rPr>
              <a:t>자료처리</a:t>
            </a:r>
          </a:p>
        </p:txBody>
      </p:sp>
      <p:sp>
        <p:nvSpPr>
          <p:cNvPr id="21" name="순서도: 수행의 시작/종료 20">
            <a:extLst>
              <a:ext uri="{FF2B5EF4-FFF2-40B4-BE49-F238E27FC236}">
                <a16:creationId xmlns:a16="http://schemas.microsoft.com/office/drawing/2014/main" id="{4EB06FBE-D38A-934B-6B0C-7D5A828EADD7}"/>
              </a:ext>
            </a:extLst>
          </p:cNvPr>
          <p:cNvSpPr/>
          <p:nvPr/>
        </p:nvSpPr>
        <p:spPr bwMode="auto">
          <a:xfrm>
            <a:off x="3450646" y="3312565"/>
            <a:ext cx="468000" cy="180000"/>
          </a:xfrm>
          <a:prstGeom prst="flowChartTerminator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+mn-ea"/>
                <a:ea typeface="+mn-ea"/>
              </a:rPr>
              <a:t>자료처리</a:t>
            </a:r>
          </a:p>
        </p:txBody>
      </p:sp>
      <p:sp>
        <p:nvSpPr>
          <p:cNvPr id="22" name="순서도: 수행의 시작/종료 21">
            <a:extLst>
              <a:ext uri="{FF2B5EF4-FFF2-40B4-BE49-F238E27FC236}">
                <a16:creationId xmlns:a16="http://schemas.microsoft.com/office/drawing/2014/main" id="{00C7A84F-F1DE-037E-6EA8-C88CE67BF625}"/>
              </a:ext>
            </a:extLst>
          </p:cNvPr>
          <p:cNvSpPr/>
          <p:nvPr/>
        </p:nvSpPr>
        <p:spPr bwMode="auto">
          <a:xfrm>
            <a:off x="5253884" y="3312565"/>
            <a:ext cx="468000" cy="180000"/>
          </a:xfrm>
          <a:prstGeom prst="flowChartTerminator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+mn-ea"/>
                <a:ea typeface="+mn-ea"/>
              </a:rPr>
              <a:t>자료보관</a:t>
            </a:r>
          </a:p>
        </p:txBody>
      </p:sp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F32CF39C-E9D1-9A48-53E8-6D419C1CBF4F}"/>
              </a:ext>
            </a:extLst>
          </p:cNvPr>
          <p:cNvSpPr/>
          <p:nvPr/>
        </p:nvSpPr>
        <p:spPr bwMode="auto">
          <a:xfrm>
            <a:off x="7099377" y="3312565"/>
            <a:ext cx="468000" cy="180000"/>
          </a:xfrm>
          <a:prstGeom prst="flowChartTerminator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+mn-ea"/>
                <a:ea typeface="+mn-ea"/>
              </a:rPr>
              <a:t>자료보관</a:t>
            </a:r>
          </a:p>
        </p:txBody>
      </p:sp>
      <p:sp>
        <p:nvSpPr>
          <p:cNvPr id="25" name="순서도: 수행의 시작/종료 24">
            <a:extLst>
              <a:ext uri="{FF2B5EF4-FFF2-40B4-BE49-F238E27FC236}">
                <a16:creationId xmlns:a16="http://schemas.microsoft.com/office/drawing/2014/main" id="{C78593E5-C7D0-C443-891E-4A9179DE3E6C}"/>
              </a:ext>
            </a:extLst>
          </p:cNvPr>
          <p:cNvSpPr/>
          <p:nvPr/>
        </p:nvSpPr>
        <p:spPr bwMode="auto">
          <a:xfrm>
            <a:off x="8945449" y="3312565"/>
            <a:ext cx="468000" cy="180000"/>
          </a:xfrm>
          <a:prstGeom prst="flowChartTerminator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+mn-ea"/>
                <a:ea typeface="+mn-ea"/>
              </a:rPr>
              <a:t>자료보관</a:t>
            </a:r>
          </a:p>
        </p:txBody>
      </p:sp>
    </p:spTree>
    <p:extLst>
      <p:ext uri="{BB962C8B-B14F-4D97-AF65-F5344CB8AC3E}">
        <p14:creationId xmlns:p14="http://schemas.microsoft.com/office/powerpoint/2010/main" val="2685393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44489" y="620688"/>
            <a:ext cx="9199391" cy="3683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ts val="2000"/>
              </a:lnSpc>
            </a:pP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나라통계시스템 </a:t>
            </a:r>
            <a:r>
              <a:rPr lang="en-US" altLang="ko-KR" sz="2000">
                <a:solidFill>
                  <a:prstClr val="black"/>
                </a:solidFill>
                <a:latin typeface="+mn-ea"/>
                <a:ea typeface="+mn-ea"/>
              </a:rPr>
              <a:t>AI </a:t>
            </a: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적용 아키텍처</a:t>
            </a:r>
            <a:endParaRPr lang="ko-KR" altLang="en-US" sz="20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7FE19520-BCCC-C5BB-C8AF-0BBE1A9754D3}"/>
              </a:ext>
            </a:extLst>
          </p:cNvPr>
          <p:cNvGrpSpPr/>
          <p:nvPr/>
        </p:nvGrpSpPr>
        <p:grpSpPr>
          <a:xfrm>
            <a:off x="445071" y="1124744"/>
            <a:ext cx="9188449" cy="338554"/>
            <a:chOff x="445071" y="1124744"/>
            <a:chExt cx="9188449" cy="338554"/>
          </a:xfrm>
        </p:grpSpPr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119C4970-B753-3519-BE02-B254D5097F8E}"/>
                </a:ext>
              </a:extLst>
            </p:cNvPr>
            <p:cNvSpPr/>
            <p:nvPr/>
          </p:nvSpPr>
          <p:spPr>
            <a:xfrm>
              <a:off x="697071" y="1124744"/>
              <a:ext cx="89364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600" b="1" kern="0" spc="-5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KSBPM </a:t>
              </a:r>
              <a:r>
                <a:rPr lang="ko-KR" altLang="en-US" sz="1600" b="1" kern="0" spc="-5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위에 </a:t>
              </a:r>
              <a:r>
                <a:rPr lang="en-US" altLang="ko-KR" sz="1600" b="1" kern="0" spc="-5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AI</a:t>
              </a:r>
              <a:r>
                <a:rPr lang="ko-KR" altLang="en-US" sz="1600" b="1" kern="0" spc="-5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를 </a:t>
              </a:r>
              <a:r>
                <a:rPr lang="en-US" altLang="ko-KR" sz="1600" b="1" kern="0" spc="-5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'</a:t>
              </a:r>
              <a:r>
                <a:rPr lang="ko-KR" altLang="en-US" sz="1600" b="1" kern="0" spc="-5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기능</a:t>
              </a:r>
              <a:r>
                <a:rPr lang="en-US" altLang="ko-KR" sz="1600" b="1" kern="0" spc="-5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'</a:t>
              </a:r>
              <a:r>
                <a:rPr lang="ko-KR" altLang="en-US" sz="1600" b="1" kern="0" spc="-5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으로 내재화하고 메타∙로그∙정정이력으로 종단 자동화를 연결합니다</a:t>
              </a:r>
              <a:r>
                <a:rPr lang="en-US" altLang="ko-KR" sz="1600" b="1" kern="0" spc="-5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.</a:t>
              </a:r>
              <a:endParaRPr lang="ko-KR" altLang="en-US" sz="2000" spc="-50" dirty="0">
                <a:solidFill>
                  <a:srgbClr val="1692D3"/>
                </a:solidFill>
                <a:latin typeface="+mn-ea"/>
                <a:ea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4F6FA582-6393-C7E6-79D9-89A65B0FFA0A}"/>
                </a:ext>
              </a:extLst>
            </p:cNvPr>
            <p:cNvSpPr/>
            <p:nvPr/>
          </p:nvSpPr>
          <p:spPr bwMode="auto">
            <a:xfrm>
              <a:off x="445071" y="1173892"/>
              <a:ext cx="252000" cy="248283"/>
            </a:xfrm>
            <a:prstGeom prst="roundRect">
              <a:avLst/>
            </a:prstGeom>
            <a:solidFill>
              <a:srgbClr val="2E6CB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79488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▶</a:t>
              </a:r>
              <a:endParaRPr kumimoji="1" lang="ko-KR" altLang="en-US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8E7945A-B6A7-165E-5A74-D30CCCF4E184}"/>
              </a:ext>
            </a:extLst>
          </p:cNvPr>
          <p:cNvSpPr txBox="1"/>
          <p:nvPr/>
        </p:nvSpPr>
        <p:spPr>
          <a:xfrm>
            <a:off x="403796" y="1550906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</a:t>
            </a:r>
            <a:r>
              <a:rPr lang="en-US" altLang="ko-KR">
                <a:latin typeface="+mn-ea"/>
                <a:ea typeface="+mn-ea"/>
              </a:rPr>
              <a:t>LAYER 1 : </a:t>
            </a:r>
            <a:r>
              <a:rPr lang="ko-KR" altLang="en-US">
                <a:latin typeface="+mn-ea"/>
                <a:ea typeface="+mn-ea"/>
              </a:rPr>
              <a:t>통계생산 프로세스</a:t>
            </a:r>
            <a:r>
              <a:rPr lang="en-US" altLang="ko-KR">
                <a:latin typeface="+mn-ea"/>
                <a:ea typeface="+mn-ea"/>
              </a:rPr>
              <a:t>(KSBPM 9</a:t>
            </a:r>
            <a:r>
              <a:rPr lang="ko-KR" altLang="en-US">
                <a:latin typeface="+mn-ea"/>
                <a:ea typeface="+mn-ea"/>
              </a:rPr>
              <a:t>단계</a:t>
            </a:r>
            <a:r>
              <a:rPr lang="en-US" altLang="ko-KR">
                <a:latin typeface="+mn-ea"/>
                <a:ea typeface="+mn-ea"/>
              </a:rPr>
              <a:t>) &gt; 2, 4, 5, 7 </a:t>
            </a:r>
            <a:r>
              <a:rPr lang="ko-KR" altLang="en-US">
                <a:latin typeface="+mn-ea"/>
                <a:ea typeface="+mn-ea"/>
              </a:rPr>
              <a:t>단계 </a:t>
            </a:r>
            <a:r>
              <a:rPr lang="en-US" altLang="ko-KR">
                <a:latin typeface="+mn-ea"/>
                <a:ea typeface="+mn-ea"/>
              </a:rPr>
              <a:t>(AI </a:t>
            </a:r>
            <a:r>
              <a:rPr lang="ko-KR" altLang="en-US">
                <a:latin typeface="+mn-ea"/>
                <a:ea typeface="+mn-ea"/>
              </a:rPr>
              <a:t>우선 적용 검토</a:t>
            </a:r>
            <a:r>
              <a:rPr lang="en-US" altLang="ko-KR">
                <a:latin typeface="+mn-ea"/>
                <a:ea typeface="+mn-ea"/>
              </a:rPr>
              <a:t>)</a:t>
            </a:r>
            <a:endParaRPr lang="en-US" altLang="ko-KR" dirty="0">
              <a:latin typeface="+mn-ea"/>
              <a:ea typeface="+mn-ea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AF863E1-6F80-6C73-D911-1CE152A61BFE}"/>
              </a:ext>
            </a:extLst>
          </p:cNvPr>
          <p:cNvGrpSpPr/>
          <p:nvPr/>
        </p:nvGrpSpPr>
        <p:grpSpPr>
          <a:xfrm>
            <a:off x="432275" y="1939097"/>
            <a:ext cx="901048" cy="913840"/>
            <a:chOff x="344490" y="2258282"/>
            <a:chExt cx="901048" cy="913840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887F6383-3B90-5D8A-5E8A-72AAF3747502}"/>
                </a:ext>
              </a:extLst>
            </p:cNvPr>
            <p:cNvSpPr/>
            <p:nvPr/>
          </p:nvSpPr>
          <p:spPr bwMode="auto">
            <a:xfrm>
              <a:off x="344490" y="2258282"/>
              <a:ext cx="901048" cy="913840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9DEB8CD-A2DE-6B8D-F9EB-CF8DE4BF235B}"/>
                </a:ext>
              </a:extLst>
            </p:cNvPr>
            <p:cNvSpPr txBox="1"/>
            <p:nvPr/>
          </p:nvSpPr>
          <p:spPr>
            <a:xfrm>
              <a:off x="416500" y="2645424"/>
              <a:ext cx="776307" cy="22659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000"/>
                <a:t>기획</a:t>
              </a:r>
              <a:endParaRPr lang="en-US" altLang="ko-KR" sz="10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A112789-E577-A790-4C61-F05CD18ECFCD}"/>
                </a:ext>
              </a:extLst>
            </p:cNvPr>
            <p:cNvSpPr txBox="1"/>
            <p:nvPr/>
          </p:nvSpPr>
          <p:spPr>
            <a:xfrm>
              <a:off x="416500" y="2886666"/>
              <a:ext cx="776307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목적 ∙ 범위 정의</a:t>
              </a:r>
              <a:endParaRPr lang="en-US" altLang="ko-KR" sz="700" b="0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60C8843-C7C5-0C75-64D5-5CBA701731AE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2"/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1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78" name="사각형: 둥근 모서리 277">
            <a:extLst>
              <a:ext uri="{FF2B5EF4-FFF2-40B4-BE49-F238E27FC236}">
                <a16:creationId xmlns:a16="http://schemas.microsoft.com/office/drawing/2014/main" id="{2AD9AD6D-A2E8-DF5F-60B1-2574633FD195}"/>
              </a:ext>
            </a:extLst>
          </p:cNvPr>
          <p:cNvSpPr/>
          <p:nvPr/>
        </p:nvSpPr>
        <p:spPr bwMode="auto">
          <a:xfrm>
            <a:off x="419053" y="5709803"/>
            <a:ext cx="9070451" cy="790524"/>
          </a:xfrm>
          <a:prstGeom prst="roundRect">
            <a:avLst>
              <a:gd name="adj" fmla="val 10117"/>
            </a:avLst>
          </a:prstGeom>
          <a:solidFill>
            <a:schemeClr val="tx2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9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FD559E8B-B039-DD50-5C5E-CD6C2B788A5E}"/>
              </a:ext>
            </a:extLst>
          </p:cNvPr>
          <p:cNvSpPr txBox="1"/>
          <p:nvPr/>
        </p:nvSpPr>
        <p:spPr>
          <a:xfrm>
            <a:off x="920552" y="5708238"/>
            <a:ext cx="2282271" cy="23358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800">
                <a:solidFill>
                  <a:schemeClr val="bg1"/>
                </a:solidFill>
                <a:latin typeface="+mn-ea"/>
                <a:ea typeface="+mn-ea"/>
              </a:rPr>
              <a:t>왜 이 아키텍처인가</a:t>
            </a:r>
            <a:r>
              <a:rPr lang="en-US" altLang="ko-KR" sz="800">
                <a:solidFill>
                  <a:schemeClr val="bg1"/>
                </a:solidFill>
                <a:latin typeface="+mn-ea"/>
                <a:ea typeface="+mn-ea"/>
              </a:rPr>
              <a:t>?</a:t>
            </a:r>
            <a:endParaRPr lang="en-US" altLang="ko-KR" sz="8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80" name="사각형: 둥근 모서리 279">
            <a:extLst>
              <a:ext uri="{FF2B5EF4-FFF2-40B4-BE49-F238E27FC236}">
                <a16:creationId xmlns:a16="http://schemas.microsoft.com/office/drawing/2014/main" id="{0B60934F-9806-3A98-DD73-CE9C65027B03}"/>
              </a:ext>
            </a:extLst>
          </p:cNvPr>
          <p:cNvSpPr/>
          <p:nvPr/>
        </p:nvSpPr>
        <p:spPr bwMode="auto">
          <a:xfrm>
            <a:off x="933252" y="5951820"/>
            <a:ext cx="8268220" cy="439390"/>
          </a:xfrm>
          <a:prstGeom prst="roundRect">
            <a:avLst>
              <a:gd name="adj" fmla="val 5741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defTabSz="979488" rtl="0" eaLnBrk="1" fontAlgn="base" latinLnBrk="1" hangingPunct="1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100" b="1" spc="-100">
                <a:solidFill>
                  <a:schemeClr val="bg1"/>
                </a:solidFill>
                <a:latin typeface="+mn-ea"/>
                <a:ea typeface="+mn-ea"/>
              </a:rPr>
              <a:t>연결성</a:t>
            </a:r>
            <a:r>
              <a:rPr lang="en-US" altLang="ko-KR" sz="1100" b="1" spc="-100">
                <a:solidFill>
                  <a:schemeClr val="bg1"/>
                </a:solidFill>
                <a:latin typeface="+mn-ea"/>
                <a:ea typeface="+mn-ea"/>
              </a:rPr>
              <a:t>(</a:t>
            </a:r>
            <a:r>
              <a:rPr lang="ko-KR" altLang="en-US" sz="1100" b="1" spc="-100">
                <a:solidFill>
                  <a:schemeClr val="bg1"/>
                </a:solidFill>
                <a:latin typeface="+mn-ea"/>
                <a:ea typeface="+mn-ea"/>
              </a:rPr>
              <a:t>메타∙로그</a:t>
            </a:r>
            <a:r>
              <a:rPr lang="en-US" altLang="ko-KR" sz="1100" b="1" spc="-100">
                <a:solidFill>
                  <a:schemeClr val="bg1"/>
                </a:solidFill>
                <a:latin typeface="+mn-ea"/>
                <a:ea typeface="+mn-ea"/>
              </a:rPr>
              <a:t>)</a:t>
            </a:r>
            <a:r>
              <a:rPr lang="ko-KR" altLang="en-US" sz="1100" b="1" spc="-100">
                <a:solidFill>
                  <a:schemeClr val="bg1"/>
                </a:solidFill>
                <a:latin typeface="+mn-ea"/>
                <a:ea typeface="+mn-ea"/>
              </a:rPr>
              <a:t>이 선행될수록 </a:t>
            </a:r>
            <a:r>
              <a:rPr lang="en-US" altLang="ko-KR" sz="1100" b="1" spc="-100">
                <a:solidFill>
                  <a:schemeClr val="bg1"/>
                </a:solidFill>
                <a:latin typeface="+mn-ea"/>
                <a:ea typeface="+mn-ea"/>
              </a:rPr>
              <a:t>AI</a:t>
            </a:r>
            <a:r>
              <a:rPr lang="ko-KR" altLang="en-US" sz="1100" b="1" spc="-100">
                <a:solidFill>
                  <a:schemeClr val="bg1"/>
                </a:solidFill>
                <a:latin typeface="+mn-ea"/>
                <a:ea typeface="+mn-ea"/>
              </a:rPr>
              <a:t>는 </a:t>
            </a:r>
            <a:r>
              <a:rPr lang="en-US" altLang="ko-KR" sz="1100" b="1" spc="-100">
                <a:solidFill>
                  <a:schemeClr val="bg1"/>
                </a:solidFill>
                <a:latin typeface="+mn-ea"/>
                <a:ea typeface="+mn-ea"/>
              </a:rPr>
              <a:t>'</a:t>
            </a:r>
            <a:r>
              <a:rPr lang="ko-KR" altLang="en-US" sz="1100" b="1" spc="-100">
                <a:solidFill>
                  <a:schemeClr val="bg1"/>
                </a:solidFill>
                <a:latin typeface="+mn-ea"/>
                <a:ea typeface="+mn-ea"/>
              </a:rPr>
              <a:t>문장 생성</a:t>
            </a:r>
            <a:r>
              <a:rPr lang="en-US" altLang="ko-KR" sz="1100" b="1" spc="-100">
                <a:solidFill>
                  <a:schemeClr val="bg1"/>
                </a:solidFill>
                <a:latin typeface="+mn-ea"/>
                <a:ea typeface="+mn-ea"/>
              </a:rPr>
              <a:t>'</a:t>
            </a:r>
            <a:r>
              <a:rPr lang="ko-KR" altLang="en-US" sz="1100" b="1" spc="-100">
                <a:solidFill>
                  <a:schemeClr val="bg1"/>
                </a:solidFill>
                <a:latin typeface="+mn-ea"/>
                <a:ea typeface="+mn-ea"/>
              </a:rPr>
              <a:t>이 아닌 설계→수집→처리→공표 종단 자동화로 작동한다</a:t>
            </a:r>
            <a:r>
              <a:rPr lang="en-US" altLang="ko-KR" sz="1100" b="1" spc="-100">
                <a:solidFill>
                  <a:schemeClr val="bg1"/>
                </a:solidFill>
                <a:latin typeface="+mn-ea"/>
                <a:ea typeface="+mn-ea"/>
              </a:rPr>
              <a:t>.</a:t>
            </a:r>
            <a:br>
              <a:rPr lang="en-US" altLang="ko-KR" sz="1100" b="1" spc="-100">
                <a:solidFill>
                  <a:schemeClr val="bg1"/>
                </a:solidFill>
                <a:latin typeface="+mn-ea"/>
                <a:ea typeface="+mn-ea"/>
              </a:rPr>
            </a:br>
            <a:r>
              <a:rPr lang="en-US" altLang="ko-KR" sz="1100" b="1" spc="-100">
                <a:solidFill>
                  <a:schemeClr val="bg1"/>
                </a:solidFill>
                <a:latin typeface="+mn-ea"/>
                <a:ea typeface="+mn-ea"/>
              </a:rPr>
              <a:t>1</a:t>
            </a:r>
            <a:r>
              <a:rPr lang="ko-KR" altLang="en-US" sz="1100" b="1" spc="-100">
                <a:solidFill>
                  <a:schemeClr val="bg1"/>
                </a:solidFill>
                <a:latin typeface="+mn-ea"/>
                <a:ea typeface="+mn-ea"/>
              </a:rPr>
              <a:t>회 구축이 다기관으로 파급되는 범용 통계생산 플랫폼을 완성한다</a:t>
            </a:r>
            <a:r>
              <a:rPr lang="en-US" altLang="ko-KR" sz="1100" b="1" spc="-10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kumimoji="1" lang="ko-KR" altLang="en-US" sz="1100" b="1" i="0" u="none" strike="noStrike" cap="none" spc="-100" normalizeH="0">
              <a:ln>
                <a:noFill/>
              </a:ln>
              <a:solidFill>
                <a:schemeClr val="bg1"/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77C7F49E-DE75-F927-D891-8AE777F520DA}"/>
              </a:ext>
            </a:extLst>
          </p:cNvPr>
          <p:cNvGrpSpPr/>
          <p:nvPr/>
        </p:nvGrpSpPr>
        <p:grpSpPr>
          <a:xfrm>
            <a:off x="1451798" y="1939097"/>
            <a:ext cx="901048" cy="913840"/>
            <a:chOff x="344490" y="2258282"/>
            <a:chExt cx="901048" cy="913840"/>
          </a:xfrm>
        </p:grpSpPr>
        <p:sp>
          <p:nvSpPr>
            <p:cNvPr id="152" name="사각형: 둥근 모서리 151">
              <a:extLst>
                <a:ext uri="{FF2B5EF4-FFF2-40B4-BE49-F238E27FC236}">
                  <a16:creationId xmlns:a16="http://schemas.microsoft.com/office/drawing/2014/main" id="{0923D0F1-9E76-2E10-FCF6-26C05A8B764C}"/>
                </a:ext>
              </a:extLst>
            </p:cNvPr>
            <p:cNvSpPr/>
            <p:nvPr/>
          </p:nvSpPr>
          <p:spPr bwMode="auto">
            <a:xfrm>
              <a:off x="344490" y="2258282"/>
              <a:ext cx="901048" cy="913840"/>
            </a:xfrm>
            <a:prstGeom prst="roundRect">
              <a:avLst>
                <a:gd name="adj" fmla="val 3129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E119398-6183-2649-65B6-C728BD90857C}"/>
                </a:ext>
              </a:extLst>
            </p:cNvPr>
            <p:cNvSpPr txBox="1"/>
            <p:nvPr/>
          </p:nvSpPr>
          <p:spPr>
            <a:xfrm>
              <a:off x="416500" y="2645424"/>
              <a:ext cx="776307" cy="22659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000"/>
                <a:t>설계</a:t>
              </a:r>
              <a:endParaRPr lang="en-US" altLang="ko-KR" sz="100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5E7551B4-4D0B-B837-A829-F50FEA31A66A}"/>
                </a:ext>
              </a:extLst>
            </p:cNvPr>
            <p:cNvSpPr txBox="1"/>
            <p:nvPr/>
          </p:nvSpPr>
          <p:spPr>
            <a:xfrm>
              <a:off x="416500" y="2886666"/>
              <a:ext cx="776307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문항 ∙ 룰 정의</a:t>
              </a:r>
              <a:endParaRPr lang="en-US" altLang="ko-KR" sz="700" b="0"/>
            </a:p>
          </p:txBody>
        </p:sp>
        <p:sp>
          <p:nvSpPr>
            <p:cNvPr id="155" name="타원 154">
              <a:extLst>
                <a:ext uri="{FF2B5EF4-FFF2-40B4-BE49-F238E27FC236}">
                  <a16:creationId xmlns:a16="http://schemas.microsoft.com/office/drawing/2014/main" id="{DFF6C11C-EC97-FEDA-01FA-5450A8FFC5AA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2"/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2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148FEC25-8662-032A-7085-6A49C1B2EB36}"/>
              </a:ext>
            </a:extLst>
          </p:cNvPr>
          <p:cNvGrpSpPr/>
          <p:nvPr/>
        </p:nvGrpSpPr>
        <p:grpSpPr>
          <a:xfrm>
            <a:off x="2471321" y="1939097"/>
            <a:ext cx="901048" cy="913840"/>
            <a:chOff x="344490" y="2258282"/>
            <a:chExt cx="901048" cy="913840"/>
          </a:xfrm>
        </p:grpSpPr>
        <p:sp>
          <p:nvSpPr>
            <p:cNvPr id="157" name="사각형: 둥근 모서리 156">
              <a:extLst>
                <a:ext uri="{FF2B5EF4-FFF2-40B4-BE49-F238E27FC236}">
                  <a16:creationId xmlns:a16="http://schemas.microsoft.com/office/drawing/2014/main" id="{EFB8A487-A3AF-4F52-EEFC-B57A6689959B}"/>
                </a:ext>
              </a:extLst>
            </p:cNvPr>
            <p:cNvSpPr/>
            <p:nvPr/>
          </p:nvSpPr>
          <p:spPr bwMode="auto">
            <a:xfrm>
              <a:off x="344490" y="2258282"/>
              <a:ext cx="901048" cy="913840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722D7CF6-1C69-4347-24FC-34DAB36B132D}"/>
                </a:ext>
              </a:extLst>
            </p:cNvPr>
            <p:cNvSpPr txBox="1"/>
            <p:nvPr/>
          </p:nvSpPr>
          <p:spPr>
            <a:xfrm>
              <a:off x="416500" y="2645424"/>
              <a:ext cx="776307" cy="22659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000"/>
                <a:t>구현</a:t>
              </a:r>
              <a:endParaRPr lang="en-US" altLang="ko-KR" sz="1000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8DBBAE3A-0720-8C9F-23DD-9DE2255C85B4}"/>
                </a:ext>
              </a:extLst>
            </p:cNvPr>
            <p:cNvSpPr txBox="1"/>
            <p:nvPr/>
          </p:nvSpPr>
          <p:spPr>
            <a:xfrm>
              <a:off x="416500" y="2886666"/>
              <a:ext cx="776307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조사표∙룰 반영</a:t>
              </a:r>
              <a:endParaRPr lang="en-US" altLang="ko-KR" sz="700" b="0"/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81BDC56D-6683-7731-C0CF-38B96491B17C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2"/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3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11F1391A-E147-EAA6-C5C6-3B91E766621F}"/>
              </a:ext>
            </a:extLst>
          </p:cNvPr>
          <p:cNvGrpSpPr/>
          <p:nvPr/>
        </p:nvGrpSpPr>
        <p:grpSpPr>
          <a:xfrm>
            <a:off x="3490844" y="1939097"/>
            <a:ext cx="901048" cy="913840"/>
            <a:chOff x="344490" y="2258282"/>
            <a:chExt cx="901048" cy="913840"/>
          </a:xfrm>
        </p:grpSpPr>
        <p:sp>
          <p:nvSpPr>
            <p:cNvPr id="162" name="사각형: 둥근 모서리 161">
              <a:extLst>
                <a:ext uri="{FF2B5EF4-FFF2-40B4-BE49-F238E27FC236}">
                  <a16:creationId xmlns:a16="http://schemas.microsoft.com/office/drawing/2014/main" id="{4DD2E01D-C291-1A63-4931-9138316F616C}"/>
                </a:ext>
              </a:extLst>
            </p:cNvPr>
            <p:cNvSpPr/>
            <p:nvPr/>
          </p:nvSpPr>
          <p:spPr bwMode="auto">
            <a:xfrm>
              <a:off x="344490" y="2258282"/>
              <a:ext cx="901048" cy="913840"/>
            </a:xfrm>
            <a:prstGeom prst="roundRect">
              <a:avLst>
                <a:gd name="adj" fmla="val 3129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C585AFB7-1539-D9A0-99A2-0924A33FCB9F}"/>
                </a:ext>
              </a:extLst>
            </p:cNvPr>
            <p:cNvSpPr txBox="1"/>
            <p:nvPr/>
          </p:nvSpPr>
          <p:spPr>
            <a:xfrm>
              <a:off x="416500" y="2645424"/>
              <a:ext cx="776307" cy="22659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000"/>
                <a:t>수집</a:t>
              </a:r>
              <a:endParaRPr lang="en-US" altLang="ko-KR" sz="100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48979BC2-A4BD-B900-76BD-744A1F6CB1BB}"/>
                </a:ext>
              </a:extLst>
            </p:cNvPr>
            <p:cNvSpPr txBox="1"/>
            <p:nvPr/>
          </p:nvSpPr>
          <p:spPr>
            <a:xfrm>
              <a:off x="416500" y="2886666"/>
              <a:ext cx="776307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응답∙</a:t>
              </a:r>
              <a:r>
                <a:rPr lang="en-US" altLang="ko-KR" sz="700" b="0"/>
                <a:t>paradata</a:t>
              </a:r>
            </a:p>
          </p:txBody>
        </p: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F4B3704B-D987-832D-F4DE-C35B1AD96DD3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2"/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4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520C2F05-4D2F-8763-7F29-82E5F4C1F4F4}"/>
              </a:ext>
            </a:extLst>
          </p:cNvPr>
          <p:cNvGrpSpPr/>
          <p:nvPr/>
        </p:nvGrpSpPr>
        <p:grpSpPr>
          <a:xfrm>
            <a:off x="4510367" y="1939097"/>
            <a:ext cx="901048" cy="913840"/>
            <a:chOff x="344490" y="2258282"/>
            <a:chExt cx="901048" cy="913840"/>
          </a:xfrm>
        </p:grpSpPr>
        <p:sp>
          <p:nvSpPr>
            <p:cNvPr id="167" name="사각형: 둥근 모서리 166">
              <a:extLst>
                <a:ext uri="{FF2B5EF4-FFF2-40B4-BE49-F238E27FC236}">
                  <a16:creationId xmlns:a16="http://schemas.microsoft.com/office/drawing/2014/main" id="{118B613B-CCB6-8197-372E-085FB3A58DDC}"/>
                </a:ext>
              </a:extLst>
            </p:cNvPr>
            <p:cNvSpPr/>
            <p:nvPr/>
          </p:nvSpPr>
          <p:spPr bwMode="auto">
            <a:xfrm>
              <a:off x="344490" y="2258282"/>
              <a:ext cx="901048" cy="913840"/>
            </a:xfrm>
            <a:prstGeom prst="roundRect">
              <a:avLst>
                <a:gd name="adj" fmla="val 3129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74D78E68-254B-840D-C181-7CC6FBBB14E6}"/>
                </a:ext>
              </a:extLst>
            </p:cNvPr>
            <p:cNvSpPr txBox="1"/>
            <p:nvPr/>
          </p:nvSpPr>
          <p:spPr>
            <a:xfrm>
              <a:off x="416500" y="2645424"/>
              <a:ext cx="776307" cy="22659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000"/>
                <a:t>처리</a:t>
              </a:r>
              <a:endParaRPr lang="en-US" altLang="ko-KR" sz="1000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C8F65981-C5C0-2FDE-9FCD-C7CDC4E12FFA}"/>
                </a:ext>
              </a:extLst>
            </p:cNvPr>
            <p:cNvSpPr txBox="1"/>
            <p:nvPr/>
          </p:nvSpPr>
          <p:spPr>
            <a:xfrm>
              <a:off x="416500" y="2886666"/>
              <a:ext cx="776307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에디팅∙대체∙코딩</a:t>
              </a:r>
              <a:endParaRPr lang="en-US" altLang="ko-KR" sz="700" b="0"/>
            </a:p>
          </p:txBody>
        </p:sp>
        <p:sp>
          <p:nvSpPr>
            <p:cNvPr id="182" name="타원 181">
              <a:extLst>
                <a:ext uri="{FF2B5EF4-FFF2-40B4-BE49-F238E27FC236}">
                  <a16:creationId xmlns:a16="http://schemas.microsoft.com/office/drawing/2014/main" id="{009B5C3F-5CF8-47D1-6CC0-DDBED422907F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2"/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5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4AAFDF06-8940-9C79-4049-C8B494DF8722}"/>
              </a:ext>
            </a:extLst>
          </p:cNvPr>
          <p:cNvGrpSpPr/>
          <p:nvPr/>
        </p:nvGrpSpPr>
        <p:grpSpPr>
          <a:xfrm>
            <a:off x="5529890" y="1939097"/>
            <a:ext cx="901048" cy="913840"/>
            <a:chOff x="344490" y="2258282"/>
            <a:chExt cx="901048" cy="913840"/>
          </a:xfrm>
        </p:grpSpPr>
        <p:sp>
          <p:nvSpPr>
            <p:cNvPr id="184" name="사각형: 둥근 모서리 183">
              <a:extLst>
                <a:ext uri="{FF2B5EF4-FFF2-40B4-BE49-F238E27FC236}">
                  <a16:creationId xmlns:a16="http://schemas.microsoft.com/office/drawing/2014/main" id="{FCB6E32D-B6F2-72E8-AA61-5E4CF4D362FF}"/>
                </a:ext>
              </a:extLst>
            </p:cNvPr>
            <p:cNvSpPr/>
            <p:nvPr/>
          </p:nvSpPr>
          <p:spPr bwMode="auto">
            <a:xfrm>
              <a:off x="344490" y="2258282"/>
              <a:ext cx="901048" cy="913840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ADE4AF6F-355F-BA72-01B0-D68708E265F9}"/>
                </a:ext>
              </a:extLst>
            </p:cNvPr>
            <p:cNvSpPr txBox="1"/>
            <p:nvPr/>
          </p:nvSpPr>
          <p:spPr>
            <a:xfrm>
              <a:off x="416500" y="2645424"/>
              <a:ext cx="776307" cy="22659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000"/>
                <a:t>분석</a:t>
              </a:r>
              <a:endParaRPr lang="en-US" altLang="ko-KR" sz="1000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696C4EE5-6172-F1A6-6380-929788B46A23}"/>
                </a:ext>
              </a:extLst>
            </p:cNvPr>
            <p:cNvSpPr txBox="1"/>
            <p:nvPr/>
          </p:nvSpPr>
          <p:spPr>
            <a:xfrm>
              <a:off x="416500" y="2886666"/>
              <a:ext cx="776307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추정 ∙ 해석</a:t>
              </a:r>
              <a:endParaRPr lang="en-US" altLang="ko-KR" sz="700" b="0"/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11794F6A-448E-26AC-3291-68D6E12E1417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2"/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6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75DEECC5-2A03-E1F6-347F-B68B9B616A61}"/>
              </a:ext>
            </a:extLst>
          </p:cNvPr>
          <p:cNvGrpSpPr/>
          <p:nvPr/>
        </p:nvGrpSpPr>
        <p:grpSpPr>
          <a:xfrm>
            <a:off x="6549413" y="1939097"/>
            <a:ext cx="901048" cy="913840"/>
            <a:chOff x="344490" y="2258282"/>
            <a:chExt cx="901048" cy="913840"/>
          </a:xfrm>
        </p:grpSpPr>
        <p:sp>
          <p:nvSpPr>
            <p:cNvPr id="189" name="사각형: 둥근 모서리 188">
              <a:extLst>
                <a:ext uri="{FF2B5EF4-FFF2-40B4-BE49-F238E27FC236}">
                  <a16:creationId xmlns:a16="http://schemas.microsoft.com/office/drawing/2014/main" id="{49DAB51F-BF49-B38E-F307-1FAFDA547D78}"/>
                </a:ext>
              </a:extLst>
            </p:cNvPr>
            <p:cNvSpPr/>
            <p:nvPr/>
          </p:nvSpPr>
          <p:spPr bwMode="auto">
            <a:xfrm>
              <a:off x="344490" y="2258282"/>
              <a:ext cx="901048" cy="913840"/>
            </a:xfrm>
            <a:prstGeom prst="roundRect">
              <a:avLst>
                <a:gd name="adj" fmla="val 3129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76E513CB-2491-1E61-E62E-7A26F0A422BA}"/>
                </a:ext>
              </a:extLst>
            </p:cNvPr>
            <p:cNvSpPr txBox="1"/>
            <p:nvPr/>
          </p:nvSpPr>
          <p:spPr>
            <a:xfrm>
              <a:off x="416500" y="2645424"/>
              <a:ext cx="776307" cy="22659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000"/>
                <a:t>공표</a:t>
              </a:r>
              <a:endParaRPr lang="en-US" altLang="ko-KR" sz="1000"/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7FC5708B-15AB-1D0E-1728-F16B7DAA2A9A}"/>
                </a:ext>
              </a:extLst>
            </p:cNvPr>
            <p:cNvSpPr txBox="1"/>
            <p:nvPr/>
          </p:nvSpPr>
          <p:spPr>
            <a:xfrm>
              <a:off x="416500" y="2886666"/>
              <a:ext cx="776307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표생성∙검증∙설명</a:t>
              </a:r>
              <a:endParaRPr lang="en-US" altLang="ko-KR" sz="700" b="0"/>
            </a:p>
          </p:txBody>
        </p:sp>
        <p:sp>
          <p:nvSpPr>
            <p:cNvPr id="194" name="타원 193">
              <a:extLst>
                <a:ext uri="{FF2B5EF4-FFF2-40B4-BE49-F238E27FC236}">
                  <a16:creationId xmlns:a16="http://schemas.microsoft.com/office/drawing/2014/main" id="{1B56A6F5-C60C-3C39-3624-358D62765841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2"/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7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6403A79C-43D0-A55B-77A4-A15E7F31AFA7}"/>
              </a:ext>
            </a:extLst>
          </p:cNvPr>
          <p:cNvGrpSpPr/>
          <p:nvPr/>
        </p:nvGrpSpPr>
        <p:grpSpPr>
          <a:xfrm>
            <a:off x="7568936" y="1939097"/>
            <a:ext cx="901048" cy="913840"/>
            <a:chOff x="344490" y="2258282"/>
            <a:chExt cx="901048" cy="913840"/>
          </a:xfrm>
        </p:grpSpPr>
        <p:sp>
          <p:nvSpPr>
            <p:cNvPr id="196" name="사각형: 둥근 모서리 195">
              <a:extLst>
                <a:ext uri="{FF2B5EF4-FFF2-40B4-BE49-F238E27FC236}">
                  <a16:creationId xmlns:a16="http://schemas.microsoft.com/office/drawing/2014/main" id="{15EBA56B-8351-5E51-D2E4-31D3B0C47BE9}"/>
                </a:ext>
              </a:extLst>
            </p:cNvPr>
            <p:cNvSpPr/>
            <p:nvPr/>
          </p:nvSpPr>
          <p:spPr bwMode="auto">
            <a:xfrm>
              <a:off x="344490" y="2258282"/>
              <a:ext cx="901048" cy="913840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F2D6F12F-52B2-2609-A639-437373F67B63}"/>
                </a:ext>
              </a:extLst>
            </p:cNvPr>
            <p:cNvSpPr txBox="1"/>
            <p:nvPr/>
          </p:nvSpPr>
          <p:spPr>
            <a:xfrm>
              <a:off x="416500" y="2645424"/>
              <a:ext cx="776307" cy="22659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000"/>
                <a:t>평가</a:t>
              </a:r>
              <a:endParaRPr lang="en-US" altLang="ko-KR" sz="1000"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50A34ABA-833E-9DBB-51A8-8864486667A8}"/>
                </a:ext>
              </a:extLst>
            </p:cNvPr>
            <p:cNvSpPr txBox="1"/>
            <p:nvPr/>
          </p:nvSpPr>
          <p:spPr>
            <a:xfrm>
              <a:off x="416500" y="2886666"/>
              <a:ext cx="776307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품질진단∙개선</a:t>
              </a:r>
              <a:endParaRPr lang="en-US" altLang="ko-KR" sz="700" b="0"/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CF84F063-4320-11D9-768F-E298B02972E7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2"/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8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CF420D4F-6F1F-F8CE-3435-B02C6FAFC2EF}"/>
              </a:ext>
            </a:extLst>
          </p:cNvPr>
          <p:cNvGrpSpPr/>
          <p:nvPr/>
        </p:nvGrpSpPr>
        <p:grpSpPr>
          <a:xfrm>
            <a:off x="8588456" y="1939097"/>
            <a:ext cx="901048" cy="913840"/>
            <a:chOff x="344490" y="2258282"/>
            <a:chExt cx="901048" cy="913840"/>
          </a:xfrm>
        </p:grpSpPr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B830F7F0-01E2-6D6C-2915-D4A08B71F843}"/>
                </a:ext>
              </a:extLst>
            </p:cNvPr>
            <p:cNvSpPr/>
            <p:nvPr/>
          </p:nvSpPr>
          <p:spPr bwMode="auto">
            <a:xfrm>
              <a:off x="344490" y="2258282"/>
              <a:ext cx="901048" cy="913840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A119DC95-A5A9-5C9A-56F1-85EE4EE1403B}"/>
                </a:ext>
              </a:extLst>
            </p:cNvPr>
            <p:cNvSpPr txBox="1"/>
            <p:nvPr/>
          </p:nvSpPr>
          <p:spPr>
            <a:xfrm>
              <a:off x="416500" y="2645424"/>
              <a:ext cx="776307" cy="22659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000"/>
                <a:t>보관</a:t>
              </a:r>
              <a:endParaRPr lang="en-US" altLang="ko-KR" sz="1000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6D0F197F-1F12-171D-C5BD-531D4183DCDD}"/>
                </a:ext>
              </a:extLst>
            </p:cNvPr>
            <p:cNvSpPr txBox="1"/>
            <p:nvPr/>
          </p:nvSpPr>
          <p:spPr>
            <a:xfrm>
              <a:off x="416500" y="2886666"/>
              <a:ext cx="776307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메타∙이력∙재사용</a:t>
              </a:r>
              <a:endParaRPr lang="en-US" altLang="ko-KR" sz="700" b="0"/>
            </a:p>
          </p:txBody>
        </p:sp>
        <p:sp>
          <p:nvSpPr>
            <p:cNvPr id="215" name="타원 214">
              <a:extLst>
                <a:ext uri="{FF2B5EF4-FFF2-40B4-BE49-F238E27FC236}">
                  <a16:creationId xmlns:a16="http://schemas.microsoft.com/office/drawing/2014/main" id="{DD7F9A68-D447-18E5-DEFE-699042BF9D84}"/>
                </a:ext>
              </a:extLst>
            </p:cNvPr>
            <p:cNvSpPr/>
            <p:nvPr/>
          </p:nvSpPr>
          <p:spPr bwMode="auto">
            <a:xfrm>
              <a:off x="432273" y="2326079"/>
              <a:ext cx="216024" cy="21602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2"/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1000" b="1">
                  <a:solidFill>
                    <a:schemeClr val="tx2"/>
                  </a:solidFill>
                  <a:latin typeface="+mn-ea"/>
                  <a:ea typeface="+mn-ea"/>
                </a:rPr>
                <a:t>9</a:t>
              </a:r>
              <a:endParaRPr lang="ko-KR" altLang="en-US" sz="1000" b="1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21" name="사각형: 둥근 모서리 220">
            <a:extLst>
              <a:ext uri="{FF2B5EF4-FFF2-40B4-BE49-F238E27FC236}">
                <a16:creationId xmlns:a16="http://schemas.microsoft.com/office/drawing/2014/main" id="{D6D342D6-0055-0549-6A47-BA83DA149C6F}"/>
              </a:ext>
            </a:extLst>
          </p:cNvPr>
          <p:cNvSpPr/>
          <p:nvPr/>
        </p:nvSpPr>
        <p:spPr bwMode="auto">
          <a:xfrm>
            <a:off x="1874077" y="1976850"/>
            <a:ext cx="432847" cy="184514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1" lang="ko-KR" altLang="en-US" sz="6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</a:rPr>
              <a:t>과제 </a:t>
            </a:r>
            <a:r>
              <a:rPr kumimoji="1" lang="en-US" altLang="ko-KR" sz="6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</a:rPr>
              <a:t>1,2,4</a:t>
            </a:r>
            <a:endParaRPr kumimoji="1" lang="ko-KR" altLang="en-US" sz="6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+mn-ea"/>
              <a:ea typeface="+mn-ea"/>
            </a:endParaRPr>
          </a:p>
        </p:txBody>
      </p:sp>
      <p:sp>
        <p:nvSpPr>
          <p:cNvPr id="222" name="사각형: 둥근 모서리 221">
            <a:extLst>
              <a:ext uri="{FF2B5EF4-FFF2-40B4-BE49-F238E27FC236}">
                <a16:creationId xmlns:a16="http://schemas.microsoft.com/office/drawing/2014/main" id="{8B6D7BBB-ABFF-286F-F9AF-F52159623E84}"/>
              </a:ext>
            </a:extLst>
          </p:cNvPr>
          <p:cNvSpPr/>
          <p:nvPr/>
        </p:nvSpPr>
        <p:spPr bwMode="auto">
          <a:xfrm>
            <a:off x="3923680" y="1976850"/>
            <a:ext cx="432847" cy="184514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79488">
              <a:spcBef>
                <a:spcPct val="50000"/>
              </a:spcBef>
            </a:pPr>
            <a:r>
              <a:rPr lang="ko-KR" altLang="en-US" sz="600" b="1">
                <a:solidFill>
                  <a:schemeClr val="tx2"/>
                </a:solidFill>
                <a:latin typeface="+mn-ea"/>
                <a:ea typeface="+mn-ea"/>
              </a:rPr>
              <a:t>과제 </a:t>
            </a:r>
            <a:r>
              <a:rPr lang="en-US" altLang="ko-KR" sz="600" b="1">
                <a:solidFill>
                  <a:schemeClr val="tx2"/>
                </a:solidFill>
                <a:latin typeface="+mn-ea"/>
                <a:ea typeface="+mn-ea"/>
              </a:rPr>
              <a:t>3</a:t>
            </a:r>
            <a:endParaRPr lang="ko-KR" altLang="en-US" sz="600" b="1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223" name="사각형: 둥근 모서리 222">
            <a:extLst>
              <a:ext uri="{FF2B5EF4-FFF2-40B4-BE49-F238E27FC236}">
                <a16:creationId xmlns:a16="http://schemas.microsoft.com/office/drawing/2014/main" id="{6D46F297-5933-1F1E-14D6-25AA92FFD25F}"/>
              </a:ext>
            </a:extLst>
          </p:cNvPr>
          <p:cNvSpPr/>
          <p:nvPr/>
        </p:nvSpPr>
        <p:spPr bwMode="auto">
          <a:xfrm>
            <a:off x="4922571" y="1976850"/>
            <a:ext cx="432847" cy="184514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1" lang="ko-KR" altLang="en-US" sz="6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</a:rPr>
              <a:t>과제 </a:t>
            </a:r>
            <a:r>
              <a:rPr kumimoji="1" lang="en-US" altLang="ko-KR" sz="6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</a:rPr>
              <a:t>5,6,7</a:t>
            </a:r>
            <a:endParaRPr kumimoji="1" lang="ko-KR" altLang="en-US" sz="6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+mn-ea"/>
              <a:ea typeface="+mn-ea"/>
            </a:endParaRPr>
          </a:p>
        </p:txBody>
      </p:sp>
      <p:sp>
        <p:nvSpPr>
          <p:cNvPr id="224" name="사각형: 둥근 모서리 223">
            <a:extLst>
              <a:ext uri="{FF2B5EF4-FFF2-40B4-BE49-F238E27FC236}">
                <a16:creationId xmlns:a16="http://schemas.microsoft.com/office/drawing/2014/main" id="{8DD44E22-6066-B877-9493-FEABA8C27DEA}"/>
              </a:ext>
            </a:extLst>
          </p:cNvPr>
          <p:cNvSpPr/>
          <p:nvPr/>
        </p:nvSpPr>
        <p:spPr bwMode="auto">
          <a:xfrm>
            <a:off x="6967191" y="1976850"/>
            <a:ext cx="432847" cy="184514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1" lang="ko-KR" altLang="en-US" sz="6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</a:rPr>
              <a:t>과제 </a:t>
            </a:r>
            <a:r>
              <a:rPr kumimoji="1" lang="en-US" altLang="ko-KR" sz="6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</a:rPr>
              <a:t>8,9,10</a:t>
            </a:r>
            <a:endParaRPr kumimoji="1" lang="ko-KR" altLang="en-US" sz="6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+mn-ea"/>
              <a:ea typeface="+mn-ea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29A7EE7B-6235-4932-1797-B21881E583B7}"/>
              </a:ext>
            </a:extLst>
          </p:cNvPr>
          <p:cNvSpPr txBox="1"/>
          <p:nvPr/>
        </p:nvSpPr>
        <p:spPr>
          <a:xfrm>
            <a:off x="403796" y="2969231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</a:t>
            </a:r>
            <a:r>
              <a:rPr lang="en-US" altLang="ko-KR">
                <a:latin typeface="+mn-ea"/>
                <a:ea typeface="+mn-ea"/>
              </a:rPr>
              <a:t>LAYER 2 : </a:t>
            </a:r>
            <a:r>
              <a:rPr lang="ko-KR" altLang="en-US">
                <a:latin typeface="+mn-ea"/>
                <a:ea typeface="+mn-ea"/>
              </a:rPr>
              <a:t>업무지원형 </a:t>
            </a:r>
            <a:r>
              <a:rPr lang="en-US" altLang="ko-KR">
                <a:latin typeface="+mn-ea"/>
                <a:ea typeface="+mn-ea"/>
              </a:rPr>
              <a:t>AI </a:t>
            </a:r>
            <a:r>
              <a:rPr lang="ko-KR" altLang="en-US">
                <a:latin typeface="+mn-ea"/>
                <a:ea typeface="+mn-ea"/>
              </a:rPr>
              <a:t>서비스 </a:t>
            </a:r>
            <a:r>
              <a:rPr lang="en-US" altLang="ko-KR">
                <a:latin typeface="+mn-ea"/>
                <a:ea typeface="+mn-ea"/>
              </a:rPr>
              <a:t>(10</a:t>
            </a:r>
            <a:r>
              <a:rPr lang="ko-KR" altLang="en-US">
                <a:latin typeface="+mn-ea"/>
                <a:ea typeface="+mn-ea"/>
              </a:rPr>
              <a:t>대 과제 매핑</a:t>
            </a:r>
            <a:r>
              <a:rPr lang="en-US" altLang="ko-KR">
                <a:latin typeface="+mn-ea"/>
                <a:ea typeface="+mn-ea"/>
              </a:rPr>
              <a:t>)</a:t>
            </a:r>
            <a:endParaRPr lang="en-US" altLang="ko-KR" dirty="0">
              <a:latin typeface="+mn-ea"/>
              <a:ea typeface="+mn-ea"/>
            </a:endParaRPr>
          </a:p>
        </p:txBody>
      </p:sp>
      <p:grpSp>
        <p:nvGrpSpPr>
          <p:cNvPr id="323" name="그룹 322">
            <a:extLst>
              <a:ext uri="{FF2B5EF4-FFF2-40B4-BE49-F238E27FC236}">
                <a16:creationId xmlns:a16="http://schemas.microsoft.com/office/drawing/2014/main" id="{37543B30-A825-A91B-0BA9-FBCB9ECDAC31}"/>
              </a:ext>
            </a:extLst>
          </p:cNvPr>
          <p:cNvGrpSpPr/>
          <p:nvPr/>
        </p:nvGrpSpPr>
        <p:grpSpPr>
          <a:xfrm>
            <a:off x="432275" y="3357421"/>
            <a:ext cx="2940094" cy="1030543"/>
            <a:chOff x="432275" y="3415586"/>
            <a:chExt cx="2940094" cy="1030543"/>
          </a:xfrm>
        </p:grpSpPr>
        <p:grpSp>
          <p:nvGrpSpPr>
            <p:cNvPr id="321" name="그룹 320">
              <a:extLst>
                <a:ext uri="{FF2B5EF4-FFF2-40B4-BE49-F238E27FC236}">
                  <a16:creationId xmlns:a16="http://schemas.microsoft.com/office/drawing/2014/main" id="{35FCEC25-19AC-6CFF-9FED-8B52E75C6134}"/>
                </a:ext>
              </a:extLst>
            </p:cNvPr>
            <p:cNvGrpSpPr/>
            <p:nvPr/>
          </p:nvGrpSpPr>
          <p:grpSpPr>
            <a:xfrm>
              <a:off x="432275" y="3415586"/>
              <a:ext cx="2940094" cy="1030543"/>
              <a:chOff x="432275" y="3415586"/>
              <a:chExt cx="2940094" cy="1030543"/>
            </a:xfrm>
          </p:grpSpPr>
          <p:sp>
            <p:nvSpPr>
              <p:cNvPr id="227" name="사각형: 둥근 모서리 226">
                <a:extLst>
                  <a:ext uri="{FF2B5EF4-FFF2-40B4-BE49-F238E27FC236}">
                    <a16:creationId xmlns:a16="http://schemas.microsoft.com/office/drawing/2014/main" id="{142F7B1C-D23D-BDC2-1B51-3E8B8B6114B0}"/>
                  </a:ext>
                </a:extLst>
              </p:cNvPr>
              <p:cNvSpPr/>
              <p:nvPr/>
            </p:nvSpPr>
            <p:spPr bwMode="auto">
              <a:xfrm>
                <a:off x="432275" y="3415586"/>
                <a:ext cx="2940094" cy="1030543"/>
              </a:xfrm>
              <a:prstGeom prst="roundRect">
                <a:avLst>
                  <a:gd name="adj" fmla="val 3129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10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AAE50908-BBB7-B55C-8940-6C1640F938C8}"/>
                  </a:ext>
                </a:extLst>
              </p:cNvPr>
              <p:cNvSpPr txBox="1"/>
              <p:nvPr/>
            </p:nvSpPr>
            <p:spPr>
              <a:xfrm>
                <a:off x="776536" y="3477741"/>
                <a:ext cx="2160240" cy="22659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050" b="1" i="0" u="none" strike="noStrike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effectLst/>
                    <a:latin typeface="+mn-ea"/>
                    <a:ea typeface="+mn-ea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ko-KR" altLang="en-US" sz="1000"/>
                  <a:t>자료수집</a:t>
                </a:r>
                <a:r>
                  <a:rPr lang="en-US" altLang="ko-KR" sz="1000"/>
                  <a:t>(</a:t>
                </a:r>
                <a:r>
                  <a:rPr lang="ko-KR" altLang="en-US" sz="1000"/>
                  <a:t>조사표</a:t>
                </a:r>
                <a:r>
                  <a:rPr lang="en-US" altLang="ko-KR" sz="1000"/>
                  <a:t>/</a:t>
                </a:r>
                <a:r>
                  <a:rPr lang="ko-KR" altLang="en-US" sz="1000"/>
                  <a:t>내검 설계</a:t>
                </a:r>
                <a:r>
                  <a:rPr lang="en-US" altLang="ko-KR" sz="1000"/>
                  <a:t>)</a:t>
                </a:r>
              </a:p>
            </p:txBody>
          </p:sp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C88C1D07-A563-896E-EC7B-6245B0BE53C3}"/>
                  </a:ext>
                </a:extLst>
              </p:cNvPr>
              <p:cNvSpPr txBox="1"/>
              <p:nvPr/>
            </p:nvSpPr>
            <p:spPr>
              <a:xfrm>
                <a:off x="776536" y="3777341"/>
                <a:ext cx="2448272" cy="37503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400" b="1" i="0" u="none" strike="noStrike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effectLst/>
                    <a:latin typeface="+mn-ea"/>
                    <a:ea typeface="+mn-ea"/>
                  </a:defRPr>
                </a:lvl1pPr>
              </a:lstStyle>
              <a:p>
                <a:r>
                  <a:rPr lang="ko-KR" altLang="en-US" sz="700" b="0"/>
                  <a:t>조사표</a:t>
                </a:r>
                <a:r>
                  <a:rPr lang="en-US" altLang="ko-KR" sz="700" b="0"/>
                  <a:t>/</a:t>
                </a:r>
                <a:r>
                  <a:rPr lang="ko-KR" altLang="en-US" sz="700" b="0"/>
                  <a:t>항목 자동 설계 ∙ 문항 품질 진단 ∙ 모바일 </a:t>
                </a:r>
                <a:r>
                  <a:rPr lang="en-US" altLang="ko-KR" sz="700" b="0"/>
                  <a:t>UX </a:t>
                </a:r>
                <a:r>
                  <a:rPr lang="ko-KR" altLang="en-US" sz="700" b="0"/>
                  <a:t>자동 변환 ∙ 항목이동</a:t>
                </a:r>
                <a:r>
                  <a:rPr lang="en-US" altLang="ko-KR" sz="700" b="0"/>
                  <a:t>/</a:t>
                </a:r>
                <a:r>
                  <a:rPr lang="ko-KR" altLang="en-US" sz="700" b="0"/>
                  <a:t>유효성 룰 자동 생성</a:t>
                </a:r>
                <a:endParaRPr lang="en-US" altLang="ko-KR" sz="700" b="0"/>
              </a:p>
            </p:txBody>
          </p:sp>
          <p:sp>
            <p:nvSpPr>
              <p:cNvPr id="317" name="순서도: 연결자 316">
                <a:extLst>
                  <a:ext uri="{FF2B5EF4-FFF2-40B4-BE49-F238E27FC236}">
                    <a16:creationId xmlns:a16="http://schemas.microsoft.com/office/drawing/2014/main" id="{ABCF051B-789E-AB19-BB4F-6D75254756E3}"/>
                  </a:ext>
                </a:extLst>
              </p:cNvPr>
              <p:cNvSpPr/>
              <p:nvPr/>
            </p:nvSpPr>
            <p:spPr bwMode="auto">
              <a:xfrm>
                <a:off x="488504" y="3465032"/>
                <a:ext cx="252000" cy="2520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79488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ko-KR" altLang="en-US" sz="1200" b="1">
                    <a:solidFill>
                      <a:schemeClr val="accent5">
                        <a:lumMod val="75000"/>
                      </a:schemeClr>
                    </a:solidFill>
                    <a:latin typeface="+mn-ea"/>
                    <a:ea typeface="+mn-ea"/>
                  </a:rPr>
                  <a:t>√</a:t>
                </a:r>
                <a:endParaRPr kumimoji="1" lang="ko-KR" altLang="en-US" sz="1200" b="1" i="0" u="none" strike="noStrike" cap="none" normalizeH="0" baseline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  <a:ea typeface="+mn-ea"/>
                </a:endParaRPr>
              </a:p>
            </p:txBody>
          </p:sp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2FD60514-5B1E-A076-4553-70C5E6E56314}"/>
                  </a:ext>
                </a:extLst>
              </p:cNvPr>
              <p:cNvSpPr txBox="1"/>
              <p:nvPr/>
            </p:nvSpPr>
            <p:spPr>
              <a:xfrm>
                <a:off x="493318" y="4191915"/>
                <a:ext cx="2731490" cy="2134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400" b="1" i="0" u="none" strike="noStrike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effectLst/>
                    <a:latin typeface="+mn-ea"/>
                    <a:ea typeface="+mn-ea"/>
                  </a:defRPr>
                </a:lvl1pPr>
              </a:lstStyle>
              <a:p>
                <a:pPr marL="171450" indent="-171450">
                  <a:buFont typeface="Wingdings" panose="05000000000000000000" pitchFamily="2" charset="2"/>
                  <a:buChar char="v"/>
                </a:pPr>
                <a:r>
                  <a:rPr lang="ko-KR" altLang="en-US" sz="700" b="0">
                    <a:solidFill>
                      <a:srgbClr val="2A63A8"/>
                    </a:solidFill>
                  </a:rPr>
                  <a:t>오류 초기 차단 → 후단 비용 절감</a:t>
                </a:r>
                <a:endParaRPr lang="en-US" altLang="ko-KR" sz="700" b="0">
                  <a:solidFill>
                    <a:srgbClr val="2A63A8"/>
                  </a:solidFill>
                </a:endParaRPr>
              </a:p>
            </p:txBody>
          </p:sp>
        </p:grpSp>
        <p:sp>
          <p:nvSpPr>
            <p:cNvPr id="322" name="순서도: 수행의 시작/종료 321">
              <a:extLst>
                <a:ext uri="{FF2B5EF4-FFF2-40B4-BE49-F238E27FC236}">
                  <a16:creationId xmlns:a16="http://schemas.microsoft.com/office/drawing/2014/main" id="{1D763772-4FFB-FAB1-7A1F-F736663F7E78}"/>
                </a:ext>
              </a:extLst>
            </p:cNvPr>
            <p:cNvSpPr/>
            <p:nvPr/>
          </p:nvSpPr>
          <p:spPr bwMode="auto">
            <a:xfrm>
              <a:off x="2741442" y="3477622"/>
              <a:ext cx="574424" cy="180000"/>
            </a:xfrm>
            <a:prstGeom prst="flowChartTerminator">
              <a:avLst/>
            </a:prstGeom>
            <a:solidFill>
              <a:schemeClr val="tx2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+mn-ea"/>
                  <a:ea typeface="+mn-ea"/>
                </a:rPr>
                <a:t>과제 </a:t>
              </a:r>
              <a:r>
                <a:rPr lang="en-US" altLang="ko-KR" sz="700">
                  <a:solidFill>
                    <a:schemeClr val="bg1"/>
                  </a:solidFill>
                  <a:latin typeface="+mn-ea"/>
                  <a:ea typeface="+mn-ea"/>
                </a:rPr>
                <a:t>1,2,3,4</a:t>
              </a:r>
              <a:endParaRPr lang="ko-KR" altLang="en-US" sz="7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324" name="그룹 323">
            <a:extLst>
              <a:ext uri="{FF2B5EF4-FFF2-40B4-BE49-F238E27FC236}">
                <a16:creationId xmlns:a16="http://schemas.microsoft.com/office/drawing/2014/main" id="{5F785E91-E855-ABD8-155A-CF407DCF3175}"/>
              </a:ext>
            </a:extLst>
          </p:cNvPr>
          <p:cNvGrpSpPr/>
          <p:nvPr/>
        </p:nvGrpSpPr>
        <p:grpSpPr>
          <a:xfrm>
            <a:off x="3491771" y="3357421"/>
            <a:ext cx="2940094" cy="1030543"/>
            <a:chOff x="432275" y="3415586"/>
            <a:chExt cx="2940094" cy="1030543"/>
          </a:xfrm>
        </p:grpSpPr>
        <p:grpSp>
          <p:nvGrpSpPr>
            <p:cNvPr id="325" name="그룹 324">
              <a:extLst>
                <a:ext uri="{FF2B5EF4-FFF2-40B4-BE49-F238E27FC236}">
                  <a16:creationId xmlns:a16="http://schemas.microsoft.com/office/drawing/2014/main" id="{C980CEF4-4E7E-24DF-46C7-45C4EBA5BA19}"/>
                </a:ext>
              </a:extLst>
            </p:cNvPr>
            <p:cNvGrpSpPr/>
            <p:nvPr/>
          </p:nvGrpSpPr>
          <p:grpSpPr>
            <a:xfrm>
              <a:off x="432275" y="3415586"/>
              <a:ext cx="2940094" cy="1030543"/>
              <a:chOff x="432275" y="3415586"/>
              <a:chExt cx="2940094" cy="1030543"/>
            </a:xfrm>
          </p:grpSpPr>
          <p:sp>
            <p:nvSpPr>
              <p:cNvPr id="327" name="사각형: 둥근 모서리 326">
                <a:extLst>
                  <a:ext uri="{FF2B5EF4-FFF2-40B4-BE49-F238E27FC236}">
                    <a16:creationId xmlns:a16="http://schemas.microsoft.com/office/drawing/2014/main" id="{BE2EB6F9-7A52-F8DF-9A0A-858FF33C8445}"/>
                  </a:ext>
                </a:extLst>
              </p:cNvPr>
              <p:cNvSpPr/>
              <p:nvPr/>
            </p:nvSpPr>
            <p:spPr bwMode="auto">
              <a:xfrm>
                <a:off x="432275" y="3415586"/>
                <a:ext cx="2940094" cy="1030543"/>
              </a:xfrm>
              <a:prstGeom prst="roundRect">
                <a:avLst>
                  <a:gd name="adj" fmla="val 3129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10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91C739E7-640A-081E-F5BE-8B8BADDBA96E}"/>
                  </a:ext>
                </a:extLst>
              </p:cNvPr>
              <p:cNvSpPr txBox="1"/>
              <p:nvPr/>
            </p:nvSpPr>
            <p:spPr>
              <a:xfrm>
                <a:off x="776536" y="3477741"/>
                <a:ext cx="2160240" cy="22659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050" b="1" i="0" u="none" strike="noStrike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effectLst/>
                    <a:latin typeface="+mn-ea"/>
                    <a:ea typeface="+mn-ea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ko-KR" altLang="en-US" sz="1000"/>
                  <a:t>자료처리</a:t>
                </a:r>
                <a:r>
                  <a:rPr lang="en-US" altLang="ko-KR" sz="1000"/>
                  <a:t>(</a:t>
                </a:r>
                <a:r>
                  <a:rPr lang="ko-KR" altLang="en-US" sz="1000"/>
                  <a:t>에디팅</a:t>
                </a:r>
                <a:r>
                  <a:rPr lang="en-US" altLang="ko-KR" sz="1000"/>
                  <a:t>)</a:t>
                </a:r>
              </a:p>
            </p:txBody>
          </p:sp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F283096D-E5E6-A90E-7AA4-7BE69BD918F6}"/>
                  </a:ext>
                </a:extLst>
              </p:cNvPr>
              <p:cNvSpPr txBox="1"/>
              <p:nvPr/>
            </p:nvSpPr>
            <p:spPr>
              <a:xfrm>
                <a:off x="776536" y="3777341"/>
                <a:ext cx="2448272" cy="37503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400" b="1" i="0" u="none" strike="noStrike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effectLst/>
                    <a:latin typeface="+mn-ea"/>
                    <a:ea typeface="+mn-ea"/>
                  </a:defRPr>
                </a:lvl1pPr>
              </a:lstStyle>
              <a:p>
                <a:r>
                  <a:rPr lang="ko-KR" altLang="en-US" sz="700" b="0"/>
                  <a:t>에디팅 우선순위 추천 ∙ 자동 대체</a:t>
                </a:r>
                <a:r>
                  <a:rPr lang="en-US" altLang="ko-KR" sz="700" b="0"/>
                  <a:t>(Imputation) ∙ </a:t>
                </a:r>
                <a:r>
                  <a:rPr lang="ko-KR" altLang="en-US" sz="700" b="0"/>
                  <a:t>분류코딩 자동화</a:t>
                </a:r>
                <a:r>
                  <a:rPr lang="en-US" altLang="ko-KR" sz="700" b="0"/>
                  <a:t>(Top-k + </a:t>
                </a:r>
                <a:r>
                  <a:rPr lang="ko-KR" altLang="en-US" sz="700" b="0"/>
                  <a:t>확신도</a:t>
                </a:r>
                <a:r>
                  <a:rPr lang="en-US" altLang="ko-KR" sz="700" b="0"/>
                  <a:t>)</a:t>
                </a:r>
              </a:p>
            </p:txBody>
          </p:sp>
          <p:sp>
            <p:nvSpPr>
              <p:cNvPr id="330" name="순서도: 연결자 329">
                <a:extLst>
                  <a:ext uri="{FF2B5EF4-FFF2-40B4-BE49-F238E27FC236}">
                    <a16:creationId xmlns:a16="http://schemas.microsoft.com/office/drawing/2014/main" id="{F421BD7A-9CEB-B871-8495-CFE3404BAABB}"/>
                  </a:ext>
                </a:extLst>
              </p:cNvPr>
              <p:cNvSpPr/>
              <p:nvPr/>
            </p:nvSpPr>
            <p:spPr bwMode="auto">
              <a:xfrm>
                <a:off x="488504" y="3465032"/>
                <a:ext cx="252000" cy="2520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79488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ko-KR" altLang="en-US" sz="1200" b="1">
                    <a:solidFill>
                      <a:schemeClr val="accent5">
                        <a:lumMod val="75000"/>
                      </a:schemeClr>
                    </a:solidFill>
                    <a:latin typeface="+mn-ea"/>
                    <a:ea typeface="+mn-ea"/>
                  </a:rPr>
                  <a:t>√</a:t>
                </a:r>
                <a:endParaRPr kumimoji="1" lang="ko-KR" altLang="en-US" sz="1200" b="1" i="0" u="none" strike="noStrike" cap="none" normalizeH="0" baseline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  <a:ea typeface="+mn-ea"/>
                </a:endParaRPr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625A4F9C-97B0-55D4-63EB-F275F7333D7D}"/>
                  </a:ext>
                </a:extLst>
              </p:cNvPr>
              <p:cNvSpPr txBox="1"/>
              <p:nvPr/>
            </p:nvSpPr>
            <p:spPr>
              <a:xfrm>
                <a:off x="493318" y="4191915"/>
                <a:ext cx="2731490" cy="2134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400" b="1" i="0" u="none" strike="noStrike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effectLst/>
                    <a:latin typeface="+mn-ea"/>
                    <a:ea typeface="+mn-ea"/>
                  </a:defRPr>
                </a:lvl1pPr>
              </a:lstStyle>
              <a:p>
                <a:pPr marL="171450" indent="-171450">
                  <a:buFont typeface="Wingdings" panose="05000000000000000000" pitchFamily="2" charset="2"/>
                  <a:buChar char="v"/>
                </a:pPr>
                <a:r>
                  <a:rPr lang="ko-KR" altLang="en-US" sz="700" b="0">
                    <a:solidFill>
                      <a:srgbClr val="2A63A8"/>
                    </a:solidFill>
                  </a:rPr>
                  <a:t>전수 점검 → 지능형 선별 ∙ 추천 전환</a:t>
                </a:r>
                <a:endParaRPr lang="en-US" altLang="ko-KR" sz="700" b="0">
                  <a:solidFill>
                    <a:srgbClr val="2A63A8"/>
                  </a:solidFill>
                </a:endParaRPr>
              </a:p>
            </p:txBody>
          </p:sp>
        </p:grpSp>
        <p:sp>
          <p:nvSpPr>
            <p:cNvPr id="326" name="순서도: 수행의 시작/종료 325">
              <a:extLst>
                <a:ext uri="{FF2B5EF4-FFF2-40B4-BE49-F238E27FC236}">
                  <a16:creationId xmlns:a16="http://schemas.microsoft.com/office/drawing/2014/main" id="{854AA54B-5640-571F-9FE4-B9221CD8E5EC}"/>
                </a:ext>
              </a:extLst>
            </p:cNvPr>
            <p:cNvSpPr/>
            <p:nvPr/>
          </p:nvSpPr>
          <p:spPr bwMode="auto">
            <a:xfrm>
              <a:off x="2741442" y="3477622"/>
              <a:ext cx="574424" cy="180000"/>
            </a:xfrm>
            <a:prstGeom prst="flowChartTerminator">
              <a:avLst/>
            </a:prstGeom>
            <a:solidFill>
              <a:schemeClr val="tx2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+mn-ea"/>
                  <a:ea typeface="+mn-ea"/>
                </a:rPr>
                <a:t>과제 </a:t>
              </a:r>
              <a:r>
                <a:rPr lang="en-US" altLang="ko-KR" sz="700">
                  <a:solidFill>
                    <a:schemeClr val="bg1"/>
                  </a:solidFill>
                  <a:latin typeface="+mn-ea"/>
                  <a:ea typeface="+mn-ea"/>
                </a:rPr>
                <a:t>5,6,7</a:t>
              </a:r>
              <a:endParaRPr lang="ko-KR" altLang="en-US" sz="7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332" name="그룹 331">
            <a:extLst>
              <a:ext uri="{FF2B5EF4-FFF2-40B4-BE49-F238E27FC236}">
                <a16:creationId xmlns:a16="http://schemas.microsoft.com/office/drawing/2014/main" id="{0C017CB7-DF13-6381-5AEF-967C364BD6C5}"/>
              </a:ext>
            </a:extLst>
          </p:cNvPr>
          <p:cNvGrpSpPr/>
          <p:nvPr/>
        </p:nvGrpSpPr>
        <p:grpSpPr>
          <a:xfrm>
            <a:off x="6551267" y="3357421"/>
            <a:ext cx="2940094" cy="1030543"/>
            <a:chOff x="432275" y="3415586"/>
            <a:chExt cx="2940094" cy="1030543"/>
          </a:xfrm>
        </p:grpSpPr>
        <p:grpSp>
          <p:nvGrpSpPr>
            <p:cNvPr id="333" name="그룹 332">
              <a:extLst>
                <a:ext uri="{FF2B5EF4-FFF2-40B4-BE49-F238E27FC236}">
                  <a16:creationId xmlns:a16="http://schemas.microsoft.com/office/drawing/2014/main" id="{19334679-1C69-52B6-0920-A2E275E348BD}"/>
                </a:ext>
              </a:extLst>
            </p:cNvPr>
            <p:cNvGrpSpPr/>
            <p:nvPr/>
          </p:nvGrpSpPr>
          <p:grpSpPr>
            <a:xfrm>
              <a:off x="432275" y="3415586"/>
              <a:ext cx="2940094" cy="1030543"/>
              <a:chOff x="432275" y="3415586"/>
              <a:chExt cx="2940094" cy="1030543"/>
            </a:xfrm>
          </p:grpSpPr>
          <p:sp>
            <p:nvSpPr>
              <p:cNvPr id="335" name="사각형: 둥근 모서리 334">
                <a:extLst>
                  <a:ext uri="{FF2B5EF4-FFF2-40B4-BE49-F238E27FC236}">
                    <a16:creationId xmlns:a16="http://schemas.microsoft.com/office/drawing/2014/main" id="{890A681A-0A1E-2F78-7871-25E3ED1D164C}"/>
                  </a:ext>
                </a:extLst>
              </p:cNvPr>
              <p:cNvSpPr/>
              <p:nvPr/>
            </p:nvSpPr>
            <p:spPr bwMode="auto">
              <a:xfrm>
                <a:off x="432275" y="3415586"/>
                <a:ext cx="2940094" cy="1030543"/>
              </a:xfrm>
              <a:prstGeom prst="roundRect">
                <a:avLst>
                  <a:gd name="adj" fmla="val 3129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10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ABAABA62-28A8-191F-7DF9-743A64F49ACC}"/>
                  </a:ext>
                </a:extLst>
              </p:cNvPr>
              <p:cNvSpPr txBox="1"/>
              <p:nvPr/>
            </p:nvSpPr>
            <p:spPr>
              <a:xfrm>
                <a:off x="776536" y="3477741"/>
                <a:ext cx="2160240" cy="22659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050" b="1" i="0" u="none" strike="noStrike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effectLst/>
                    <a:latin typeface="+mn-ea"/>
                    <a:ea typeface="+mn-ea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ko-KR" altLang="en-US" sz="1000"/>
                  <a:t>자료보관</a:t>
                </a:r>
                <a:r>
                  <a:rPr lang="en-US" altLang="ko-KR" sz="1000"/>
                  <a:t>(</a:t>
                </a:r>
                <a:r>
                  <a:rPr lang="ko-KR" altLang="en-US" sz="1000"/>
                  <a:t>공표 ∙ 검증 ∙ 설명</a:t>
                </a:r>
                <a:r>
                  <a:rPr lang="en-US" altLang="ko-KR" sz="1000"/>
                  <a:t>)</a:t>
                </a:r>
              </a:p>
            </p:txBody>
          </p:sp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00C45790-C4A4-DA7F-994C-9A393FDA7C77}"/>
                  </a:ext>
                </a:extLst>
              </p:cNvPr>
              <p:cNvSpPr txBox="1"/>
              <p:nvPr/>
            </p:nvSpPr>
            <p:spPr>
              <a:xfrm>
                <a:off x="776536" y="3777341"/>
                <a:ext cx="2448272" cy="37503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400" b="1" i="0" u="none" strike="noStrike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effectLst/>
                    <a:latin typeface="+mn-ea"/>
                    <a:ea typeface="+mn-ea"/>
                  </a:defRPr>
                </a:lvl1pPr>
              </a:lstStyle>
              <a:p>
                <a:r>
                  <a:rPr lang="ko-KR" altLang="en-US" sz="700" b="0"/>
                  <a:t>통계표 자동 생성 ∙ 공표 전 자동 검증 ∙ 공표 설명자료 초안생성</a:t>
                </a:r>
                <a:endParaRPr lang="en-US" altLang="ko-KR" sz="700" b="0"/>
              </a:p>
            </p:txBody>
          </p:sp>
          <p:sp>
            <p:nvSpPr>
              <p:cNvPr id="338" name="순서도: 연결자 337">
                <a:extLst>
                  <a:ext uri="{FF2B5EF4-FFF2-40B4-BE49-F238E27FC236}">
                    <a16:creationId xmlns:a16="http://schemas.microsoft.com/office/drawing/2014/main" id="{52FB002F-69B1-8F59-A58B-FB0C22535C95}"/>
                  </a:ext>
                </a:extLst>
              </p:cNvPr>
              <p:cNvSpPr/>
              <p:nvPr/>
            </p:nvSpPr>
            <p:spPr bwMode="auto">
              <a:xfrm>
                <a:off x="488504" y="3465032"/>
                <a:ext cx="252000" cy="2520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79488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ko-KR" altLang="en-US" sz="1200" b="1">
                    <a:solidFill>
                      <a:schemeClr val="accent5">
                        <a:lumMod val="75000"/>
                      </a:schemeClr>
                    </a:solidFill>
                    <a:latin typeface="+mn-ea"/>
                    <a:ea typeface="+mn-ea"/>
                  </a:rPr>
                  <a:t>√</a:t>
                </a:r>
                <a:endParaRPr kumimoji="1" lang="ko-KR" altLang="en-US" sz="1200" b="1" i="0" u="none" strike="noStrike" cap="none" normalizeH="0" baseline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  <a:ea typeface="+mn-ea"/>
                </a:endParaRPr>
              </a:p>
            </p:txBody>
          </p:sp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D326EF57-F61B-426E-4A7E-FE972CA7BDF4}"/>
                  </a:ext>
                </a:extLst>
              </p:cNvPr>
              <p:cNvSpPr txBox="1"/>
              <p:nvPr/>
            </p:nvSpPr>
            <p:spPr>
              <a:xfrm>
                <a:off x="493318" y="4191915"/>
                <a:ext cx="2731490" cy="2134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400" b="1" i="0" u="none" strike="noStrike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effectLst/>
                    <a:latin typeface="+mn-ea"/>
                    <a:ea typeface="+mn-ea"/>
                  </a:defRPr>
                </a:lvl1pPr>
              </a:lstStyle>
              <a:p>
                <a:pPr marL="171450" indent="-171450">
                  <a:buFont typeface="Wingdings" panose="05000000000000000000" pitchFamily="2" charset="2"/>
                  <a:buChar char="v"/>
                </a:pPr>
                <a:r>
                  <a:rPr lang="ko-KR" altLang="en-US" sz="700" b="0">
                    <a:solidFill>
                      <a:srgbClr val="2A63A8"/>
                    </a:solidFill>
                  </a:rPr>
                  <a:t>정시 공표의 마지막 방어선</a:t>
                </a:r>
                <a:endParaRPr lang="en-US" altLang="ko-KR" sz="700" b="0">
                  <a:solidFill>
                    <a:srgbClr val="2A63A8"/>
                  </a:solidFill>
                </a:endParaRPr>
              </a:p>
            </p:txBody>
          </p:sp>
        </p:grpSp>
        <p:sp>
          <p:nvSpPr>
            <p:cNvPr id="334" name="순서도: 수행의 시작/종료 333">
              <a:extLst>
                <a:ext uri="{FF2B5EF4-FFF2-40B4-BE49-F238E27FC236}">
                  <a16:creationId xmlns:a16="http://schemas.microsoft.com/office/drawing/2014/main" id="{F479F420-B1C8-D38E-76CA-509BEB39C38B}"/>
                </a:ext>
              </a:extLst>
            </p:cNvPr>
            <p:cNvSpPr/>
            <p:nvPr/>
          </p:nvSpPr>
          <p:spPr bwMode="auto">
            <a:xfrm>
              <a:off x="2741442" y="3477622"/>
              <a:ext cx="574424" cy="180000"/>
            </a:xfrm>
            <a:prstGeom prst="flowChartTerminator">
              <a:avLst/>
            </a:prstGeom>
            <a:solidFill>
              <a:schemeClr val="tx2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+mn-ea"/>
                  <a:ea typeface="+mn-ea"/>
                </a:rPr>
                <a:t>과제 </a:t>
              </a:r>
              <a:r>
                <a:rPr lang="en-US" altLang="ko-KR" sz="700">
                  <a:solidFill>
                    <a:schemeClr val="bg1"/>
                  </a:solidFill>
                  <a:latin typeface="+mn-ea"/>
                  <a:ea typeface="+mn-ea"/>
                </a:rPr>
                <a:t>8,9,10</a:t>
              </a:r>
              <a:endParaRPr lang="ko-KR" altLang="en-US" sz="7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340" name="TextBox 339">
            <a:extLst>
              <a:ext uri="{FF2B5EF4-FFF2-40B4-BE49-F238E27FC236}">
                <a16:creationId xmlns:a16="http://schemas.microsoft.com/office/drawing/2014/main" id="{58CBDB7B-4C6B-C641-5AC0-909DD45D320C}"/>
              </a:ext>
            </a:extLst>
          </p:cNvPr>
          <p:cNvSpPr txBox="1"/>
          <p:nvPr/>
        </p:nvSpPr>
        <p:spPr>
          <a:xfrm>
            <a:off x="403796" y="4509120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</a:t>
            </a:r>
            <a:r>
              <a:rPr lang="en-US" altLang="ko-KR">
                <a:latin typeface="+mn-ea"/>
                <a:ea typeface="+mn-ea"/>
              </a:rPr>
              <a:t>LAYER 3 : </a:t>
            </a:r>
            <a:r>
              <a:rPr lang="ko-KR" altLang="en-US">
                <a:latin typeface="+mn-ea"/>
                <a:ea typeface="+mn-ea"/>
              </a:rPr>
              <a:t>공통 기반 </a:t>
            </a:r>
            <a:r>
              <a:rPr lang="en-US" altLang="ko-KR">
                <a:latin typeface="+mn-ea"/>
                <a:ea typeface="+mn-ea"/>
              </a:rPr>
              <a:t>- </a:t>
            </a:r>
            <a:r>
              <a:rPr lang="ko-KR" altLang="en-US">
                <a:latin typeface="+mn-ea"/>
                <a:ea typeface="+mn-ea"/>
              </a:rPr>
              <a:t>메타 연결성 ∙ 로그 ∙ 운영 거버넌스 </a:t>
            </a:r>
            <a:r>
              <a:rPr lang="en-US" altLang="ko-KR">
                <a:latin typeface="+mn-ea"/>
                <a:ea typeface="+mn-ea"/>
              </a:rPr>
              <a:t>(</a:t>
            </a:r>
            <a:r>
              <a:rPr lang="ko-KR" altLang="en-US">
                <a:latin typeface="+mn-ea"/>
                <a:ea typeface="+mn-ea"/>
              </a:rPr>
              <a:t>필수 선행</a:t>
            </a:r>
            <a:r>
              <a:rPr lang="en-US" altLang="ko-KR">
                <a:latin typeface="+mn-ea"/>
                <a:ea typeface="+mn-ea"/>
              </a:rPr>
              <a:t>)</a:t>
            </a:r>
            <a:endParaRPr lang="en-US" altLang="ko-KR" dirty="0">
              <a:latin typeface="+mn-ea"/>
              <a:ea typeface="+mn-ea"/>
            </a:endParaRPr>
          </a:p>
        </p:txBody>
      </p:sp>
      <p:grpSp>
        <p:nvGrpSpPr>
          <p:cNvPr id="403" name="그룹 402">
            <a:extLst>
              <a:ext uri="{FF2B5EF4-FFF2-40B4-BE49-F238E27FC236}">
                <a16:creationId xmlns:a16="http://schemas.microsoft.com/office/drawing/2014/main" id="{8E19E8FF-0242-9819-36FF-05BEB0575495}"/>
              </a:ext>
            </a:extLst>
          </p:cNvPr>
          <p:cNvGrpSpPr/>
          <p:nvPr/>
        </p:nvGrpSpPr>
        <p:grpSpPr>
          <a:xfrm>
            <a:off x="432276" y="4908362"/>
            <a:ext cx="2111056" cy="686765"/>
            <a:chOff x="432276" y="3415586"/>
            <a:chExt cx="2111056" cy="686765"/>
          </a:xfrm>
        </p:grpSpPr>
        <p:sp>
          <p:nvSpPr>
            <p:cNvPr id="405" name="사각형: 둥근 모서리 404">
              <a:extLst>
                <a:ext uri="{FF2B5EF4-FFF2-40B4-BE49-F238E27FC236}">
                  <a16:creationId xmlns:a16="http://schemas.microsoft.com/office/drawing/2014/main" id="{BAA2D320-7735-3E0B-F2D0-CCD2EE0A4033}"/>
                </a:ext>
              </a:extLst>
            </p:cNvPr>
            <p:cNvSpPr/>
            <p:nvPr/>
          </p:nvSpPr>
          <p:spPr bwMode="auto">
            <a:xfrm>
              <a:off x="432276" y="3415586"/>
              <a:ext cx="2111056" cy="686765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406" name="TextBox 405">
              <a:extLst>
                <a:ext uri="{FF2B5EF4-FFF2-40B4-BE49-F238E27FC236}">
                  <a16:creationId xmlns:a16="http://schemas.microsoft.com/office/drawing/2014/main" id="{7C9027F4-B92C-069F-DA5B-E6F75E009F9D}"/>
                </a:ext>
              </a:extLst>
            </p:cNvPr>
            <p:cNvSpPr txBox="1"/>
            <p:nvPr/>
          </p:nvSpPr>
          <p:spPr>
            <a:xfrm>
              <a:off x="776536" y="3477741"/>
              <a:ext cx="1694785" cy="22659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000"/>
                <a:t>고유키</a:t>
              </a:r>
              <a:r>
                <a:rPr lang="en-US" altLang="ko-KR" sz="1000"/>
                <a:t>(</a:t>
              </a:r>
              <a:r>
                <a:rPr lang="ko-KR" altLang="en-US" sz="1000"/>
                <a:t>표준 </a:t>
              </a:r>
              <a:r>
                <a:rPr lang="en-US" altLang="ko-KR" sz="1000"/>
                <a:t>ID)</a:t>
              </a:r>
            </a:p>
          </p:txBody>
        </p:sp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A2CA8E48-8D1C-EBA0-024B-9A43B060FB71}"/>
                </a:ext>
              </a:extLst>
            </p:cNvPr>
            <p:cNvSpPr txBox="1"/>
            <p:nvPr/>
          </p:nvSpPr>
          <p:spPr>
            <a:xfrm>
              <a:off x="776536" y="3779787"/>
              <a:ext cx="1694785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en-US" altLang="ko-KR" sz="700" b="0"/>
                <a:t>Question ID ∙ Variable ID ∙ Code list ID</a:t>
              </a:r>
            </a:p>
          </p:txBody>
        </p:sp>
        <p:sp>
          <p:nvSpPr>
            <p:cNvPr id="408" name="순서도: 연결자 407">
              <a:extLst>
                <a:ext uri="{FF2B5EF4-FFF2-40B4-BE49-F238E27FC236}">
                  <a16:creationId xmlns:a16="http://schemas.microsoft.com/office/drawing/2014/main" id="{1C56A075-F774-791B-23DB-FC1B759ABC7F}"/>
                </a:ext>
              </a:extLst>
            </p:cNvPr>
            <p:cNvSpPr/>
            <p:nvPr/>
          </p:nvSpPr>
          <p:spPr bwMode="auto">
            <a:xfrm>
              <a:off x="488504" y="3465032"/>
              <a:ext cx="252000" cy="2520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79488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ko-KR" altLang="en-US" sz="1200" b="1">
                  <a:solidFill>
                    <a:schemeClr val="accent5">
                      <a:lumMod val="75000"/>
                    </a:schemeClr>
                  </a:solidFill>
                  <a:latin typeface="+mn-ea"/>
                  <a:ea typeface="+mn-ea"/>
                </a:rPr>
                <a:t>√</a:t>
              </a:r>
              <a:endParaRPr kumimoji="1" lang="ko-KR" altLang="en-US" sz="1200" b="1" i="0" u="none" strike="noStrike" cap="none" normalizeH="0" baseline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ea typeface="+mn-ea"/>
              </a:endParaRPr>
            </a:p>
          </p:txBody>
        </p:sp>
      </p:grpSp>
      <p:grpSp>
        <p:nvGrpSpPr>
          <p:cNvPr id="425" name="그룹 424">
            <a:extLst>
              <a:ext uri="{FF2B5EF4-FFF2-40B4-BE49-F238E27FC236}">
                <a16:creationId xmlns:a16="http://schemas.microsoft.com/office/drawing/2014/main" id="{1CCDE0E4-B852-BBC5-7C6F-092F808C59E4}"/>
              </a:ext>
            </a:extLst>
          </p:cNvPr>
          <p:cNvGrpSpPr/>
          <p:nvPr/>
        </p:nvGrpSpPr>
        <p:grpSpPr>
          <a:xfrm>
            <a:off x="2748286" y="4908362"/>
            <a:ext cx="2111056" cy="686765"/>
            <a:chOff x="432276" y="3415586"/>
            <a:chExt cx="2111056" cy="686765"/>
          </a:xfrm>
        </p:grpSpPr>
        <p:sp>
          <p:nvSpPr>
            <p:cNvPr id="426" name="사각형: 둥근 모서리 425">
              <a:extLst>
                <a:ext uri="{FF2B5EF4-FFF2-40B4-BE49-F238E27FC236}">
                  <a16:creationId xmlns:a16="http://schemas.microsoft.com/office/drawing/2014/main" id="{33C573B7-0C60-EF13-6185-F44D4BAD16DA}"/>
                </a:ext>
              </a:extLst>
            </p:cNvPr>
            <p:cNvSpPr/>
            <p:nvPr/>
          </p:nvSpPr>
          <p:spPr bwMode="auto">
            <a:xfrm>
              <a:off x="432276" y="3415586"/>
              <a:ext cx="2111056" cy="686765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F88013CE-AC5E-764F-3F85-19E9AB832F81}"/>
                </a:ext>
              </a:extLst>
            </p:cNvPr>
            <p:cNvSpPr txBox="1"/>
            <p:nvPr/>
          </p:nvSpPr>
          <p:spPr>
            <a:xfrm>
              <a:off x="776536" y="3477741"/>
              <a:ext cx="1694785" cy="22659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000"/>
                <a:t>연결 테이블</a:t>
              </a:r>
              <a:endParaRPr lang="en-US" altLang="ko-KR" sz="1000"/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F9130C21-4486-F065-7A01-0C841CB6DD15}"/>
                </a:ext>
              </a:extLst>
            </p:cNvPr>
            <p:cNvSpPr txBox="1"/>
            <p:nvPr/>
          </p:nvSpPr>
          <p:spPr>
            <a:xfrm>
              <a:off x="776536" y="3779787"/>
              <a:ext cx="1694785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문항↔</a:t>
              </a:r>
              <a:r>
                <a:rPr lang="en-US" altLang="ko-KR" sz="700" b="0"/>
                <a:t>UI↔</a:t>
              </a:r>
              <a:r>
                <a:rPr lang="ko-KR" altLang="en-US" sz="700" b="0"/>
                <a:t>룰↔통계표 셀</a:t>
              </a:r>
              <a:r>
                <a:rPr lang="en-US" altLang="ko-KR" sz="700" b="0"/>
                <a:t>(</a:t>
              </a:r>
              <a:r>
                <a:rPr lang="ko-KR" altLang="en-US" sz="700" b="0"/>
                <a:t>집계정의</a:t>
              </a:r>
              <a:r>
                <a:rPr lang="en-US" altLang="ko-KR" sz="700" b="0"/>
                <a:t>)</a:t>
              </a:r>
            </a:p>
          </p:txBody>
        </p:sp>
        <p:sp>
          <p:nvSpPr>
            <p:cNvPr id="429" name="순서도: 연결자 428">
              <a:extLst>
                <a:ext uri="{FF2B5EF4-FFF2-40B4-BE49-F238E27FC236}">
                  <a16:creationId xmlns:a16="http://schemas.microsoft.com/office/drawing/2014/main" id="{66D52544-111D-52DC-DDB8-31050D2456B4}"/>
                </a:ext>
              </a:extLst>
            </p:cNvPr>
            <p:cNvSpPr/>
            <p:nvPr/>
          </p:nvSpPr>
          <p:spPr bwMode="auto">
            <a:xfrm>
              <a:off x="488504" y="3465032"/>
              <a:ext cx="252000" cy="2520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79488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ko-KR" altLang="en-US" sz="1200" b="1">
                  <a:solidFill>
                    <a:schemeClr val="accent5">
                      <a:lumMod val="75000"/>
                    </a:schemeClr>
                  </a:solidFill>
                  <a:latin typeface="+mn-ea"/>
                  <a:ea typeface="+mn-ea"/>
                </a:rPr>
                <a:t>√</a:t>
              </a:r>
              <a:endParaRPr kumimoji="1" lang="ko-KR" altLang="en-US" sz="1200" b="1" i="0" u="none" strike="noStrike" cap="none" normalizeH="0" baseline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ea typeface="+mn-ea"/>
              </a:endParaRPr>
            </a:p>
          </p:txBody>
        </p:sp>
      </p:grpSp>
      <p:grpSp>
        <p:nvGrpSpPr>
          <p:cNvPr id="430" name="그룹 429">
            <a:extLst>
              <a:ext uri="{FF2B5EF4-FFF2-40B4-BE49-F238E27FC236}">
                <a16:creationId xmlns:a16="http://schemas.microsoft.com/office/drawing/2014/main" id="{BB11F1E1-547E-EDC6-1DFB-28021369C8CF}"/>
              </a:ext>
            </a:extLst>
          </p:cNvPr>
          <p:cNvGrpSpPr/>
          <p:nvPr/>
        </p:nvGrpSpPr>
        <p:grpSpPr>
          <a:xfrm>
            <a:off x="5064296" y="4908362"/>
            <a:ext cx="2111056" cy="686765"/>
            <a:chOff x="432276" y="3415586"/>
            <a:chExt cx="2111056" cy="686765"/>
          </a:xfrm>
        </p:grpSpPr>
        <p:sp>
          <p:nvSpPr>
            <p:cNvPr id="431" name="사각형: 둥근 모서리 430">
              <a:extLst>
                <a:ext uri="{FF2B5EF4-FFF2-40B4-BE49-F238E27FC236}">
                  <a16:creationId xmlns:a16="http://schemas.microsoft.com/office/drawing/2014/main" id="{08AE64AE-F6F5-81C4-3B28-B038380C1F2B}"/>
                </a:ext>
              </a:extLst>
            </p:cNvPr>
            <p:cNvSpPr/>
            <p:nvPr/>
          </p:nvSpPr>
          <p:spPr bwMode="auto">
            <a:xfrm>
              <a:off x="432276" y="3415586"/>
              <a:ext cx="2111056" cy="686765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432" name="TextBox 431">
              <a:extLst>
                <a:ext uri="{FF2B5EF4-FFF2-40B4-BE49-F238E27FC236}">
                  <a16:creationId xmlns:a16="http://schemas.microsoft.com/office/drawing/2014/main" id="{5C0B906B-0822-3E6B-4624-7D5B7D2C322E}"/>
                </a:ext>
              </a:extLst>
            </p:cNvPr>
            <p:cNvSpPr txBox="1"/>
            <p:nvPr/>
          </p:nvSpPr>
          <p:spPr>
            <a:xfrm>
              <a:off x="776536" y="3477741"/>
              <a:ext cx="1694785" cy="22659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000"/>
                <a:t>에디팅∙정정 로그</a:t>
              </a:r>
              <a:endParaRPr lang="en-US" altLang="ko-KR" sz="1000"/>
            </a:p>
          </p:txBody>
        </p:sp>
        <p:sp>
          <p:nvSpPr>
            <p:cNvPr id="433" name="TextBox 432">
              <a:extLst>
                <a:ext uri="{FF2B5EF4-FFF2-40B4-BE49-F238E27FC236}">
                  <a16:creationId xmlns:a16="http://schemas.microsoft.com/office/drawing/2014/main" id="{73F646B8-35C3-9234-7992-49361D052C3A}"/>
                </a:ext>
              </a:extLst>
            </p:cNvPr>
            <p:cNvSpPr txBox="1"/>
            <p:nvPr/>
          </p:nvSpPr>
          <p:spPr>
            <a:xfrm>
              <a:off x="776536" y="3779787"/>
              <a:ext cx="1694785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수정 전</a:t>
              </a:r>
              <a:r>
                <a:rPr lang="en-US" altLang="ko-KR" sz="700" b="0"/>
                <a:t>/</a:t>
              </a:r>
              <a:r>
                <a:rPr lang="ko-KR" altLang="en-US" sz="700" b="0"/>
                <a:t>후∙사유코드∙주체∙시각</a:t>
              </a:r>
              <a:endParaRPr lang="en-US" altLang="ko-KR" sz="700" b="0"/>
            </a:p>
          </p:txBody>
        </p:sp>
        <p:sp>
          <p:nvSpPr>
            <p:cNvPr id="434" name="순서도: 연결자 433">
              <a:extLst>
                <a:ext uri="{FF2B5EF4-FFF2-40B4-BE49-F238E27FC236}">
                  <a16:creationId xmlns:a16="http://schemas.microsoft.com/office/drawing/2014/main" id="{39CF34EB-6DDD-22E8-E891-8B3D65FEBBE7}"/>
                </a:ext>
              </a:extLst>
            </p:cNvPr>
            <p:cNvSpPr/>
            <p:nvPr/>
          </p:nvSpPr>
          <p:spPr bwMode="auto">
            <a:xfrm>
              <a:off x="488504" y="3465032"/>
              <a:ext cx="252000" cy="2520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79488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ko-KR" altLang="en-US" sz="1200" b="1">
                  <a:solidFill>
                    <a:schemeClr val="accent5">
                      <a:lumMod val="75000"/>
                    </a:schemeClr>
                  </a:solidFill>
                  <a:latin typeface="+mn-ea"/>
                  <a:ea typeface="+mn-ea"/>
                </a:rPr>
                <a:t>√</a:t>
              </a:r>
              <a:endParaRPr kumimoji="1" lang="ko-KR" altLang="en-US" sz="1200" b="1" i="0" u="none" strike="noStrike" cap="none" normalizeH="0" baseline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ea typeface="+mn-ea"/>
              </a:endParaRPr>
            </a:p>
          </p:txBody>
        </p:sp>
      </p:grpSp>
      <p:grpSp>
        <p:nvGrpSpPr>
          <p:cNvPr id="435" name="그룹 434">
            <a:extLst>
              <a:ext uri="{FF2B5EF4-FFF2-40B4-BE49-F238E27FC236}">
                <a16:creationId xmlns:a16="http://schemas.microsoft.com/office/drawing/2014/main" id="{E78E14A1-D4C0-1308-D5AA-82D21710D78E}"/>
              </a:ext>
            </a:extLst>
          </p:cNvPr>
          <p:cNvGrpSpPr/>
          <p:nvPr/>
        </p:nvGrpSpPr>
        <p:grpSpPr>
          <a:xfrm>
            <a:off x="7380305" y="4908362"/>
            <a:ext cx="2111056" cy="686765"/>
            <a:chOff x="432276" y="3415586"/>
            <a:chExt cx="2111056" cy="686765"/>
          </a:xfrm>
        </p:grpSpPr>
        <p:sp>
          <p:nvSpPr>
            <p:cNvPr id="436" name="사각형: 둥근 모서리 435">
              <a:extLst>
                <a:ext uri="{FF2B5EF4-FFF2-40B4-BE49-F238E27FC236}">
                  <a16:creationId xmlns:a16="http://schemas.microsoft.com/office/drawing/2014/main" id="{8ADF8092-96F4-8EB8-B255-0FE7EE46E599}"/>
                </a:ext>
              </a:extLst>
            </p:cNvPr>
            <p:cNvSpPr/>
            <p:nvPr/>
          </p:nvSpPr>
          <p:spPr bwMode="auto">
            <a:xfrm>
              <a:off x="432276" y="3415586"/>
              <a:ext cx="2111056" cy="686765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437" name="TextBox 436">
              <a:extLst>
                <a:ext uri="{FF2B5EF4-FFF2-40B4-BE49-F238E27FC236}">
                  <a16:creationId xmlns:a16="http://schemas.microsoft.com/office/drawing/2014/main" id="{34BDC03F-B9D8-D698-6AB0-E9EEC2583004}"/>
                </a:ext>
              </a:extLst>
            </p:cNvPr>
            <p:cNvSpPr txBox="1"/>
            <p:nvPr/>
          </p:nvSpPr>
          <p:spPr>
            <a:xfrm>
              <a:off x="776536" y="3477741"/>
              <a:ext cx="1694785" cy="22659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000"/>
                <a:t>운영 거버넌스</a:t>
              </a:r>
              <a:endParaRPr lang="en-US" altLang="ko-KR" sz="1000"/>
            </a:p>
          </p:txBody>
        </p:sp>
        <p:sp>
          <p:nvSpPr>
            <p:cNvPr id="438" name="TextBox 437">
              <a:extLst>
                <a:ext uri="{FF2B5EF4-FFF2-40B4-BE49-F238E27FC236}">
                  <a16:creationId xmlns:a16="http://schemas.microsoft.com/office/drawing/2014/main" id="{5AC5ECEF-20FD-8DA0-A1D9-B8747D7B1C94}"/>
                </a:ext>
              </a:extLst>
            </p:cNvPr>
            <p:cNvSpPr txBox="1"/>
            <p:nvPr/>
          </p:nvSpPr>
          <p:spPr>
            <a:xfrm>
              <a:off x="776536" y="3779787"/>
              <a:ext cx="1694785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en-US" altLang="ko-KR" sz="700" b="0"/>
                <a:t>RAG ∙ </a:t>
              </a:r>
              <a:r>
                <a:rPr lang="ko-KR" altLang="en-US" sz="700" b="0"/>
                <a:t>폐쇄망 ∙ </a:t>
              </a:r>
              <a:r>
                <a:rPr lang="en-US" altLang="ko-KR" sz="700" b="0"/>
                <a:t>Human-in-the-loop</a:t>
              </a:r>
            </a:p>
          </p:txBody>
        </p:sp>
        <p:sp>
          <p:nvSpPr>
            <p:cNvPr id="439" name="순서도: 연결자 438">
              <a:extLst>
                <a:ext uri="{FF2B5EF4-FFF2-40B4-BE49-F238E27FC236}">
                  <a16:creationId xmlns:a16="http://schemas.microsoft.com/office/drawing/2014/main" id="{3AB0F8E6-962B-BBD3-C684-55BB9BBEC36D}"/>
                </a:ext>
              </a:extLst>
            </p:cNvPr>
            <p:cNvSpPr/>
            <p:nvPr/>
          </p:nvSpPr>
          <p:spPr bwMode="auto">
            <a:xfrm>
              <a:off x="488504" y="3465032"/>
              <a:ext cx="252000" cy="2520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79488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ko-KR" altLang="en-US" sz="1200" b="1">
                  <a:solidFill>
                    <a:schemeClr val="accent5">
                      <a:lumMod val="75000"/>
                    </a:schemeClr>
                  </a:solidFill>
                  <a:latin typeface="+mn-ea"/>
                  <a:ea typeface="+mn-ea"/>
                </a:rPr>
                <a:t>√</a:t>
              </a:r>
              <a:endParaRPr kumimoji="1" lang="ko-KR" altLang="en-US" sz="1200" b="1" i="0" u="none" strike="noStrike" cap="none" normalizeH="0" baseline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ea typeface="+mn-ea"/>
              </a:endParaRPr>
            </a:p>
          </p:txBody>
        </p:sp>
      </p:grpSp>
      <p:sp>
        <p:nvSpPr>
          <p:cNvPr id="440" name="사각형: 둥근 모서리 439">
            <a:extLst>
              <a:ext uri="{FF2B5EF4-FFF2-40B4-BE49-F238E27FC236}">
                <a16:creationId xmlns:a16="http://schemas.microsoft.com/office/drawing/2014/main" id="{3AF25F68-CA30-03F7-535A-20826D5FFF3C}"/>
              </a:ext>
            </a:extLst>
          </p:cNvPr>
          <p:cNvSpPr/>
          <p:nvPr/>
        </p:nvSpPr>
        <p:spPr bwMode="auto">
          <a:xfrm>
            <a:off x="566862" y="5939120"/>
            <a:ext cx="288032" cy="288032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1" lang="ko-KR" altLang="en-US" sz="12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</a:rPr>
              <a:t>♣</a:t>
            </a:r>
          </a:p>
        </p:txBody>
      </p:sp>
    </p:spTree>
    <p:extLst>
      <p:ext uri="{BB962C8B-B14F-4D97-AF65-F5344CB8AC3E}">
        <p14:creationId xmlns:p14="http://schemas.microsoft.com/office/powerpoint/2010/main" val="308916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C41E014-7F80-BE6C-4649-E40F8C73A95A}"/>
              </a:ext>
            </a:extLst>
          </p:cNvPr>
          <p:cNvSpPr/>
          <p:nvPr/>
        </p:nvSpPr>
        <p:spPr bwMode="auto">
          <a:xfrm>
            <a:off x="432273" y="5124911"/>
            <a:ext cx="8949191" cy="1328425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34D58D5A-60EB-8EE6-BD27-F4C28E14D827}"/>
              </a:ext>
            </a:extLst>
          </p:cNvPr>
          <p:cNvGrpSpPr/>
          <p:nvPr/>
        </p:nvGrpSpPr>
        <p:grpSpPr>
          <a:xfrm>
            <a:off x="560512" y="5647558"/>
            <a:ext cx="2669620" cy="659051"/>
            <a:chOff x="10318986" y="5083825"/>
            <a:chExt cx="2669620" cy="659051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07DCC9D1-86F9-EE4C-EC96-720F8C9C5238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2BDEEE05-229E-A89D-6AE0-A2721D0E1A3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초안 → 검토 시간 절감 </a:t>
              </a:r>
              <a:endParaRPr lang="en-US" altLang="ko-KR" sz="100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77D5B9C-8751-CF77-CF98-91CA2B23C753}"/>
                </a:ext>
              </a:extLst>
            </p:cNvPr>
            <p:cNvSpPr txBox="1"/>
            <p:nvPr/>
          </p:nvSpPr>
          <p:spPr>
            <a:xfrm>
              <a:off x="10379554" y="5376025"/>
              <a:ext cx="2529163" cy="31892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800"/>
                <a:t>표준항목 재사용으로 신규 조사 기획 시 문항 초안 작성 단계 대폭 축소</a:t>
              </a:r>
              <a:endParaRPr lang="en-US" altLang="ko-KR" sz="800"/>
            </a:p>
          </p:txBody>
        </p:sp>
      </p:grp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01124" y="620688"/>
            <a:ext cx="8742756" cy="3683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ts val="2000"/>
              </a:lnSpc>
            </a:pP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조사표</a:t>
            </a:r>
            <a:r>
              <a:rPr lang="ko-KR" altLang="en-US" sz="2000"/>
              <a:t> ∙ </a:t>
            </a: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항목 자동 설계 보조</a:t>
            </a:r>
            <a:endParaRPr lang="ko-KR" altLang="en-US" sz="20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7FE19520-BCCC-C5BB-C8AF-0BBE1A9754D3}"/>
              </a:ext>
            </a:extLst>
          </p:cNvPr>
          <p:cNvGrpSpPr/>
          <p:nvPr/>
        </p:nvGrpSpPr>
        <p:grpSpPr>
          <a:xfrm>
            <a:off x="445071" y="1124744"/>
            <a:ext cx="9188449" cy="338554"/>
            <a:chOff x="445071" y="1124744"/>
            <a:chExt cx="9188449" cy="338554"/>
          </a:xfrm>
        </p:grpSpPr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119C4970-B753-3519-BE02-B254D5097F8E}"/>
                </a:ext>
              </a:extLst>
            </p:cNvPr>
            <p:cNvSpPr/>
            <p:nvPr/>
          </p:nvSpPr>
          <p:spPr>
            <a:xfrm>
              <a:off x="697071" y="1124744"/>
              <a:ext cx="89364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목적∙모집단∙산출지표만 입력하면 문항 초안과 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"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공표 지표 연결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"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까지 한 번에 제안</a:t>
              </a:r>
              <a:endParaRPr lang="ko-KR" altLang="en-US" sz="2000" dirty="0">
                <a:solidFill>
                  <a:srgbClr val="1692D3"/>
                </a:solidFill>
                <a:latin typeface="+mn-ea"/>
                <a:ea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4F6FA582-6393-C7E6-79D9-89A65B0FFA0A}"/>
                </a:ext>
              </a:extLst>
            </p:cNvPr>
            <p:cNvSpPr/>
            <p:nvPr/>
          </p:nvSpPr>
          <p:spPr bwMode="auto">
            <a:xfrm>
              <a:off x="445071" y="1173892"/>
              <a:ext cx="252000" cy="248283"/>
            </a:xfrm>
            <a:prstGeom prst="roundRect">
              <a:avLst/>
            </a:prstGeom>
            <a:solidFill>
              <a:srgbClr val="2E6CB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79488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▶</a:t>
              </a:r>
              <a:endParaRPr kumimoji="1" lang="ko-KR" altLang="en-US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73D774F-EFAC-210C-B306-6E3F311AB320}"/>
              </a:ext>
            </a:extLst>
          </p:cNvPr>
          <p:cNvSpPr/>
          <p:nvPr/>
        </p:nvSpPr>
        <p:spPr bwMode="auto">
          <a:xfrm>
            <a:off x="369076" y="610037"/>
            <a:ext cx="432048" cy="389040"/>
          </a:xfrm>
          <a:prstGeom prst="roundRect">
            <a:avLst>
              <a:gd name="adj" fmla="val 10117"/>
            </a:avLst>
          </a:prstGeom>
          <a:solidFill>
            <a:schemeClr val="tx2"/>
          </a:solidFill>
          <a:ln w="12700">
            <a:noFill/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en-US" altLang="ko-KR" b="1">
                <a:solidFill>
                  <a:schemeClr val="bg1"/>
                </a:solidFill>
                <a:latin typeface="+mn-ea"/>
                <a:ea typeface="+mn-ea"/>
              </a:rPr>
              <a:t>01</a:t>
            </a:r>
            <a:endParaRPr lang="ko-KR" altLang="en-US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4435F-8C6C-57FB-229E-98B2289EAFC9}"/>
              </a:ext>
            </a:extLst>
          </p:cNvPr>
          <p:cNvSpPr txBox="1"/>
          <p:nvPr/>
        </p:nvSpPr>
        <p:spPr>
          <a:xfrm>
            <a:off x="776536" y="1484784"/>
            <a:ext cx="8694494" cy="31398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200" b="0" spc="-100">
                <a:latin typeface="+mn-ea"/>
                <a:ea typeface="+mn-ea"/>
              </a:rPr>
              <a:t>나라통계의 </a:t>
            </a:r>
            <a:r>
              <a:rPr lang="ko-KR" altLang="en-US" sz="1200" spc="-100">
                <a:latin typeface="+mn-ea"/>
                <a:ea typeface="+mn-ea"/>
              </a:rPr>
              <a:t>과거 조사표∙지표정의∙코드체계∙매핑 이력</a:t>
            </a:r>
            <a:r>
              <a:rPr lang="ko-KR" altLang="en-US" sz="1200" b="0" spc="-100">
                <a:latin typeface="+mn-ea"/>
                <a:ea typeface="+mn-ea"/>
              </a:rPr>
              <a:t>을 재사용 가능한 메타로 연결하여 </a:t>
            </a:r>
            <a:r>
              <a:rPr lang="ko-KR" altLang="en-US" sz="1200" spc="-100">
                <a:latin typeface="+mn-ea"/>
                <a:ea typeface="+mn-ea"/>
              </a:rPr>
              <a:t>설계 리드타임을 단축</a:t>
            </a:r>
            <a:r>
              <a:rPr lang="ko-KR" altLang="en-US" sz="1200" b="0" spc="-100">
                <a:latin typeface="+mn-ea"/>
                <a:ea typeface="+mn-ea"/>
              </a:rPr>
              <a:t>하고 </a:t>
            </a:r>
            <a:r>
              <a:rPr lang="ko-KR" altLang="en-US" sz="1200" spc="-100">
                <a:latin typeface="+mn-ea"/>
                <a:ea typeface="+mn-ea"/>
              </a:rPr>
              <a:t>표준화</a:t>
            </a:r>
            <a:r>
              <a:rPr lang="ko-KR" altLang="en-US" sz="1200" b="0" spc="-100">
                <a:latin typeface="+mn-ea"/>
                <a:ea typeface="+mn-ea"/>
              </a:rPr>
              <a:t>를 강화합니다</a:t>
            </a:r>
            <a:r>
              <a:rPr lang="en-US" altLang="ko-KR" sz="1200" b="0" spc="-100">
                <a:latin typeface="+mn-ea"/>
                <a:ea typeface="+mn-ea"/>
              </a:rPr>
              <a:t>.</a:t>
            </a:r>
            <a:endParaRPr lang="en-US" altLang="ko-KR" sz="1200" b="0" spc="-100" dirty="0">
              <a:latin typeface="+mn-ea"/>
              <a:ea typeface="+mn-ea"/>
            </a:endParaRPr>
          </a:p>
        </p:txBody>
      </p: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BCA5A041-92F5-B25F-3DED-25FB10A05DD3}"/>
              </a:ext>
            </a:extLst>
          </p:cNvPr>
          <p:cNvGrpSpPr/>
          <p:nvPr/>
        </p:nvGrpSpPr>
        <p:grpSpPr>
          <a:xfrm>
            <a:off x="432274" y="2333640"/>
            <a:ext cx="2910630" cy="2337436"/>
            <a:chOff x="432274" y="2132856"/>
            <a:chExt cx="2910630" cy="2337436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887F6383-3B90-5D8A-5E8A-72AAF3747502}"/>
                </a:ext>
              </a:extLst>
            </p:cNvPr>
            <p:cNvSpPr/>
            <p:nvPr/>
          </p:nvSpPr>
          <p:spPr bwMode="auto">
            <a:xfrm>
              <a:off x="432274" y="2132856"/>
              <a:ext cx="2910630" cy="2337436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EDB239B-9B77-986C-7183-04687505D49E}"/>
                </a:ext>
              </a:extLst>
            </p:cNvPr>
            <p:cNvSpPr txBox="1"/>
            <p:nvPr/>
          </p:nvSpPr>
          <p:spPr>
            <a:xfrm>
              <a:off x="848544" y="2159240"/>
              <a:ext cx="163452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4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700" b="0"/>
                <a:t>입력</a:t>
              </a:r>
              <a:r>
                <a:rPr lang="en-US" altLang="ko-KR" sz="700" b="0"/>
                <a:t>(INPUT)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51CFEA-BCCF-9E4C-2F12-C12991EC1DD8}"/>
                </a:ext>
              </a:extLst>
            </p:cNvPr>
            <p:cNvSpPr txBox="1"/>
            <p:nvPr/>
          </p:nvSpPr>
          <p:spPr>
            <a:xfrm>
              <a:off x="848544" y="2328752"/>
              <a:ext cx="2088232" cy="22659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5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000"/>
                <a:t>안전 가이드 제시</a:t>
              </a:r>
              <a:endParaRPr lang="en-US" altLang="ko-KR" sz="100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F3BB79F7-A2F7-C727-E2D9-664BF2454BB4}"/>
                </a:ext>
              </a:extLst>
            </p:cNvPr>
            <p:cNvGrpSpPr/>
            <p:nvPr/>
          </p:nvGrpSpPr>
          <p:grpSpPr>
            <a:xfrm>
              <a:off x="560512" y="2655503"/>
              <a:ext cx="1267665" cy="503265"/>
              <a:chOff x="10318986" y="5083825"/>
              <a:chExt cx="1267665" cy="503265"/>
            </a:xfrm>
          </p:grpSpPr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A08A3682-EA07-DCFA-F4E5-E48B5A719531}"/>
                  </a:ext>
                </a:extLst>
              </p:cNvPr>
              <p:cNvSpPr/>
              <p:nvPr/>
            </p:nvSpPr>
            <p:spPr bwMode="auto">
              <a:xfrm>
                <a:off x="10318986" y="5083825"/>
                <a:ext cx="1267665" cy="503265"/>
              </a:xfrm>
              <a:prstGeom prst="roundRect">
                <a:avLst>
                  <a:gd name="adj" fmla="val 3129"/>
                </a:avLst>
              </a:prstGeom>
              <a:solidFill>
                <a:srgbClr val="F1F7FF"/>
              </a:solidFill>
              <a:ln w="12700">
                <a:solidFill>
                  <a:schemeClr val="bg1">
                    <a:lumMod val="85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10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6042E4-2E39-1A03-26B0-F33B3221242D}"/>
                  </a:ext>
                </a:extLst>
              </p:cNvPr>
              <p:cNvSpPr txBox="1"/>
              <p:nvPr/>
            </p:nvSpPr>
            <p:spPr>
              <a:xfrm>
                <a:off x="10379552" y="5123439"/>
                <a:ext cx="1097744" cy="23358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100" b="1" i="0" u="none" strike="noStrike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effectLst/>
                    <a:latin typeface="+mn-ea"/>
                    <a:ea typeface="+mn-ea"/>
                  </a:defRPr>
                </a:lvl1pPr>
              </a:lstStyle>
              <a:p>
                <a:r>
                  <a:rPr lang="ko-KR" altLang="en-US" sz="800"/>
                  <a:t>조사 목적 ∙ 범위</a:t>
                </a:r>
                <a:endParaRPr lang="en-US" altLang="ko-KR" sz="80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4848DF-A6A5-D1AF-840B-A6BAA617B3FB}"/>
                  </a:ext>
                </a:extLst>
              </p:cNvPr>
              <p:cNvSpPr txBox="1"/>
              <p:nvPr/>
            </p:nvSpPr>
            <p:spPr>
              <a:xfrm>
                <a:off x="10379554" y="5290300"/>
                <a:ext cx="1037173" cy="2134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000" b="0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+mn-ea"/>
                    <a:ea typeface="+mn-ea"/>
                  </a:defRPr>
                </a:lvl1pPr>
              </a:lstStyle>
              <a:p>
                <a:r>
                  <a:rPr lang="ko-KR" altLang="en-US" sz="700"/>
                  <a:t>정책 ∙ 법적 근거 요약</a:t>
                </a:r>
                <a:endParaRPr lang="en-US" altLang="ko-KR" sz="700"/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CD04BDE6-7C24-B20C-A330-B136CA3F04F8}"/>
                </a:ext>
              </a:extLst>
            </p:cNvPr>
            <p:cNvGrpSpPr/>
            <p:nvPr/>
          </p:nvGrpSpPr>
          <p:grpSpPr>
            <a:xfrm>
              <a:off x="1962467" y="2655503"/>
              <a:ext cx="1267665" cy="503265"/>
              <a:chOff x="10318986" y="5083825"/>
              <a:chExt cx="1267665" cy="503265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83C09600-8D73-0B70-7532-8360D1E943C4}"/>
                  </a:ext>
                </a:extLst>
              </p:cNvPr>
              <p:cNvSpPr/>
              <p:nvPr/>
            </p:nvSpPr>
            <p:spPr bwMode="auto">
              <a:xfrm>
                <a:off x="10318986" y="5083825"/>
                <a:ext cx="1267665" cy="503265"/>
              </a:xfrm>
              <a:prstGeom prst="roundRect">
                <a:avLst>
                  <a:gd name="adj" fmla="val 3129"/>
                </a:avLst>
              </a:prstGeom>
              <a:solidFill>
                <a:srgbClr val="F1F7FF"/>
              </a:solidFill>
              <a:ln w="12700">
                <a:solidFill>
                  <a:schemeClr val="bg1">
                    <a:lumMod val="85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10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AFA98C-F37D-63EC-04BB-B41975CBA905}"/>
                  </a:ext>
                </a:extLst>
              </p:cNvPr>
              <p:cNvSpPr txBox="1"/>
              <p:nvPr/>
            </p:nvSpPr>
            <p:spPr>
              <a:xfrm>
                <a:off x="10379552" y="5123439"/>
                <a:ext cx="1097744" cy="23358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100" b="1" i="0" u="none" strike="noStrike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effectLst/>
                    <a:latin typeface="+mn-ea"/>
                    <a:ea typeface="+mn-ea"/>
                  </a:defRPr>
                </a:lvl1pPr>
              </a:lstStyle>
              <a:p>
                <a:r>
                  <a:rPr lang="ko-KR" altLang="en-US" sz="800"/>
                  <a:t>모집단 ∙ 표본</a:t>
                </a:r>
                <a:endParaRPr lang="en-US" altLang="ko-KR" sz="80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D1F5754-BEAE-B5A7-FDAE-231EF00E9EA2}"/>
                  </a:ext>
                </a:extLst>
              </p:cNvPr>
              <p:cNvSpPr txBox="1"/>
              <p:nvPr/>
            </p:nvSpPr>
            <p:spPr>
              <a:xfrm>
                <a:off x="10379554" y="5290300"/>
                <a:ext cx="1037173" cy="2134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000" b="0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+mn-ea"/>
                    <a:ea typeface="+mn-ea"/>
                  </a:defRPr>
                </a:lvl1pPr>
              </a:lstStyle>
              <a:p>
                <a:r>
                  <a:rPr lang="ko-KR" altLang="en-US" sz="700"/>
                  <a:t>대상 ∙ 층화 ∙ 규모</a:t>
                </a:r>
                <a:endParaRPr lang="en-US" altLang="ko-KR" sz="700"/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DCDFA5F9-624B-68E0-E794-7988C915EC7C}"/>
                </a:ext>
              </a:extLst>
            </p:cNvPr>
            <p:cNvGrpSpPr/>
            <p:nvPr/>
          </p:nvGrpSpPr>
          <p:grpSpPr>
            <a:xfrm>
              <a:off x="560512" y="3269613"/>
              <a:ext cx="1267665" cy="503265"/>
              <a:chOff x="10318986" y="5083825"/>
              <a:chExt cx="1267665" cy="503265"/>
            </a:xfrm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2C34793B-00C4-9128-34A0-A39D55E86340}"/>
                  </a:ext>
                </a:extLst>
              </p:cNvPr>
              <p:cNvSpPr/>
              <p:nvPr/>
            </p:nvSpPr>
            <p:spPr bwMode="auto">
              <a:xfrm>
                <a:off x="10318986" y="5083825"/>
                <a:ext cx="1267665" cy="503265"/>
              </a:xfrm>
              <a:prstGeom prst="roundRect">
                <a:avLst>
                  <a:gd name="adj" fmla="val 3129"/>
                </a:avLst>
              </a:prstGeom>
              <a:solidFill>
                <a:srgbClr val="F1F7FF"/>
              </a:solidFill>
              <a:ln w="12700">
                <a:solidFill>
                  <a:schemeClr val="bg1">
                    <a:lumMod val="85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10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50CC0CB-7B0A-AF34-7786-2415672EFE2C}"/>
                  </a:ext>
                </a:extLst>
              </p:cNvPr>
              <p:cNvSpPr txBox="1"/>
              <p:nvPr/>
            </p:nvSpPr>
            <p:spPr>
              <a:xfrm>
                <a:off x="10379552" y="5123439"/>
                <a:ext cx="1097744" cy="23358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100" b="1" i="0" u="none" strike="noStrike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effectLst/>
                    <a:latin typeface="+mn-ea"/>
                    <a:ea typeface="+mn-ea"/>
                  </a:defRPr>
                </a:lvl1pPr>
              </a:lstStyle>
              <a:p>
                <a:r>
                  <a:rPr lang="ko-KR" altLang="en-US" sz="800"/>
                  <a:t>산출 지표</a:t>
                </a:r>
                <a:endParaRPr lang="en-US" altLang="ko-KR" sz="80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CE3D0D8-205C-B050-CBF4-D97039B04E40}"/>
                  </a:ext>
                </a:extLst>
              </p:cNvPr>
              <p:cNvSpPr txBox="1"/>
              <p:nvPr/>
            </p:nvSpPr>
            <p:spPr>
              <a:xfrm>
                <a:off x="10379554" y="5290300"/>
                <a:ext cx="1037173" cy="2134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000" b="0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+mn-ea"/>
                    <a:ea typeface="+mn-ea"/>
                  </a:defRPr>
                </a:lvl1pPr>
              </a:lstStyle>
              <a:p>
                <a:r>
                  <a:rPr lang="ko-KR" altLang="en-US" sz="700"/>
                  <a:t>공표 표 ∙ 핵심 셀</a:t>
                </a:r>
                <a:endParaRPr lang="en-US" altLang="ko-KR" sz="700"/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FAEEA4CF-7069-98BE-9A6B-D30C17C5CAB5}"/>
                </a:ext>
              </a:extLst>
            </p:cNvPr>
            <p:cNvGrpSpPr/>
            <p:nvPr/>
          </p:nvGrpSpPr>
          <p:grpSpPr>
            <a:xfrm>
              <a:off x="1962467" y="3269613"/>
              <a:ext cx="1267665" cy="503265"/>
              <a:chOff x="10318986" y="5083825"/>
              <a:chExt cx="1267665" cy="503265"/>
            </a:xfrm>
          </p:grpSpPr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E2396B83-10AA-57C7-757E-8FCC09EE7BF8}"/>
                  </a:ext>
                </a:extLst>
              </p:cNvPr>
              <p:cNvSpPr/>
              <p:nvPr/>
            </p:nvSpPr>
            <p:spPr bwMode="auto">
              <a:xfrm>
                <a:off x="10318986" y="5083825"/>
                <a:ext cx="1267665" cy="503265"/>
              </a:xfrm>
              <a:prstGeom prst="roundRect">
                <a:avLst>
                  <a:gd name="adj" fmla="val 3129"/>
                </a:avLst>
              </a:prstGeom>
              <a:solidFill>
                <a:srgbClr val="F1F7FF"/>
              </a:solidFill>
              <a:ln w="12700">
                <a:solidFill>
                  <a:schemeClr val="bg1">
                    <a:lumMod val="85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10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575EBDF-0FFD-ABA6-2462-142928240094}"/>
                  </a:ext>
                </a:extLst>
              </p:cNvPr>
              <p:cNvSpPr txBox="1"/>
              <p:nvPr/>
            </p:nvSpPr>
            <p:spPr>
              <a:xfrm>
                <a:off x="10379552" y="5123439"/>
                <a:ext cx="1097744" cy="23358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100" b="1" i="0" u="none" strike="noStrike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effectLst/>
                    <a:latin typeface="+mn-ea"/>
                    <a:ea typeface="+mn-ea"/>
                  </a:defRPr>
                </a:lvl1pPr>
              </a:lstStyle>
              <a:p>
                <a:r>
                  <a:rPr lang="ko-KR" altLang="en-US" sz="800"/>
                  <a:t>기존 유사 조사</a:t>
                </a:r>
                <a:endParaRPr lang="en-US" altLang="ko-KR" sz="80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40A30BE-1DFA-1CD9-0C42-78AE76F20AAD}"/>
                  </a:ext>
                </a:extLst>
              </p:cNvPr>
              <p:cNvSpPr txBox="1"/>
              <p:nvPr/>
            </p:nvSpPr>
            <p:spPr>
              <a:xfrm>
                <a:off x="10379554" y="5290300"/>
                <a:ext cx="1037173" cy="2134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000" b="0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+mn-ea"/>
                    <a:ea typeface="+mn-ea"/>
                  </a:defRPr>
                </a:lvl1pPr>
              </a:lstStyle>
              <a:p>
                <a:r>
                  <a:rPr lang="ko-KR" altLang="en-US" sz="700"/>
                  <a:t>레퍼런스 조사표</a:t>
                </a:r>
                <a:endParaRPr lang="en-US" altLang="ko-KR" sz="700"/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9071D12-6B86-9F6D-A494-F5A79393A461}"/>
                </a:ext>
              </a:extLst>
            </p:cNvPr>
            <p:cNvGrpSpPr/>
            <p:nvPr/>
          </p:nvGrpSpPr>
          <p:grpSpPr>
            <a:xfrm>
              <a:off x="560512" y="3861839"/>
              <a:ext cx="2669620" cy="503265"/>
              <a:chOff x="10318986" y="5083825"/>
              <a:chExt cx="2669620" cy="503265"/>
            </a:xfrm>
          </p:grpSpPr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7E2F87F7-8B0B-F129-A99C-CFB89EBD2AF6}"/>
                  </a:ext>
                </a:extLst>
              </p:cNvPr>
              <p:cNvSpPr/>
              <p:nvPr/>
            </p:nvSpPr>
            <p:spPr bwMode="auto">
              <a:xfrm>
                <a:off x="10318986" y="5083825"/>
                <a:ext cx="2669620" cy="503265"/>
              </a:xfrm>
              <a:prstGeom prst="roundRect">
                <a:avLst>
                  <a:gd name="adj" fmla="val 3129"/>
                </a:avLst>
              </a:prstGeom>
              <a:solidFill>
                <a:srgbClr val="F1F7FF"/>
              </a:solidFill>
              <a:ln w="12700">
                <a:solidFill>
                  <a:schemeClr val="bg1">
                    <a:lumMod val="85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10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57A3A0A-3861-81E7-E9D1-3EE05983F959}"/>
                  </a:ext>
                </a:extLst>
              </p:cNvPr>
              <p:cNvSpPr txBox="1"/>
              <p:nvPr/>
            </p:nvSpPr>
            <p:spPr>
              <a:xfrm>
                <a:off x="10379552" y="5123439"/>
                <a:ext cx="1097744" cy="23358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100" b="1" i="0" u="none" strike="noStrike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effectLst/>
                    <a:latin typeface="+mn-ea"/>
                    <a:ea typeface="+mn-ea"/>
                  </a:defRPr>
                </a:lvl1pPr>
              </a:lstStyle>
              <a:p>
                <a:r>
                  <a:rPr lang="ko-KR" altLang="en-US" sz="800"/>
                  <a:t>제약 ∙ 정의</a:t>
                </a:r>
                <a:endParaRPr lang="en-US" altLang="ko-KR" sz="80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87260BD-9ADE-FBDD-A123-4BD389F2135C}"/>
                  </a:ext>
                </a:extLst>
              </p:cNvPr>
              <p:cNvSpPr txBox="1"/>
              <p:nvPr/>
            </p:nvSpPr>
            <p:spPr>
              <a:xfrm>
                <a:off x="10379554" y="5290300"/>
                <a:ext cx="2529163" cy="2134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000" b="0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+mn-ea"/>
                    <a:ea typeface="+mn-ea"/>
                  </a:defRPr>
                </a:lvl1pPr>
              </a:lstStyle>
              <a:p>
                <a:r>
                  <a:rPr lang="ko-KR" altLang="en-US" sz="700"/>
                  <a:t>단위 ∙ 기간 ∙ 법령 정의 ∙ 코드체계</a:t>
                </a:r>
                <a:endParaRPr lang="en-US" altLang="ko-KR" sz="700"/>
              </a:p>
            </p:txBody>
          </p:sp>
        </p:grpSp>
        <p:sp>
          <p:nvSpPr>
            <p:cNvPr id="36" name="순서도: 연결자 35">
              <a:extLst>
                <a:ext uri="{FF2B5EF4-FFF2-40B4-BE49-F238E27FC236}">
                  <a16:creationId xmlns:a16="http://schemas.microsoft.com/office/drawing/2014/main" id="{3E3B9804-C593-80DA-55CE-D2E0E402ADB8}"/>
                </a:ext>
              </a:extLst>
            </p:cNvPr>
            <p:cNvSpPr/>
            <p:nvPr/>
          </p:nvSpPr>
          <p:spPr bwMode="auto">
            <a:xfrm>
              <a:off x="524536" y="2240896"/>
              <a:ext cx="252000" cy="2520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79488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ko-KR" altLang="en-US" sz="1200" b="1">
                  <a:solidFill>
                    <a:schemeClr val="accent5">
                      <a:lumMod val="75000"/>
                    </a:schemeClr>
                  </a:solidFill>
                  <a:latin typeface="+mn-ea"/>
                  <a:ea typeface="+mn-ea"/>
                </a:rPr>
                <a:t>√</a:t>
              </a:r>
              <a:endParaRPr kumimoji="1" lang="ko-KR" altLang="en-US" sz="1200" b="1" i="0" u="none" strike="noStrike" cap="none" normalizeH="0" baseline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ea typeface="+mn-ea"/>
              </a:endParaRPr>
            </a:p>
          </p:txBody>
        </p:sp>
      </p:grp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AB94C76-C6ED-401D-4C33-C8C763250101}"/>
              </a:ext>
            </a:extLst>
          </p:cNvPr>
          <p:cNvSpPr/>
          <p:nvPr/>
        </p:nvSpPr>
        <p:spPr bwMode="auto">
          <a:xfrm>
            <a:off x="3497685" y="2333640"/>
            <a:ext cx="2872750" cy="2357117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3BD996-DE3F-27A9-1364-EF8059BAFF33}"/>
              </a:ext>
            </a:extLst>
          </p:cNvPr>
          <p:cNvSpPr txBox="1"/>
          <p:nvPr/>
        </p:nvSpPr>
        <p:spPr>
          <a:xfrm>
            <a:off x="3913955" y="2360024"/>
            <a:ext cx="1634521" cy="213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40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r>
              <a:rPr lang="ko-KR" altLang="en-US" sz="700" b="0"/>
              <a:t>출력</a:t>
            </a:r>
            <a:r>
              <a:rPr lang="en-US" altLang="ko-KR" sz="700" b="0"/>
              <a:t>(OUTPUT)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7E34E8-3872-A7F9-C68C-670966FBCD93}"/>
              </a:ext>
            </a:extLst>
          </p:cNvPr>
          <p:cNvSpPr txBox="1"/>
          <p:nvPr/>
        </p:nvSpPr>
        <p:spPr>
          <a:xfrm>
            <a:off x="3913956" y="2529536"/>
            <a:ext cx="1100410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000"/>
              <a:t>설계 초안 제공</a:t>
            </a:r>
            <a:endParaRPr lang="en-US" altLang="ko-KR" sz="1000"/>
          </a:p>
        </p:txBody>
      </p:sp>
      <p:sp>
        <p:nvSpPr>
          <p:cNvPr id="49" name="순서도: 연결자 48">
            <a:extLst>
              <a:ext uri="{FF2B5EF4-FFF2-40B4-BE49-F238E27FC236}">
                <a16:creationId xmlns:a16="http://schemas.microsoft.com/office/drawing/2014/main" id="{1F0088A3-3EC9-3625-B86A-072531872C15}"/>
              </a:ext>
            </a:extLst>
          </p:cNvPr>
          <p:cNvSpPr/>
          <p:nvPr/>
        </p:nvSpPr>
        <p:spPr bwMode="auto">
          <a:xfrm>
            <a:off x="3589947" y="2441680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2802F2BB-E5C8-9B45-46B8-1F4E693BE11E}"/>
              </a:ext>
            </a:extLst>
          </p:cNvPr>
          <p:cNvGrpSpPr/>
          <p:nvPr/>
        </p:nvGrpSpPr>
        <p:grpSpPr>
          <a:xfrm>
            <a:off x="3625923" y="2856287"/>
            <a:ext cx="2622477" cy="525149"/>
            <a:chOff x="4182001" y="5426071"/>
            <a:chExt cx="2004187" cy="525149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C8FDD199-70B6-3CB9-D997-7EA8831B8774}"/>
                </a:ext>
              </a:extLst>
            </p:cNvPr>
            <p:cNvSpPr/>
            <p:nvPr/>
          </p:nvSpPr>
          <p:spPr bwMode="auto">
            <a:xfrm>
              <a:off x="4182001" y="5426071"/>
              <a:ext cx="2004187" cy="525149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7554A2EC-A18B-4E06-CF34-9ED5220D1668}"/>
                </a:ext>
              </a:extLst>
            </p:cNvPr>
            <p:cNvSpPr txBox="1"/>
            <p:nvPr/>
          </p:nvSpPr>
          <p:spPr>
            <a:xfrm>
              <a:off x="4232921" y="5460464"/>
              <a:ext cx="165570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800"/>
                <a:t>문항 초안</a:t>
              </a:r>
              <a:r>
                <a:rPr lang="en-US" altLang="ko-KR" sz="800"/>
                <a:t>(</a:t>
              </a:r>
              <a:r>
                <a:rPr lang="ko-KR" altLang="en-US" sz="800"/>
                <a:t>섹션 ∙ 문항 ∙ 보기</a:t>
              </a:r>
              <a:r>
                <a:rPr lang="en-US" altLang="ko-KR" sz="800"/>
                <a:t>)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5BEB7B9-8AB9-4BD2-A82F-6F230DB794B3}"/>
                </a:ext>
              </a:extLst>
            </p:cNvPr>
            <p:cNvSpPr txBox="1"/>
            <p:nvPr/>
          </p:nvSpPr>
          <p:spPr>
            <a:xfrm>
              <a:off x="4410020" y="5656886"/>
              <a:ext cx="1694533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유사 조사 재사용 </a:t>
              </a:r>
              <a:r>
                <a:rPr lang="en-US" altLang="ko-KR" sz="800"/>
                <a:t>+ </a:t>
              </a:r>
              <a:r>
                <a:rPr lang="ko-KR" altLang="en-US" sz="800"/>
                <a:t>표준 표현</a:t>
              </a:r>
              <a:endParaRPr lang="en-US" altLang="ko-KR" sz="800"/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09BFEA61-DCAC-F0A3-8EF6-5033C140ECB7}"/>
              </a:ext>
            </a:extLst>
          </p:cNvPr>
          <p:cNvGrpSpPr/>
          <p:nvPr/>
        </p:nvGrpSpPr>
        <p:grpSpPr>
          <a:xfrm>
            <a:off x="3624371" y="4072995"/>
            <a:ext cx="2622477" cy="525149"/>
            <a:chOff x="4182001" y="5426071"/>
            <a:chExt cx="2004187" cy="525149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6F651253-E9CE-BE8B-DBB1-4AD6991A4BCF}"/>
                </a:ext>
              </a:extLst>
            </p:cNvPr>
            <p:cNvSpPr/>
            <p:nvPr/>
          </p:nvSpPr>
          <p:spPr bwMode="auto">
            <a:xfrm>
              <a:off x="4182001" y="5426071"/>
              <a:ext cx="2004187" cy="525149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A615995-0D70-7405-9E53-EA77CE010ECE}"/>
                </a:ext>
              </a:extLst>
            </p:cNvPr>
            <p:cNvSpPr txBox="1"/>
            <p:nvPr/>
          </p:nvSpPr>
          <p:spPr>
            <a:xfrm>
              <a:off x="4232921" y="5460464"/>
              <a:ext cx="165570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800"/>
                <a:t>표준항목 ∙ 코드체계 추천</a:t>
              </a:r>
              <a:endParaRPr lang="en-US" altLang="ko-KR" sz="80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3AFB7BE-159C-6826-BC7A-5163A2D30E9E}"/>
                </a:ext>
              </a:extLst>
            </p:cNvPr>
            <p:cNvSpPr txBox="1"/>
            <p:nvPr/>
          </p:nvSpPr>
          <p:spPr>
            <a:xfrm>
              <a:off x="4410021" y="5656886"/>
              <a:ext cx="173034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사회 ∙ 경제 표준분류 자동 매핑</a:t>
              </a:r>
              <a:endParaRPr lang="en-US" altLang="ko-KR" sz="800"/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77E01DB9-41C5-CACE-7FE9-FBD5FCEDCB9D}"/>
              </a:ext>
            </a:extLst>
          </p:cNvPr>
          <p:cNvGrpSpPr/>
          <p:nvPr/>
        </p:nvGrpSpPr>
        <p:grpSpPr>
          <a:xfrm>
            <a:off x="3625923" y="3470397"/>
            <a:ext cx="2622478" cy="525149"/>
            <a:chOff x="4182001" y="5426071"/>
            <a:chExt cx="2004187" cy="525149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FC146384-9858-AC90-3751-9420DD262E3C}"/>
                </a:ext>
              </a:extLst>
            </p:cNvPr>
            <p:cNvSpPr/>
            <p:nvPr/>
          </p:nvSpPr>
          <p:spPr bwMode="auto">
            <a:xfrm>
              <a:off x="4182001" y="5426071"/>
              <a:ext cx="2004187" cy="525149"/>
            </a:xfrm>
            <a:prstGeom prst="roundRect">
              <a:avLst>
                <a:gd name="adj" fmla="val 312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A3BEF190-65F0-DBA4-13E5-D4C8E39F9E9A}"/>
                </a:ext>
              </a:extLst>
            </p:cNvPr>
            <p:cNvSpPr txBox="1"/>
            <p:nvPr/>
          </p:nvSpPr>
          <p:spPr>
            <a:xfrm>
              <a:off x="4232921" y="5460464"/>
              <a:ext cx="165570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800"/>
                <a:t>공표 지표 ↔ 문항 매핑</a:t>
              </a:r>
              <a:endParaRPr lang="en-US" altLang="ko-KR" sz="800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375372A1-9D54-7CA5-3CE5-7BF9517E060C}"/>
                </a:ext>
              </a:extLst>
            </p:cNvPr>
            <p:cNvSpPr txBox="1"/>
            <p:nvPr/>
          </p:nvSpPr>
          <p:spPr>
            <a:xfrm>
              <a:off x="4410021" y="5656886"/>
              <a:ext cx="173034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통계표 셀까지 연결 정의</a:t>
              </a:r>
              <a:endParaRPr lang="en-US" altLang="ko-KR" sz="800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43C8B25-8632-4660-057F-147A61B3D7D4}"/>
              </a:ext>
            </a:extLst>
          </p:cNvPr>
          <p:cNvGrpSpPr/>
          <p:nvPr/>
        </p:nvGrpSpPr>
        <p:grpSpPr>
          <a:xfrm>
            <a:off x="6563096" y="2317107"/>
            <a:ext cx="2818368" cy="2337436"/>
            <a:chOff x="11271491" y="3250641"/>
            <a:chExt cx="2818368" cy="2337436"/>
          </a:xfrm>
        </p:grpSpPr>
        <p:sp>
          <p:nvSpPr>
            <p:cNvPr id="278" name="사각형: 둥근 모서리 277">
              <a:extLst>
                <a:ext uri="{FF2B5EF4-FFF2-40B4-BE49-F238E27FC236}">
                  <a16:creationId xmlns:a16="http://schemas.microsoft.com/office/drawing/2014/main" id="{2AD9AD6D-A2E8-DF5F-60B1-2574633FD195}"/>
                </a:ext>
              </a:extLst>
            </p:cNvPr>
            <p:cNvSpPr/>
            <p:nvPr/>
          </p:nvSpPr>
          <p:spPr bwMode="auto">
            <a:xfrm>
              <a:off x="11271491" y="3250641"/>
              <a:ext cx="2818368" cy="2337436"/>
            </a:xfrm>
            <a:prstGeom prst="roundRect">
              <a:avLst>
                <a:gd name="adj" fmla="val 3923"/>
              </a:avLst>
            </a:prstGeom>
            <a:solidFill>
              <a:schemeClr val="tx2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9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FD559E8B-B039-DD50-5C5E-CD6C2B788A5E}"/>
                </a:ext>
              </a:extLst>
            </p:cNvPr>
            <p:cNvSpPr txBox="1"/>
            <p:nvPr/>
          </p:nvSpPr>
          <p:spPr>
            <a:xfrm>
              <a:off x="11311608" y="3305092"/>
              <a:ext cx="1347139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800" b="0">
                  <a:solidFill>
                    <a:schemeClr val="bg1"/>
                  </a:solidFill>
                  <a:latin typeface="+mn-ea"/>
                  <a:ea typeface="+mn-ea"/>
                </a:rPr>
                <a:t>운영 원칙  </a:t>
              </a:r>
              <a:r>
                <a:rPr lang="en-US" altLang="ko-KR" sz="800" b="0">
                  <a:solidFill>
                    <a:schemeClr val="bg1"/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b="0">
                  <a:solidFill>
                    <a:schemeClr val="bg1"/>
                  </a:solidFill>
                  <a:latin typeface="+mn-ea"/>
                  <a:ea typeface="+mn-ea"/>
                </a:rPr>
                <a:t>안전 장치</a:t>
              </a:r>
              <a:endParaRPr lang="en-US" altLang="ko-KR" sz="800" b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80" name="사각형: 둥근 모서리 279">
              <a:extLst>
                <a:ext uri="{FF2B5EF4-FFF2-40B4-BE49-F238E27FC236}">
                  <a16:creationId xmlns:a16="http://schemas.microsoft.com/office/drawing/2014/main" id="{0B60934F-9806-3A98-DD73-CE9C65027B03}"/>
                </a:ext>
              </a:extLst>
            </p:cNvPr>
            <p:cNvSpPr/>
            <p:nvPr/>
          </p:nvSpPr>
          <p:spPr bwMode="auto">
            <a:xfrm>
              <a:off x="11345755" y="3512911"/>
              <a:ext cx="2636119" cy="197294"/>
            </a:xfrm>
            <a:prstGeom prst="roundRect">
              <a:avLst>
                <a:gd name="adj" fmla="val 5741"/>
              </a:avLst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R="0" defTabSz="979488" rtl="0" eaLnBrk="1" fontAlgn="base" latinLnBrk="1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11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Human-in-the-loop + </a:t>
              </a:r>
              <a:r>
                <a:rPr kumimoji="1" lang="ko-KR" altLang="en-US" sz="11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메타 연결</a:t>
              </a:r>
            </a:p>
          </p:txBody>
        </p:sp>
        <p:grpSp>
          <p:nvGrpSpPr>
            <p:cNvPr id="292" name="그룹 291">
              <a:extLst>
                <a:ext uri="{FF2B5EF4-FFF2-40B4-BE49-F238E27FC236}">
                  <a16:creationId xmlns:a16="http://schemas.microsoft.com/office/drawing/2014/main" id="{A093F305-CBE9-53D0-D66A-8F32123EA45B}"/>
                </a:ext>
              </a:extLst>
            </p:cNvPr>
            <p:cNvGrpSpPr/>
            <p:nvPr/>
          </p:nvGrpSpPr>
          <p:grpSpPr>
            <a:xfrm>
              <a:off x="11389586" y="3793897"/>
              <a:ext cx="2592288" cy="408565"/>
              <a:chOff x="2264535" y="4581128"/>
              <a:chExt cx="2592288" cy="408565"/>
            </a:xfrm>
          </p:grpSpPr>
          <p:sp>
            <p:nvSpPr>
              <p:cNvPr id="281" name="사각형: 둥근 모서리 280">
                <a:extLst>
                  <a:ext uri="{FF2B5EF4-FFF2-40B4-BE49-F238E27FC236}">
                    <a16:creationId xmlns:a16="http://schemas.microsoft.com/office/drawing/2014/main" id="{2D6F17FA-58B9-8A54-F8F3-7AC86E6EFB24}"/>
                  </a:ext>
                </a:extLst>
              </p:cNvPr>
              <p:cNvSpPr/>
              <p:nvPr/>
            </p:nvSpPr>
            <p:spPr bwMode="auto">
              <a:xfrm>
                <a:off x="2264535" y="4600653"/>
                <a:ext cx="2592288" cy="389040"/>
              </a:xfrm>
              <a:prstGeom prst="roundRect">
                <a:avLst>
                  <a:gd name="adj" fmla="val 10117"/>
                </a:avLst>
              </a:prstGeom>
              <a:solidFill>
                <a:srgbClr val="2A63A8"/>
              </a:solidFill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9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AC42575F-7D1C-B493-383B-01C7BE811CBA}"/>
                  </a:ext>
                </a:extLst>
              </p:cNvPr>
              <p:cNvSpPr txBox="1"/>
              <p:nvPr/>
            </p:nvSpPr>
            <p:spPr>
              <a:xfrm>
                <a:off x="2288704" y="4581128"/>
                <a:ext cx="1487999" cy="23358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Wingdings" panose="05000000000000000000" pitchFamily="2" charset="2"/>
                  <a:buChar char="§"/>
                  <a:defRPr sz="1100" b="1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800">
                    <a:solidFill>
                      <a:schemeClr val="bg1"/>
                    </a:solidFill>
                    <a:latin typeface="+mn-ea"/>
                    <a:ea typeface="+mn-ea"/>
                  </a:rPr>
                  <a:t>최종 확정은 담당자</a:t>
                </a:r>
                <a:endParaRPr lang="en-US" altLang="ko-KR" sz="800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91" name="사각형: 둥근 모서리 290">
                <a:extLst>
                  <a:ext uri="{FF2B5EF4-FFF2-40B4-BE49-F238E27FC236}">
                    <a16:creationId xmlns:a16="http://schemas.microsoft.com/office/drawing/2014/main" id="{F56081A8-B3EF-4BFA-04C0-680B33CA2AB4}"/>
                  </a:ext>
                </a:extLst>
              </p:cNvPr>
              <p:cNvSpPr/>
              <p:nvPr/>
            </p:nvSpPr>
            <p:spPr bwMode="auto">
              <a:xfrm>
                <a:off x="2313839" y="4774674"/>
                <a:ext cx="2326959" cy="197294"/>
              </a:xfrm>
              <a:prstGeom prst="roundRect">
                <a:avLst>
                  <a:gd name="adj" fmla="val 5741"/>
                </a:avLst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defTabSz="979488" rtl="0" eaLnBrk="1" fontAlgn="base" latinLnBrk="1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ko-KR" sz="7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AI</a:t>
                </a:r>
                <a:r>
                  <a:rPr kumimoji="1" lang="ko-KR" altLang="en-US" sz="7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는 초안 제안 </a:t>
                </a:r>
                <a:r>
                  <a:rPr kumimoji="1" lang="en-US" altLang="ko-KR" sz="7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- </a:t>
                </a:r>
                <a:r>
                  <a:rPr kumimoji="1" lang="ko-KR" altLang="en-US" sz="7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검토</a:t>
                </a:r>
                <a:r>
                  <a:rPr kumimoji="1" lang="en-US" altLang="ko-KR" sz="7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/</a:t>
                </a:r>
                <a:r>
                  <a:rPr kumimoji="1" lang="ko-KR" altLang="en-US" sz="7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승인 워크플로 유지</a:t>
                </a:r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B208500C-AB4F-0BD2-A848-F6CA76E68B2E}"/>
                </a:ext>
              </a:extLst>
            </p:cNvPr>
            <p:cNvGrpSpPr/>
            <p:nvPr/>
          </p:nvGrpSpPr>
          <p:grpSpPr>
            <a:xfrm>
              <a:off x="11389586" y="4398107"/>
              <a:ext cx="2592288" cy="408565"/>
              <a:chOff x="2264535" y="4581128"/>
              <a:chExt cx="2592288" cy="408565"/>
            </a:xfrm>
          </p:grpSpPr>
          <p:sp>
            <p:nvSpPr>
              <p:cNvPr id="151" name="사각형: 둥근 모서리 150">
                <a:extLst>
                  <a:ext uri="{FF2B5EF4-FFF2-40B4-BE49-F238E27FC236}">
                    <a16:creationId xmlns:a16="http://schemas.microsoft.com/office/drawing/2014/main" id="{3CECCFE0-6E73-72CA-9BB5-F665014806D9}"/>
                  </a:ext>
                </a:extLst>
              </p:cNvPr>
              <p:cNvSpPr/>
              <p:nvPr/>
            </p:nvSpPr>
            <p:spPr bwMode="auto">
              <a:xfrm>
                <a:off x="2264535" y="4600653"/>
                <a:ext cx="2592288" cy="389040"/>
              </a:xfrm>
              <a:prstGeom prst="roundRect">
                <a:avLst>
                  <a:gd name="adj" fmla="val 10117"/>
                </a:avLst>
              </a:prstGeom>
              <a:solidFill>
                <a:srgbClr val="2A63A8"/>
              </a:solidFill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9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FB643D89-0330-59A3-FE3F-88E9CA6B0846}"/>
                  </a:ext>
                </a:extLst>
              </p:cNvPr>
              <p:cNvSpPr txBox="1"/>
              <p:nvPr/>
            </p:nvSpPr>
            <p:spPr>
              <a:xfrm>
                <a:off x="2288704" y="4581128"/>
                <a:ext cx="1487999" cy="23358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Wingdings" panose="05000000000000000000" pitchFamily="2" charset="2"/>
                  <a:buChar char="§"/>
                  <a:defRPr sz="1100" b="1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800">
                    <a:solidFill>
                      <a:schemeClr val="bg1"/>
                    </a:solidFill>
                    <a:latin typeface="+mn-ea"/>
                    <a:ea typeface="+mn-ea"/>
                  </a:rPr>
                  <a:t>메타 연결성 선행</a:t>
                </a:r>
                <a:endParaRPr lang="en-US" altLang="ko-KR" sz="800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53" name="사각형: 둥근 모서리 152">
                <a:extLst>
                  <a:ext uri="{FF2B5EF4-FFF2-40B4-BE49-F238E27FC236}">
                    <a16:creationId xmlns:a16="http://schemas.microsoft.com/office/drawing/2014/main" id="{18A7FF09-D0A4-1898-41D8-5894C1D1F86D}"/>
                  </a:ext>
                </a:extLst>
              </p:cNvPr>
              <p:cNvSpPr/>
              <p:nvPr/>
            </p:nvSpPr>
            <p:spPr bwMode="auto">
              <a:xfrm>
                <a:off x="2313839" y="4774674"/>
                <a:ext cx="2326959" cy="197294"/>
              </a:xfrm>
              <a:prstGeom prst="roundRect">
                <a:avLst>
                  <a:gd name="adj" fmla="val 5741"/>
                </a:avLst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defTabSz="979488" rtl="0" eaLnBrk="1" fontAlgn="base" latinLnBrk="1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ko-KR" sz="7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Question ID ∙ Variable ID ∙ Code list ID </a:t>
                </a:r>
                <a:r>
                  <a:rPr kumimoji="1" lang="ko-KR" altLang="en-US" sz="7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표준화</a:t>
                </a:r>
              </a:p>
            </p:txBody>
          </p:sp>
        </p:grp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ADDAB9A7-7A6C-4B2E-B626-02F733CE45C8}"/>
                </a:ext>
              </a:extLst>
            </p:cNvPr>
            <p:cNvGrpSpPr/>
            <p:nvPr/>
          </p:nvGrpSpPr>
          <p:grpSpPr>
            <a:xfrm>
              <a:off x="11389586" y="5002316"/>
              <a:ext cx="2592288" cy="408565"/>
              <a:chOff x="2264535" y="4581128"/>
              <a:chExt cx="2592288" cy="408565"/>
            </a:xfrm>
          </p:grpSpPr>
          <p:sp>
            <p:nvSpPr>
              <p:cNvPr id="155" name="사각형: 둥근 모서리 154">
                <a:extLst>
                  <a:ext uri="{FF2B5EF4-FFF2-40B4-BE49-F238E27FC236}">
                    <a16:creationId xmlns:a16="http://schemas.microsoft.com/office/drawing/2014/main" id="{F2EB5363-E3A7-7A39-DA34-F55B722E2BD4}"/>
                  </a:ext>
                </a:extLst>
              </p:cNvPr>
              <p:cNvSpPr/>
              <p:nvPr/>
            </p:nvSpPr>
            <p:spPr bwMode="auto">
              <a:xfrm>
                <a:off x="2264535" y="4600653"/>
                <a:ext cx="2592288" cy="389040"/>
              </a:xfrm>
              <a:prstGeom prst="roundRect">
                <a:avLst>
                  <a:gd name="adj" fmla="val 10117"/>
                </a:avLst>
              </a:prstGeom>
              <a:solidFill>
                <a:srgbClr val="2A63A8"/>
              </a:solidFill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9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9A415B45-C0E3-F3C5-E35E-F544FC818284}"/>
                  </a:ext>
                </a:extLst>
              </p:cNvPr>
              <p:cNvSpPr txBox="1"/>
              <p:nvPr/>
            </p:nvSpPr>
            <p:spPr>
              <a:xfrm>
                <a:off x="2288704" y="4581128"/>
                <a:ext cx="1487999" cy="23358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Wingdings" panose="05000000000000000000" pitchFamily="2" charset="2"/>
                  <a:buChar char="§"/>
                  <a:defRPr sz="1100" b="1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800">
                    <a:solidFill>
                      <a:schemeClr val="bg1"/>
                    </a:solidFill>
                    <a:latin typeface="+mn-ea"/>
                    <a:ea typeface="+mn-ea"/>
                  </a:rPr>
                  <a:t>근거 데이터</a:t>
                </a:r>
                <a:r>
                  <a:rPr lang="en-US" altLang="ko-KR" sz="800">
                    <a:solidFill>
                      <a:schemeClr val="bg1"/>
                    </a:solidFill>
                    <a:latin typeface="+mn-ea"/>
                    <a:ea typeface="+mn-ea"/>
                  </a:rPr>
                  <a:t>(</a:t>
                </a:r>
                <a:r>
                  <a:rPr lang="ko-KR" altLang="en-US" sz="800">
                    <a:solidFill>
                      <a:schemeClr val="bg1"/>
                    </a:solidFill>
                    <a:latin typeface="+mn-ea"/>
                    <a:ea typeface="+mn-ea"/>
                  </a:rPr>
                  <a:t>권장</a:t>
                </a:r>
                <a:r>
                  <a:rPr lang="en-US" altLang="ko-KR" sz="800">
                    <a:solidFill>
                      <a:schemeClr val="bg1"/>
                    </a:solidFill>
                    <a:latin typeface="+mn-ea"/>
                    <a:ea typeface="+mn-ea"/>
                  </a:rPr>
                  <a:t>)</a:t>
                </a:r>
                <a:endParaRPr lang="en-US" altLang="ko-KR" sz="800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57" name="사각형: 둥근 모서리 156">
                <a:extLst>
                  <a:ext uri="{FF2B5EF4-FFF2-40B4-BE49-F238E27FC236}">
                    <a16:creationId xmlns:a16="http://schemas.microsoft.com/office/drawing/2014/main" id="{1F61A420-4FBC-02B9-EA53-0C4EEA24976D}"/>
                  </a:ext>
                </a:extLst>
              </p:cNvPr>
              <p:cNvSpPr/>
              <p:nvPr/>
            </p:nvSpPr>
            <p:spPr bwMode="auto">
              <a:xfrm>
                <a:off x="2313839" y="4774674"/>
                <a:ext cx="2326959" cy="197294"/>
              </a:xfrm>
              <a:prstGeom prst="roundRect">
                <a:avLst>
                  <a:gd name="adj" fmla="val 5741"/>
                </a:avLst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defTabSz="979488" rtl="0" eaLnBrk="1" fontAlgn="base" latinLnBrk="1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ko-KR" altLang="en-US" sz="7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과거 조사표 ∙ 지표정의 ∙ 매핑 이력 ∙ 심사 의견</a:t>
                </a:r>
              </a:p>
            </p:txBody>
          </p: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2FEB178D-F49A-554D-41C0-D72EE1A1EC62}"/>
              </a:ext>
            </a:extLst>
          </p:cNvPr>
          <p:cNvSpPr txBox="1"/>
          <p:nvPr/>
        </p:nvSpPr>
        <p:spPr>
          <a:xfrm>
            <a:off x="403796" y="1932744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입력 </a:t>
            </a:r>
            <a:r>
              <a:rPr lang="en-US" altLang="ko-KR">
                <a:latin typeface="+mn-ea"/>
                <a:ea typeface="+mn-ea"/>
              </a:rPr>
              <a:t>/ </a:t>
            </a:r>
            <a:r>
              <a:rPr lang="ko-KR" altLang="en-US">
                <a:latin typeface="+mn-ea"/>
                <a:ea typeface="+mn-ea"/>
              </a:rPr>
              <a:t>산출물 </a:t>
            </a:r>
            <a:r>
              <a:rPr lang="en-US" altLang="ko-KR">
                <a:latin typeface="+mn-ea"/>
                <a:ea typeface="+mn-ea"/>
              </a:rPr>
              <a:t>/ </a:t>
            </a:r>
            <a:r>
              <a:rPr lang="ko-KR" altLang="en-US">
                <a:latin typeface="+mn-ea"/>
                <a:ea typeface="+mn-ea"/>
              </a:rPr>
              <a:t>운영 원칙 </a:t>
            </a:r>
            <a:r>
              <a:rPr lang="en-US" altLang="ko-KR">
                <a:latin typeface="+mn-ea"/>
                <a:ea typeface="+mn-ea"/>
              </a:rPr>
              <a:t>/ </a:t>
            </a:r>
            <a:r>
              <a:rPr lang="ko-KR" altLang="en-US">
                <a:latin typeface="+mn-ea"/>
                <a:ea typeface="+mn-ea"/>
              </a:rPr>
              <a:t>안전 장치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8A70F04-3FF6-C34C-1873-D67615872948}"/>
              </a:ext>
            </a:extLst>
          </p:cNvPr>
          <p:cNvSpPr txBox="1"/>
          <p:nvPr/>
        </p:nvSpPr>
        <p:spPr>
          <a:xfrm>
            <a:off x="403796" y="4763916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기대 효과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4F3F328-7489-78AF-84FC-8175DE0A4AE1}"/>
              </a:ext>
            </a:extLst>
          </p:cNvPr>
          <p:cNvSpPr txBox="1"/>
          <p:nvPr/>
        </p:nvSpPr>
        <p:spPr>
          <a:xfrm>
            <a:off x="848544" y="5250998"/>
            <a:ext cx="1368149" cy="2419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100"/>
              <a:t>설계 리드타임 단축</a:t>
            </a:r>
            <a:endParaRPr lang="en-US" altLang="ko-KR" sz="1100"/>
          </a:p>
        </p:txBody>
      </p:sp>
      <p:sp>
        <p:nvSpPr>
          <p:cNvPr id="181" name="순서도: 연결자 180">
            <a:extLst>
              <a:ext uri="{FF2B5EF4-FFF2-40B4-BE49-F238E27FC236}">
                <a16:creationId xmlns:a16="http://schemas.microsoft.com/office/drawing/2014/main" id="{3100B06F-B4DB-198F-534C-36A712710641}"/>
              </a:ext>
            </a:extLst>
          </p:cNvPr>
          <p:cNvSpPr/>
          <p:nvPr/>
        </p:nvSpPr>
        <p:spPr bwMode="auto">
          <a:xfrm>
            <a:off x="524536" y="5232951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08B00959-4701-F754-1201-A779B1FB430B}"/>
              </a:ext>
            </a:extLst>
          </p:cNvPr>
          <p:cNvGrpSpPr/>
          <p:nvPr/>
        </p:nvGrpSpPr>
        <p:grpSpPr>
          <a:xfrm>
            <a:off x="3501882" y="5647558"/>
            <a:ext cx="2669620" cy="659051"/>
            <a:chOff x="10318986" y="5083825"/>
            <a:chExt cx="2669620" cy="659051"/>
          </a:xfrm>
        </p:grpSpPr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BD05C4D7-F1F3-DCEA-4944-3E1DA4E76105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5ACAB24A-0A90-488B-1C0C-DC70BE43D2B1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공표지표 연결성 ↑</a:t>
              </a:r>
              <a:endParaRPr lang="en-US" altLang="ko-KR" sz="1000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E5C2B7A8-76EB-0867-8E15-9EC868F15C8A}"/>
                </a:ext>
              </a:extLst>
            </p:cNvPr>
            <p:cNvSpPr txBox="1"/>
            <p:nvPr/>
          </p:nvSpPr>
          <p:spPr>
            <a:xfrm>
              <a:off x="10379554" y="5385550"/>
              <a:ext cx="2529163" cy="31892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800"/>
                <a:t>문항이 어떤 통계표 셀로 귀결되는지 설계 시점부터 명시</a:t>
              </a:r>
              <a:endParaRPr lang="en-US" altLang="ko-KR" sz="800"/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7B18055D-FD2E-6783-1E65-2D09BDBA669D}"/>
              </a:ext>
            </a:extLst>
          </p:cNvPr>
          <p:cNvGrpSpPr/>
          <p:nvPr/>
        </p:nvGrpSpPr>
        <p:grpSpPr>
          <a:xfrm>
            <a:off x="6536553" y="5647558"/>
            <a:ext cx="2669620" cy="659051"/>
            <a:chOff x="10318986" y="5083825"/>
            <a:chExt cx="2669620" cy="659051"/>
          </a:xfrm>
        </p:grpSpPr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57AE59B2-5C2A-B895-7D6E-6A5B42A916D4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80BE796F-CB95-928A-2933-BCFBAF46A1C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병목 매핑</a:t>
              </a:r>
              <a:endParaRPr lang="en-US" altLang="ko-KR" sz="800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1B7A4C44-D6D7-5AD0-EC0E-7C57EC826304}"/>
                </a:ext>
              </a:extLst>
            </p:cNvPr>
            <p:cNvSpPr txBox="1"/>
            <p:nvPr/>
          </p:nvSpPr>
          <p:spPr>
            <a:xfrm>
              <a:off x="10379554" y="5328400"/>
              <a:ext cx="2529163" cy="37503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설계 </a:t>
              </a:r>
              <a:r>
                <a:rPr lang="en-US" altLang="ko-KR" sz="700"/>
                <a:t>( KSBPM ② ) - </a:t>
              </a:r>
              <a:r>
                <a:rPr lang="ko-KR" altLang="en-US" sz="700"/>
                <a:t>문항 ∙ 표준화 ∙ 룰 정의의 반복 수기를 직접 감소</a:t>
              </a:r>
              <a:endParaRPr lang="en-US" altLang="ko-KR" sz="700"/>
            </a:p>
          </p:txBody>
        </p:sp>
      </p:grp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7E70CF8-A519-FA96-15C0-00187BD6E954}"/>
              </a:ext>
            </a:extLst>
          </p:cNvPr>
          <p:cNvSpPr/>
          <p:nvPr/>
        </p:nvSpPr>
        <p:spPr bwMode="auto">
          <a:xfrm>
            <a:off x="5359900" y="2496354"/>
            <a:ext cx="875404" cy="182517"/>
          </a:xfrm>
          <a:prstGeom prst="roundRect">
            <a:avLst/>
          </a:prstGeom>
          <a:solidFill>
            <a:schemeClr val="tx2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+mn-ea"/>
                <a:ea typeface="+mn-ea"/>
              </a:rPr>
              <a:t>통계항목 자동생성</a:t>
            </a:r>
          </a:p>
        </p:txBody>
      </p:sp>
    </p:spTree>
    <p:extLst>
      <p:ext uri="{BB962C8B-B14F-4D97-AF65-F5344CB8AC3E}">
        <p14:creationId xmlns:p14="http://schemas.microsoft.com/office/powerpoint/2010/main" val="3679025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8F9D2DB-BF8C-5F02-51E3-D6451B582691}"/>
              </a:ext>
            </a:extLst>
          </p:cNvPr>
          <p:cNvSpPr/>
          <p:nvPr/>
        </p:nvSpPr>
        <p:spPr bwMode="auto">
          <a:xfrm>
            <a:off x="432273" y="5124911"/>
            <a:ext cx="8949191" cy="1328425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34D58D5A-60EB-8EE6-BD27-F4C28E14D827}"/>
              </a:ext>
            </a:extLst>
          </p:cNvPr>
          <p:cNvGrpSpPr/>
          <p:nvPr/>
        </p:nvGrpSpPr>
        <p:grpSpPr>
          <a:xfrm>
            <a:off x="560512" y="5647558"/>
            <a:ext cx="2669620" cy="659051"/>
            <a:chOff x="10318986" y="5083825"/>
            <a:chExt cx="2669620" cy="659051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07DCC9D1-86F9-EE4C-EC96-720F8C9C5238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2BDEEE05-229E-A89D-6AE0-A2721D0E1A3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응답 부담↓</a:t>
              </a:r>
              <a:endParaRPr lang="en-US" altLang="ko-KR" sz="100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77D5B9C-8751-CF77-CF98-91CA2B23C753}"/>
                </a:ext>
              </a:extLst>
            </p:cNvPr>
            <p:cNvSpPr txBox="1"/>
            <p:nvPr/>
          </p:nvSpPr>
          <p:spPr>
            <a:xfrm>
              <a:off x="10379554" y="5395075"/>
              <a:ext cx="2529163" cy="19581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800"/>
                <a:t>애매한 표현 제거로 응답 시간 및 이탈률 개선</a:t>
              </a:r>
              <a:endParaRPr lang="en-US" altLang="ko-KR" sz="800"/>
            </a:p>
          </p:txBody>
        </p:sp>
      </p:grp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01124" y="620688"/>
            <a:ext cx="8742756" cy="3683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ts val="2000"/>
              </a:lnSpc>
            </a:pP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조사지침서와 조사표 문서 검증</a:t>
            </a:r>
            <a:endParaRPr lang="ko-KR" altLang="en-US" sz="20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7FE19520-BCCC-C5BB-C8AF-0BBE1A9754D3}"/>
              </a:ext>
            </a:extLst>
          </p:cNvPr>
          <p:cNvGrpSpPr/>
          <p:nvPr/>
        </p:nvGrpSpPr>
        <p:grpSpPr>
          <a:xfrm>
            <a:off x="445071" y="1124744"/>
            <a:ext cx="9188449" cy="338554"/>
            <a:chOff x="445071" y="1124744"/>
            <a:chExt cx="9188449" cy="338554"/>
          </a:xfrm>
        </p:grpSpPr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119C4970-B753-3519-BE02-B254D5097F8E}"/>
                </a:ext>
              </a:extLst>
            </p:cNvPr>
            <p:cNvSpPr/>
            <p:nvPr/>
          </p:nvSpPr>
          <p:spPr>
            <a:xfrm>
              <a:off x="697071" y="1124744"/>
              <a:ext cx="89364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애매한 문장 ∙ 이중질문 ∙ 지침서 내용과 불일치를 설계 시점에 자동으로 잡아냅니다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.</a:t>
              </a:r>
              <a:endParaRPr lang="ko-KR" altLang="en-US" sz="2000" dirty="0">
                <a:solidFill>
                  <a:srgbClr val="1692D3"/>
                </a:solidFill>
                <a:latin typeface="+mn-ea"/>
                <a:ea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4F6FA582-6393-C7E6-79D9-89A65B0FFA0A}"/>
                </a:ext>
              </a:extLst>
            </p:cNvPr>
            <p:cNvSpPr/>
            <p:nvPr/>
          </p:nvSpPr>
          <p:spPr bwMode="auto">
            <a:xfrm>
              <a:off x="445071" y="1173892"/>
              <a:ext cx="252000" cy="248283"/>
            </a:xfrm>
            <a:prstGeom prst="roundRect">
              <a:avLst/>
            </a:prstGeom>
            <a:solidFill>
              <a:srgbClr val="2E6CB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79488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▶</a:t>
              </a:r>
              <a:endParaRPr kumimoji="1" lang="ko-KR" altLang="en-US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73D774F-EFAC-210C-B306-6E3F311AB320}"/>
              </a:ext>
            </a:extLst>
          </p:cNvPr>
          <p:cNvSpPr/>
          <p:nvPr/>
        </p:nvSpPr>
        <p:spPr bwMode="auto">
          <a:xfrm>
            <a:off x="369076" y="610037"/>
            <a:ext cx="432048" cy="389040"/>
          </a:xfrm>
          <a:prstGeom prst="roundRect">
            <a:avLst>
              <a:gd name="adj" fmla="val 10117"/>
            </a:avLst>
          </a:prstGeom>
          <a:solidFill>
            <a:schemeClr val="tx2"/>
          </a:solidFill>
          <a:ln w="12700">
            <a:noFill/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en-US" altLang="ko-KR" b="1">
                <a:solidFill>
                  <a:schemeClr val="bg1"/>
                </a:solidFill>
                <a:latin typeface="+mn-ea"/>
                <a:ea typeface="+mn-ea"/>
              </a:rPr>
              <a:t>02</a:t>
            </a:r>
            <a:endParaRPr lang="ko-KR" altLang="en-US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4435F-8C6C-57FB-229E-98B2289EAFC9}"/>
              </a:ext>
            </a:extLst>
          </p:cNvPr>
          <p:cNvSpPr txBox="1"/>
          <p:nvPr/>
        </p:nvSpPr>
        <p:spPr>
          <a:xfrm>
            <a:off x="776536" y="1484784"/>
            <a:ext cx="8694494" cy="31398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200" b="0" spc="-100">
                <a:latin typeface="+mn-ea"/>
                <a:ea typeface="+mn-ea"/>
              </a:rPr>
              <a:t>AI</a:t>
            </a:r>
            <a:r>
              <a:rPr lang="ko-KR" altLang="en-US" sz="1200" b="0" spc="-100">
                <a:latin typeface="+mn-ea"/>
                <a:ea typeface="+mn-ea"/>
              </a:rPr>
              <a:t>가 </a:t>
            </a:r>
            <a:r>
              <a:rPr lang="ko-KR" altLang="en-US" sz="1200" spc="-100">
                <a:latin typeface="+mn-ea"/>
                <a:ea typeface="+mn-ea"/>
              </a:rPr>
              <a:t>문항 단위로 위험 신호를 탐지</a:t>
            </a:r>
            <a:r>
              <a:rPr lang="ko-KR" altLang="en-US" sz="1200" b="0" spc="-100">
                <a:latin typeface="+mn-ea"/>
                <a:ea typeface="+mn-ea"/>
              </a:rPr>
              <a:t>하고 </a:t>
            </a:r>
            <a:r>
              <a:rPr lang="ko-KR" altLang="en-US" sz="1200" spc="-100">
                <a:latin typeface="+mn-ea"/>
                <a:ea typeface="+mn-ea"/>
              </a:rPr>
              <a:t>더 짧고 명확한 대체 표현</a:t>
            </a:r>
            <a:r>
              <a:rPr lang="ko-KR" altLang="en-US" sz="1200" b="0" spc="-100">
                <a:latin typeface="+mn-ea"/>
                <a:ea typeface="+mn-ea"/>
              </a:rPr>
              <a:t>을 제안 </a:t>
            </a:r>
            <a:r>
              <a:rPr lang="en-US" altLang="ko-KR" sz="1200" b="0" spc="-100">
                <a:latin typeface="+mn-ea"/>
                <a:ea typeface="+mn-ea"/>
              </a:rPr>
              <a:t>- </a:t>
            </a:r>
            <a:r>
              <a:rPr lang="ko-KR" altLang="en-US" sz="1200" b="0" spc="-100">
                <a:latin typeface="+mn-ea"/>
                <a:ea typeface="+mn-ea"/>
              </a:rPr>
              <a:t>수집 단계 오류 ∙ 응답부담을 선제 차단합니다</a:t>
            </a:r>
            <a:r>
              <a:rPr lang="en-US" altLang="ko-KR" sz="1200" b="0" spc="-100">
                <a:latin typeface="+mn-ea"/>
                <a:ea typeface="+mn-ea"/>
              </a:rPr>
              <a:t>.</a:t>
            </a:r>
            <a:endParaRPr lang="en-US" altLang="ko-KR" sz="1200" b="0" spc="-100" dirty="0">
              <a:latin typeface="+mn-ea"/>
              <a:ea typeface="+mn-ea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87F6383-3B90-5D8A-5E8A-72AAF3747502}"/>
              </a:ext>
            </a:extLst>
          </p:cNvPr>
          <p:cNvSpPr/>
          <p:nvPr/>
        </p:nvSpPr>
        <p:spPr bwMode="auto">
          <a:xfrm>
            <a:off x="432274" y="2333640"/>
            <a:ext cx="4232694" cy="2337436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B239B-9B77-986C-7183-04687505D49E}"/>
              </a:ext>
            </a:extLst>
          </p:cNvPr>
          <p:cNvSpPr txBox="1"/>
          <p:nvPr/>
        </p:nvSpPr>
        <p:spPr>
          <a:xfrm>
            <a:off x="848544" y="2360024"/>
            <a:ext cx="1634521" cy="213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40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r>
              <a:rPr lang="ko-KR" altLang="en-US" sz="700" b="0"/>
              <a:t>자동 경고</a:t>
            </a:r>
            <a:r>
              <a:rPr lang="en-US" altLang="ko-KR" sz="700" b="0"/>
              <a:t>(</a:t>
            </a:r>
            <a:r>
              <a:rPr lang="ko-KR" altLang="en-US" sz="700" b="0"/>
              <a:t>탐지</a:t>
            </a:r>
            <a:r>
              <a:rPr lang="en-US" altLang="ko-KR" sz="700" b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1CFEA-BCCF-9E4C-2F12-C12991EC1DD8}"/>
              </a:ext>
            </a:extLst>
          </p:cNvPr>
          <p:cNvSpPr txBox="1"/>
          <p:nvPr/>
        </p:nvSpPr>
        <p:spPr>
          <a:xfrm>
            <a:off x="848544" y="2529536"/>
            <a:ext cx="2205572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000"/>
              <a:t>위험 패턴 자동 표시</a:t>
            </a:r>
            <a:endParaRPr lang="en-US" altLang="ko-KR" sz="10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3BB79F7-A2F7-C727-E2D9-664BF2454BB4}"/>
              </a:ext>
            </a:extLst>
          </p:cNvPr>
          <p:cNvGrpSpPr/>
          <p:nvPr/>
        </p:nvGrpSpPr>
        <p:grpSpPr>
          <a:xfrm>
            <a:off x="560512" y="2856287"/>
            <a:ext cx="1922553" cy="503265"/>
            <a:chOff x="10318986" y="5083825"/>
            <a:chExt cx="1922553" cy="50326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A08A3682-EA07-DCFA-F4E5-E48B5A719531}"/>
                </a:ext>
              </a:extLst>
            </p:cNvPr>
            <p:cNvSpPr/>
            <p:nvPr/>
          </p:nvSpPr>
          <p:spPr bwMode="auto">
            <a:xfrm>
              <a:off x="10318986" y="5083825"/>
              <a:ext cx="1922553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6042E4-2E39-1A03-26B0-F33B3221242D}"/>
                </a:ext>
              </a:extLst>
            </p:cNvPr>
            <p:cNvSpPr txBox="1"/>
            <p:nvPr/>
          </p:nvSpPr>
          <p:spPr>
            <a:xfrm>
              <a:off x="10379552" y="5123439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중의성 </a:t>
              </a:r>
              <a:r>
                <a:rPr lang="en-US" altLang="ko-KR" sz="800"/>
                <a:t>/ </a:t>
              </a:r>
              <a:r>
                <a:rPr lang="ko-KR" altLang="en-US" sz="800"/>
                <a:t>오해 가능성</a:t>
              </a:r>
              <a:endParaRPr lang="en-US" altLang="ko-KR" sz="8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4848DF-A6A5-D1AF-840B-A6BAA617B3FB}"/>
                </a:ext>
              </a:extLst>
            </p:cNvPr>
            <p:cNvSpPr txBox="1"/>
            <p:nvPr/>
          </p:nvSpPr>
          <p:spPr>
            <a:xfrm>
              <a:off x="10379555" y="5290300"/>
              <a:ext cx="1739632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여러 의미로 해석되는 표현 자동 검출</a:t>
              </a:r>
              <a:endParaRPr lang="en-US" altLang="ko-KR" sz="700"/>
            </a:p>
          </p:txBody>
        </p:sp>
      </p:grp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3E3B9804-C593-80DA-55CE-D2E0E402ADB8}"/>
              </a:ext>
            </a:extLst>
          </p:cNvPr>
          <p:cNvSpPr/>
          <p:nvPr/>
        </p:nvSpPr>
        <p:spPr bwMode="auto">
          <a:xfrm>
            <a:off x="524536" y="2441680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FEB178D-F49A-554D-41C0-D72EE1A1EC62}"/>
              </a:ext>
            </a:extLst>
          </p:cNvPr>
          <p:cNvSpPr txBox="1"/>
          <p:nvPr/>
        </p:nvSpPr>
        <p:spPr>
          <a:xfrm>
            <a:off x="403796" y="1932744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자동 경고</a:t>
            </a:r>
            <a:r>
              <a:rPr lang="en-US" altLang="ko-KR">
                <a:latin typeface="+mn-ea"/>
                <a:ea typeface="+mn-ea"/>
              </a:rPr>
              <a:t>(</a:t>
            </a:r>
            <a:r>
              <a:rPr lang="ko-KR" altLang="en-US">
                <a:latin typeface="+mn-ea"/>
                <a:ea typeface="+mn-ea"/>
              </a:rPr>
              <a:t>탐지</a:t>
            </a:r>
            <a:r>
              <a:rPr lang="en-US" altLang="ko-KR">
                <a:latin typeface="+mn-ea"/>
                <a:ea typeface="+mn-ea"/>
              </a:rPr>
              <a:t>) / </a:t>
            </a:r>
            <a:r>
              <a:rPr lang="ko-KR" altLang="en-US">
                <a:latin typeface="+mn-ea"/>
                <a:ea typeface="+mn-ea"/>
              </a:rPr>
              <a:t>개선 제안</a:t>
            </a:r>
            <a:r>
              <a:rPr lang="en-US" altLang="ko-KR">
                <a:latin typeface="+mn-ea"/>
                <a:ea typeface="+mn-ea"/>
              </a:rPr>
              <a:t>(</a:t>
            </a:r>
            <a:r>
              <a:rPr lang="ko-KR" altLang="en-US">
                <a:latin typeface="+mn-ea"/>
                <a:ea typeface="+mn-ea"/>
              </a:rPr>
              <a:t>추천</a:t>
            </a:r>
            <a:r>
              <a:rPr lang="en-US" altLang="ko-KR">
                <a:latin typeface="+mn-ea"/>
                <a:ea typeface="+mn-ea"/>
              </a:rPr>
              <a:t>)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8A70F04-3FF6-C34C-1873-D67615872948}"/>
              </a:ext>
            </a:extLst>
          </p:cNvPr>
          <p:cNvSpPr txBox="1"/>
          <p:nvPr/>
        </p:nvSpPr>
        <p:spPr>
          <a:xfrm>
            <a:off x="403796" y="4763916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기대 효과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4F3F328-7489-78AF-84FC-8175DE0A4AE1}"/>
              </a:ext>
            </a:extLst>
          </p:cNvPr>
          <p:cNvSpPr txBox="1"/>
          <p:nvPr/>
        </p:nvSpPr>
        <p:spPr>
          <a:xfrm>
            <a:off x="848544" y="5250998"/>
            <a:ext cx="1368149" cy="2419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100"/>
              <a:t>수집 오류 사전 차단</a:t>
            </a:r>
            <a:endParaRPr lang="en-US" altLang="ko-KR" sz="1100"/>
          </a:p>
        </p:txBody>
      </p:sp>
      <p:sp>
        <p:nvSpPr>
          <p:cNvPr id="181" name="순서도: 연결자 180">
            <a:extLst>
              <a:ext uri="{FF2B5EF4-FFF2-40B4-BE49-F238E27FC236}">
                <a16:creationId xmlns:a16="http://schemas.microsoft.com/office/drawing/2014/main" id="{3100B06F-B4DB-198F-534C-36A712710641}"/>
              </a:ext>
            </a:extLst>
          </p:cNvPr>
          <p:cNvSpPr/>
          <p:nvPr/>
        </p:nvSpPr>
        <p:spPr bwMode="auto">
          <a:xfrm>
            <a:off x="524536" y="5232951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08B00959-4701-F754-1201-A779B1FB430B}"/>
              </a:ext>
            </a:extLst>
          </p:cNvPr>
          <p:cNvGrpSpPr/>
          <p:nvPr/>
        </p:nvGrpSpPr>
        <p:grpSpPr>
          <a:xfrm>
            <a:off x="3501882" y="5647558"/>
            <a:ext cx="2669620" cy="659051"/>
            <a:chOff x="10318986" y="5083825"/>
            <a:chExt cx="2669620" cy="659051"/>
          </a:xfrm>
        </p:grpSpPr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BD05C4D7-F1F3-DCEA-4944-3E1DA4E76105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5ACAB24A-0A90-488B-1C0C-DC70BE43D2B1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정의 ∙ 법령 일관성 ↑</a:t>
              </a:r>
              <a:endParaRPr lang="en-US" altLang="ko-KR" sz="1000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E5C2B7A8-76EB-0867-8E15-9EC868F15C8A}"/>
                </a:ext>
              </a:extLst>
            </p:cNvPr>
            <p:cNvSpPr txBox="1"/>
            <p:nvPr/>
          </p:nvSpPr>
          <p:spPr>
            <a:xfrm>
              <a:off x="10379554" y="5405757"/>
              <a:ext cx="2529163" cy="19581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800"/>
                <a:t>단위 ∙ 기간 ∙ 법령 정의 충돌 자동 탐지</a:t>
              </a:r>
              <a:endParaRPr lang="en-US" altLang="ko-KR" sz="800"/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7B18055D-FD2E-6783-1E65-2D09BDBA669D}"/>
              </a:ext>
            </a:extLst>
          </p:cNvPr>
          <p:cNvGrpSpPr/>
          <p:nvPr/>
        </p:nvGrpSpPr>
        <p:grpSpPr>
          <a:xfrm>
            <a:off x="6536553" y="5647558"/>
            <a:ext cx="2669620" cy="659051"/>
            <a:chOff x="10318986" y="5083825"/>
            <a:chExt cx="2669620" cy="659051"/>
          </a:xfrm>
        </p:grpSpPr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57AE59B2-5C2A-B895-7D6E-6A5B42A916D4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80BE796F-CB95-928A-2933-BCFBAF46A1C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병목 매핑</a:t>
              </a:r>
              <a:endParaRPr lang="en-US" altLang="ko-KR" sz="800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1B7A4C44-D6D7-5AD0-EC0E-7C57EC826304}"/>
                </a:ext>
              </a:extLst>
            </p:cNvPr>
            <p:cNvSpPr txBox="1"/>
            <p:nvPr/>
          </p:nvSpPr>
          <p:spPr>
            <a:xfrm>
              <a:off x="10379554" y="5328400"/>
              <a:ext cx="2529163" cy="37503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설계 </a:t>
              </a:r>
              <a:r>
                <a:rPr lang="en-US" altLang="ko-KR" sz="700"/>
                <a:t>( KSBPM ② ) - </a:t>
              </a:r>
              <a:r>
                <a:rPr lang="ko-KR" altLang="en-US" sz="700"/>
                <a:t>문항 모호성이 후단 수집 ∙ 처리 오류로 전이되는 것을 차단</a:t>
              </a:r>
              <a:endParaRPr lang="en-US" altLang="ko-KR" sz="70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1DED554-5C7A-9C14-B869-0C58575443A0}"/>
              </a:ext>
            </a:extLst>
          </p:cNvPr>
          <p:cNvGrpSpPr/>
          <p:nvPr/>
        </p:nvGrpSpPr>
        <p:grpSpPr>
          <a:xfrm>
            <a:off x="2621259" y="2856287"/>
            <a:ext cx="1922553" cy="503265"/>
            <a:chOff x="10318986" y="5083825"/>
            <a:chExt cx="1922553" cy="503265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82366482-DA20-D7BD-7450-9BDDBDB34C58}"/>
                </a:ext>
              </a:extLst>
            </p:cNvPr>
            <p:cNvSpPr/>
            <p:nvPr/>
          </p:nvSpPr>
          <p:spPr bwMode="auto">
            <a:xfrm>
              <a:off x="10318986" y="5083825"/>
              <a:ext cx="1922553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4D3C35B-8EC0-0BA3-EEBB-E1F880E5D3F3}"/>
                </a:ext>
              </a:extLst>
            </p:cNvPr>
            <p:cNvSpPr txBox="1"/>
            <p:nvPr/>
          </p:nvSpPr>
          <p:spPr>
            <a:xfrm>
              <a:off x="10379552" y="5123439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이중 질문 </a:t>
              </a:r>
              <a:r>
                <a:rPr lang="en-US" altLang="ko-KR" sz="800"/>
                <a:t>/ </a:t>
              </a:r>
              <a:r>
                <a:rPr lang="ko-KR" altLang="en-US" sz="800"/>
                <a:t>중복 문항</a:t>
              </a:r>
              <a:endParaRPr lang="en-US" altLang="ko-KR" sz="8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C9D709C-84A6-804D-DDFB-8C6444C51E10}"/>
                </a:ext>
              </a:extLst>
            </p:cNvPr>
            <p:cNvSpPr txBox="1"/>
            <p:nvPr/>
          </p:nvSpPr>
          <p:spPr>
            <a:xfrm>
              <a:off x="10379555" y="5290300"/>
              <a:ext cx="1739632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한 문항에 두 개 이상 질문이 포함된 경우</a:t>
              </a:r>
              <a:endParaRPr lang="en-US" altLang="ko-KR" sz="70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36414FB0-09BC-5715-5AD2-DFD964BD7B8C}"/>
              </a:ext>
            </a:extLst>
          </p:cNvPr>
          <p:cNvGrpSpPr/>
          <p:nvPr/>
        </p:nvGrpSpPr>
        <p:grpSpPr>
          <a:xfrm>
            <a:off x="560512" y="3501799"/>
            <a:ext cx="1922553" cy="503265"/>
            <a:chOff x="10318986" y="5083825"/>
            <a:chExt cx="1922553" cy="503265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81C3B042-6C7D-29B6-3998-AA4D22EDA014}"/>
                </a:ext>
              </a:extLst>
            </p:cNvPr>
            <p:cNvSpPr/>
            <p:nvPr/>
          </p:nvSpPr>
          <p:spPr bwMode="auto">
            <a:xfrm>
              <a:off x="10318986" y="5083825"/>
              <a:ext cx="1922553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ED84D2E-FE6E-78AE-5FC1-D5C723A256CC}"/>
                </a:ext>
              </a:extLst>
            </p:cNvPr>
            <p:cNvSpPr txBox="1"/>
            <p:nvPr/>
          </p:nvSpPr>
          <p:spPr>
            <a:xfrm>
              <a:off x="10379552" y="5123439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기간 ∙ 단위 불명확</a:t>
              </a:r>
              <a:endParaRPr lang="en-US" altLang="ko-KR" sz="80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0880C50-1254-9223-EF16-0DEF5FCE24A6}"/>
                </a:ext>
              </a:extLst>
            </p:cNvPr>
            <p:cNvSpPr txBox="1"/>
            <p:nvPr/>
          </p:nvSpPr>
          <p:spPr>
            <a:xfrm>
              <a:off x="10379555" y="5290300"/>
              <a:ext cx="1739632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en-US" altLang="ko-KR" sz="700"/>
                <a:t>"</a:t>
              </a:r>
              <a:r>
                <a:rPr lang="ko-KR" altLang="en-US" sz="700"/>
                <a:t>최근</a:t>
              </a:r>
              <a:r>
                <a:rPr lang="en-US" altLang="ko-KR" sz="700"/>
                <a:t>", "</a:t>
              </a:r>
              <a:r>
                <a:rPr lang="ko-KR" altLang="en-US" sz="700"/>
                <a:t>주로</a:t>
              </a:r>
              <a:r>
                <a:rPr lang="en-US" altLang="ko-KR" sz="700"/>
                <a:t>" </a:t>
              </a:r>
              <a:r>
                <a:rPr lang="ko-KR" altLang="en-US" sz="700"/>
                <a:t>등 측정 기준 미정 표현</a:t>
              </a:r>
              <a:endParaRPr lang="en-US" altLang="ko-KR" sz="700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47D64ED-D229-EA76-2438-F694196021D7}"/>
              </a:ext>
            </a:extLst>
          </p:cNvPr>
          <p:cNvGrpSpPr/>
          <p:nvPr/>
        </p:nvGrpSpPr>
        <p:grpSpPr>
          <a:xfrm>
            <a:off x="2621259" y="3501799"/>
            <a:ext cx="1922553" cy="503265"/>
            <a:chOff x="10318986" y="5083825"/>
            <a:chExt cx="1922553" cy="503265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12120290-9BCA-D95D-9595-8E8563814129}"/>
                </a:ext>
              </a:extLst>
            </p:cNvPr>
            <p:cNvSpPr/>
            <p:nvPr/>
          </p:nvSpPr>
          <p:spPr bwMode="auto">
            <a:xfrm>
              <a:off x="10318986" y="5083825"/>
              <a:ext cx="1922553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3628B5E-7696-4760-E63A-A8AF9C2FA4C5}"/>
                </a:ext>
              </a:extLst>
            </p:cNvPr>
            <p:cNvSpPr txBox="1"/>
            <p:nvPr/>
          </p:nvSpPr>
          <p:spPr>
            <a:xfrm>
              <a:off x="10379552" y="5123439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정의 </a:t>
              </a:r>
              <a:r>
                <a:rPr lang="en-US" altLang="ko-KR" sz="800"/>
                <a:t>/ </a:t>
              </a:r>
              <a:r>
                <a:rPr lang="ko-KR" altLang="en-US" sz="800"/>
                <a:t>법 ∙ 지침 불일치</a:t>
              </a:r>
              <a:endParaRPr lang="en-US" altLang="ko-KR" sz="80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CBB18A2-5363-5648-39E4-50D7A343E3A6}"/>
                </a:ext>
              </a:extLst>
            </p:cNvPr>
            <p:cNvSpPr txBox="1"/>
            <p:nvPr/>
          </p:nvSpPr>
          <p:spPr>
            <a:xfrm>
              <a:off x="10379555" y="5290300"/>
              <a:ext cx="1739632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표준 정의 </a:t>
              </a:r>
              <a:r>
                <a:rPr lang="en-US" altLang="ko-KR" sz="700"/>
                <a:t>/ </a:t>
              </a:r>
              <a:r>
                <a:rPr lang="ko-KR" altLang="en-US" sz="700"/>
                <a:t>통계법 </a:t>
              </a:r>
              <a:r>
                <a:rPr lang="en-US" altLang="ko-KR" sz="700"/>
                <a:t>/ </a:t>
              </a:r>
              <a:r>
                <a:rPr lang="ko-KR" altLang="en-US" sz="700"/>
                <a:t>내부 지침 충돌</a:t>
              </a:r>
              <a:endParaRPr lang="en-US" altLang="ko-KR" sz="700"/>
            </a:p>
          </p:txBody>
        </p:sp>
      </p:grpSp>
      <p:sp>
        <p:nvSpPr>
          <p:cNvPr id="278" name="사각형: 둥근 모서리 277">
            <a:extLst>
              <a:ext uri="{FF2B5EF4-FFF2-40B4-BE49-F238E27FC236}">
                <a16:creationId xmlns:a16="http://schemas.microsoft.com/office/drawing/2014/main" id="{2AD9AD6D-A2E8-DF5F-60B1-2574633FD195}"/>
              </a:ext>
            </a:extLst>
          </p:cNvPr>
          <p:cNvSpPr/>
          <p:nvPr/>
        </p:nvSpPr>
        <p:spPr bwMode="auto">
          <a:xfrm>
            <a:off x="4819062" y="2333640"/>
            <a:ext cx="4562402" cy="2337436"/>
          </a:xfrm>
          <a:prstGeom prst="roundRect">
            <a:avLst>
              <a:gd name="adj" fmla="val 3923"/>
            </a:avLst>
          </a:prstGeom>
          <a:solidFill>
            <a:schemeClr val="tx2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9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FD559E8B-B039-DD50-5C5E-CD6C2B788A5E}"/>
              </a:ext>
            </a:extLst>
          </p:cNvPr>
          <p:cNvSpPr txBox="1"/>
          <p:nvPr/>
        </p:nvSpPr>
        <p:spPr>
          <a:xfrm>
            <a:off x="5006104" y="2388091"/>
            <a:ext cx="2180762" cy="23358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800" b="0">
                <a:solidFill>
                  <a:schemeClr val="bg1"/>
                </a:solidFill>
                <a:latin typeface="+mn-ea"/>
                <a:ea typeface="+mn-ea"/>
              </a:rPr>
              <a:t>개선 제안</a:t>
            </a:r>
            <a:r>
              <a:rPr lang="en-US" altLang="ko-KR" sz="800" b="0">
                <a:solidFill>
                  <a:schemeClr val="bg1"/>
                </a:solidFill>
                <a:latin typeface="+mn-ea"/>
                <a:ea typeface="+mn-ea"/>
              </a:rPr>
              <a:t>(</a:t>
            </a:r>
            <a:r>
              <a:rPr lang="ko-KR" altLang="en-US" sz="800" b="0">
                <a:solidFill>
                  <a:schemeClr val="bg1"/>
                </a:solidFill>
                <a:latin typeface="+mn-ea"/>
                <a:ea typeface="+mn-ea"/>
              </a:rPr>
              <a:t>추천</a:t>
            </a:r>
            <a:r>
              <a:rPr lang="en-US" altLang="ko-KR" sz="800" b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en-US" altLang="ko-KR" sz="8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80" name="사각형: 둥근 모서리 279">
            <a:extLst>
              <a:ext uri="{FF2B5EF4-FFF2-40B4-BE49-F238E27FC236}">
                <a16:creationId xmlns:a16="http://schemas.microsoft.com/office/drawing/2014/main" id="{0B60934F-9806-3A98-DD73-CE9C65027B03}"/>
              </a:ext>
            </a:extLst>
          </p:cNvPr>
          <p:cNvSpPr/>
          <p:nvPr/>
        </p:nvSpPr>
        <p:spPr bwMode="auto">
          <a:xfrm>
            <a:off x="5006104" y="2595910"/>
            <a:ext cx="4267376" cy="197294"/>
          </a:xfrm>
          <a:prstGeom prst="roundRect">
            <a:avLst>
              <a:gd name="adj" fmla="val 5741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defTabSz="979488" rtl="0" eaLnBrk="1" fontAlgn="base" latinLnBrk="1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1" lang="ko-KR" altLang="en-US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대체 문장 </a:t>
            </a:r>
            <a:r>
              <a:rPr kumimoji="1" lang="en-US" altLang="ko-KR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+ </a:t>
            </a:r>
            <a:r>
              <a:rPr kumimoji="1" lang="ko-KR" altLang="en-US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근거 데이터 인용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6CA0BB8-8C01-E659-1A3C-C292F4CA28DD}"/>
              </a:ext>
            </a:extLst>
          </p:cNvPr>
          <p:cNvGrpSpPr/>
          <p:nvPr/>
        </p:nvGrpSpPr>
        <p:grpSpPr>
          <a:xfrm>
            <a:off x="5010235" y="2876896"/>
            <a:ext cx="4196421" cy="624903"/>
            <a:chOff x="5010235" y="2876896"/>
            <a:chExt cx="4196421" cy="624903"/>
          </a:xfrm>
        </p:grpSpPr>
        <p:grpSp>
          <p:nvGrpSpPr>
            <p:cNvPr id="292" name="그룹 291">
              <a:extLst>
                <a:ext uri="{FF2B5EF4-FFF2-40B4-BE49-F238E27FC236}">
                  <a16:creationId xmlns:a16="http://schemas.microsoft.com/office/drawing/2014/main" id="{A093F305-CBE9-53D0-D66A-8F32123EA45B}"/>
                </a:ext>
              </a:extLst>
            </p:cNvPr>
            <p:cNvGrpSpPr/>
            <p:nvPr/>
          </p:nvGrpSpPr>
          <p:grpSpPr>
            <a:xfrm>
              <a:off x="5010235" y="2876896"/>
              <a:ext cx="4196421" cy="624903"/>
              <a:chOff x="2264535" y="4581128"/>
              <a:chExt cx="2592288" cy="624903"/>
            </a:xfrm>
          </p:grpSpPr>
          <p:sp>
            <p:nvSpPr>
              <p:cNvPr id="281" name="사각형: 둥근 모서리 280">
                <a:extLst>
                  <a:ext uri="{FF2B5EF4-FFF2-40B4-BE49-F238E27FC236}">
                    <a16:creationId xmlns:a16="http://schemas.microsoft.com/office/drawing/2014/main" id="{2D6F17FA-58B9-8A54-F8F3-7AC86E6EFB24}"/>
                  </a:ext>
                </a:extLst>
              </p:cNvPr>
              <p:cNvSpPr/>
              <p:nvPr/>
            </p:nvSpPr>
            <p:spPr bwMode="auto">
              <a:xfrm>
                <a:off x="2264535" y="4600653"/>
                <a:ext cx="2592288" cy="605378"/>
              </a:xfrm>
              <a:prstGeom prst="roundRect">
                <a:avLst>
                  <a:gd name="adj" fmla="val 10117"/>
                </a:avLst>
              </a:prstGeom>
              <a:solidFill>
                <a:srgbClr val="2A63A8"/>
              </a:solidFill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9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AC42575F-7D1C-B493-383B-01C7BE811CBA}"/>
                  </a:ext>
                </a:extLst>
              </p:cNvPr>
              <p:cNvSpPr txBox="1"/>
              <p:nvPr/>
            </p:nvSpPr>
            <p:spPr>
              <a:xfrm>
                <a:off x="2288704" y="4581128"/>
                <a:ext cx="1487999" cy="23358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Wingdings" panose="05000000000000000000" pitchFamily="2" charset="2"/>
                  <a:buChar char="§"/>
                  <a:defRPr sz="1100" b="1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800" b="0">
                    <a:solidFill>
                      <a:schemeClr val="bg1"/>
                    </a:solidFill>
                    <a:latin typeface="+mn-ea"/>
                    <a:ea typeface="+mn-ea"/>
                  </a:rPr>
                  <a:t>BEFORE - AI</a:t>
                </a:r>
                <a:r>
                  <a:rPr lang="ko-KR" altLang="en-US" sz="800" b="0">
                    <a:solidFill>
                      <a:schemeClr val="bg1"/>
                    </a:solidFill>
                    <a:latin typeface="+mn-ea"/>
                    <a:ea typeface="+mn-ea"/>
                  </a:rPr>
                  <a:t>가 경고한 문항</a:t>
                </a:r>
                <a:endParaRPr lang="en-US" altLang="ko-KR" sz="800" b="0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91" name="사각형: 둥근 모서리 290">
                <a:extLst>
                  <a:ext uri="{FF2B5EF4-FFF2-40B4-BE49-F238E27FC236}">
                    <a16:creationId xmlns:a16="http://schemas.microsoft.com/office/drawing/2014/main" id="{F56081A8-B3EF-4BFA-04C0-680B33CA2AB4}"/>
                  </a:ext>
                </a:extLst>
              </p:cNvPr>
              <p:cNvSpPr/>
              <p:nvPr/>
            </p:nvSpPr>
            <p:spPr bwMode="auto">
              <a:xfrm>
                <a:off x="2313839" y="4807162"/>
                <a:ext cx="2326959" cy="197294"/>
              </a:xfrm>
              <a:prstGeom prst="roundRect">
                <a:avLst>
                  <a:gd name="adj" fmla="val 5741"/>
                </a:avLst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defTabSz="979488" rtl="0" eaLnBrk="1" fontAlgn="base" latinLnBrk="1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ko-KR" sz="800" b="1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"</a:t>
                </a:r>
                <a:r>
                  <a:rPr kumimoji="1" lang="ko-KR" altLang="en-US" sz="800" b="1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최근에 주로 어떤 교통수단을 이용하십니까</a:t>
                </a:r>
                <a:r>
                  <a:rPr kumimoji="1" lang="en-US" altLang="ko-KR" sz="800" b="1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?"</a:t>
                </a:r>
                <a:endParaRPr kumimoji="1" lang="ko-KR" altLang="en-US" sz="8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endParaRP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A0DA619-0FC9-5154-EF05-BDB1FA03512B}"/>
                </a:ext>
              </a:extLst>
            </p:cNvPr>
            <p:cNvSpPr txBox="1"/>
            <p:nvPr/>
          </p:nvSpPr>
          <p:spPr>
            <a:xfrm>
              <a:off x="5049360" y="3274042"/>
              <a:ext cx="2063880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en-US" altLang="ko-KR" sz="700" b="1">
                  <a:solidFill>
                    <a:schemeClr val="accent6"/>
                  </a:solidFill>
                </a:rPr>
                <a:t>♣ "</a:t>
              </a:r>
              <a:r>
                <a:rPr lang="ko-KR" altLang="en-US" sz="700" b="1">
                  <a:solidFill>
                    <a:schemeClr val="accent6"/>
                  </a:solidFill>
                </a:rPr>
                <a:t>최근</a:t>
              </a:r>
              <a:r>
                <a:rPr lang="en-US" altLang="ko-KR" sz="700" b="1">
                  <a:solidFill>
                    <a:schemeClr val="accent6"/>
                  </a:solidFill>
                </a:rPr>
                <a:t>", "</a:t>
              </a:r>
              <a:r>
                <a:rPr lang="ko-KR" altLang="en-US" sz="700" b="1">
                  <a:solidFill>
                    <a:schemeClr val="accent6"/>
                  </a:solidFill>
                </a:rPr>
                <a:t>주로</a:t>
              </a:r>
              <a:r>
                <a:rPr lang="en-US" altLang="ko-KR" sz="700" b="1">
                  <a:solidFill>
                    <a:schemeClr val="accent6"/>
                  </a:solidFill>
                </a:rPr>
                <a:t>" </a:t>
              </a:r>
              <a:r>
                <a:rPr lang="ko-KR" altLang="en-US" sz="700" b="1">
                  <a:solidFill>
                    <a:schemeClr val="accent6"/>
                  </a:solidFill>
                </a:rPr>
                <a:t>등 기간</a:t>
              </a:r>
              <a:r>
                <a:rPr lang="en-US" altLang="ko-KR" sz="700" b="1">
                  <a:solidFill>
                    <a:schemeClr val="accent6"/>
                  </a:solidFill>
                </a:rPr>
                <a:t>/</a:t>
              </a:r>
              <a:r>
                <a:rPr lang="ko-KR" altLang="en-US" sz="700" b="1">
                  <a:solidFill>
                    <a:schemeClr val="accent6"/>
                  </a:solidFill>
                </a:rPr>
                <a:t>빈도 기준 모호</a:t>
              </a:r>
              <a:endParaRPr lang="en-US" altLang="ko-KR" sz="700" b="1">
                <a:solidFill>
                  <a:schemeClr val="accent6"/>
                </a:solidFill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AC72748-73C3-6086-7C9E-D604A8480401}"/>
              </a:ext>
            </a:extLst>
          </p:cNvPr>
          <p:cNvGrpSpPr/>
          <p:nvPr/>
        </p:nvGrpSpPr>
        <p:grpSpPr>
          <a:xfrm>
            <a:off x="5010235" y="3609269"/>
            <a:ext cx="4196421" cy="624903"/>
            <a:chOff x="5010235" y="2876896"/>
            <a:chExt cx="4196421" cy="624903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0E4B0010-2A66-7340-B583-10E96510FAEA}"/>
                </a:ext>
              </a:extLst>
            </p:cNvPr>
            <p:cNvGrpSpPr/>
            <p:nvPr/>
          </p:nvGrpSpPr>
          <p:grpSpPr>
            <a:xfrm>
              <a:off x="5010235" y="2876896"/>
              <a:ext cx="4196421" cy="624903"/>
              <a:chOff x="2264535" y="4581128"/>
              <a:chExt cx="2592288" cy="624903"/>
            </a:xfrm>
          </p:grpSpPr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07C36A08-71B4-3922-5E8D-C65BD5C14CF2}"/>
                  </a:ext>
                </a:extLst>
              </p:cNvPr>
              <p:cNvSpPr/>
              <p:nvPr/>
            </p:nvSpPr>
            <p:spPr bwMode="auto">
              <a:xfrm>
                <a:off x="2264535" y="4600653"/>
                <a:ext cx="2592288" cy="605378"/>
              </a:xfrm>
              <a:prstGeom prst="roundRect">
                <a:avLst>
                  <a:gd name="adj" fmla="val 10117"/>
                </a:avLst>
              </a:prstGeom>
              <a:solidFill>
                <a:schemeClr val="bg1"/>
              </a:solidFill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9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B26D9B3-8667-19C5-B726-3B8AFEB0C830}"/>
                  </a:ext>
                </a:extLst>
              </p:cNvPr>
              <p:cNvSpPr txBox="1"/>
              <p:nvPr/>
            </p:nvSpPr>
            <p:spPr>
              <a:xfrm>
                <a:off x="2288704" y="4581128"/>
                <a:ext cx="1487999" cy="23358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Wingdings" panose="05000000000000000000" pitchFamily="2" charset="2"/>
                  <a:buChar char="§"/>
                  <a:defRPr sz="1100" b="1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800" b="0">
                    <a:solidFill>
                      <a:schemeClr val="tx2"/>
                    </a:solidFill>
                    <a:latin typeface="+mn-ea"/>
                    <a:ea typeface="+mn-ea"/>
                  </a:rPr>
                  <a:t>AFTER - AI</a:t>
                </a:r>
                <a:r>
                  <a:rPr lang="ko-KR" altLang="en-US" sz="800" b="0">
                    <a:solidFill>
                      <a:schemeClr val="tx2"/>
                    </a:solidFill>
                    <a:latin typeface="+mn-ea"/>
                    <a:ea typeface="+mn-ea"/>
                  </a:rPr>
                  <a:t> 제안</a:t>
                </a:r>
                <a:endParaRPr lang="en-US" altLang="ko-KR" sz="800" b="0" dirty="0">
                  <a:solidFill>
                    <a:schemeClr val="tx2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58" name="사각형: 둥근 모서리 57">
                <a:extLst>
                  <a:ext uri="{FF2B5EF4-FFF2-40B4-BE49-F238E27FC236}">
                    <a16:creationId xmlns:a16="http://schemas.microsoft.com/office/drawing/2014/main" id="{8757060A-6BCF-D7F0-8327-C169FFB26F7D}"/>
                  </a:ext>
                </a:extLst>
              </p:cNvPr>
              <p:cNvSpPr/>
              <p:nvPr/>
            </p:nvSpPr>
            <p:spPr bwMode="auto">
              <a:xfrm>
                <a:off x="2313839" y="4807162"/>
                <a:ext cx="2326959" cy="197294"/>
              </a:xfrm>
              <a:prstGeom prst="roundRect">
                <a:avLst>
                  <a:gd name="adj" fmla="val 5741"/>
                </a:avLst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defTabSz="979488" rtl="0" eaLnBrk="1" fontAlgn="base" latinLnBrk="1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ko-KR" sz="8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"</a:t>
                </a:r>
                <a:r>
                  <a:rPr kumimoji="1" lang="ko-KR" altLang="en-US" sz="8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지난 </a:t>
                </a:r>
                <a:r>
                  <a:rPr kumimoji="1" lang="en-US" altLang="ko-KR" sz="8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1</a:t>
                </a:r>
                <a:r>
                  <a:rPr kumimoji="1" lang="ko-KR" altLang="en-US" sz="8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주일간 통근 시 가장 자주 이용한 교통수단을 </a:t>
                </a:r>
                <a:r>
                  <a:rPr kumimoji="1" lang="en-US" altLang="ko-KR" sz="8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1</a:t>
                </a:r>
                <a:r>
                  <a:rPr kumimoji="1" lang="ko-KR" altLang="en-US" sz="8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개 선택하세요</a:t>
                </a:r>
                <a:r>
                  <a:rPr kumimoji="1" lang="en-US" altLang="ko-KR" sz="8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.</a:t>
                </a:r>
                <a:r>
                  <a:rPr kumimoji="1" lang="ko-KR" altLang="en-US" sz="8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 </a:t>
                </a:r>
                <a:r>
                  <a:rPr kumimoji="1" lang="en-US" altLang="ko-KR" sz="8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"</a:t>
                </a:r>
                <a:endParaRPr kumimoji="1" lang="ko-KR" altLang="en-US" sz="800" b="1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endParaRP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6BE80FE-527C-A1B9-D5CE-17403F034987}"/>
                </a:ext>
              </a:extLst>
            </p:cNvPr>
            <p:cNvSpPr txBox="1"/>
            <p:nvPr/>
          </p:nvSpPr>
          <p:spPr>
            <a:xfrm>
              <a:off x="5049360" y="3274042"/>
              <a:ext cx="2063880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en-US" altLang="ko-KR" sz="700"/>
                <a:t>♣ </a:t>
              </a:r>
              <a:r>
                <a:rPr lang="ko-KR" altLang="en-US" sz="700"/>
                <a:t>근거 </a:t>
              </a:r>
              <a:r>
                <a:rPr lang="en-US" altLang="ko-KR" sz="700"/>
                <a:t>: </a:t>
              </a:r>
              <a:r>
                <a:rPr lang="ko-KR" altLang="en-US" sz="700"/>
                <a:t>사회조사 공통 문항 표준안</a:t>
              </a:r>
              <a:endParaRPr lang="en-US" altLang="ko-KR" sz="700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9F800DE-789C-4D3D-20EF-700F95448C27}"/>
              </a:ext>
            </a:extLst>
          </p:cNvPr>
          <p:cNvSpPr txBox="1"/>
          <p:nvPr/>
        </p:nvSpPr>
        <p:spPr>
          <a:xfrm>
            <a:off x="5025007" y="4293096"/>
            <a:ext cx="4181165" cy="213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00" b="0">
                <a:ln w="3175"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defRPr>
            </a:lvl1pPr>
          </a:lstStyle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700" b="1">
                <a:solidFill>
                  <a:schemeClr val="bg2"/>
                </a:solidFill>
              </a:rPr>
              <a:t>권장 근거 데이터 </a:t>
            </a:r>
            <a:r>
              <a:rPr lang="en-US" altLang="ko-KR" sz="700" b="1">
                <a:solidFill>
                  <a:schemeClr val="bg2"/>
                </a:solidFill>
              </a:rPr>
              <a:t>: </a:t>
            </a:r>
            <a:r>
              <a:rPr lang="ko-KR" altLang="en-US" sz="700" b="1">
                <a:solidFill>
                  <a:schemeClr val="bg2"/>
                </a:solidFill>
              </a:rPr>
              <a:t>조사표 심사 의견 ∙ 공표 전 수정 로그 ∙ 인지면접</a:t>
            </a:r>
            <a:r>
              <a:rPr lang="en-US" altLang="ko-KR" sz="700" b="1">
                <a:solidFill>
                  <a:schemeClr val="bg2"/>
                </a:solidFill>
              </a:rPr>
              <a:t>/</a:t>
            </a:r>
            <a:r>
              <a:rPr lang="ko-KR" altLang="en-US" sz="700" b="1">
                <a:solidFill>
                  <a:schemeClr val="bg2"/>
                </a:solidFill>
              </a:rPr>
              <a:t>파일럿 결과</a:t>
            </a:r>
            <a:endParaRPr lang="en-US" altLang="ko-KR" sz="700" b="1">
              <a:solidFill>
                <a:schemeClr val="bg2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4F82B7B-7A73-E8C6-4CD8-01B430C00BEF}"/>
              </a:ext>
            </a:extLst>
          </p:cNvPr>
          <p:cNvSpPr/>
          <p:nvPr/>
        </p:nvSpPr>
        <p:spPr>
          <a:xfrm>
            <a:off x="544591" y="4098558"/>
            <a:ext cx="399922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800" i="1" spc="-100">
                <a:latin typeface="+mn-ea"/>
                <a:ea typeface="+mn-ea"/>
              </a:rPr>
              <a:t>초기 조사표 중에서 설계지침서와 조사표 내용의 불일치 및 오타</a:t>
            </a:r>
            <a:r>
              <a:rPr lang="en-US" altLang="ko-KR" sz="800" i="1" spc="-100">
                <a:latin typeface="+mn-ea"/>
                <a:ea typeface="+mn-ea"/>
              </a:rPr>
              <a:t> </a:t>
            </a:r>
            <a:r>
              <a:rPr lang="ko-KR" altLang="en-US" sz="800" i="1" spc="-100">
                <a:latin typeface="+mn-ea"/>
                <a:ea typeface="+mn-ea"/>
              </a:rPr>
              <a:t>등이 간혹 발생한다</a:t>
            </a:r>
            <a:r>
              <a:rPr lang="en-US" altLang="ko-KR" sz="800" i="1" spc="-100">
                <a:latin typeface="+mn-ea"/>
                <a:ea typeface="+mn-ea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ko-KR" altLang="en-US" sz="800" i="1" spc="-1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44743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8B5C807-4054-74A2-38B4-EB2FCCF9E1CF}"/>
              </a:ext>
            </a:extLst>
          </p:cNvPr>
          <p:cNvSpPr/>
          <p:nvPr/>
        </p:nvSpPr>
        <p:spPr bwMode="auto">
          <a:xfrm>
            <a:off x="432273" y="5124911"/>
            <a:ext cx="8949191" cy="1328425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34D58D5A-60EB-8EE6-BD27-F4C28E14D827}"/>
              </a:ext>
            </a:extLst>
          </p:cNvPr>
          <p:cNvGrpSpPr/>
          <p:nvPr/>
        </p:nvGrpSpPr>
        <p:grpSpPr>
          <a:xfrm>
            <a:off x="560512" y="5647558"/>
            <a:ext cx="2669620" cy="659051"/>
            <a:chOff x="10318986" y="5083825"/>
            <a:chExt cx="2669620" cy="659051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07DCC9D1-86F9-EE4C-EC96-720F8C9C5238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2BDEEE05-229E-A89D-6AE0-A2721D0E1A3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개발 부담↓</a:t>
              </a:r>
              <a:endParaRPr lang="en-US" altLang="ko-KR" sz="100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77D5B9C-8751-CF77-CF98-91CA2B23C753}"/>
                </a:ext>
              </a:extLst>
            </p:cNvPr>
            <p:cNvSpPr txBox="1"/>
            <p:nvPr/>
          </p:nvSpPr>
          <p:spPr>
            <a:xfrm>
              <a:off x="10379554" y="5385547"/>
              <a:ext cx="2529163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en-US" altLang="ko-KR" sz="800"/>
                <a:t>UI </a:t>
              </a:r>
              <a:r>
                <a:rPr lang="ko-KR" altLang="en-US" sz="800"/>
                <a:t>설계의 반복 수기를 </a:t>
              </a:r>
              <a:r>
                <a:rPr lang="en-US" altLang="ko-KR" sz="800"/>
                <a:t>AI </a:t>
              </a:r>
              <a:r>
                <a:rPr lang="ko-KR" altLang="en-US" sz="800"/>
                <a:t>추천으로 단축</a:t>
              </a:r>
              <a:endParaRPr lang="en-US" altLang="ko-KR" sz="800"/>
            </a:p>
          </p:txBody>
        </p:sp>
      </p:grp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01124" y="620688"/>
            <a:ext cx="8742756" cy="3683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ts val="2000"/>
              </a:lnSpc>
            </a:pP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모바일 전자조사표 </a:t>
            </a:r>
            <a:r>
              <a:rPr lang="en-US" altLang="ko-KR" sz="2000">
                <a:solidFill>
                  <a:prstClr val="black"/>
                </a:solidFill>
                <a:latin typeface="+mn-ea"/>
                <a:ea typeface="+mn-ea"/>
              </a:rPr>
              <a:t>UX </a:t>
            </a: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자동 변환</a:t>
            </a:r>
            <a:endParaRPr lang="ko-KR" altLang="en-US" sz="20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7FE19520-BCCC-C5BB-C8AF-0BBE1A9754D3}"/>
              </a:ext>
            </a:extLst>
          </p:cNvPr>
          <p:cNvGrpSpPr/>
          <p:nvPr/>
        </p:nvGrpSpPr>
        <p:grpSpPr>
          <a:xfrm>
            <a:off x="445071" y="1124744"/>
            <a:ext cx="9188449" cy="338554"/>
            <a:chOff x="445071" y="1124744"/>
            <a:chExt cx="9188449" cy="338554"/>
          </a:xfrm>
        </p:grpSpPr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119C4970-B753-3519-BE02-B254D5097F8E}"/>
                </a:ext>
              </a:extLst>
            </p:cNvPr>
            <p:cNvSpPr/>
            <p:nvPr/>
          </p:nvSpPr>
          <p:spPr>
            <a:xfrm>
              <a:off x="697071" y="1124744"/>
              <a:ext cx="89364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종이 ∙ 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PC 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조사표를 모바일 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UI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로 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"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화면 분할∙입력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UI∙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접근성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"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까지 자동 제안</a:t>
              </a:r>
              <a:endParaRPr lang="ko-KR" altLang="en-US" sz="2000" dirty="0">
                <a:solidFill>
                  <a:srgbClr val="1692D3"/>
                </a:solidFill>
                <a:latin typeface="+mn-ea"/>
                <a:ea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4F6FA582-6393-C7E6-79D9-89A65B0FFA0A}"/>
                </a:ext>
              </a:extLst>
            </p:cNvPr>
            <p:cNvSpPr/>
            <p:nvPr/>
          </p:nvSpPr>
          <p:spPr bwMode="auto">
            <a:xfrm>
              <a:off x="445071" y="1173892"/>
              <a:ext cx="252000" cy="248283"/>
            </a:xfrm>
            <a:prstGeom prst="roundRect">
              <a:avLst/>
            </a:prstGeom>
            <a:solidFill>
              <a:srgbClr val="2E6CB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79488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▶</a:t>
              </a:r>
              <a:endParaRPr kumimoji="1" lang="ko-KR" altLang="en-US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73D774F-EFAC-210C-B306-6E3F311AB320}"/>
              </a:ext>
            </a:extLst>
          </p:cNvPr>
          <p:cNvSpPr/>
          <p:nvPr/>
        </p:nvSpPr>
        <p:spPr bwMode="auto">
          <a:xfrm>
            <a:off x="369076" y="610037"/>
            <a:ext cx="432048" cy="389040"/>
          </a:xfrm>
          <a:prstGeom prst="roundRect">
            <a:avLst>
              <a:gd name="adj" fmla="val 10117"/>
            </a:avLst>
          </a:prstGeom>
          <a:solidFill>
            <a:schemeClr val="tx2"/>
          </a:solidFill>
          <a:ln w="12700">
            <a:noFill/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en-US" altLang="ko-KR" b="1">
                <a:solidFill>
                  <a:schemeClr val="bg1"/>
                </a:solidFill>
                <a:latin typeface="+mn-ea"/>
                <a:ea typeface="+mn-ea"/>
              </a:rPr>
              <a:t>03</a:t>
            </a:r>
            <a:endParaRPr lang="ko-KR" altLang="en-US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4435F-8C6C-57FB-229E-98B2289EAFC9}"/>
              </a:ext>
            </a:extLst>
          </p:cNvPr>
          <p:cNvSpPr txBox="1"/>
          <p:nvPr/>
        </p:nvSpPr>
        <p:spPr>
          <a:xfrm>
            <a:off x="776536" y="1484784"/>
            <a:ext cx="8694494" cy="31398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200" b="0" spc="-100">
                <a:latin typeface="+mn-ea"/>
                <a:ea typeface="+mn-ea"/>
              </a:rPr>
              <a:t>문항별 </a:t>
            </a:r>
            <a:r>
              <a:rPr lang="ko-KR" altLang="en-US" sz="1200" spc="-100">
                <a:latin typeface="+mn-ea"/>
                <a:ea typeface="+mn-ea"/>
              </a:rPr>
              <a:t> 이탈률 ∙ 소요시간 </a:t>
            </a:r>
            <a:r>
              <a:rPr lang="en-US" altLang="ko-KR" sz="1200" spc="-100">
                <a:latin typeface="+mn-ea"/>
                <a:ea typeface="+mn-ea"/>
              </a:rPr>
              <a:t>paradata</a:t>
            </a:r>
            <a:r>
              <a:rPr lang="ko-KR" altLang="en-US" sz="1200" b="0" spc="-100">
                <a:latin typeface="+mn-ea"/>
                <a:ea typeface="+mn-ea"/>
              </a:rPr>
              <a:t>를 기반으로 </a:t>
            </a:r>
            <a:r>
              <a:rPr lang="en-US" altLang="ko-KR" sz="1200" b="0" spc="-100">
                <a:latin typeface="+mn-ea"/>
                <a:ea typeface="+mn-ea"/>
              </a:rPr>
              <a:t>UX </a:t>
            </a:r>
            <a:r>
              <a:rPr lang="ko-KR" altLang="en-US" sz="1200" b="0" spc="-100">
                <a:latin typeface="+mn-ea"/>
                <a:ea typeface="+mn-ea"/>
              </a:rPr>
              <a:t>추천 효과를 실측하고</a:t>
            </a:r>
            <a:r>
              <a:rPr lang="en-US" altLang="ko-KR" sz="1200" b="0" spc="-100">
                <a:latin typeface="+mn-ea"/>
                <a:ea typeface="+mn-ea"/>
              </a:rPr>
              <a:t>, </a:t>
            </a:r>
            <a:r>
              <a:rPr lang="ko-KR" altLang="en-US" sz="1200" spc="-100">
                <a:latin typeface="+mn-ea"/>
                <a:ea typeface="+mn-ea"/>
              </a:rPr>
              <a:t>전환 개발 부담</a:t>
            </a:r>
            <a:r>
              <a:rPr lang="ko-KR" altLang="en-US" sz="1200" b="0" spc="-100">
                <a:latin typeface="+mn-ea"/>
                <a:ea typeface="+mn-ea"/>
              </a:rPr>
              <a:t>과 </a:t>
            </a:r>
            <a:r>
              <a:rPr lang="ko-KR" altLang="en-US" sz="1200" spc="-100">
                <a:latin typeface="+mn-ea"/>
                <a:ea typeface="+mn-ea"/>
              </a:rPr>
              <a:t>응답품질</a:t>
            </a:r>
            <a:r>
              <a:rPr lang="ko-KR" altLang="en-US" sz="1200" b="0" spc="-100">
                <a:latin typeface="+mn-ea"/>
                <a:ea typeface="+mn-ea"/>
              </a:rPr>
              <a:t>을 동시에 개선합니다</a:t>
            </a:r>
            <a:r>
              <a:rPr lang="en-US" altLang="ko-KR" sz="1200" b="0" spc="-100">
                <a:latin typeface="+mn-ea"/>
                <a:ea typeface="+mn-ea"/>
              </a:rPr>
              <a:t>.</a:t>
            </a:r>
            <a:endParaRPr lang="en-US" altLang="ko-KR" sz="1200" b="0" spc="-100" dirty="0">
              <a:latin typeface="+mn-ea"/>
              <a:ea typeface="+mn-ea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87F6383-3B90-5D8A-5E8A-72AAF3747502}"/>
              </a:ext>
            </a:extLst>
          </p:cNvPr>
          <p:cNvSpPr/>
          <p:nvPr/>
        </p:nvSpPr>
        <p:spPr bwMode="auto">
          <a:xfrm>
            <a:off x="432274" y="2333640"/>
            <a:ext cx="4232694" cy="2337436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B239B-9B77-986C-7183-04687505D49E}"/>
              </a:ext>
            </a:extLst>
          </p:cNvPr>
          <p:cNvSpPr txBox="1"/>
          <p:nvPr/>
        </p:nvSpPr>
        <p:spPr>
          <a:xfrm>
            <a:off x="848544" y="2360024"/>
            <a:ext cx="1634521" cy="213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40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r>
              <a:rPr lang="ko-KR" altLang="en-US" sz="700" b="0"/>
              <a:t>스마트 폼 빌더 추천 </a:t>
            </a:r>
            <a:r>
              <a:rPr lang="en-US" altLang="ko-KR" sz="700" b="0"/>
              <a:t>- 3</a:t>
            </a:r>
            <a:r>
              <a:rPr lang="ko-KR" altLang="en-US" sz="700" b="0"/>
              <a:t>요소</a:t>
            </a:r>
            <a:endParaRPr lang="en-US" altLang="ko-KR" sz="700" b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1CFEA-BCCF-9E4C-2F12-C12991EC1DD8}"/>
              </a:ext>
            </a:extLst>
          </p:cNvPr>
          <p:cNvSpPr txBox="1"/>
          <p:nvPr/>
        </p:nvSpPr>
        <p:spPr>
          <a:xfrm>
            <a:off x="848544" y="2529536"/>
            <a:ext cx="2205572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000"/>
              <a:t>화면 분할 ∙ 입력</a:t>
            </a:r>
            <a:r>
              <a:rPr lang="en-US" altLang="ko-KR" sz="1000"/>
              <a:t>UI ∙ </a:t>
            </a:r>
            <a:r>
              <a:rPr lang="ko-KR" altLang="en-US" sz="1000"/>
              <a:t>접근성</a:t>
            </a:r>
            <a:endParaRPr lang="en-US" altLang="ko-KR" sz="10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3BB79F7-A2F7-C727-E2D9-664BF2454BB4}"/>
              </a:ext>
            </a:extLst>
          </p:cNvPr>
          <p:cNvGrpSpPr/>
          <p:nvPr/>
        </p:nvGrpSpPr>
        <p:grpSpPr>
          <a:xfrm>
            <a:off x="560512" y="2856287"/>
            <a:ext cx="3965768" cy="503265"/>
            <a:chOff x="10318986" y="5083825"/>
            <a:chExt cx="3965768" cy="50326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A08A3682-EA07-DCFA-F4E5-E48B5A719531}"/>
                </a:ext>
              </a:extLst>
            </p:cNvPr>
            <p:cNvSpPr/>
            <p:nvPr/>
          </p:nvSpPr>
          <p:spPr bwMode="auto">
            <a:xfrm>
              <a:off x="10318986" y="5083825"/>
              <a:ext cx="3965768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6042E4-2E39-1A03-26B0-F33B3221242D}"/>
                </a:ext>
              </a:extLst>
            </p:cNvPr>
            <p:cNvSpPr txBox="1"/>
            <p:nvPr/>
          </p:nvSpPr>
          <p:spPr>
            <a:xfrm>
              <a:off x="10379552" y="5123439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화면 분할</a:t>
              </a:r>
              <a:r>
                <a:rPr lang="en-US" altLang="ko-KR" sz="800"/>
                <a:t>(Page Break)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4848DF-A6A5-D1AF-840B-A6BAA617B3FB}"/>
                </a:ext>
              </a:extLst>
            </p:cNvPr>
            <p:cNvSpPr txBox="1"/>
            <p:nvPr/>
          </p:nvSpPr>
          <p:spPr>
            <a:xfrm>
              <a:off x="10379555" y="5290300"/>
              <a:ext cx="3848278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한 화면 </a:t>
              </a:r>
              <a:r>
                <a:rPr lang="en-US" altLang="ko-KR" sz="700"/>
                <a:t>1~2 </a:t>
              </a:r>
              <a:r>
                <a:rPr lang="ko-KR" altLang="en-US" sz="700"/>
                <a:t>문항 중심으로 자동 분할 </a:t>
              </a:r>
              <a:r>
                <a:rPr lang="en-US" altLang="ko-KR" sz="700"/>
                <a:t>- </a:t>
              </a:r>
              <a:r>
                <a:rPr lang="ko-KR" altLang="en-US" sz="700"/>
                <a:t>모바일 가독성 </a:t>
              </a:r>
              <a:r>
                <a:rPr lang="en-US" altLang="ko-KR" sz="700"/>
                <a:t>+ </a:t>
              </a:r>
              <a:r>
                <a:rPr lang="ko-KR" altLang="en-US" sz="700"/>
                <a:t>응답 집중도</a:t>
              </a:r>
              <a:endParaRPr lang="en-US" altLang="ko-KR" sz="700"/>
            </a:p>
          </p:txBody>
        </p:sp>
      </p:grp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3E3B9804-C593-80DA-55CE-D2E0E402ADB8}"/>
              </a:ext>
            </a:extLst>
          </p:cNvPr>
          <p:cNvSpPr/>
          <p:nvPr/>
        </p:nvSpPr>
        <p:spPr bwMode="auto">
          <a:xfrm>
            <a:off x="524536" y="2441680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FEB178D-F49A-554D-41C0-D72EE1A1EC62}"/>
              </a:ext>
            </a:extLst>
          </p:cNvPr>
          <p:cNvSpPr txBox="1"/>
          <p:nvPr/>
        </p:nvSpPr>
        <p:spPr>
          <a:xfrm>
            <a:off x="403796" y="1932744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스마트 폼 빌더 추천 </a:t>
            </a:r>
            <a:r>
              <a:rPr lang="en-US" altLang="ko-KR">
                <a:latin typeface="+mn-ea"/>
                <a:ea typeface="+mn-ea"/>
              </a:rPr>
              <a:t>/ </a:t>
            </a:r>
            <a:r>
              <a:rPr lang="ko-KR" altLang="en-US">
                <a:latin typeface="+mn-ea"/>
                <a:ea typeface="+mn-ea"/>
              </a:rPr>
              <a:t>실증 근거</a:t>
            </a:r>
            <a:r>
              <a:rPr lang="en-US" altLang="ko-KR">
                <a:latin typeface="+mn-ea"/>
                <a:ea typeface="+mn-ea"/>
              </a:rPr>
              <a:t>(</a:t>
            </a:r>
            <a:r>
              <a:rPr lang="ko-KR" altLang="en-US">
                <a:latin typeface="+mn-ea"/>
                <a:ea typeface="+mn-ea"/>
              </a:rPr>
              <a:t>파라데이터 활용</a:t>
            </a:r>
            <a:r>
              <a:rPr lang="en-US" altLang="ko-KR">
                <a:latin typeface="+mn-ea"/>
                <a:ea typeface="+mn-ea"/>
              </a:rPr>
              <a:t>)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8A70F04-3FF6-C34C-1873-D67615872948}"/>
              </a:ext>
            </a:extLst>
          </p:cNvPr>
          <p:cNvSpPr txBox="1"/>
          <p:nvPr/>
        </p:nvSpPr>
        <p:spPr>
          <a:xfrm>
            <a:off x="403796" y="4763916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기대 효과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4F3F328-7489-78AF-84FC-8175DE0A4AE1}"/>
              </a:ext>
            </a:extLst>
          </p:cNvPr>
          <p:cNvSpPr txBox="1"/>
          <p:nvPr/>
        </p:nvSpPr>
        <p:spPr>
          <a:xfrm>
            <a:off x="848544" y="5250998"/>
            <a:ext cx="2301698" cy="2419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100"/>
              <a:t>전환 비용 ∙ 이탈률 동시 절감</a:t>
            </a:r>
            <a:endParaRPr lang="en-US" altLang="ko-KR" sz="1100"/>
          </a:p>
        </p:txBody>
      </p:sp>
      <p:sp>
        <p:nvSpPr>
          <p:cNvPr id="181" name="순서도: 연결자 180">
            <a:extLst>
              <a:ext uri="{FF2B5EF4-FFF2-40B4-BE49-F238E27FC236}">
                <a16:creationId xmlns:a16="http://schemas.microsoft.com/office/drawing/2014/main" id="{3100B06F-B4DB-198F-534C-36A712710641}"/>
              </a:ext>
            </a:extLst>
          </p:cNvPr>
          <p:cNvSpPr/>
          <p:nvPr/>
        </p:nvSpPr>
        <p:spPr bwMode="auto">
          <a:xfrm>
            <a:off x="524536" y="5232951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08B00959-4701-F754-1201-A779B1FB430B}"/>
              </a:ext>
            </a:extLst>
          </p:cNvPr>
          <p:cNvGrpSpPr/>
          <p:nvPr/>
        </p:nvGrpSpPr>
        <p:grpSpPr>
          <a:xfrm>
            <a:off x="3501882" y="5647558"/>
            <a:ext cx="2669620" cy="659051"/>
            <a:chOff x="10318986" y="5083825"/>
            <a:chExt cx="2669620" cy="659051"/>
          </a:xfrm>
        </p:grpSpPr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BD05C4D7-F1F3-DCEA-4944-3E1DA4E76105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5ACAB24A-0A90-488B-1C0C-DC70BE43D2B1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응답품질↑ ∙ 이탈률↓</a:t>
              </a:r>
              <a:endParaRPr lang="en-US" altLang="ko-KR" sz="1000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E5C2B7A8-76EB-0867-8E15-9EC868F15C8A}"/>
                </a:ext>
              </a:extLst>
            </p:cNvPr>
            <p:cNvSpPr txBox="1"/>
            <p:nvPr/>
          </p:nvSpPr>
          <p:spPr>
            <a:xfrm>
              <a:off x="10379554" y="5367990"/>
              <a:ext cx="2529163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한 화면 </a:t>
              </a:r>
              <a:r>
                <a:rPr lang="en-US" altLang="ko-KR" sz="800"/>
                <a:t>1~2</a:t>
              </a:r>
              <a:r>
                <a:rPr lang="ko-KR" altLang="en-US" sz="800"/>
                <a:t>문항 </a:t>
              </a:r>
              <a:r>
                <a:rPr lang="en-US" altLang="ko-KR" sz="800"/>
                <a:t>+ </a:t>
              </a:r>
              <a:r>
                <a:rPr lang="ko-KR" altLang="en-US" sz="800"/>
                <a:t>접근성 자동 최적화</a:t>
              </a:r>
              <a:endParaRPr lang="en-US" altLang="ko-KR" sz="800"/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7B18055D-FD2E-6783-1E65-2D09BDBA669D}"/>
              </a:ext>
            </a:extLst>
          </p:cNvPr>
          <p:cNvGrpSpPr/>
          <p:nvPr/>
        </p:nvGrpSpPr>
        <p:grpSpPr>
          <a:xfrm>
            <a:off x="6536553" y="5647558"/>
            <a:ext cx="2669620" cy="659051"/>
            <a:chOff x="10318986" y="5083825"/>
            <a:chExt cx="2669620" cy="659051"/>
          </a:xfrm>
        </p:grpSpPr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57AE59B2-5C2A-B895-7D6E-6A5B42A916D4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80BE796F-CB95-928A-2933-BCFBAF46A1C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병목 매핑</a:t>
              </a:r>
              <a:endParaRPr lang="en-US" altLang="ko-KR" sz="800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1B7A4C44-D6D7-5AD0-EC0E-7C57EC826304}"/>
                </a:ext>
              </a:extLst>
            </p:cNvPr>
            <p:cNvSpPr txBox="1"/>
            <p:nvPr/>
          </p:nvSpPr>
          <p:spPr>
            <a:xfrm>
              <a:off x="10379554" y="5328400"/>
              <a:ext cx="2529163" cy="37503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수집 </a:t>
              </a:r>
              <a:r>
                <a:rPr lang="en-US" altLang="ko-KR" sz="700"/>
                <a:t>( KSBPM ④) - </a:t>
              </a:r>
              <a:r>
                <a:rPr lang="ko-KR" altLang="en-US" sz="700"/>
                <a:t>모바일 전환 비용 ∙ 시간 ∙ 이탈 리스크 직접 감소</a:t>
              </a:r>
              <a:endParaRPr lang="en-US" altLang="ko-KR" sz="700"/>
            </a:p>
          </p:txBody>
        </p:sp>
      </p:grpSp>
      <p:sp>
        <p:nvSpPr>
          <p:cNvPr id="278" name="사각형: 둥근 모서리 277">
            <a:extLst>
              <a:ext uri="{FF2B5EF4-FFF2-40B4-BE49-F238E27FC236}">
                <a16:creationId xmlns:a16="http://schemas.microsoft.com/office/drawing/2014/main" id="{2AD9AD6D-A2E8-DF5F-60B1-2574633FD195}"/>
              </a:ext>
            </a:extLst>
          </p:cNvPr>
          <p:cNvSpPr/>
          <p:nvPr/>
        </p:nvSpPr>
        <p:spPr bwMode="auto">
          <a:xfrm>
            <a:off x="4819062" y="2333640"/>
            <a:ext cx="4562402" cy="2337436"/>
          </a:xfrm>
          <a:prstGeom prst="roundRect">
            <a:avLst>
              <a:gd name="adj" fmla="val 3923"/>
            </a:avLst>
          </a:prstGeom>
          <a:solidFill>
            <a:schemeClr val="tx2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9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FD559E8B-B039-DD50-5C5E-CD6C2B788A5E}"/>
              </a:ext>
            </a:extLst>
          </p:cNvPr>
          <p:cNvSpPr txBox="1"/>
          <p:nvPr/>
        </p:nvSpPr>
        <p:spPr>
          <a:xfrm>
            <a:off x="5006104" y="2388091"/>
            <a:ext cx="2180762" cy="23358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800" b="0">
                <a:solidFill>
                  <a:schemeClr val="bg1"/>
                </a:solidFill>
                <a:latin typeface="+mn-ea"/>
                <a:ea typeface="+mn-ea"/>
              </a:rPr>
              <a:t>실증 근거</a:t>
            </a:r>
            <a:r>
              <a:rPr lang="en-US" altLang="ko-KR" sz="800" b="0">
                <a:solidFill>
                  <a:schemeClr val="bg1"/>
                </a:solidFill>
                <a:latin typeface="+mn-ea"/>
                <a:ea typeface="+mn-ea"/>
              </a:rPr>
              <a:t>(</a:t>
            </a:r>
            <a:r>
              <a:rPr lang="ko-KR" altLang="en-US" sz="800" b="0">
                <a:solidFill>
                  <a:schemeClr val="bg1"/>
                </a:solidFill>
                <a:latin typeface="+mn-ea"/>
                <a:ea typeface="+mn-ea"/>
              </a:rPr>
              <a:t>파라데이터 활용</a:t>
            </a:r>
            <a:r>
              <a:rPr lang="en-US" altLang="ko-KR" sz="800" b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en-US" altLang="ko-KR" sz="8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80" name="사각형: 둥근 모서리 279">
            <a:extLst>
              <a:ext uri="{FF2B5EF4-FFF2-40B4-BE49-F238E27FC236}">
                <a16:creationId xmlns:a16="http://schemas.microsoft.com/office/drawing/2014/main" id="{0B60934F-9806-3A98-DD73-CE9C65027B03}"/>
              </a:ext>
            </a:extLst>
          </p:cNvPr>
          <p:cNvSpPr/>
          <p:nvPr/>
        </p:nvSpPr>
        <p:spPr bwMode="auto">
          <a:xfrm>
            <a:off x="5006104" y="2595910"/>
            <a:ext cx="4267376" cy="197294"/>
          </a:xfrm>
          <a:prstGeom prst="roundRect">
            <a:avLst>
              <a:gd name="adj" fmla="val 5741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defTabSz="979488" rtl="0" eaLnBrk="1" fontAlgn="base" latinLnBrk="1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UX </a:t>
            </a:r>
            <a:r>
              <a:rPr kumimoji="1" lang="ko-KR" altLang="en-US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추천 효과를 데이터로 측정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C3C707B-61EC-5010-0E8D-0B4E5F1DB2A0}"/>
              </a:ext>
            </a:extLst>
          </p:cNvPr>
          <p:cNvGrpSpPr/>
          <p:nvPr/>
        </p:nvGrpSpPr>
        <p:grpSpPr>
          <a:xfrm>
            <a:off x="560512" y="3437144"/>
            <a:ext cx="3965768" cy="503265"/>
            <a:chOff x="10318986" y="5083825"/>
            <a:chExt cx="3965768" cy="503265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47F79856-2A13-769E-A6C1-8BF7768B809F}"/>
                </a:ext>
              </a:extLst>
            </p:cNvPr>
            <p:cNvSpPr/>
            <p:nvPr/>
          </p:nvSpPr>
          <p:spPr bwMode="auto">
            <a:xfrm>
              <a:off x="10318986" y="5083825"/>
              <a:ext cx="3965768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22CA4F-4B4E-CAEE-EC40-5EC494B21C14}"/>
                </a:ext>
              </a:extLst>
            </p:cNvPr>
            <p:cNvSpPr txBox="1"/>
            <p:nvPr/>
          </p:nvSpPr>
          <p:spPr>
            <a:xfrm>
              <a:off x="10379552" y="5123439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선택 </a:t>
              </a:r>
              <a:r>
                <a:rPr lang="en-US" altLang="ko-KR" sz="800"/>
                <a:t>UI </a:t>
              </a:r>
              <a:r>
                <a:rPr lang="ko-KR" altLang="en-US" sz="800"/>
                <a:t>추천</a:t>
              </a:r>
              <a:endParaRPr lang="en-US" altLang="ko-KR" sz="8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623166-81A0-9A4E-F4D0-F2F7DCF9F660}"/>
                </a:ext>
              </a:extLst>
            </p:cNvPr>
            <p:cNvSpPr txBox="1"/>
            <p:nvPr/>
          </p:nvSpPr>
          <p:spPr>
            <a:xfrm>
              <a:off x="10379555" y="5290300"/>
              <a:ext cx="3848278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보기 수 ∙ 문항 성격에 따라 라디오 ∙ 드롭다운 ∙ 검색형 ∙ 슬라이드 자동 선택</a:t>
              </a:r>
              <a:endParaRPr lang="en-US" altLang="ko-KR" sz="70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4248241-2E9A-4695-DCA9-5A413A48A0CD}"/>
              </a:ext>
            </a:extLst>
          </p:cNvPr>
          <p:cNvGrpSpPr/>
          <p:nvPr/>
        </p:nvGrpSpPr>
        <p:grpSpPr>
          <a:xfrm>
            <a:off x="560512" y="4031214"/>
            <a:ext cx="3965768" cy="503265"/>
            <a:chOff x="10318986" y="5083825"/>
            <a:chExt cx="3965768" cy="503265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BA0089D4-DD44-548E-63A7-8EF96DFCFFFC}"/>
                </a:ext>
              </a:extLst>
            </p:cNvPr>
            <p:cNvSpPr/>
            <p:nvPr/>
          </p:nvSpPr>
          <p:spPr bwMode="auto">
            <a:xfrm>
              <a:off x="10318986" y="5083825"/>
              <a:ext cx="3965768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08064E0-7F61-B19F-E921-D14BB6DC2F14}"/>
                </a:ext>
              </a:extLst>
            </p:cNvPr>
            <p:cNvSpPr txBox="1"/>
            <p:nvPr/>
          </p:nvSpPr>
          <p:spPr>
            <a:xfrm>
              <a:off x="10379552" y="5123439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입력도구 ∙ 접근성</a:t>
              </a:r>
              <a:endParaRPr lang="en-US" altLang="ko-KR" sz="8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F5FC860-C3FC-7EDD-5950-A1AAD17426F9}"/>
                </a:ext>
              </a:extLst>
            </p:cNvPr>
            <p:cNvSpPr txBox="1"/>
            <p:nvPr/>
          </p:nvSpPr>
          <p:spPr>
            <a:xfrm>
              <a:off x="10379555" y="5290300"/>
              <a:ext cx="3848278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숫자키패드 </a:t>
              </a:r>
              <a:r>
                <a:rPr lang="en-US" altLang="ko-KR" sz="700"/>
                <a:t>/ </a:t>
              </a:r>
              <a:r>
                <a:rPr lang="ko-KR" altLang="en-US" sz="700"/>
                <a:t>날짜피커 </a:t>
              </a:r>
              <a:r>
                <a:rPr lang="en-US" altLang="ko-KR" sz="700"/>
                <a:t>/ </a:t>
              </a:r>
              <a:r>
                <a:rPr lang="ko-KR" altLang="en-US" sz="700"/>
                <a:t>폰트 ∙ 대비 </a:t>
              </a:r>
              <a:r>
                <a:rPr lang="en-US" altLang="ko-KR" sz="700"/>
                <a:t>/ </a:t>
              </a:r>
              <a:r>
                <a:rPr lang="ko-KR" altLang="en-US" sz="700"/>
                <a:t>음성 입력 </a:t>
              </a:r>
              <a:r>
                <a:rPr lang="en-US" altLang="ko-KR" sz="700"/>
                <a:t>= </a:t>
              </a:r>
              <a:r>
                <a:rPr lang="ko-KR" altLang="en-US" sz="700"/>
                <a:t>접근성 가이드라인 자동 적용</a:t>
              </a:r>
              <a:endParaRPr lang="en-US" altLang="ko-KR" sz="700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4EF512F-E19C-C399-8B35-E9899BEACFF6}"/>
              </a:ext>
            </a:extLst>
          </p:cNvPr>
          <p:cNvGrpSpPr/>
          <p:nvPr/>
        </p:nvGrpSpPr>
        <p:grpSpPr>
          <a:xfrm>
            <a:off x="5010234" y="2876896"/>
            <a:ext cx="4196421" cy="408565"/>
            <a:chOff x="2264534" y="4581128"/>
            <a:chExt cx="4196421" cy="408565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92B4E996-2EDF-ED9A-A225-CCF4DC58F3DB}"/>
                </a:ext>
              </a:extLst>
            </p:cNvPr>
            <p:cNvSpPr/>
            <p:nvPr/>
          </p:nvSpPr>
          <p:spPr bwMode="auto">
            <a:xfrm>
              <a:off x="2264534" y="4600653"/>
              <a:ext cx="4196421" cy="389040"/>
            </a:xfrm>
            <a:prstGeom prst="roundRect">
              <a:avLst>
                <a:gd name="adj" fmla="val 10117"/>
              </a:avLst>
            </a:prstGeom>
            <a:solidFill>
              <a:srgbClr val="2A63A8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9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2E55F4-EFA9-B508-BB7F-2FBF9DE4CBD7}"/>
                </a:ext>
              </a:extLst>
            </p:cNvPr>
            <p:cNvSpPr txBox="1"/>
            <p:nvPr/>
          </p:nvSpPr>
          <p:spPr>
            <a:xfrm>
              <a:off x="2288704" y="4581128"/>
              <a:ext cx="1487999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800">
                  <a:solidFill>
                    <a:schemeClr val="bg1"/>
                  </a:solidFill>
                  <a:latin typeface="+mn-ea"/>
                  <a:ea typeface="+mn-ea"/>
                </a:rPr>
                <a:t>문항별 소요시간 로그</a:t>
              </a:r>
              <a:endParaRPr lang="en-US" altLang="ko-KR" sz="8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사각형: 둥근 모서리 21">
                  <a:extLst>
                    <a:ext uri="{FF2B5EF4-FFF2-40B4-BE49-F238E27FC236}">
                      <a16:creationId xmlns:a16="http://schemas.microsoft.com/office/drawing/2014/main" id="{FD23C15C-6C5A-142D-8A17-75BB258ACB24}"/>
                    </a:ext>
                  </a:extLst>
                </p:cNvPr>
                <p:cNvSpPr/>
                <p:nvPr/>
              </p:nvSpPr>
              <p:spPr bwMode="auto">
                <a:xfrm>
                  <a:off x="2313839" y="4774674"/>
                  <a:ext cx="4066745" cy="197294"/>
                </a:xfrm>
                <a:prstGeom prst="roundRect">
                  <a:avLst>
                    <a:gd name="adj" fmla="val 5741"/>
                  </a:avLst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3600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defTabSz="979488" rtl="0" eaLnBrk="1" fontAlgn="base" latinLnBrk="1" hangingPunct="1">
                    <a:lnSpc>
                      <a:spcPct val="15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:r>
                    <a:rPr kumimoji="1" lang="ko-KR" altLang="en-US" sz="700" i="0" u="none" strike="noStrike" cap="none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+mn-ea"/>
                      <a:ea typeface="+mn-ea"/>
                    </a:rPr>
                    <a:t>평균 대비 </a:t>
                  </a:r>
                  <a:r>
                    <a:rPr kumimoji="1" lang="en-US" altLang="ko-KR" sz="700" i="0" u="none" strike="noStrike" cap="none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+mn-ea"/>
                      <a:ea typeface="+mn-ea"/>
                    </a:rPr>
                    <a:t>2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l-GR" altLang="ko-KR" sz="70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</a:rPr>
                        <m:t>σ</m:t>
                      </m:r>
                    </m:oMath>
                  </a14:m>
                  <a:r>
                    <a:rPr kumimoji="1" lang="ko-KR" altLang="en-US" sz="700" i="0" u="none" strike="noStrike" cap="none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+mn-ea"/>
                      <a:ea typeface="+mn-ea"/>
                    </a:rPr>
                    <a:t> </a:t>
                  </a:r>
                  <a:r>
                    <a:rPr lang="ko-KR" altLang="en-US" sz="700">
                      <a:solidFill>
                        <a:schemeClr val="bg1"/>
                      </a:solidFill>
                      <a:latin typeface="+mn-ea"/>
                      <a:ea typeface="+mn-ea"/>
                    </a:rPr>
                    <a:t>이상 긴 문항을 자동 후보로 표시 </a:t>
                  </a:r>
                  <a:r>
                    <a:rPr lang="en-US" altLang="ko-KR" sz="700">
                      <a:solidFill>
                        <a:schemeClr val="bg1"/>
                      </a:solidFill>
                      <a:latin typeface="+mn-ea"/>
                      <a:ea typeface="+mn-ea"/>
                    </a:rPr>
                    <a:t>- UI </a:t>
                  </a:r>
                  <a:r>
                    <a:rPr lang="ko-KR" altLang="en-US" sz="700">
                      <a:solidFill>
                        <a:schemeClr val="bg1"/>
                      </a:solidFill>
                      <a:latin typeface="+mn-ea"/>
                      <a:ea typeface="+mn-ea"/>
                    </a:rPr>
                    <a:t>재설계 우선순위</a:t>
                  </a:r>
                  <a:endParaRPr kumimoji="1" lang="ko-KR" altLang="en-US" sz="7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22" name="사각형: 둥근 모서리 21">
                  <a:extLst>
                    <a:ext uri="{FF2B5EF4-FFF2-40B4-BE49-F238E27FC236}">
                      <a16:creationId xmlns:a16="http://schemas.microsoft.com/office/drawing/2014/main" id="{FD23C15C-6C5A-142D-8A17-75BB258ACB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13839" y="4774674"/>
                  <a:ext cx="4066745" cy="197294"/>
                </a:xfrm>
                <a:prstGeom prst="roundRect">
                  <a:avLst>
                    <a:gd name="adj" fmla="val 5741"/>
                  </a:avLst>
                </a:prstGeom>
                <a:blipFill>
                  <a:blip r:embed="rId2"/>
                  <a:stretch>
                    <a:fillRect l="-1349" b="-6250"/>
                  </a:stretch>
                </a:blip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C306BFB-F5BE-1B32-431A-1AFE2BD85B64}"/>
              </a:ext>
            </a:extLst>
          </p:cNvPr>
          <p:cNvGrpSpPr/>
          <p:nvPr/>
        </p:nvGrpSpPr>
        <p:grpSpPr>
          <a:xfrm>
            <a:off x="5010233" y="3481106"/>
            <a:ext cx="4195939" cy="408565"/>
            <a:chOff x="2264534" y="4581128"/>
            <a:chExt cx="4195939" cy="408565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2341E84A-84BC-94B1-D270-2D2538B57319}"/>
                </a:ext>
              </a:extLst>
            </p:cNvPr>
            <p:cNvSpPr/>
            <p:nvPr/>
          </p:nvSpPr>
          <p:spPr bwMode="auto">
            <a:xfrm>
              <a:off x="2264534" y="4600653"/>
              <a:ext cx="4195939" cy="389040"/>
            </a:xfrm>
            <a:prstGeom prst="roundRect">
              <a:avLst>
                <a:gd name="adj" fmla="val 10117"/>
              </a:avLst>
            </a:prstGeom>
            <a:solidFill>
              <a:srgbClr val="2A63A8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9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290338F-67B7-F459-CF16-FC32BB88F13E}"/>
                </a:ext>
              </a:extLst>
            </p:cNvPr>
            <p:cNvSpPr txBox="1"/>
            <p:nvPr/>
          </p:nvSpPr>
          <p:spPr>
            <a:xfrm>
              <a:off x="2288704" y="4581128"/>
              <a:ext cx="1487999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800">
                  <a:solidFill>
                    <a:schemeClr val="bg1"/>
                  </a:solidFill>
                  <a:latin typeface="+mn-ea"/>
                  <a:ea typeface="+mn-ea"/>
                </a:rPr>
                <a:t>이탈 지점 분석</a:t>
              </a:r>
              <a:endParaRPr lang="en-US" altLang="ko-KR" sz="8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81B9078F-D916-32F2-F89C-B55C840A7E3B}"/>
                </a:ext>
              </a:extLst>
            </p:cNvPr>
            <p:cNvSpPr/>
            <p:nvPr/>
          </p:nvSpPr>
          <p:spPr bwMode="auto">
            <a:xfrm>
              <a:off x="2313839" y="4774674"/>
              <a:ext cx="4066746" cy="197294"/>
            </a:xfrm>
            <a:prstGeom prst="roundRect">
              <a:avLst>
                <a:gd name="adj" fmla="val 5741"/>
              </a:avLst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R="0" defTabSz="979488" rtl="0" eaLnBrk="1" fontAlgn="base" latinLnBrk="1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ko-KR" altLang="en-US" sz="70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응답 중단이 빈발하는 문항 ∙ 화면을 식별 </a:t>
              </a:r>
              <a:r>
                <a:rPr kumimoji="1" lang="en-US" altLang="ko-KR" sz="70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- UX </a:t>
              </a:r>
              <a:r>
                <a:rPr kumimoji="1" lang="ko-KR" altLang="en-US" sz="70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개선 </a:t>
              </a:r>
              <a:r>
                <a:rPr kumimoji="1" lang="en-US" altLang="ko-KR" sz="70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ROI </a:t>
              </a:r>
              <a:r>
                <a:rPr kumimoji="1" lang="ko-KR" altLang="en-US" sz="70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개선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DDF688F-7435-1F29-87DA-7E39A09C3BDC}"/>
              </a:ext>
            </a:extLst>
          </p:cNvPr>
          <p:cNvGrpSpPr/>
          <p:nvPr/>
        </p:nvGrpSpPr>
        <p:grpSpPr>
          <a:xfrm>
            <a:off x="5010234" y="4085315"/>
            <a:ext cx="4195938" cy="408565"/>
            <a:chOff x="2264535" y="4581128"/>
            <a:chExt cx="4195938" cy="408565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685FAF96-1AFD-DDCC-34DC-390D4C569ECD}"/>
                </a:ext>
              </a:extLst>
            </p:cNvPr>
            <p:cNvSpPr/>
            <p:nvPr/>
          </p:nvSpPr>
          <p:spPr bwMode="auto">
            <a:xfrm>
              <a:off x="2264535" y="4600653"/>
              <a:ext cx="4195938" cy="389040"/>
            </a:xfrm>
            <a:prstGeom prst="roundRect">
              <a:avLst>
                <a:gd name="adj" fmla="val 10117"/>
              </a:avLst>
            </a:prstGeom>
            <a:solidFill>
              <a:schemeClr val="bg1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9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A598E8F-6322-36D2-1218-BF03B8BEF8A6}"/>
                </a:ext>
              </a:extLst>
            </p:cNvPr>
            <p:cNvSpPr txBox="1"/>
            <p:nvPr/>
          </p:nvSpPr>
          <p:spPr>
            <a:xfrm>
              <a:off x="2288704" y="4581128"/>
              <a:ext cx="1487999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800" b="0">
                  <a:solidFill>
                    <a:schemeClr val="tx2"/>
                  </a:solidFill>
                  <a:latin typeface="+mn-ea"/>
                  <a:ea typeface="+mn-ea"/>
                </a:rPr>
                <a:t>운영 원칙</a:t>
              </a:r>
              <a:endParaRPr lang="en-US" altLang="ko-KR" sz="800" b="0" dirty="0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576C452B-327A-B084-7BE3-D5D0D8138A53}"/>
                </a:ext>
              </a:extLst>
            </p:cNvPr>
            <p:cNvSpPr/>
            <p:nvPr/>
          </p:nvSpPr>
          <p:spPr bwMode="auto">
            <a:xfrm>
              <a:off x="2313839" y="4774674"/>
              <a:ext cx="4066746" cy="197294"/>
            </a:xfrm>
            <a:prstGeom prst="roundRect">
              <a:avLst>
                <a:gd name="adj" fmla="val 5741"/>
              </a:avLst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R="0" defTabSz="979488" rtl="0" eaLnBrk="1" fontAlgn="base" latinLnBrk="1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ko-KR" altLang="en-US" sz="700" b="1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rPr>
                <a:t>개인정보 비식별화 ∙ 응답자 동의 범위 내 활용 ∙ 접근성 표준</a:t>
              </a:r>
              <a:r>
                <a:rPr kumimoji="1" lang="en-US" altLang="ko-KR" sz="700" b="1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rPr>
                <a:t>(KWCAG) </a:t>
              </a:r>
              <a:r>
                <a:rPr kumimoji="1" lang="ko-KR" altLang="en-US" sz="700" b="1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rPr>
                <a:t>준수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625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9E597F3-EA3D-D61C-D30B-360F84AF48D7}"/>
              </a:ext>
            </a:extLst>
          </p:cNvPr>
          <p:cNvSpPr/>
          <p:nvPr/>
        </p:nvSpPr>
        <p:spPr bwMode="auto">
          <a:xfrm>
            <a:off x="432273" y="5124911"/>
            <a:ext cx="8949191" cy="1328425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34D58D5A-60EB-8EE6-BD27-F4C28E14D827}"/>
              </a:ext>
            </a:extLst>
          </p:cNvPr>
          <p:cNvGrpSpPr/>
          <p:nvPr/>
        </p:nvGrpSpPr>
        <p:grpSpPr>
          <a:xfrm>
            <a:off x="560512" y="5647558"/>
            <a:ext cx="2669620" cy="659051"/>
            <a:chOff x="10318986" y="5083825"/>
            <a:chExt cx="2669620" cy="659051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07DCC9D1-86F9-EE4C-EC96-720F8C9C5238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2BDEEE05-229E-A89D-6AE0-A2721D0E1A3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설계</a:t>
              </a:r>
              <a:r>
                <a:rPr lang="en-US" altLang="ko-KR" sz="1000"/>
                <a:t>-</a:t>
              </a:r>
              <a:r>
                <a:rPr lang="ko-KR" altLang="en-US" sz="1000"/>
                <a:t>구현 일치성↓</a:t>
              </a:r>
              <a:endParaRPr lang="en-US" altLang="ko-KR" sz="100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77D5B9C-8751-CF77-CF98-91CA2B23C753}"/>
                </a:ext>
              </a:extLst>
            </p:cNvPr>
            <p:cNvSpPr txBox="1"/>
            <p:nvPr/>
          </p:nvSpPr>
          <p:spPr>
            <a:xfrm>
              <a:off x="10379554" y="5385547"/>
              <a:ext cx="2529163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룰 정의 → 자동 테스트로 누락 </a:t>
              </a:r>
              <a:r>
                <a:rPr lang="en-US" altLang="ko-KR" sz="800"/>
                <a:t>0</a:t>
              </a:r>
            </a:p>
          </p:txBody>
        </p:sp>
      </p:grp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01124" y="620688"/>
            <a:ext cx="8742756" cy="3683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ts val="2000"/>
              </a:lnSpc>
            </a:pP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항목이동∙유효성 검증 룰 자동 생성</a:t>
            </a:r>
            <a:endParaRPr lang="ko-KR" altLang="en-US" sz="20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7FE19520-BCCC-C5BB-C8AF-0BBE1A9754D3}"/>
              </a:ext>
            </a:extLst>
          </p:cNvPr>
          <p:cNvGrpSpPr/>
          <p:nvPr/>
        </p:nvGrpSpPr>
        <p:grpSpPr>
          <a:xfrm>
            <a:off x="445071" y="1124744"/>
            <a:ext cx="9188449" cy="338554"/>
            <a:chOff x="445071" y="1124744"/>
            <a:chExt cx="9188449" cy="338554"/>
          </a:xfrm>
        </p:grpSpPr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119C4970-B753-3519-BE02-B254D5097F8E}"/>
                </a:ext>
              </a:extLst>
            </p:cNvPr>
            <p:cNvSpPr/>
            <p:nvPr/>
          </p:nvSpPr>
          <p:spPr>
            <a:xfrm>
              <a:off x="697071" y="1124744"/>
              <a:ext cx="89364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조사표에서 항목 이동 스킵 로직 및 유효성 검증 스크립트 코드를 자동 생성</a:t>
              </a:r>
              <a:endParaRPr lang="ko-KR" altLang="en-US" sz="2000" dirty="0">
                <a:solidFill>
                  <a:srgbClr val="1692D3"/>
                </a:solidFill>
                <a:latin typeface="+mn-ea"/>
                <a:ea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4F6FA582-6393-C7E6-79D9-89A65B0FFA0A}"/>
                </a:ext>
              </a:extLst>
            </p:cNvPr>
            <p:cNvSpPr/>
            <p:nvPr/>
          </p:nvSpPr>
          <p:spPr bwMode="auto">
            <a:xfrm>
              <a:off x="445071" y="1173892"/>
              <a:ext cx="252000" cy="248283"/>
            </a:xfrm>
            <a:prstGeom prst="roundRect">
              <a:avLst/>
            </a:prstGeom>
            <a:solidFill>
              <a:srgbClr val="2E6CB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79488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▶</a:t>
              </a:r>
              <a:endParaRPr kumimoji="1" lang="ko-KR" altLang="en-US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73D774F-EFAC-210C-B306-6E3F311AB320}"/>
              </a:ext>
            </a:extLst>
          </p:cNvPr>
          <p:cNvSpPr/>
          <p:nvPr/>
        </p:nvSpPr>
        <p:spPr bwMode="auto">
          <a:xfrm>
            <a:off x="369076" y="610037"/>
            <a:ext cx="432048" cy="389040"/>
          </a:xfrm>
          <a:prstGeom prst="roundRect">
            <a:avLst>
              <a:gd name="adj" fmla="val 10117"/>
            </a:avLst>
          </a:prstGeom>
          <a:solidFill>
            <a:schemeClr val="tx2"/>
          </a:solidFill>
          <a:ln w="12700">
            <a:noFill/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en-US" altLang="ko-KR" b="1">
                <a:solidFill>
                  <a:schemeClr val="bg1"/>
                </a:solidFill>
                <a:latin typeface="+mn-ea"/>
                <a:ea typeface="+mn-ea"/>
              </a:rPr>
              <a:t>04</a:t>
            </a:r>
            <a:endParaRPr lang="ko-KR" altLang="en-US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4435F-8C6C-57FB-229E-98B2289EAFC9}"/>
              </a:ext>
            </a:extLst>
          </p:cNvPr>
          <p:cNvSpPr txBox="1"/>
          <p:nvPr/>
        </p:nvSpPr>
        <p:spPr>
          <a:xfrm>
            <a:off x="776536" y="1484784"/>
            <a:ext cx="8694494" cy="31398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200" b="0" spc="-100">
                <a:latin typeface="+mn-ea"/>
                <a:ea typeface="+mn-ea"/>
              </a:rPr>
              <a:t>AI</a:t>
            </a:r>
            <a:r>
              <a:rPr lang="ko-KR" altLang="en-US" sz="1200" b="0" spc="-100">
                <a:latin typeface="+mn-ea"/>
                <a:ea typeface="+mn-ea"/>
              </a:rPr>
              <a:t>가 </a:t>
            </a:r>
            <a:r>
              <a:rPr lang="ko-KR" altLang="en-US" sz="1200" spc="-100">
                <a:latin typeface="+mn-ea"/>
                <a:ea typeface="+mn-ea"/>
              </a:rPr>
              <a:t>룰 </a:t>
            </a:r>
            <a:r>
              <a:rPr lang="en-US" altLang="ko-KR" sz="1200" spc="-100">
                <a:latin typeface="+mn-ea"/>
                <a:ea typeface="+mn-ea"/>
              </a:rPr>
              <a:t>+ </a:t>
            </a:r>
            <a:r>
              <a:rPr lang="ko-KR" altLang="en-US" sz="1200" spc="-100">
                <a:latin typeface="+mn-ea"/>
                <a:ea typeface="+mn-ea"/>
              </a:rPr>
              <a:t>조사원</a:t>
            </a:r>
            <a:r>
              <a:rPr lang="en-US" altLang="ko-KR" sz="1200" spc="-100">
                <a:latin typeface="+mn-ea"/>
                <a:ea typeface="+mn-ea"/>
              </a:rPr>
              <a:t>/</a:t>
            </a:r>
            <a:r>
              <a:rPr lang="ko-KR" altLang="en-US" sz="1200" spc="-100">
                <a:latin typeface="+mn-ea"/>
                <a:ea typeface="+mn-ea"/>
              </a:rPr>
              <a:t>응답자 안내문을 동시에 생성</a:t>
            </a:r>
            <a:r>
              <a:rPr lang="ko-KR" altLang="en-US" sz="1200" b="0" spc="-100">
                <a:latin typeface="+mn-ea"/>
                <a:ea typeface="+mn-ea"/>
              </a:rPr>
              <a:t>하고 자동 테스트케이스로 검증하여</a:t>
            </a:r>
            <a:r>
              <a:rPr lang="en-US" altLang="ko-KR" sz="1200" b="0" spc="-100">
                <a:latin typeface="+mn-ea"/>
                <a:ea typeface="+mn-ea"/>
              </a:rPr>
              <a:t>, </a:t>
            </a:r>
            <a:r>
              <a:rPr lang="ko-KR" altLang="en-US" sz="1200" spc="-100">
                <a:latin typeface="+mn-ea"/>
                <a:ea typeface="+mn-ea"/>
              </a:rPr>
              <a:t>설계</a:t>
            </a:r>
            <a:r>
              <a:rPr lang="en-US" altLang="ko-KR" sz="1200" spc="-100">
                <a:latin typeface="+mn-ea"/>
                <a:ea typeface="+mn-ea"/>
              </a:rPr>
              <a:t>-</a:t>
            </a:r>
            <a:r>
              <a:rPr lang="ko-KR" altLang="en-US" sz="1200" spc="-100">
                <a:latin typeface="+mn-ea"/>
                <a:ea typeface="+mn-ea"/>
              </a:rPr>
              <a:t>구현 사이의 룰 누락∙오설계</a:t>
            </a:r>
            <a:r>
              <a:rPr lang="ko-KR" altLang="en-US" sz="1200" b="0" spc="-100">
                <a:latin typeface="+mn-ea"/>
                <a:ea typeface="+mn-ea"/>
              </a:rPr>
              <a:t>를 차단합니다</a:t>
            </a:r>
            <a:r>
              <a:rPr lang="en-US" altLang="ko-KR" sz="1200" b="0" spc="-100">
                <a:latin typeface="+mn-ea"/>
                <a:ea typeface="+mn-ea"/>
              </a:rPr>
              <a:t>.</a:t>
            </a:r>
            <a:endParaRPr lang="en-US" altLang="ko-KR" sz="1200" b="0" spc="-100" dirty="0">
              <a:latin typeface="+mn-ea"/>
              <a:ea typeface="+mn-ea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87F6383-3B90-5D8A-5E8A-72AAF3747502}"/>
              </a:ext>
            </a:extLst>
          </p:cNvPr>
          <p:cNvSpPr/>
          <p:nvPr/>
        </p:nvSpPr>
        <p:spPr bwMode="auto">
          <a:xfrm>
            <a:off x="432274" y="2333640"/>
            <a:ext cx="4232694" cy="2337436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B239B-9B77-986C-7183-04687505D49E}"/>
              </a:ext>
            </a:extLst>
          </p:cNvPr>
          <p:cNvSpPr txBox="1"/>
          <p:nvPr/>
        </p:nvSpPr>
        <p:spPr>
          <a:xfrm>
            <a:off x="848544" y="2360024"/>
            <a:ext cx="1634521" cy="213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40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r>
              <a:rPr lang="ko-KR" altLang="en-US" sz="700" b="0"/>
              <a:t>자동 생성 범위 </a:t>
            </a:r>
            <a:r>
              <a:rPr lang="en-US" altLang="ko-KR" sz="700" b="0"/>
              <a:t>- 4</a:t>
            </a:r>
            <a:r>
              <a:rPr lang="ko-KR" altLang="en-US" sz="700" b="0"/>
              <a:t>요소</a:t>
            </a:r>
            <a:endParaRPr lang="en-US" altLang="ko-KR" sz="700" b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1CFEA-BCCF-9E4C-2F12-C12991EC1DD8}"/>
              </a:ext>
            </a:extLst>
          </p:cNvPr>
          <p:cNvSpPr txBox="1"/>
          <p:nvPr/>
        </p:nvSpPr>
        <p:spPr>
          <a:xfrm>
            <a:off x="848544" y="2529536"/>
            <a:ext cx="2205572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000"/>
              <a:t>스킵 ∙ 범위 ∙ 합계 ∙ 형식</a:t>
            </a:r>
            <a:endParaRPr lang="en-US" altLang="ko-KR" sz="1000"/>
          </a:p>
        </p:txBody>
      </p: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3E3B9804-C593-80DA-55CE-D2E0E402ADB8}"/>
              </a:ext>
            </a:extLst>
          </p:cNvPr>
          <p:cNvSpPr/>
          <p:nvPr/>
        </p:nvSpPr>
        <p:spPr bwMode="auto">
          <a:xfrm>
            <a:off x="524536" y="2441680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FEB178D-F49A-554D-41C0-D72EE1A1EC62}"/>
              </a:ext>
            </a:extLst>
          </p:cNvPr>
          <p:cNvSpPr txBox="1"/>
          <p:nvPr/>
        </p:nvSpPr>
        <p:spPr>
          <a:xfrm>
            <a:off x="403796" y="1932744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자동 생성 범위 </a:t>
            </a:r>
            <a:r>
              <a:rPr lang="en-US" altLang="ko-KR">
                <a:latin typeface="+mn-ea"/>
                <a:ea typeface="+mn-ea"/>
              </a:rPr>
              <a:t>/ </a:t>
            </a:r>
            <a:r>
              <a:rPr lang="ko-KR" altLang="en-US">
                <a:latin typeface="+mn-ea"/>
                <a:ea typeface="+mn-ea"/>
              </a:rPr>
              <a:t>차별점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8A70F04-3FF6-C34C-1873-D67615872948}"/>
              </a:ext>
            </a:extLst>
          </p:cNvPr>
          <p:cNvSpPr txBox="1"/>
          <p:nvPr/>
        </p:nvSpPr>
        <p:spPr>
          <a:xfrm>
            <a:off x="403796" y="4763916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기대 효과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4F3F328-7489-78AF-84FC-8175DE0A4AE1}"/>
              </a:ext>
            </a:extLst>
          </p:cNvPr>
          <p:cNvSpPr txBox="1"/>
          <p:nvPr/>
        </p:nvSpPr>
        <p:spPr>
          <a:xfrm>
            <a:off x="848544" y="5250998"/>
            <a:ext cx="2301698" cy="2419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100"/>
              <a:t>룰 누락 ∙ 오설계 차단</a:t>
            </a:r>
            <a:endParaRPr lang="en-US" altLang="ko-KR" sz="1100"/>
          </a:p>
        </p:txBody>
      </p:sp>
      <p:sp>
        <p:nvSpPr>
          <p:cNvPr id="181" name="순서도: 연결자 180">
            <a:extLst>
              <a:ext uri="{FF2B5EF4-FFF2-40B4-BE49-F238E27FC236}">
                <a16:creationId xmlns:a16="http://schemas.microsoft.com/office/drawing/2014/main" id="{3100B06F-B4DB-198F-534C-36A712710641}"/>
              </a:ext>
            </a:extLst>
          </p:cNvPr>
          <p:cNvSpPr/>
          <p:nvPr/>
        </p:nvSpPr>
        <p:spPr bwMode="auto">
          <a:xfrm>
            <a:off x="524536" y="5232951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08B00959-4701-F754-1201-A779B1FB430B}"/>
              </a:ext>
            </a:extLst>
          </p:cNvPr>
          <p:cNvGrpSpPr/>
          <p:nvPr/>
        </p:nvGrpSpPr>
        <p:grpSpPr>
          <a:xfrm>
            <a:off x="3501882" y="5647558"/>
            <a:ext cx="2669620" cy="659051"/>
            <a:chOff x="10318986" y="5083825"/>
            <a:chExt cx="2669620" cy="659051"/>
          </a:xfrm>
        </p:grpSpPr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BD05C4D7-F1F3-DCEA-4944-3E1DA4E76105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5ACAB24A-0A90-488B-1C0C-DC70BE43D2B1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에디팅 부담↓</a:t>
              </a:r>
              <a:endParaRPr lang="en-US" altLang="ko-KR" sz="1000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E5C2B7A8-76EB-0867-8E15-9EC868F15C8A}"/>
                </a:ext>
              </a:extLst>
            </p:cNvPr>
            <p:cNvSpPr txBox="1"/>
            <p:nvPr/>
          </p:nvSpPr>
          <p:spPr>
            <a:xfrm>
              <a:off x="10379554" y="5385547"/>
              <a:ext cx="2529163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수집 단계 룰 차단으로 후단 처리량 절감</a:t>
              </a:r>
              <a:endParaRPr lang="en-US" altLang="ko-KR" sz="800"/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7B18055D-FD2E-6783-1E65-2D09BDBA669D}"/>
              </a:ext>
            </a:extLst>
          </p:cNvPr>
          <p:cNvGrpSpPr/>
          <p:nvPr/>
        </p:nvGrpSpPr>
        <p:grpSpPr>
          <a:xfrm>
            <a:off x="6536553" y="5647558"/>
            <a:ext cx="2669620" cy="659051"/>
            <a:chOff x="10318986" y="5083825"/>
            <a:chExt cx="2669620" cy="659051"/>
          </a:xfrm>
        </p:grpSpPr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57AE59B2-5C2A-B895-7D6E-6A5B42A916D4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80BE796F-CB95-928A-2933-BCFBAF46A1C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병목 매핑</a:t>
              </a:r>
              <a:endParaRPr lang="en-US" altLang="ko-KR" sz="800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1B7A4C44-D6D7-5AD0-EC0E-7C57EC826304}"/>
                </a:ext>
              </a:extLst>
            </p:cNvPr>
            <p:cNvSpPr txBox="1"/>
            <p:nvPr/>
          </p:nvSpPr>
          <p:spPr>
            <a:xfrm>
              <a:off x="10379554" y="5328400"/>
              <a:ext cx="2529163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설계 </a:t>
              </a:r>
              <a:r>
                <a:rPr lang="en-US" altLang="ko-KR" sz="700"/>
                <a:t>( KSBPM ②) - </a:t>
              </a:r>
              <a:r>
                <a:rPr lang="ko-KR" altLang="en-US" sz="700"/>
                <a:t>룰 수작업 ∙ 테스트 부담을 자동화로 전환</a:t>
              </a:r>
              <a:endParaRPr lang="en-US" altLang="ko-KR" sz="700"/>
            </a:p>
          </p:txBody>
        </p:sp>
      </p:grpSp>
      <p:sp>
        <p:nvSpPr>
          <p:cNvPr id="278" name="사각형: 둥근 모서리 277">
            <a:extLst>
              <a:ext uri="{FF2B5EF4-FFF2-40B4-BE49-F238E27FC236}">
                <a16:creationId xmlns:a16="http://schemas.microsoft.com/office/drawing/2014/main" id="{2AD9AD6D-A2E8-DF5F-60B1-2574633FD195}"/>
              </a:ext>
            </a:extLst>
          </p:cNvPr>
          <p:cNvSpPr/>
          <p:nvPr/>
        </p:nvSpPr>
        <p:spPr bwMode="auto">
          <a:xfrm>
            <a:off x="4819062" y="2333640"/>
            <a:ext cx="4562402" cy="2337436"/>
          </a:xfrm>
          <a:prstGeom prst="roundRect">
            <a:avLst>
              <a:gd name="adj" fmla="val 3923"/>
            </a:avLst>
          </a:prstGeom>
          <a:solidFill>
            <a:schemeClr val="tx2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9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FD559E8B-B039-DD50-5C5E-CD6C2B788A5E}"/>
              </a:ext>
            </a:extLst>
          </p:cNvPr>
          <p:cNvSpPr txBox="1"/>
          <p:nvPr/>
        </p:nvSpPr>
        <p:spPr>
          <a:xfrm>
            <a:off x="5006104" y="2388091"/>
            <a:ext cx="2180762" cy="23358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800" b="0">
                <a:solidFill>
                  <a:schemeClr val="bg1"/>
                </a:solidFill>
                <a:latin typeface="+mn-ea"/>
                <a:ea typeface="+mn-ea"/>
              </a:rPr>
              <a:t>차별점 </a:t>
            </a:r>
            <a:r>
              <a:rPr lang="en-US" altLang="ko-KR" sz="800" b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800" b="0">
                <a:solidFill>
                  <a:schemeClr val="bg1"/>
                </a:solidFill>
                <a:latin typeface="+mn-ea"/>
                <a:ea typeface="+mn-ea"/>
              </a:rPr>
              <a:t>룰 </a:t>
            </a:r>
            <a:r>
              <a:rPr lang="en-US" altLang="ko-KR" sz="800" b="0">
                <a:solidFill>
                  <a:schemeClr val="bg1"/>
                </a:solidFill>
                <a:latin typeface="+mn-ea"/>
                <a:ea typeface="+mn-ea"/>
              </a:rPr>
              <a:t>+ </a:t>
            </a:r>
            <a:r>
              <a:rPr lang="ko-KR" altLang="en-US" sz="800" b="0">
                <a:solidFill>
                  <a:schemeClr val="bg1"/>
                </a:solidFill>
                <a:latin typeface="+mn-ea"/>
                <a:ea typeface="+mn-ea"/>
              </a:rPr>
              <a:t>안내문 동시 생성</a:t>
            </a:r>
            <a:endParaRPr lang="en-US" altLang="ko-KR" sz="8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80" name="사각형: 둥근 모서리 279">
            <a:extLst>
              <a:ext uri="{FF2B5EF4-FFF2-40B4-BE49-F238E27FC236}">
                <a16:creationId xmlns:a16="http://schemas.microsoft.com/office/drawing/2014/main" id="{0B60934F-9806-3A98-DD73-CE9C65027B03}"/>
              </a:ext>
            </a:extLst>
          </p:cNvPr>
          <p:cNvSpPr/>
          <p:nvPr/>
        </p:nvSpPr>
        <p:spPr bwMode="auto">
          <a:xfrm>
            <a:off x="5006104" y="2595910"/>
            <a:ext cx="4267376" cy="197294"/>
          </a:xfrm>
          <a:prstGeom prst="roundRect">
            <a:avLst>
              <a:gd name="adj" fmla="val 5741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defTabSz="979488" rtl="0" eaLnBrk="1" fontAlgn="base" latinLnBrk="1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1" lang="ko-KR" altLang="en-US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응답자가 이해할 수 있는 안내문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4EF512F-E19C-C399-8B35-E9899BEACFF6}"/>
              </a:ext>
            </a:extLst>
          </p:cNvPr>
          <p:cNvGrpSpPr/>
          <p:nvPr/>
        </p:nvGrpSpPr>
        <p:grpSpPr>
          <a:xfrm>
            <a:off x="5010234" y="2876896"/>
            <a:ext cx="4196421" cy="408565"/>
            <a:chOff x="2264534" y="4581128"/>
            <a:chExt cx="4196421" cy="408565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92B4E996-2EDF-ED9A-A225-CCF4DC58F3DB}"/>
                </a:ext>
              </a:extLst>
            </p:cNvPr>
            <p:cNvSpPr/>
            <p:nvPr/>
          </p:nvSpPr>
          <p:spPr bwMode="auto">
            <a:xfrm>
              <a:off x="2264534" y="4600653"/>
              <a:ext cx="4196421" cy="389040"/>
            </a:xfrm>
            <a:prstGeom prst="roundRect">
              <a:avLst>
                <a:gd name="adj" fmla="val 10117"/>
              </a:avLst>
            </a:prstGeom>
            <a:solidFill>
              <a:srgbClr val="2A63A8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9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2E55F4-EFA9-B508-BB7F-2FBF9DE4CBD7}"/>
                </a:ext>
              </a:extLst>
            </p:cNvPr>
            <p:cNvSpPr txBox="1"/>
            <p:nvPr/>
          </p:nvSpPr>
          <p:spPr>
            <a:xfrm>
              <a:off x="2288704" y="4581128"/>
              <a:ext cx="1487999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altLang="ko-KR" sz="800">
                  <a:solidFill>
                    <a:schemeClr val="bg1"/>
                  </a:solidFill>
                  <a:latin typeface="+mn-ea"/>
                  <a:ea typeface="+mn-ea"/>
                </a:rPr>
                <a:t>RULE (</a:t>
              </a:r>
              <a:r>
                <a:rPr lang="ko-KR" altLang="en-US" sz="800">
                  <a:solidFill>
                    <a:schemeClr val="bg1"/>
                  </a:solidFill>
                  <a:latin typeface="+mn-ea"/>
                  <a:ea typeface="+mn-ea"/>
                </a:rPr>
                <a:t>룰 엔진</a:t>
              </a:r>
              <a:r>
                <a:rPr lang="en-US" altLang="ko-KR" sz="800">
                  <a:solidFill>
                    <a:schemeClr val="bg1"/>
                  </a:solidFill>
                  <a:latin typeface="+mn-ea"/>
                  <a:ea typeface="+mn-ea"/>
                </a:rPr>
                <a:t>)</a:t>
              </a:r>
              <a:endParaRPr lang="en-US" altLang="ko-KR" sz="8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FD23C15C-6C5A-142D-8A17-75BB258ACB24}"/>
                </a:ext>
              </a:extLst>
            </p:cNvPr>
            <p:cNvSpPr/>
            <p:nvPr/>
          </p:nvSpPr>
          <p:spPr bwMode="auto">
            <a:xfrm>
              <a:off x="2313839" y="4774674"/>
              <a:ext cx="4066745" cy="197294"/>
            </a:xfrm>
            <a:prstGeom prst="roundRect">
              <a:avLst>
                <a:gd name="adj" fmla="val 5741"/>
              </a:avLst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R="0" defTabSz="979488" rtl="0" eaLnBrk="1" fontAlgn="base" latinLnBrk="1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70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IF Q4 in [1,2,3] THEN sum(Q5_a..Q5_d) = 100</a:t>
              </a:r>
              <a:endParaRPr kumimoji="1" lang="ko-KR" altLang="en-US" sz="7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DDF688F-7435-1F29-87DA-7E39A09C3BDC}"/>
              </a:ext>
            </a:extLst>
          </p:cNvPr>
          <p:cNvGrpSpPr/>
          <p:nvPr/>
        </p:nvGrpSpPr>
        <p:grpSpPr>
          <a:xfrm>
            <a:off x="5010234" y="4085315"/>
            <a:ext cx="4195938" cy="408565"/>
            <a:chOff x="2264535" y="4581128"/>
            <a:chExt cx="4195938" cy="408565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685FAF96-1AFD-DDCC-34DC-390D4C569ECD}"/>
                </a:ext>
              </a:extLst>
            </p:cNvPr>
            <p:cNvSpPr/>
            <p:nvPr/>
          </p:nvSpPr>
          <p:spPr bwMode="auto">
            <a:xfrm>
              <a:off x="2264535" y="4600653"/>
              <a:ext cx="4195938" cy="389040"/>
            </a:xfrm>
            <a:prstGeom prst="roundRect">
              <a:avLst>
                <a:gd name="adj" fmla="val 10117"/>
              </a:avLst>
            </a:prstGeom>
            <a:solidFill>
              <a:schemeClr val="bg1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9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A598E8F-6322-36D2-1218-BF03B8BEF8A6}"/>
                </a:ext>
              </a:extLst>
            </p:cNvPr>
            <p:cNvSpPr txBox="1"/>
            <p:nvPr/>
          </p:nvSpPr>
          <p:spPr>
            <a:xfrm>
              <a:off x="2288704" y="4581128"/>
              <a:ext cx="1487999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800" b="0">
                  <a:solidFill>
                    <a:schemeClr val="tx2"/>
                  </a:solidFill>
                  <a:latin typeface="+mn-ea"/>
                  <a:ea typeface="+mn-ea"/>
                </a:rPr>
                <a:t>조사원 안내문</a:t>
              </a:r>
              <a:endParaRPr lang="en-US" altLang="ko-KR" sz="800" b="0" dirty="0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576C452B-327A-B084-7BE3-D5D0D8138A53}"/>
                </a:ext>
              </a:extLst>
            </p:cNvPr>
            <p:cNvSpPr/>
            <p:nvPr/>
          </p:nvSpPr>
          <p:spPr bwMode="auto">
            <a:xfrm>
              <a:off x="2313839" y="4774674"/>
              <a:ext cx="4066746" cy="197294"/>
            </a:xfrm>
            <a:prstGeom prst="roundRect">
              <a:avLst>
                <a:gd name="adj" fmla="val 5741"/>
              </a:avLst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R="0" defTabSz="979488" rtl="0" eaLnBrk="1" fontAlgn="base" latinLnBrk="1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700" b="1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rPr>
                <a:t>"</a:t>
              </a:r>
              <a:r>
                <a:rPr kumimoji="1" lang="ko-KR" altLang="en-US" sz="700" b="1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rPr>
                <a:t>합계 불일치 시 응답자에게 비중 재확인 요청</a:t>
              </a:r>
              <a:r>
                <a:rPr kumimoji="1" lang="en-US" altLang="ko-KR" sz="700" b="1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rPr>
                <a:t>, </a:t>
              </a:r>
              <a:r>
                <a:rPr kumimoji="1" lang="ko-KR" altLang="en-US" sz="700" b="1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rPr>
                <a:t>사유 코드 </a:t>
              </a:r>
              <a:r>
                <a:rPr lang="en-US" altLang="ko-KR" sz="700" b="1">
                  <a:latin typeface="+mn-ea"/>
                  <a:ea typeface="+mn-ea"/>
                </a:rPr>
                <a:t>R-003 </a:t>
              </a:r>
              <a:r>
                <a:rPr lang="ko-KR" altLang="en-US" sz="700" b="1">
                  <a:latin typeface="+mn-ea"/>
                  <a:ea typeface="+mn-ea"/>
                </a:rPr>
                <a:t>기록</a:t>
              </a:r>
              <a:r>
                <a:rPr lang="en-US" altLang="ko-KR" sz="700" b="1">
                  <a:latin typeface="+mn-ea"/>
                  <a:ea typeface="+mn-ea"/>
                </a:rPr>
                <a:t>"</a:t>
              </a:r>
              <a:endParaRPr kumimoji="1" lang="ko-KR" altLang="en-US" sz="700" b="1" i="0" u="none" strike="noStrike" cap="none" normalizeH="0" baseline="0">
                <a:ln>
                  <a:noFill/>
                </a:ln>
                <a:effectLst/>
                <a:latin typeface="+mn-ea"/>
                <a:ea typeface="+mn-ea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B01051D-A0E9-E5A0-B2D0-61EB82F46A8B}"/>
              </a:ext>
            </a:extLst>
          </p:cNvPr>
          <p:cNvGrpSpPr/>
          <p:nvPr/>
        </p:nvGrpSpPr>
        <p:grpSpPr>
          <a:xfrm>
            <a:off x="560512" y="2856287"/>
            <a:ext cx="1922553" cy="503265"/>
            <a:chOff x="10318986" y="5083825"/>
            <a:chExt cx="1922553" cy="503265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0C1BAB85-DE10-451A-783C-EC79B64D91F6}"/>
                </a:ext>
              </a:extLst>
            </p:cNvPr>
            <p:cNvSpPr/>
            <p:nvPr/>
          </p:nvSpPr>
          <p:spPr bwMode="auto">
            <a:xfrm>
              <a:off x="10318986" y="5083825"/>
              <a:ext cx="1922553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6909EA-60E0-0415-3ADC-F453256FCCB9}"/>
                </a:ext>
              </a:extLst>
            </p:cNvPr>
            <p:cNvSpPr txBox="1"/>
            <p:nvPr/>
          </p:nvSpPr>
          <p:spPr>
            <a:xfrm>
              <a:off x="10379552" y="5123439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스킵 패턴</a:t>
              </a:r>
              <a:r>
                <a:rPr lang="en-US" altLang="ko-KR" sz="800"/>
                <a:t>(</a:t>
              </a:r>
              <a:r>
                <a:rPr lang="ko-KR" altLang="en-US" sz="800"/>
                <a:t>조건 분기</a:t>
              </a:r>
              <a:r>
                <a:rPr lang="en-US" altLang="ko-KR" sz="800"/>
                <a:t>)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9AABB1E-5A2F-C38C-0720-00C4214A613D}"/>
                </a:ext>
              </a:extLst>
            </p:cNvPr>
            <p:cNvSpPr txBox="1"/>
            <p:nvPr/>
          </p:nvSpPr>
          <p:spPr>
            <a:xfrm>
              <a:off x="10379555" y="5290300"/>
              <a:ext cx="1739632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en-US" altLang="ko-KR" sz="700" spc="-50"/>
                <a:t>"Q1=2 → Q3 </a:t>
              </a:r>
              <a:r>
                <a:rPr lang="ko-KR" altLang="en-US" sz="700" spc="-50"/>
                <a:t>건너뛰기</a:t>
              </a:r>
              <a:r>
                <a:rPr lang="en-US" altLang="ko-KR" sz="700" spc="-50"/>
                <a:t>" </a:t>
              </a:r>
              <a:r>
                <a:rPr lang="ko-KR" altLang="en-US" sz="700" spc="-50"/>
                <a:t>조건 분기 자동 도출</a:t>
              </a:r>
              <a:endParaRPr lang="en-US" altLang="ko-KR" sz="700" spc="-5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D05521B-0323-3573-6BC4-C6A92C81543C}"/>
              </a:ext>
            </a:extLst>
          </p:cNvPr>
          <p:cNvGrpSpPr/>
          <p:nvPr/>
        </p:nvGrpSpPr>
        <p:grpSpPr>
          <a:xfrm>
            <a:off x="2621259" y="2856287"/>
            <a:ext cx="1922553" cy="503265"/>
            <a:chOff x="10318986" y="5083825"/>
            <a:chExt cx="1922553" cy="503265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5FDC48E0-E53B-788F-C41E-37C63F65F5E2}"/>
                </a:ext>
              </a:extLst>
            </p:cNvPr>
            <p:cNvSpPr/>
            <p:nvPr/>
          </p:nvSpPr>
          <p:spPr bwMode="auto">
            <a:xfrm>
              <a:off x="10318986" y="5083825"/>
              <a:ext cx="1922553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8674079-2B82-0633-4B81-323C881F3869}"/>
                </a:ext>
              </a:extLst>
            </p:cNvPr>
            <p:cNvSpPr txBox="1"/>
            <p:nvPr/>
          </p:nvSpPr>
          <p:spPr>
            <a:xfrm>
              <a:off x="10379552" y="5123439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범위 체크</a:t>
              </a:r>
              <a:r>
                <a:rPr lang="en-US" altLang="ko-KR" sz="800"/>
                <a:t>(</a:t>
              </a:r>
              <a:r>
                <a:rPr lang="ko-KR" altLang="en-US" sz="800"/>
                <a:t>최소</a:t>
              </a:r>
              <a:r>
                <a:rPr lang="en-US" altLang="ko-KR" sz="800"/>
                <a:t>/</a:t>
              </a:r>
              <a:r>
                <a:rPr lang="ko-KR" altLang="en-US" sz="800"/>
                <a:t>최대</a:t>
              </a:r>
              <a:r>
                <a:rPr lang="en-US" altLang="ko-KR" sz="800"/>
                <a:t>)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C7F915D-373F-A5B1-8B49-6E7A30394B4D}"/>
                </a:ext>
              </a:extLst>
            </p:cNvPr>
            <p:cNvSpPr txBox="1"/>
            <p:nvPr/>
          </p:nvSpPr>
          <p:spPr>
            <a:xfrm>
              <a:off x="10379555" y="5290300"/>
              <a:ext cx="1739632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연령∙금액∙비율 등 합리적 범위 자동 설정</a:t>
              </a:r>
              <a:endParaRPr lang="en-US" altLang="ko-KR" sz="70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F30B1AB-E382-1621-3A82-FB60CA73FEF4}"/>
              </a:ext>
            </a:extLst>
          </p:cNvPr>
          <p:cNvGrpSpPr/>
          <p:nvPr/>
        </p:nvGrpSpPr>
        <p:grpSpPr>
          <a:xfrm>
            <a:off x="560512" y="3501799"/>
            <a:ext cx="1922553" cy="503265"/>
            <a:chOff x="10318986" y="5083825"/>
            <a:chExt cx="1922553" cy="503265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5FB9F25F-DE22-45AB-21F8-DFC3996A4EEC}"/>
                </a:ext>
              </a:extLst>
            </p:cNvPr>
            <p:cNvSpPr/>
            <p:nvPr/>
          </p:nvSpPr>
          <p:spPr bwMode="auto">
            <a:xfrm>
              <a:off x="10318986" y="5083825"/>
              <a:ext cx="1922553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AD4555D-BD6B-5677-0E5F-DAE1EE9EC11C}"/>
                </a:ext>
              </a:extLst>
            </p:cNvPr>
            <p:cNvSpPr txBox="1"/>
            <p:nvPr/>
          </p:nvSpPr>
          <p:spPr>
            <a:xfrm>
              <a:off x="10379552" y="5123439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합계 </a:t>
              </a:r>
              <a:r>
                <a:rPr lang="en-US" altLang="ko-KR" sz="800"/>
                <a:t>= </a:t>
              </a:r>
              <a:r>
                <a:rPr lang="ko-KR" altLang="en-US" sz="800"/>
                <a:t>부분합 제약</a:t>
              </a:r>
              <a:endParaRPr lang="en-US" altLang="ko-KR" sz="80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F0EF63-A74A-2427-6F11-EDBD8FAD76B7}"/>
                </a:ext>
              </a:extLst>
            </p:cNvPr>
            <p:cNvSpPr txBox="1"/>
            <p:nvPr/>
          </p:nvSpPr>
          <p:spPr>
            <a:xfrm>
              <a:off x="10379555" y="5290300"/>
              <a:ext cx="1739632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소계</a:t>
              </a:r>
              <a:r>
                <a:rPr lang="en-US" altLang="ko-KR" sz="700"/>
                <a:t> / </a:t>
              </a:r>
              <a:r>
                <a:rPr lang="ko-KR" altLang="en-US" sz="700"/>
                <a:t>합계 </a:t>
              </a:r>
              <a:r>
                <a:rPr lang="en-US" altLang="ko-KR" sz="700"/>
                <a:t>/ 100% </a:t>
              </a:r>
              <a:r>
                <a:rPr lang="ko-KR" altLang="en-US" sz="700"/>
                <a:t>일치 자동 룰</a:t>
              </a:r>
              <a:endParaRPr lang="en-US" altLang="ko-KR" sz="700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B767DF7-A094-E53F-EB32-800780DA72BC}"/>
              </a:ext>
            </a:extLst>
          </p:cNvPr>
          <p:cNvGrpSpPr/>
          <p:nvPr/>
        </p:nvGrpSpPr>
        <p:grpSpPr>
          <a:xfrm>
            <a:off x="2621259" y="3501799"/>
            <a:ext cx="1922553" cy="503265"/>
            <a:chOff x="10318986" y="5083825"/>
            <a:chExt cx="1922553" cy="503265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BF387009-390D-DE23-6925-E39A3F9E7185}"/>
                </a:ext>
              </a:extLst>
            </p:cNvPr>
            <p:cNvSpPr/>
            <p:nvPr/>
          </p:nvSpPr>
          <p:spPr bwMode="auto">
            <a:xfrm>
              <a:off x="10318986" y="5083825"/>
              <a:ext cx="1922553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2629342-118D-79FA-BAA2-025B90DB4F69}"/>
                </a:ext>
              </a:extLst>
            </p:cNvPr>
            <p:cNvSpPr txBox="1"/>
            <p:nvPr/>
          </p:nvSpPr>
          <p:spPr>
            <a:xfrm>
              <a:off x="10379552" y="5123439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형식 검증 </a:t>
              </a:r>
              <a:r>
                <a:rPr lang="en-US" altLang="ko-KR" sz="800"/>
                <a:t>(</a:t>
              </a:r>
              <a:r>
                <a:rPr lang="ko-KR" altLang="en-US" sz="800"/>
                <a:t>정규식 등</a:t>
              </a:r>
              <a:r>
                <a:rPr lang="en-US" altLang="ko-KR" sz="800"/>
                <a:t>)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0501F39-901D-A871-0D0E-EA491AC2E0E9}"/>
                </a:ext>
              </a:extLst>
            </p:cNvPr>
            <p:cNvSpPr txBox="1"/>
            <p:nvPr/>
          </p:nvSpPr>
          <p:spPr>
            <a:xfrm>
              <a:off x="10379555" y="5290300"/>
              <a:ext cx="1739632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전화번호∙사업자번호∙날짜 포맷 자동 검증</a:t>
              </a:r>
              <a:endParaRPr lang="en-US" altLang="ko-KR" sz="70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12EBA4EB-F314-0748-EFD2-CDE6A80128EA}"/>
              </a:ext>
            </a:extLst>
          </p:cNvPr>
          <p:cNvGrpSpPr/>
          <p:nvPr/>
        </p:nvGrpSpPr>
        <p:grpSpPr>
          <a:xfrm>
            <a:off x="5010234" y="3495918"/>
            <a:ext cx="4195938" cy="408565"/>
            <a:chOff x="2264535" y="4581128"/>
            <a:chExt cx="4195938" cy="408565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5F4BEBDD-4C1D-E106-E37D-5F114F9B0F0F}"/>
                </a:ext>
              </a:extLst>
            </p:cNvPr>
            <p:cNvSpPr/>
            <p:nvPr/>
          </p:nvSpPr>
          <p:spPr bwMode="auto">
            <a:xfrm>
              <a:off x="2264535" y="4600653"/>
              <a:ext cx="4195938" cy="389040"/>
            </a:xfrm>
            <a:prstGeom prst="roundRect">
              <a:avLst>
                <a:gd name="adj" fmla="val 10117"/>
              </a:avLst>
            </a:prstGeom>
            <a:solidFill>
              <a:schemeClr val="bg1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9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E9142DB-DAB9-3501-7916-2E880FD0C647}"/>
                </a:ext>
              </a:extLst>
            </p:cNvPr>
            <p:cNvSpPr txBox="1"/>
            <p:nvPr/>
          </p:nvSpPr>
          <p:spPr>
            <a:xfrm>
              <a:off x="2288704" y="4581128"/>
              <a:ext cx="1487999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800" b="0">
                  <a:solidFill>
                    <a:schemeClr val="tx2"/>
                  </a:solidFill>
                  <a:latin typeface="+mn-ea"/>
                  <a:ea typeface="+mn-ea"/>
                </a:rPr>
                <a:t>응답자 안내문</a:t>
              </a:r>
              <a:endParaRPr lang="en-US" altLang="ko-KR" sz="800" b="0" dirty="0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FB30CD0C-2BBB-F893-5B2F-5EF6C778170C}"/>
                </a:ext>
              </a:extLst>
            </p:cNvPr>
            <p:cNvSpPr/>
            <p:nvPr/>
          </p:nvSpPr>
          <p:spPr bwMode="auto">
            <a:xfrm>
              <a:off x="2313839" y="4774674"/>
              <a:ext cx="4066746" cy="197294"/>
            </a:xfrm>
            <a:prstGeom prst="roundRect">
              <a:avLst>
                <a:gd name="adj" fmla="val 5741"/>
              </a:avLst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R="0" defTabSz="979488" rtl="0" eaLnBrk="1" fontAlgn="base" latinLnBrk="1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700" b="1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rPr>
                <a:t>"</a:t>
              </a:r>
              <a:r>
                <a:rPr kumimoji="1" lang="ko-KR" altLang="en-US" sz="700" b="1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rPr>
                <a:t>네 항목의 합이 </a:t>
              </a:r>
              <a:r>
                <a:rPr kumimoji="1" lang="en-US" altLang="ko-KR" sz="700" b="1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rPr>
                <a:t>100%</a:t>
              </a:r>
              <a:r>
                <a:rPr kumimoji="1" lang="ko-KR" altLang="en-US" sz="700" b="1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rPr>
                <a:t>가 되도록 입력해주세요</a:t>
              </a:r>
              <a:r>
                <a:rPr kumimoji="1" lang="en-US" altLang="ko-KR" sz="700" b="1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rPr>
                <a:t>"</a:t>
              </a:r>
              <a:endParaRPr kumimoji="1" lang="ko-KR" altLang="en-US" sz="700" b="1" i="0" u="none" strike="noStrike" cap="none" normalizeH="0" baseline="0">
                <a:ln>
                  <a:noFill/>
                </a:ln>
                <a:effectLst/>
                <a:latin typeface="+mn-ea"/>
                <a:ea typeface="+mn-ea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54FBBC8-388E-7650-4F4C-9DFBCF9526B5}"/>
              </a:ext>
            </a:extLst>
          </p:cNvPr>
          <p:cNvGrpSpPr/>
          <p:nvPr/>
        </p:nvGrpSpPr>
        <p:grpSpPr>
          <a:xfrm>
            <a:off x="944935" y="4164379"/>
            <a:ext cx="3196151" cy="408565"/>
            <a:chOff x="585101" y="4164379"/>
            <a:chExt cx="3196151" cy="408565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98D266B0-7D97-0D97-1470-69BD962D4D1E}"/>
                </a:ext>
              </a:extLst>
            </p:cNvPr>
            <p:cNvGrpSpPr/>
            <p:nvPr/>
          </p:nvGrpSpPr>
          <p:grpSpPr>
            <a:xfrm>
              <a:off x="585101" y="4164379"/>
              <a:ext cx="1374900" cy="408565"/>
              <a:chOff x="2264534" y="4581128"/>
              <a:chExt cx="4196421" cy="408565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6E54FC17-14BC-DCE8-A5CE-833EF94502CF}"/>
                  </a:ext>
                </a:extLst>
              </p:cNvPr>
              <p:cNvSpPr/>
              <p:nvPr/>
            </p:nvSpPr>
            <p:spPr bwMode="auto">
              <a:xfrm>
                <a:off x="2264534" y="4600653"/>
                <a:ext cx="4196421" cy="389040"/>
              </a:xfrm>
              <a:prstGeom prst="roundRect">
                <a:avLst>
                  <a:gd name="adj" fmla="val 10117"/>
                </a:avLst>
              </a:prstGeom>
              <a:solidFill>
                <a:srgbClr val="2A63A8"/>
              </a:solidFill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9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AA26CBE-FA54-5DCA-1B07-955810F16AF6}"/>
                  </a:ext>
                </a:extLst>
              </p:cNvPr>
              <p:cNvSpPr txBox="1"/>
              <p:nvPr/>
            </p:nvSpPr>
            <p:spPr>
              <a:xfrm>
                <a:off x="2288701" y="4581128"/>
                <a:ext cx="2596980" cy="23358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Wingdings" panose="05000000000000000000" pitchFamily="2" charset="2"/>
                  <a:buChar char="§"/>
                  <a:defRPr sz="1100" b="1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800">
                    <a:solidFill>
                      <a:schemeClr val="bg1"/>
                    </a:solidFill>
                    <a:latin typeface="+mn-ea"/>
                    <a:ea typeface="+mn-ea"/>
                  </a:rPr>
                  <a:t>"</a:t>
                </a:r>
                <a:r>
                  <a:rPr lang="ko-KR" altLang="en-US" sz="800">
                    <a:solidFill>
                      <a:schemeClr val="bg1"/>
                    </a:solidFill>
                    <a:latin typeface="+mn-ea"/>
                    <a:ea typeface="+mn-ea"/>
                  </a:rPr>
                  <a:t>위배 규칙</a:t>
                </a:r>
                <a:r>
                  <a:rPr lang="en-US" altLang="ko-KR" sz="800">
                    <a:solidFill>
                      <a:schemeClr val="bg1"/>
                    </a:solidFill>
                    <a:latin typeface="+mn-ea"/>
                    <a:ea typeface="+mn-ea"/>
                  </a:rPr>
                  <a:t>" </a:t>
                </a:r>
                <a:r>
                  <a:rPr lang="ko-KR" altLang="en-US" sz="800">
                    <a:solidFill>
                      <a:schemeClr val="bg1"/>
                    </a:solidFill>
                    <a:latin typeface="+mn-ea"/>
                    <a:ea typeface="+mn-ea"/>
                  </a:rPr>
                  <a:t>에서</a:t>
                </a:r>
                <a:endParaRPr lang="en-US" altLang="ko-KR" sz="800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36D43307-3D2B-8F53-CBB7-B6C16A4688B8}"/>
                  </a:ext>
                </a:extLst>
              </p:cNvPr>
              <p:cNvSpPr/>
              <p:nvPr/>
            </p:nvSpPr>
            <p:spPr bwMode="auto">
              <a:xfrm>
                <a:off x="2313839" y="4774674"/>
                <a:ext cx="4066745" cy="197294"/>
              </a:xfrm>
              <a:prstGeom prst="roundRect">
                <a:avLst>
                  <a:gd name="adj" fmla="val 5741"/>
                </a:avLst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defTabSz="979488" rtl="0" eaLnBrk="1" fontAlgn="base" latinLnBrk="1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ko-KR" sz="7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"</a:t>
                </a:r>
                <a:r>
                  <a:rPr kumimoji="1" lang="ko-KR" altLang="en-US" sz="7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금액이 음수이면 오류</a:t>
                </a:r>
                <a:r>
                  <a:rPr kumimoji="1" lang="en-US" altLang="ko-KR" sz="7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"</a:t>
                </a:r>
                <a:endParaRPr kumimoji="1" lang="ko-KR" altLang="en-US" sz="70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endParaRP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0879A324-481D-C29E-7B8E-1025D687EED7}"/>
                </a:ext>
              </a:extLst>
            </p:cNvPr>
            <p:cNvGrpSpPr/>
            <p:nvPr/>
          </p:nvGrpSpPr>
          <p:grpSpPr>
            <a:xfrm>
              <a:off x="2406352" y="4164379"/>
              <a:ext cx="1374900" cy="408565"/>
              <a:chOff x="2264534" y="4581128"/>
              <a:chExt cx="4196421" cy="408565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685B03D1-66CB-4D08-CB64-681AAC0F5345}"/>
                  </a:ext>
                </a:extLst>
              </p:cNvPr>
              <p:cNvSpPr/>
              <p:nvPr/>
            </p:nvSpPr>
            <p:spPr bwMode="auto">
              <a:xfrm>
                <a:off x="2264534" y="4600653"/>
                <a:ext cx="4196421" cy="389040"/>
              </a:xfrm>
              <a:prstGeom prst="roundRect">
                <a:avLst>
                  <a:gd name="adj" fmla="val 10117"/>
                </a:avLst>
              </a:prstGeom>
              <a:solidFill>
                <a:srgbClr val="2A63A8"/>
              </a:solidFill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9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38CD53B-7575-C6AB-E627-91CF6AEED105}"/>
                  </a:ext>
                </a:extLst>
              </p:cNvPr>
              <p:cNvSpPr txBox="1"/>
              <p:nvPr/>
            </p:nvSpPr>
            <p:spPr>
              <a:xfrm>
                <a:off x="2288704" y="4581128"/>
                <a:ext cx="2694301" cy="23358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Wingdings" panose="05000000000000000000" pitchFamily="2" charset="2"/>
                  <a:buChar char="§"/>
                  <a:defRPr sz="1100" b="1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800">
                    <a:solidFill>
                      <a:schemeClr val="bg1"/>
                    </a:solidFill>
                    <a:latin typeface="+mn-ea"/>
                    <a:ea typeface="+mn-ea"/>
                  </a:rPr>
                  <a:t>"</a:t>
                </a:r>
                <a:r>
                  <a:rPr lang="ko-KR" altLang="en-US" sz="800">
                    <a:solidFill>
                      <a:schemeClr val="bg1"/>
                    </a:solidFill>
                    <a:latin typeface="+mn-ea"/>
                    <a:ea typeface="+mn-ea"/>
                  </a:rPr>
                  <a:t>준수 규칙</a:t>
                </a:r>
                <a:r>
                  <a:rPr lang="en-US" altLang="ko-KR" sz="800">
                    <a:solidFill>
                      <a:schemeClr val="bg1"/>
                    </a:solidFill>
                    <a:latin typeface="+mn-ea"/>
                    <a:ea typeface="+mn-ea"/>
                  </a:rPr>
                  <a:t>" </a:t>
                </a:r>
                <a:r>
                  <a:rPr lang="ko-KR" altLang="en-US" sz="800">
                    <a:solidFill>
                      <a:schemeClr val="bg1"/>
                    </a:solidFill>
                    <a:latin typeface="+mn-ea"/>
                    <a:ea typeface="+mn-ea"/>
                  </a:rPr>
                  <a:t>으로</a:t>
                </a:r>
                <a:endParaRPr lang="en-US" altLang="ko-KR" sz="800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CAF8209B-78CD-AE41-AECF-368350E8C4A2}"/>
                  </a:ext>
                </a:extLst>
              </p:cNvPr>
              <p:cNvSpPr/>
              <p:nvPr/>
            </p:nvSpPr>
            <p:spPr bwMode="auto">
              <a:xfrm>
                <a:off x="2313839" y="4774674"/>
                <a:ext cx="4066745" cy="197294"/>
              </a:xfrm>
              <a:prstGeom prst="roundRect">
                <a:avLst>
                  <a:gd name="adj" fmla="val 5741"/>
                </a:avLst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defTabSz="979488" rtl="0" eaLnBrk="1" fontAlgn="base" latinLnBrk="1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ko-KR" sz="7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"</a:t>
                </a:r>
                <a:r>
                  <a:rPr kumimoji="1" lang="ko-KR" altLang="en-US" sz="7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금액은 </a:t>
                </a:r>
                <a:r>
                  <a:rPr kumimoji="1" lang="en-US" altLang="ko-KR" sz="7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0</a:t>
                </a:r>
                <a:r>
                  <a:rPr kumimoji="1" lang="ko-KR" altLang="en-US" sz="7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ea"/>
                    <a:ea typeface="+mn-ea"/>
                  </a:rPr>
                  <a:t>원</a:t>
                </a:r>
                <a:r>
                  <a:rPr lang="ko-KR" altLang="en-US" sz="700">
                    <a:solidFill>
                      <a:schemeClr val="bg1"/>
                    </a:solidFill>
                    <a:latin typeface="+mn-ea"/>
                    <a:ea typeface="+mn-ea"/>
                  </a:rPr>
                  <a:t> 이상 입력하세요</a:t>
                </a:r>
                <a:r>
                  <a:rPr lang="en-US" altLang="ko-KR" sz="700">
                    <a:solidFill>
                      <a:schemeClr val="bg1"/>
                    </a:solidFill>
                    <a:latin typeface="+mn-ea"/>
                    <a:ea typeface="+mn-ea"/>
                  </a:rPr>
                  <a:t>"</a:t>
                </a:r>
                <a:endParaRPr kumimoji="1" lang="ko-KR" altLang="en-US" sz="70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endParaRPr>
              </a:p>
            </p:txBody>
          </p:sp>
        </p:grpSp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CE33A226-D32D-127B-729C-C856702F7EDB}"/>
                </a:ext>
              </a:extLst>
            </p:cNvPr>
            <p:cNvSpPr/>
            <p:nvPr/>
          </p:nvSpPr>
          <p:spPr bwMode="auto">
            <a:xfrm>
              <a:off x="2144688" y="4318896"/>
              <a:ext cx="123724" cy="157259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36000" rIns="7200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92075" marR="0" indent="-92075" algn="l" defTabSz="979488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endParaRPr kumimoji="1" lang="ko-KR" altLang="en-US" sz="1200" b="0" i="0" u="none" strike="noStrike" cap="none" normalizeH="0" baseline="0">
                <a:ln>
                  <a:noFill/>
                </a:ln>
                <a:effectLst/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384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78EE03A-AE5C-50F9-B373-7CB096DC0FEC}"/>
              </a:ext>
            </a:extLst>
          </p:cNvPr>
          <p:cNvSpPr/>
          <p:nvPr/>
        </p:nvSpPr>
        <p:spPr bwMode="auto">
          <a:xfrm>
            <a:off x="432273" y="5124911"/>
            <a:ext cx="8949191" cy="1328425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34D58D5A-60EB-8EE6-BD27-F4C28E14D827}"/>
              </a:ext>
            </a:extLst>
          </p:cNvPr>
          <p:cNvGrpSpPr/>
          <p:nvPr/>
        </p:nvGrpSpPr>
        <p:grpSpPr>
          <a:xfrm>
            <a:off x="560512" y="5647558"/>
            <a:ext cx="2669620" cy="659051"/>
            <a:chOff x="10318986" y="5083825"/>
            <a:chExt cx="2669620" cy="659051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07DCC9D1-86F9-EE4C-EC96-720F8C9C5238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2BDEEE05-229E-A89D-6AE0-A2721D0E1A3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전수 점검 탈피</a:t>
              </a:r>
              <a:endParaRPr lang="en-US" altLang="ko-KR" sz="100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77D5B9C-8751-CF77-CF98-91CA2B23C753}"/>
                </a:ext>
              </a:extLst>
            </p:cNvPr>
            <p:cNvSpPr txBox="1"/>
            <p:nvPr/>
          </p:nvSpPr>
          <p:spPr>
            <a:xfrm>
              <a:off x="10379554" y="5367990"/>
              <a:ext cx="2529163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영향도 높은 </a:t>
              </a:r>
              <a:r>
                <a:rPr lang="en-US" altLang="ko-KR" sz="800"/>
                <a:t>N% </a:t>
              </a:r>
              <a:r>
                <a:rPr lang="ko-KR" altLang="en-US" sz="800"/>
                <a:t>레코드에 자원 집중</a:t>
              </a:r>
              <a:endParaRPr lang="en-US" altLang="ko-KR" sz="800"/>
            </a:p>
          </p:txBody>
        </p:sp>
      </p:grp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01124" y="620688"/>
            <a:ext cx="8742756" cy="3683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ts val="2000"/>
              </a:lnSpc>
            </a:pP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에디팅 우선순위 추천</a:t>
            </a:r>
            <a:endParaRPr lang="ko-KR" altLang="en-US" sz="20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7FE19520-BCCC-C5BB-C8AF-0BBE1A9754D3}"/>
              </a:ext>
            </a:extLst>
          </p:cNvPr>
          <p:cNvGrpSpPr/>
          <p:nvPr/>
        </p:nvGrpSpPr>
        <p:grpSpPr>
          <a:xfrm>
            <a:off x="445071" y="1124744"/>
            <a:ext cx="9188449" cy="338554"/>
            <a:chOff x="445071" y="1124744"/>
            <a:chExt cx="9188449" cy="338554"/>
          </a:xfrm>
        </p:grpSpPr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119C4970-B753-3519-BE02-B254D5097F8E}"/>
                </a:ext>
              </a:extLst>
            </p:cNvPr>
            <p:cNvSpPr/>
            <p:nvPr/>
          </p:nvSpPr>
          <p:spPr>
            <a:xfrm>
              <a:off x="697071" y="1124744"/>
              <a:ext cx="89364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전수 점검 대신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, "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영향도 높은 오류 의심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"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만 골라 편집 집중</a:t>
              </a:r>
              <a:endParaRPr lang="ko-KR" altLang="en-US" sz="2000" dirty="0">
                <a:solidFill>
                  <a:srgbClr val="1692D3"/>
                </a:solidFill>
                <a:latin typeface="+mn-ea"/>
                <a:ea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4F6FA582-6393-C7E6-79D9-89A65B0FFA0A}"/>
                </a:ext>
              </a:extLst>
            </p:cNvPr>
            <p:cNvSpPr/>
            <p:nvPr/>
          </p:nvSpPr>
          <p:spPr bwMode="auto">
            <a:xfrm>
              <a:off x="445071" y="1173892"/>
              <a:ext cx="252000" cy="248283"/>
            </a:xfrm>
            <a:prstGeom prst="roundRect">
              <a:avLst/>
            </a:prstGeom>
            <a:solidFill>
              <a:srgbClr val="2E6CB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79488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▶</a:t>
              </a:r>
              <a:endParaRPr kumimoji="1" lang="ko-KR" altLang="en-US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73D774F-EFAC-210C-B306-6E3F311AB320}"/>
              </a:ext>
            </a:extLst>
          </p:cNvPr>
          <p:cNvSpPr/>
          <p:nvPr/>
        </p:nvSpPr>
        <p:spPr bwMode="auto">
          <a:xfrm>
            <a:off x="369076" y="610037"/>
            <a:ext cx="432048" cy="389040"/>
          </a:xfrm>
          <a:prstGeom prst="roundRect">
            <a:avLst>
              <a:gd name="adj" fmla="val 10117"/>
            </a:avLst>
          </a:prstGeom>
          <a:solidFill>
            <a:schemeClr val="tx2"/>
          </a:solidFill>
          <a:ln w="12700">
            <a:noFill/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en-US" altLang="ko-KR" b="1">
                <a:solidFill>
                  <a:schemeClr val="bg1"/>
                </a:solidFill>
                <a:latin typeface="+mn-ea"/>
                <a:ea typeface="+mn-ea"/>
              </a:rPr>
              <a:t>05</a:t>
            </a:r>
            <a:endParaRPr lang="ko-KR" altLang="en-US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4435F-8C6C-57FB-229E-98B2289EAFC9}"/>
              </a:ext>
            </a:extLst>
          </p:cNvPr>
          <p:cNvSpPr txBox="1"/>
          <p:nvPr/>
        </p:nvSpPr>
        <p:spPr>
          <a:xfrm>
            <a:off x="776536" y="1484784"/>
            <a:ext cx="8694494" cy="31398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200" spc="-100">
                <a:latin typeface="+mn-ea"/>
                <a:ea typeface="+mn-ea"/>
              </a:rPr>
              <a:t>에디팅 이력 ∙ 룰 위반 ∙ 추정치 영향도</a:t>
            </a:r>
            <a:r>
              <a:rPr lang="ko-KR" altLang="en-US" sz="1200" b="0" spc="-100">
                <a:latin typeface="+mn-ea"/>
                <a:ea typeface="+mn-ea"/>
              </a:rPr>
              <a:t>를 결합해 편집 우선순위를 추천 </a:t>
            </a:r>
            <a:r>
              <a:rPr lang="en-US" altLang="ko-KR" sz="1200" b="0" spc="-100">
                <a:latin typeface="+mn-ea"/>
                <a:ea typeface="+mn-ea"/>
              </a:rPr>
              <a:t>- </a:t>
            </a:r>
            <a:r>
              <a:rPr lang="ko-KR" altLang="en-US" sz="1200" spc="-100">
                <a:latin typeface="+mn-ea"/>
                <a:ea typeface="+mn-ea"/>
              </a:rPr>
              <a:t>품질 유지</a:t>
            </a:r>
            <a:r>
              <a:rPr lang="ko-KR" altLang="en-US" sz="1200" b="0" spc="-100">
                <a:latin typeface="+mn-ea"/>
                <a:ea typeface="+mn-ea"/>
              </a:rPr>
              <a:t>와 </a:t>
            </a:r>
            <a:r>
              <a:rPr lang="ko-KR" altLang="en-US" sz="1200" spc="-100">
                <a:latin typeface="+mn-ea"/>
                <a:ea typeface="+mn-ea"/>
              </a:rPr>
              <a:t>작업량 절감</a:t>
            </a:r>
            <a:r>
              <a:rPr lang="ko-KR" altLang="en-US" sz="1200" b="0" spc="-100">
                <a:latin typeface="+mn-ea"/>
                <a:ea typeface="+mn-ea"/>
              </a:rPr>
              <a:t>을 동시에 달성합니다</a:t>
            </a:r>
            <a:r>
              <a:rPr lang="en-US" altLang="ko-KR" sz="1200" b="0" spc="-100">
                <a:latin typeface="+mn-ea"/>
                <a:ea typeface="+mn-ea"/>
              </a:rPr>
              <a:t>.</a:t>
            </a:r>
            <a:endParaRPr lang="en-US" altLang="ko-KR" sz="1200" b="0" spc="-100" dirty="0">
              <a:latin typeface="+mn-ea"/>
              <a:ea typeface="+mn-ea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87F6383-3B90-5D8A-5E8A-72AAF3747502}"/>
              </a:ext>
            </a:extLst>
          </p:cNvPr>
          <p:cNvSpPr/>
          <p:nvPr/>
        </p:nvSpPr>
        <p:spPr bwMode="auto">
          <a:xfrm>
            <a:off x="432274" y="2333640"/>
            <a:ext cx="2859566" cy="2337436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B239B-9B77-986C-7183-04687505D49E}"/>
              </a:ext>
            </a:extLst>
          </p:cNvPr>
          <p:cNvSpPr txBox="1"/>
          <p:nvPr/>
        </p:nvSpPr>
        <p:spPr>
          <a:xfrm>
            <a:off x="848544" y="2360024"/>
            <a:ext cx="1634521" cy="213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40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r>
              <a:rPr lang="ko-KR" altLang="en-US" sz="700" b="0"/>
              <a:t>우선순위 점수 산출 </a:t>
            </a:r>
            <a:r>
              <a:rPr lang="en-US" altLang="ko-KR" sz="700" b="0"/>
              <a:t>- 3</a:t>
            </a:r>
            <a:r>
              <a:rPr lang="ko-KR" altLang="en-US" sz="700" b="0"/>
              <a:t>요소 결합</a:t>
            </a:r>
            <a:endParaRPr lang="en-US" altLang="ko-KR" sz="700" b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1CFEA-BCCF-9E4C-2F12-C12991EC1DD8}"/>
              </a:ext>
            </a:extLst>
          </p:cNvPr>
          <p:cNvSpPr txBox="1"/>
          <p:nvPr/>
        </p:nvSpPr>
        <p:spPr>
          <a:xfrm>
            <a:off x="848544" y="2529536"/>
            <a:ext cx="2205572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000"/>
              <a:t>이력 ∙ 룰 위반 ∙ 영향도</a:t>
            </a:r>
            <a:endParaRPr lang="en-US" altLang="ko-KR" sz="10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3BB79F7-A2F7-C727-E2D9-664BF2454BB4}"/>
              </a:ext>
            </a:extLst>
          </p:cNvPr>
          <p:cNvGrpSpPr/>
          <p:nvPr/>
        </p:nvGrpSpPr>
        <p:grpSpPr>
          <a:xfrm>
            <a:off x="560512" y="2856287"/>
            <a:ext cx="2589731" cy="503265"/>
            <a:chOff x="10318986" y="5083825"/>
            <a:chExt cx="2589731" cy="50326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A08A3682-EA07-DCFA-F4E5-E48B5A719531}"/>
                </a:ext>
              </a:extLst>
            </p:cNvPr>
            <p:cNvSpPr/>
            <p:nvPr/>
          </p:nvSpPr>
          <p:spPr bwMode="auto">
            <a:xfrm>
              <a:off x="10318986" y="5083825"/>
              <a:ext cx="2589731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6042E4-2E39-1A03-26B0-F33B3221242D}"/>
                </a:ext>
              </a:extLst>
            </p:cNvPr>
            <p:cNvSpPr txBox="1"/>
            <p:nvPr/>
          </p:nvSpPr>
          <p:spPr>
            <a:xfrm>
              <a:off x="10379552" y="5123439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과거 에디팅 이력</a:t>
              </a:r>
              <a:endParaRPr lang="en-US" altLang="ko-KR" sz="8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4848DF-A6A5-D1AF-840B-A6BAA617B3FB}"/>
                </a:ext>
              </a:extLst>
            </p:cNvPr>
            <p:cNvSpPr txBox="1"/>
            <p:nvPr/>
          </p:nvSpPr>
          <p:spPr>
            <a:xfrm>
              <a:off x="10379555" y="5290300"/>
              <a:ext cx="2465837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동일 응답자</a:t>
              </a:r>
              <a:r>
                <a:rPr lang="en-US" altLang="ko-KR" sz="700"/>
                <a:t>/</a:t>
              </a:r>
              <a:r>
                <a:rPr lang="ko-KR" altLang="en-US" sz="700"/>
                <a:t>유사 케이스에서 과거 수정이 빈발한 패턴 학습</a:t>
              </a:r>
              <a:endParaRPr lang="en-US" altLang="ko-KR" sz="700"/>
            </a:p>
          </p:txBody>
        </p:sp>
      </p:grp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3E3B9804-C593-80DA-55CE-D2E0E402ADB8}"/>
              </a:ext>
            </a:extLst>
          </p:cNvPr>
          <p:cNvSpPr/>
          <p:nvPr/>
        </p:nvSpPr>
        <p:spPr bwMode="auto">
          <a:xfrm>
            <a:off x="524536" y="2441680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FEB178D-F49A-554D-41C0-D72EE1A1EC62}"/>
              </a:ext>
            </a:extLst>
          </p:cNvPr>
          <p:cNvSpPr txBox="1"/>
          <p:nvPr/>
        </p:nvSpPr>
        <p:spPr>
          <a:xfrm>
            <a:off x="403796" y="1932744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우선순위 점수 산출 </a:t>
            </a:r>
            <a:r>
              <a:rPr lang="en-US" altLang="ko-KR">
                <a:latin typeface="+mn-ea"/>
                <a:ea typeface="+mn-ea"/>
              </a:rPr>
              <a:t>/ </a:t>
            </a:r>
            <a:r>
              <a:rPr lang="ko-KR" altLang="en-US">
                <a:latin typeface="+mn-ea"/>
                <a:ea typeface="+mn-ea"/>
              </a:rPr>
              <a:t>업무 흐름 변화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8A70F04-3FF6-C34C-1873-D67615872948}"/>
              </a:ext>
            </a:extLst>
          </p:cNvPr>
          <p:cNvSpPr txBox="1"/>
          <p:nvPr/>
        </p:nvSpPr>
        <p:spPr>
          <a:xfrm>
            <a:off x="403796" y="4763916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기대 효과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4F3F328-7489-78AF-84FC-8175DE0A4AE1}"/>
              </a:ext>
            </a:extLst>
          </p:cNvPr>
          <p:cNvSpPr txBox="1"/>
          <p:nvPr/>
        </p:nvSpPr>
        <p:spPr>
          <a:xfrm>
            <a:off x="848544" y="5250998"/>
            <a:ext cx="2301698" cy="2419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100"/>
              <a:t>처리 인력 ∙ 시간 절감</a:t>
            </a:r>
            <a:endParaRPr lang="en-US" altLang="ko-KR" sz="1100"/>
          </a:p>
        </p:txBody>
      </p:sp>
      <p:sp>
        <p:nvSpPr>
          <p:cNvPr id="181" name="순서도: 연결자 180">
            <a:extLst>
              <a:ext uri="{FF2B5EF4-FFF2-40B4-BE49-F238E27FC236}">
                <a16:creationId xmlns:a16="http://schemas.microsoft.com/office/drawing/2014/main" id="{3100B06F-B4DB-198F-534C-36A712710641}"/>
              </a:ext>
            </a:extLst>
          </p:cNvPr>
          <p:cNvSpPr/>
          <p:nvPr/>
        </p:nvSpPr>
        <p:spPr bwMode="auto">
          <a:xfrm>
            <a:off x="524536" y="5232951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08B00959-4701-F754-1201-A779B1FB430B}"/>
              </a:ext>
            </a:extLst>
          </p:cNvPr>
          <p:cNvGrpSpPr/>
          <p:nvPr/>
        </p:nvGrpSpPr>
        <p:grpSpPr>
          <a:xfrm>
            <a:off x="3501882" y="5647558"/>
            <a:ext cx="2669620" cy="659051"/>
            <a:chOff x="10318986" y="5083825"/>
            <a:chExt cx="2669620" cy="659051"/>
          </a:xfrm>
        </p:grpSpPr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BD05C4D7-F1F3-DCEA-4944-3E1DA4E76105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5ACAB24A-0A90-488B-1C0C-DC70BE43D2B1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통계 품질 유지</a:t>
              </a:r>
              <a:endParaRPr lang="en-US" altLang="ko-KR" sz="1000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E5C2B7A8-76EB-0867-8E15-9EC868F15C8A}"/>
                </a:ext>
              </a:extLst>
            </p:cNvPr>
            <p:cNvSpPr txBox="1"/>
            <p:nvPr/>
          </p:nvSpPr>
          <p:spPr>
            <a:xfrm>
              <a:off x="10379554" y="5367990"/>
              <a:ext cx="2529163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추정치 영향이 큰 오류는 모두 검토 대상</a:t>
              </a:r>
              <a:endParaRPr lang="en-US" altLang="ko-KR" sz="800"/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7B18055D-FD2E-6783-1E65-2D09BDBA669D}"/>
              </a:ext>
            </a:extLst>
          </p:cNvPr>
          <p:cNvGrpSpPr/>
          <p:nvPr/>
        </p:nvGrpSpPr>
        <p:grpSpPr>
          <a:xfrm>
            <a:off x="6536553" y="5647558"/>
            <a:ext cx="2669620" cy="659051"/>
            <a:chOff x="10318986" y="5083825"/>
            <a:chExt cx="2669620" cy="659051"/>
          </a:xfrm>
        </p:grpSpPr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57AE59B2-5C2A-B895-7D6E-6A5B42A916D4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80BE796F-CB95-928A-2933-BCFBAF46A1C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병목 매핑</a:t>
              </a:r>
              <a:endParaRPr lang="en-US" altLang="ko-KR" sz="800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1B7A4C44-D6D7-5AD0-EC0E-7C57EC826304}"/>
                </a:ext>
              </a:extLst>
            </p:cNvPr>
            <p:cNvSpPr txBox="1"/>
            <p:nvPr/>
          </p:nvSpPr>
          <p:spPr>
            <a:xfrm>
              <a:off x="10379554" y="5328400"/>
              <a:ext cx="2529163" cy="37503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처리 </a:t>
              </a:r>
              <a:r>
                <a:rPr lang="en-US" altLang="ko-KR" sz="700"/>
                <a:t>( KSBPM ⑤ ) - </a:t>
              </a:r>
              <a:r>
                <a:rPr lang="ko-KR" altLang="en-US" sz="700"/>
                <a:t>전수 편집 관행을 영향도 기반 선별 검토로 구조적 전환</a:t>
              </a:r>
              <a:endParaRPr lang="en-US" altLang="ko-KR" sz="70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C3C707B-61EC-5010-0E8D-0B4E5F1DB2A0}"/>
              </a:ext>
            </a:extLst>
          </p:cNvPr>
          <p:cNvGrpSpPr/>
          <p:nvPr/>
        </p:nvGrpSpPr>
        <p:grpSpPr>
          <a:xfrm>
            <a:off x="560512" y="3437144"/>
            <a:ext cx="2589730" cy="503265"/>
            <a:chOff x="10318986" y="5083825"/>
            <a:chExt cx="2589730" cy="503265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47F79856-2A13-769E-A6C1-8BF7768B809F}"/>
                </a:ext>
              </a:extLst>
            </p:cNvPr>
            <p:cNvSpPr/>
            <p:nvPr/>
          </p:nvSpPr>
          <p:spPr bwMode="auto">
            <a:xfrm>
              <a:off x="10318986" y="5083825"/>
              <a:ext cx="2589730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22CA4F-4B4E-CAEE-EC40-5EC494B21C14}"/>
                </a:ext>
              </a:extLst>
            </p:cNvPr>
            <p:cNvSpPr txBox="1"/>
            <p:nvPr/>
          </p:nvSpPr>
          <p:spPr>
            <a:xfrm>
              <a:off x="10379552" y="5123439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룰 위반</a:t>
              </a:r>
              <a:r>
                <a:rPr lang="en-US" altLang="ko-KR" sz="800"/>
                <a:t>(</a:t>
              </a:r>
              <a:r>
                <a:rPr lang="ko-KR" altLang="en-US" sz="800"/>
                <a:t>과제 </a:t>
              </a:r>
              <a:r>
                <a:rPr lang="en-US" altLang="ko-KR" sz="800"/>
                <a:t>04 </a:t>
              </a:r>
              <a:r>
                <a:rPr lang="ko-KR" altLang="en-US" sz="800"/>
                <a:t>룰 엔진</a:t>
              </a:r>
              <a:r>
                <a:rPr lang="en-US" altLang="ko-KR" sz="800"/>
                <a:t>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623166-81A0-9A4E-F4D0-F2F7DCF9F660}"/>
                </a:ext>
              </a:extLst>
            </p:cNvPr>
            <p:cNvSpPr txBox="1"/>
            <p:nvPr/>
          </p:nvSpPr>
          <p:spPr>
            <a:xfrm>
              <a:off x="10379555" y="5290300"/>
              <a:ext cx="2449472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범위 ∙ 합계 ∙ 형식 ∙ 스킵 룰 위반 건수와 심각도 가중</a:t>
              </a:r>
              <a:endParaRPr lang="en-US" altLang="ko-KR" sz="70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4248241-2E9A-4695-DCA9-5A413A48A0CD}"/>
              </a:ext>
            </a:extLst>
          </p:cNvPr>
          <p:cNvGrpSpPr/>
          <p:nvPr/>
        </p:nvGrpSpPr>
        <p:grpSpPr>
          <a:xfrm>
            <a:off x="560512" y="4031214"/>
            <a:ext cx="2589731" cy="503265"/>
            <a:chOff x="10318986" y="5083825"/>
            <a:chExt cx="2589731" cy="503265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BA0089D4-DD44-548E-63A7-8EF96DFCFFFC}"/>
                </a:ext>
              </a:extLst>
            </p:cNvPr>
            <p:cNvSpPr/>
            <p:nvPr/>
          </p:nvSpPr>
          <p:spPr bwMode="auto">
            <a:xfrm>
              <a:off x="10318986" y="5083825"/>
              <a:ext cx="2589731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08064E0-7F61-B19F-E921-D14BB6DC2F14}"/>
                </a:ext>
              </a:extLst>
            </p:cNvPr>
            <p:cNvSpPr txBox="1"/>
            <p:nvPr/>
          </p:nvSpPr>
          <p:spPr>
            <a:xfrm>
              <a:off x="10379552" y="5123439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추정치 영향도</a:t>
              </a:r>
              <a:endParaRPr lang="en-US" altLang="ko-KR" sz="8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F5FC860-C3FC-7EDD-5950-A1AAD17426F9}"/>
                </a:ext>
              </a:extLst>
            </p:cNvPr>
            <p:cNvSpPr txBox="1"/>
            <p:nvPr/>
          </p:nvSpPr>
          <p:spPr>
            <a:xfrm>
              <a:off x="10379555" y="5290300"/>
              <a:ext cx="2315695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700"/>
                <a:t>가중치 ∙ 모집단 비중 </a:t>
              </a:r>
              <a:r>
                <a:rPr lang="en-US" altLang="ko-KR" sz="700"/>
                <a:t>- </a:t>
              </a:r>
              <a:r>
                <a:rPr lang="ko-KR" altLang="en-US" sz="700"/>
                <a:t>해당 레코드가 공표 추정치에 </a:t>
              </a:r>
              <a:br>
                <a:rPr lang="en-US" altLang="ko-KR" sz="700"/>
              </a:br>
              <a:r>
                <a:rPr lang="ko-KR" altLang="en-US" sz="700"/>
                <a:t>미치는 영향 크기</a:t>
              </a:r>
              <a:endParaRPr lang="en-US" altLang="ko-KR" sz="700"/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91967AA-339B-3E6E-58B3-59DD838564BB}"/>
              </a:ext>
            </a:extLst>
          </p:cNvPr>
          <p:cNvGrpSpPr/>
          <p:nvPr/>
        </p:nvGrpSpPr>
        <p:grpSpPr>
          <a:xfrm>
            <a:off x="5431102" y="2333640"/>
            <a:ext cx="3950362" cy="2337436"/>
            <a:chOff x="4819062" y="2333640"/>
            <a:chExt cx="3950362" cy="2337436"/>
          </a:xfrm>
        </p:grpSpPr>
        <p:sp>
          <p:nvSpPr>
            <p:cNvPr id="278" name="사각형: 둥근 모서리 277">
              <a:extLst>
                <a:ext uri="{FF2B5EF4-FFF2-40B4-BE49-F238E27FC236}">
                  <a16:creationId xmlns:a16="http://schemas.microsoft.com/office/drawing/2014/main" id="{2AD9AD6D-A2E8-DF5F-60B1-2574633FD195}"/>
                </a:ext>
              </a:extLst>
            </p:cNvPr>
            <p:cNvSpPr/>
            <p:nvPr/>
          </p:nvSpPr>
          <p:spPr bwMode="auto">
            <a:xfrm>
              <a:off x="4819062" y="2333640"/>
              <a:ext cx="3950362" cy="2337436"/>
            </a:xfrm>
            <a:prstGeom prst="roundRect">
              <a:avLst>
                <a:gd name="adj" fmla="val 3923"/>
              </a:avLst>
            </a:prstGeom>
            <a:solidFill>
              <a:schemeClr val="tx2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9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FD559E8B-B039-DD50-5C5E-CD6C2B788A5E}"/>
                </a:ext>
              </a:extLst>
            </p:cNvPr>
            <p:cNvSpPr txBox="1"/>
            <p:nvPr/>
          </p:nvSpPr>
          <p:spPr>
            <a:xfrm>
              <a:off x="5006104" y="2388091"/>
              <a:ext cx="2180762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800" b="0">
                  <a:solidFill>
                    <a:schemeClr val="bg1"/>
                  </a:solidFill>
                  <a:latin typeface="+mn-ea"/>
                  <a:ea typeface="+mn-ea"/>
                </a:rPr>
                <a:t>업무 흐름 변화 </a:t>
              </a:r>
              <a:r>
                <a:rPr lang="en-US" altLang="ko-KR" sz="800" b="0">
                  <a:solidFill>
                    <a:schemeClr val="bg1"/>
                  </a:solidFill>
                  <a:latin typeface="+mn-ea"/>
                  <a:ea typeface="+mn-ea"/>
                </a:rPr>
                <a:t>- Before / After</a:t>
              </a:r>
              <a:endParaRPr lang="en-US" altLang="ko-KR" sz="800" b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80" name="사각형: 둥근 모서리 279">
              <a:extLst>
                <a:ext uri="{FF2B5EF4-FFF2-40B4-BE49-F238E27FC236}">
                  <a16:creationId xmlns:a16="http://schemas.microsoft.com/office/drawing/2014/main" id="{0B60934F-9806-3A98-DD73-CE9C65027B03}"/>
                </a:ext>
              </a:extLst>
            </p:cNvPr>
            <p:cNvSpPr/>
            <p:nvPr/>
          </p:nvSpPr>
          <p:spPr bwMode="auto">
            <a:xfrm>
              <a:off x="5006104" y="2595910"/>
              <a:ext cx="3691312" cy="197294"/>
            </a:xfrm>
            <a:prstGeom prst="roundRect">
              <a:avLst>
                <a:gd name="adj" fmla="val 5741"/>
              </a:avLst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R="0" defTabSz="979488" rtl="0" eaLnBrk="1" fontAlgn="base" latinLnBrk="1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ko-KR" altLang="en-US" sz="1100" b="1">
                  <a:solidFill>
                    <a:schemeClr val="bg1"/>
                  </a:solidFill>
                  <a:latin typeface="+mn-ea"/>
                  <a:ea typeface="+mn-ea"/>
                </a:rPr>
                <a:t>전수 검토 → 지능형 선별 검토</a:t>
              </a:r>
              <a:endParaRPr kumimoji="1" lang="ko-KR" altLang="en-US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902DF6D5-0BC3-9B0C-CF3C-985507351B1F}"/>
                </a:ext>
              </a:extLst>
            </p:cNvPr>
            <p:cNvGrpSpPr/>
            <p:nvPr/>
          </p:nvGrpSpPr>
          <p:grpSpPr>
            <a:xfrm>
              <a:off x="5010235" y="2876896"/>
              <a:ext cx="3543165" cy="624903"/>
              <a:chOff x="5010235" y="2876896"/>
              <a:chExt cx="3543165" cy="624903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D7756862-08B8-979D-DD6B-FE97A5055ACB}"/>
                  </a:ext>
                </a:extLst>
              </p:cNvPr>
              <p:cNvGrpSpPr/>
              <p:nvPr/>
            </p:nvGrpSpPr>
            <p:grpSpPr>
              <a:xfrm>
                <a:off x="5010235" y="2876896"/>
                <a:ext cx="3543165" cy="624903"/>
                <a:chOff x="2264535" y="4581128"/>
                <a:chExt cx="2188747" cy="624903"/>
              </a:xfrm>
            </p:grpSpPr>
            <p:sp>
              <p:nvSpPr>
                <p:cNvPr id="35" name="사각형: 둥근 모서리 34">
                  <a:extLst>
                    <a:ext uri="{FF2B5EF4-FFF2-40B4-BE49-F238E27FC236}">
                      <a16:creationId xmlns:a16="http://schemas.microsoft.com/office/drawing/2014/main" id="{44523D39-D27C-D916-5C62-6F3E5693646A}"/>
                    </a:ext>
                  </a:extLst>
                </p:cNvPr>
                <p:cNvSpPr/>
                <p:nvPr/>
              </p:nvSpPr>
              <p:spPr bwMode="auto">
                <a:xfrm>
                  <a:off x="2264535" y="4600653"/>
                  <a:ext cx="2188747" cy="605378"/>
                </a:xfrm>
                <a:prstGeom prst="roundRect">
                  <a:avLst>
                    <a:gd name="adj" fmla="val 10117"/>
                  </a:avLst>
                </a:prstGeom>
                <a:solidFill>
                  <a:srgbClr val="2A63A8"/>
                </a:solidFill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 type="none" w="sm" len="med"/>
                </a:ln>
              </p:spPr>
              <p:txBody>
                <a:bodyPr wrap="none" rtlCol="0" anchor="ctr"/>
                <a:lstStyle/>
                <a:p>
                  <a:pPr algn="ctr"/>
                  <a:endParaRPr lang="ko-KR" altLang="en-US" sz="90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06ED61A-54D8-0D4C-7E06-BB52E32595DE}"/>
                    </a:ext>
                  </a:extLst>
                </p:cNvPr>
                <p:cNvSpPr txBox="1"/>
                <p:nvPr/>
              </p:nvSpPr>
              <p:spPr>
                <a:xfrm>
                  <a:off x="2288704" y="4581128"/>
                  <a:ext cx="1487999" cy="233581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>
                  <a:defPPr>
                    <a:defRPr lang="ko-KR"/>
                  </a:defPPr>
                  <a:lvl1pPr marL="171450" indent="-171450">
                    <a:buFont typeface="Wingdings" panose="05000000000000000000" pitchFamily="2" charset="2"/>
                    <a:buChar char="§"/>
                    <a:defRPr sz="1100" b="1">
                      <a:ln w="3175">
                        <a:solidFill>
                          <a:prstClr val="black">
                            <a:alpha val="0"/>
                          </a:prstClr>
                        </a:solidFill>
                      </a:ln>
                      <a:latin typeface="KoPub돋움체 Medium" panose="02020603020101020101" pitchFamily="18" charset="-127"/>
                      <a:ea typeface="KoPub돋움체 Medium" panose="02020603020101020101" pitchFamily="18" charset="-127"/>
                    </a:defRPr>
                  </a:lvl1pPr>
                </a:lstStyle>
                <a:p>
                  <a:pPr marL="0" indent="0">
                    <a:lnSpc>
                      <a:spcPct val="150000"/>
                    </a:lnSpc>
                    <a:buNone/>
                  </a:pPr>
                  <a:r>
                    <a:rPr lang="en-US" altLang="ko-KR" sz="800" b="0">
                      <a:solidFill>
                        <a:schemeClr val="accent6"/>
                      </a:solidFill>
                      <a:latin typeface="+mn-ea"/>
                      <a:ea typeface="+mn-ea"/>
                    </a:rPr>
                    <a:t>BEFORE</a:t>
                  </a:r>
                  <a:endParaRPr lang="en-US" altLang="ko-KR" sz="800" b="0" dirty="0">
                    <a:solidFill>
                      <a:schemeClr val="accent6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38" name="사각형: 둥근 모서리 37">
                  <a:extLst>
                    <a:ext uri="{FF2B5EF4-FFF2-40B4-BE49-F238E27FC236}">
                      <a16:creationId xmlns:a16="http://schemas.microsoft.com/office/drawing/2014/main" id="{34B188E4-1635-54DC-DB23-1D6528AC2F90}"/>
                    </a:ext>
                  </a:extLst>
                </p:cNvPr>
                <p:cNvSpPr/>
                <p:nvPr/>
              </p:nvSpPr>
              <p:spPr bwMode="auto">
                <a:xfrm>
                  <a:off x="2313839" y="4807162"/>
                  <a:ext cx="2139443" cy="197294"/>
                </a:xfrm>
                <a:prstGeom prst="roundRect">
                  <a:avLst>
                    <a:gd name="adj" fmla="val 5741"/>
                  </a:avLst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3600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defTabSz="979488" rtl="0" eaLnBrk="1" fontAlgn="base" latinLnBrk="1" hangingPunct="1">
                    <a:lnSpc>
                      <a:spcPct val="15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:r>
                    <a:rPr kumimoji="1" lang="ko-KR" altLang="en-US" sz="800" b="1" i="0" u="none" strike="noStrike" cap="none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+mn-ea"/>
                      <a:ea typeface="+mn-ea"/>
                    </a:rPr>
                    <a:t>모든 레코드를 동일 기준으로 점검</a:t>
                  </a:r>
                </a:p>
              </p:txBody>
            </p: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E192665-845F-0A69-24E5-1CFBF11636A3}"/>
                  </a:ext>
                </a:extLst>
              </p:cNvPr>
              <p:cNvSpPr txBox="1"/>
              <p:nvPr/>
            </p:nvSpPr>
            <p:spPr>
              <a:xfrm>
                <a:off x="5049359" y="3274042"/>
                <a:ext cx="3360025" cy="2134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000" b="0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+mn-ea"/>
                    <a:ea typeface="+mn-ea"/>
                  </a:defRPr>
                </a:lvl1pPr>
              </a:lstStyle>
              <a:p>
                <a:r>
                  <a:rPr lang="en-US" altLang="ko-KR" sz="700">
                    <a:solidFill>
                      <a:schemeClr val="bg2">
                        <a:lumMod val="90000"/>
                      </a:schemeClr>
                    </a:solidFill>
                  </a:rPr>
                  <a:t>♣ </a:t>
                </a:r>
                <a:r>
                  <a:rPr lang="ko-KR" altLang="en-US" sz="700">
                    <a:solidFill>
                      <a:schemeClr val="bg2">
                        <a:lumMod val="90000"/>
                      </a:schemeClr>
                    </a:solidFill>
                  </a:rPr>
                  <a:t>영향도가 낮은 케이스에도 동일 시간 소요 → 처리 기간 압박</a:t>
                </a:r>
                <a:endParaRPr lang="en-US" altLang="ko-KR" sz="700">
                  <a:solidFill>
                    <a:schemeClr val="bg2">
                      <a:lumMod val="90000"/>
                    </a:schemeClr>
                  </a:solidFill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B3D88FB-970E-5B97-7BC3-E11D0BC828CE}"/>
                </a:ext>
              </a:extLst>
            </p:cNvPr>
            <p:cNvGrpSpPr/>
            <p:nvPr/>
          </p:nvGrpSpPr>
          <p:grpSpPr>
            <a:xfrm>
              <a:off x="5010235" y="3609269"/>
              <a:ext cx="3543165" cy="624903"/>
              <a:chOff x="5010235" y="2876896"/>
              <a:chExt cx="3543165" cy="624903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D3A5A6E3-17A8-11F5-625E-7669A42AA701}"/>
                  </a:ext>
                </a:extLst>
              </p:cNvPr>
              <p:cNvGrpSpPr/>
              <p:nvPr/>
            </p:nvGrpSpPr>
            <p:grpSpPr>
              <a:xfrm>
                <a:off x="5010235" y="2876896"/>
                <a:ext cx="3543165" cy="624903"/>
                <a:chOff x="2264535" y="4581128"/>
                <a:chExt cx="2188747" cy="624903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402B1F88-DF18-8F11-2036-ED9555BFAE62}"/>
                    </a:ext>
                  </a:extLst>
                </p:cNvPr>
                <p:cNvSpPr/>
                <p:nvPr/>
              </p:nvSpPr>
              <p:spPr bwMode="auto">
                <a:xfrm>
                  <a:off x="2264535" y="4600653"/>
                  <a:ext cx="2188747" cy="605378"/>
                </a:xfrm>
                <a:prstGeom prst="roundRect">
                  <a:avLst>
                    <a:gd name="adj" fmla="val 10117"/>
                  </a:avLst>
                </a:prstGeom>
                <a:solidFill>
                  <a:schemeClr val="bg1"/>
                </a:solidFill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 type="none" w="sm" len="med"/>
                </a:ln>
              </p:spPr>
              <p:txBody>
                <a:bodyPr wrap="none" rtlCol="0" anchor="ctr"/>
                <a:lstStyle/>
                <a:p>
                  <a:pPr algn="ctr"/>
                  <a:endParaRPr lang="ko-KR" altLang="en-US" sz="90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96B3D43-EB07-BF24-C977-5B3A788EEA8B}"/>
                    </a:ext>
                  </a:extLst>
                </p:cNvPr>
                <p:cNvSpPr txBox="1"/>
                <p:nvPr/>
              </p:nvSpPr>
              <p:spPr>
                <a:xfrm>
                  <a:off x="2288704" y="4581128"/>
                  <a:ext cx="1487999" cy="233581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>
                  <a:defPPr>
                    <a:defRPr lang="ko-KR"/>
                  </a:defPPr>
                  <a:lvl1pPr marL="171450" indent="-171450">
                    <a:buFont typeface="Wingdings" panose="05000000000000000000" pitchFamily="2" charset="2"/>
                    <a:buChar char="§"/>
                    <a:defRPr sz="1100" b="1">
                      <a:ln w="3175">
                        <a:solidFill>
                          <a:prstClr val="black">
                            <a:alpha val="0"/>
                          </a:prstClr>
                        </a:solidFill>
                      </a:ln>
                      <a:latin typeface="KoPub돋움체 Medium" panose="02020603020101020101" pitchFamily="18" charset="-127"/>
                      <a:ea typeface="KoPub돋움체 Medium" panose="02020603020101020101" pitchFamily="18" charset="-127"/>
                    </a:defRPr>
                  </a:lvl1pPr>
                </a:lstStyle>
                <a:p>
                  <a:pPr marL="0" indent="0">
                    <a:lnSpc>
                      <a:spcPct val="150000"/>
                    </a:lnSpc>
                    <a:buNone/>
                  </a:pPr>
                  <a:r>
                    <a:rPr lang="en-US" altLang="ko-KR" sz="800" b="0">
                      <a:solidFill>
                        <a:schemeClr val="tx2"/>
                      </a:solidFill>
                      <a:latin typeface="+mn-ea"/>
                      <a:ea typeface="+mn-ea"/>
                    </a:rPr>
                    <a:t>AFTER - AI</a:t>
                  </a:r>
                  <a:r>
                    <a:rPr lang="ko-KR" altLang="en-US" sz="800" b="0">
                      <a:solidFill>
                        <a:schemeClr val="tx2"/>
                      </a:solidFill>
                      <a:latin typeface="+mn-ea"/>
                      <a:ea typeface="+mn-ea"/>
                    </a:rPr>
                    <a:t> 우선순위 큐</a:t>
                  </a:r>
                  <a:endParaRPr lang="en-US" altLang="ko-KR" sz="800" b="0" dirty="0">
                    <a:solidFill>
                      <a:schemeClr val="tx2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44" name="사각형: 둥근 모서리 43">
                  <a:extLst>
                    <a:ext uri="{FF2B5EF4-FFF2-40B4-BE49-F238E27FC236}">
                      <a16:creationId xmlns:a16="http://schemas.microsoft.com/office/drawing/2014/main" id="{8FEC9742-DCAD-518E-8A94-0369A85168A0}"/>
                    </a:ext>
                  </a:extLst>
                </p:cNvPr>
                <p:cNvSpPr/>
                <p:nvPr/>
              </p:nvSpPr>
              <p:spPr bwMode="auto">
                <a:xfrm>
                  <a:off x="2313839" y="4807162"/>
                  <a:ext cx="2050479" cy="197294"/>
                </a:xfrm>
                <a:prstGeom prst="roundRect">
                  <a:avLst>
                    <a:gd name="adj" fmla="val 5741"/>
                  </a:avLst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3600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defTabSz="979488" rtl="0" eaLnBrk="1" fontAlgn="base" latinLnBrk="1" hangingPunct="1">
                    <a:lnSpc>
                      <a:spcPct val="15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:r>
                    <a:rPr kumimoji="1" lang="en-US" altLang="ko-KR" sz="800" b="1" i="0" u="none" strike="noStrike" cap="none" normalizeH="0" baseline="0">
                      <a:ln>
                        <a:noFill/>
                      </a:ln>
                      <a:effectLst/>
                      <a:latin typeface="+mn-ea"/>
                      <a:ea typeface="+mn-ea"/>
                    </a:rPr>
                    <a:t>"High Impact" </a:t>
                  </a:r>
                  <a:r>
                    <a:rPr kumimoji="1" lang="ko-KR" altLang="en-US" sz="800" b="1" i="0" u="none" strike="noStrike" cap="none" normalizeH="0" baseline="0">
                      <a:ln>
                        <a:noFill/>
                      </a:ln>
                      <a:effectLst/>
                      <a:latin typeface="+mn-ea"/>
                      <a:ea typeface="+mn-ea"/>
                    </a:rPr>
                    <a:t>레코드 우선 ∙ </a:t>
                  </a:r>
                  <a:r>
                    <a:rPr kumimoji="1" lang="en-US" altLang="ko-KR" sz="800" b="1" i="0" u="none" strike="noStrike" cap="none" normalizeH="0" baseline="0">
                      <a:ln>
                        <a:noFill/>
                      </a:ln>
                      <a:effectLst/>
                      <a:latin typeface="+mn-ea"/>
                      <a:ea typeface="+mn-ea"/>
                    </a:rPr>
                    <a:t>"</a:t>
                  </a:r>
                  <a:r>
                    <a:rPr lang="en-US" altLang="ko-KR" sz="800" b="1">
                      <a:latin typeface="+mn-ea"/>
                      <a:ea typeface="+mn-ea"/>
                    </a:rPr>
                    <a:t>Low</a:t>
                  </a:r>
                  <a:r>
                    <a:rPr lang="ko-KR" altLang="en-US" sz="800" b="1">
                      <a:latin typeface="+mn-ea"/>
                      <a:ea typeface="+mn-ea"/>
                    </a:rPr>
                    <a:t> </a:t>
                  </a:r>
                  <a:r>
                    <a:rPr lang="en-US" altLang="ko-KR" sz="800" b="1">
                      <a:latin typeface="+mn-ea"/>
                      <a:ea typeface="+mn-ea"/>
                    </a:rPr>
                    <a:t>Impact"</a:t>
                  </a:r>
                  <a:r>
                    <a:rPr lang="ko-KR" altLang="en-US" sz="800" b="1">
                      <a:latin typeface="+mn-ea"/>
                      <a:ea typeface="+mn-ea"/>
                    </a:rPr>
                    <a:t>는 룰만 통과 시 자동 승인</a:t>
                  </a:r>
                  <a:endParaRPr kumimoji="1" lang="ko-KR" altLang="en-US" sz="8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732F4C2-8CAB-B5E0-D74D-91A5EBF3E00F}"/>
                  </a:ext>
                </a:extLst>
              </p:cNvPr>
              <p:cNvSpPr txBox="1"/>
              <p:nvPr/>
            </p:nvSpPr>
            <p:spPr>
              <a:xfrm>
                <a:off x="5049360" y="3274042"/>
                <a:ext cx="3216008" cy="2134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000" b="0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+mn-ea"/>
                    <a:ea typeface="+mn-ea"/>
                  </a:defRPr>
                </a:lvl1pPr>
              </a:lstStyle>
              <a:p>
                <a:r>
                  <a:rPr lang="en-US" altLang="ko-KR" sz="700"/>
                  <a:t>♣ </a:t>
                </a:r>
                <a:r>
                  <a:rPr lang="ko-KR" altLang="en-US" sz="700"/>
                  <a:t>담당자는 </a:t>
                </a:r>
                <a:r>
                  <a:rPr lang="en-US" altLang="ko-KR" sz="700"/>
                  <a:t>AI </a:t>
                </a:r>
                <a:r>
                  <a:rPr lang="ko-KR" altLang="en-US" sz="700"/>
                  <a:t>점수 </a:t>
                </a:r>
                <a:r>
                  <a:rPr lang="en-US" altLang="ko-KR" sz="700"/>
                  <a:t>+ </a:t>
                </a:r>
                <a:r>
                  <a:rPr lang="ko-KR" altLang="en-US" sz="700"/>
                  <a:t>근거를 확인 후 검토 </a:t>
                </a:r>
                <a:r>
                  <a:rPr lang="en-US" altLang="ko-KR" sz="700"/>
                  <a:t>- Human-in-the-loop </a:t>
                </a:r>
                <a:r>
                  <a:rPr lang="ko-KR" altLang="en-US" sz="700"/>
                  <a:t>유지</a:t>
                </a:r>
                <a:endParaRPr lang="en-US" altLang="ko-KR" sz="700"/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41913A9-3EB4-5552-257A-CE387810B4D3}"/>
                </a:ext>
              </a:extLst>
            </p:cNvPr>
            <p:cNvSpPr txBox="1"/>
            <p:nvPr/>
          </p:nvSpPr>
          <p:spPr>
            <a:xfrm>
              <a:off x="5025007" y="4293096"/>
              <a:ext cx="3600401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pPr marL="171450" indent="-171450">
                <a:lnSpc>
                  <a:spcPct val="100000"/>
                </a:lnSpc>
                <a:buFont typeface="Wingdings" panose="05000000000000000000" pitchFamily="2" charset="2"/>
                <a:buChar char="v"/>
              </a:pPr>
              <a:r>
                <a:rPr lang="ko-KR" altLang="en-US" sz="700" b="1">
                  <a:solidFill>
                    <a:schemeClr val="bg2"/>
                  </a:solidFill>
                </a:rPr>
                <a:t>연계 </a:t>
              </a:r>
              <a:r>
                <a:rPr lang="en-US" altLang="ko-KR" sz="700" b="1">
                  <a:solidFill>
                    <a:schemeClr val="bg2"/>
                  </a:solidFill>
                </a:rPr>
                <a:t>: </a:t>
              </a:r>
              <a:r>
                <a:rPr lang="ko-KR" altLang="en-US" sz="700" b="1">
                  <a:solidFill>
                    <a:schemeClr val="bg2"/>
                  </a:solidFill>
                </a:rPr>
                <a:t>과제 </a:t>
              </a:r>
              <a:r>
                <a:rPr lang="en-US" altLang="ko-KR" sz="700" b="1">
                  <a:solidFill>
                    <a:schemeClr val="bg2"/>
                  </a:solidFill>
                </a:rPr>
                <a:t>06(</a:t>
              </a:r>
              <a:r>
                <a:rPr lang="ko-KR" altLang="en-US" sz="700" b="1">
                  <a:solidFill>
                    <a:schemeClr val="bg2"/>
                  </a:solidFill>
                </a:rPr>
                <a:t>자동 대체</a:t>
              </a:r>
              <a:r>
                <a:rPr lang="en-US" altLang="ko-KR" sz="700" b="1">
                  <a:solidFill>
                    <a:schemeClr val="bg2"/>
                  </a:solidFill>
                </a:rPr>
                <a:t>) ∙ </a:t>
              </a:r>
              <a:r>
                <a:rPr lang="ko-KR" altLang="en-US" sz="700" b="1">
                  <a:solidFill>
                    <a:schemeClr val="bg2"/>
                  </a:solidFill>
                </a:rPr>
                <a:t>과제 </a:t>
              </a:r>
              <a:r>
                <a:rPr lang="en-US" altLang="ko-KR" sz="700" b="1">
                  <a:solidFill>
                    <a:schemeClr val="bg2"/>
                  </a:solidFill>
                </a:rPr>
                <a:t>07(</a:t>
              </a:r>
              <a:r>
                <a:rPr lang="ko-KR" altLang="en-US" sz="700" b="1">
                  <a:solidFill>
                    <a:schemeClr val="bg2"/>
                  </a:solidFill>
                </a:rPr>
                <a:t>분류코딩 자동화</a:t>
              </a:r>
              <a:r>
                <a:rPr lang="en-US" altLang="ko-KR" sz="700" b="1">
                  <a:solidFill>
                    <a:schemeClr val="bg2"/>
                  </a:solidFill>
                </a:rPr>
                <a:t>)</a:t>
              </a:r>
              <a:r>
                <a:rPr lang="ko-KR" altLang="en-US" sz="700" b="1">
                  <a:solidFill>
                    <a:schemeClr val="bg2"/>
                  </a:solidFill>
                </a:rPr>
                <a:t>와 결합 시 </a:t>
              </a:r>
              <a:br>
                <a:rPr lang="en-US" altLang="ko-KR" sz="700" b="1">
                  <a:solidFill>
                    <a:schemeClr val="bg2"/>
                  </a:solidFill>
                </a:rPr>
              </a:br>
              <a:r>
                <a:rPr lang="en-US" altLang="ko-KR" sz="700" b="1">
                  <a:solidFill>
                    <a:schemeClr val="bg2"/>
                  </a:solidFill>
                </a:rPr>
                <a:t>        </a:t>
              </a:r>
              <a:r>
                <a:rPr lang="ko-KR" altLang="en-US" sz="700" b="1">
                  <a:solidFill>
                    <a:schemeClr val="bg2"/>
                  </a:solidFill>
                </a:rPr>
                <a:t>자료처리 자동화 효과 극대화</a:t>
              </a:r>
              <a:endParaRPr lang="en-US" altLang="ko-KR" sz="700" b="1">
                <a:solidFill>
                  <a:schemeClr val="bg2"/>
                </a:solidFill>
              </a:endParaRPr>
            </a:p>
          </p:txBody>
        </p:sp>
      </p:grp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99511E4-660A-378C-2957-22ECBC379555}"/>
              </a:ext>
            </a:extLst>
          </p:cNvPr>
          <p:cNvSpPr/>
          <p:nvPr/>
        </p:nvSpPr>
        <p:spPr bwMode="auto">
          <a:xfrm>
            <a:off x="3423888" y="2333640"/>
            <a:ext cx="1886057" cy="2337436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251EBB-4752-2902-B1FF-7E6EB02C4FA1}"/>
              </a:ext>
            </a:extLst>
          </p:cNvPr>
          <p:cNvSpPr txBox="1"/>
          <p:nvPr/>
        </p:nvSpPr>
        <p:spPr>
          <a:xfrm>
            <a:off x="3840159" y="2360024"/>
            <a:ext cx="847669" cy="213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40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r>
              <a:rPr lang="en-US" altLang="ko-KR" sz="700" b="0"/>
              <a:t>AI </a:t>
            </a:r>
            <a:r>
              <a:rPr lang="ko-KR" altLang="en-US" sz="700" b="0"/>
              <a:t>에디팅 프로세스</a:t>
            </a:r>
            <a:endParaRPr lang="en-US" altLang="ko-KR" sz="700" b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6C972CC-8491-2F02-089A-47F06632CB0B}"/>
              </a:ext>
            </a:extLst>
          </p:cNvPr>
          <p:cNvSpPr txBox="1"/>
          <p:nvPr/>
        </p:nvSpPr>
        <p:spPr>
          <a:xfrm>
            <a:off x="3840159" y="2529536"/>
            <a:ext cx="1378015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000" spc="-100"/>
              <a:t>분류 ∙ 연관 ∙ 발굴 ∙ 편집 </a:t>
            </a:r>
            <a:endParaRPr lang="en-US" altLang="ko-KR" sz="1000" spc="-100"/>
          </a:p>
        </p:txBody>
      </p:sp>
      <p:sp>
        <p:nvSpPr>
          <p:cNvPr id="129" name="순서도: 연결자 128">
            <a:extLst>
              <a:ext uri="{FF2B5EF4-FFF2-40B4-BE49-F238E27FC236}">
                <a16:creationId xmlns:a16="http://schemas.microsoft.com/office/drawing/2014/main" id="{16D87341-7282-05DA-40B8-291A489FF033}"/>
              </a:ext>
            </a:extLst>
          </p:cNvPr>
          <p:cNvSpPr/>
          <p:nvPr/>
        </p:nvSpPr>
        <p:spPr bwMode="auto">
          <a:xfrm>
            <a:off x="3516151" y="2441680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AE00F027-9D3C-3557-39DA-D704A504FEB6}"/>
              </a:ext>
            </a:extLst>
          </p:cNvPr>
          <p:cNvGrpSpPr/>
          <p:nvPr/>
        </p:nvGrpSpPr>
        <p:grpSpPr>
          <a:xfrm>
            <a:off x="3574980" y="2856287"/>
            <a:ext cx="1578804" cy="360000"/>
            <a:chOff x="10318987" y="5083825"/>
            <a:chExt cx="1578804" cy="412693"/>
          </a:xfrm>
        </p:grpSpPr>
        <p:sp>
          <p:nvSpPr>
            <p:cNvPr id="132" name="사각형: 둥근 모서리 131">
              <a:extLst>
                <a:ext uri="{FF2B5EF4-FFF2-40B4-BE49-F238E27FC236}">
                  <a16:creationId xmlns:a16="http://schemas.microsoft.com/office/drawing/2014/main" id="{0C008EB0-B5C0-973A-1449-099A67FC8A46}"/>
                </a:ext>
              </a:extLst>
            </p:cNvPr>
            <p:cNvSpPr/>
            <p:nvPr/>
          </p:nvSpPr>
          <p:spPr bwMode="auto">
            <a:xfrm>
              <a:off x="10318987" y="5083825"/>
              <a:ext cx="1578804" cy="412693"/>
            </a:xfrm>
            <a:prstGeom prst="roundRect">
              <a:avLst>
                <a:gd name="adj" fmla="val 3129"/>
              </a:avLst>
            </a:prstGeom>
            <a:solidFill>
              <a:srgbClr val="DBEEF4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A868B07-6426-4D2C-1420-729C5BA76C4E}"/>
                </a:ext>
              </a:extLst>
            </p:cNvPr>
            <p:cNvSpPr txBox="1"/>
            <p:nvPr/>
          </p:nvSpPr>
          <p:spPr>
            <a:xfrm>
              <a:off x="10379552" y="5095714"/>
              <a:ext cx="1274990" cy="18442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en-US" altLang="ko-KR" sz="800"/>
                <a:t>1. </a:t>
              </a:r>
              <a:r>
                <a:rPr lang="ko-KR" altLang="en-US" sz="800"/>
                <a:t>항목 유형분류</a:t>
              </a:r>
              <a:endParaRPr lang="en-US" altLang="ko-KR" sz="80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345BB3F-CCDC-5FDC-41C5-2E3893627B3F}"/>
                </a:ext>
              </a:extLst>
            </p:cNvPr>
            <p:cNvSpPr txBox="1"/>
            <p:nvPr/>
          </p:nvSpPr>
          <p:spPr>
            <a:xfrm>
              <a:off x="10379555" y="5238115"/>
              <a:ext cx="1446227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범주형</a:t>
              </a:r>
              <a:r>
                <a:rPr lang="en-US" altLang="ko-KR" sz="700"/>
                <a:t>/</a:t>
              </a:r>
              <a:r>
                <a:rPr lang="ko-KR" altLang="en-US" sz="700"/>
                <a:t>연속형 판별 및 대상 선정</a:t>
              </a:r>
              <a:endParaRPr lang="en-US" altLang="ko-KR" sz="700"/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4B407AB0-3838-2FF6-6EB6-1DD9C9DC5EED}"/>
              </a:ext>
            </a:extLst>
          </p:cNvPr>
          <p:cNvGrpSpPr/>
          <p:nvPr/>
        </p:nvGrpSpPr>
        <p:grpSpPr>
          <a:xfrm>
            <a:off x="3574980" y="3292933"/>
            <a:ext cx="1578804" cy="360000"/>
            <a:chOff x="10318987" y="5083825"/>
            <a:chExt cx="1578804" cy="412693"/>
          </a:xfrm>
        </p:grpSpPr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34D345DE-3261-F1E4-2083-47B43A43A78C}"/>
                </a:ext>
              </a:extLst>
            </p:cNvPr>
            <p:cNvSpPr/>
            <p:nvPr/>
          </p:nvSpPr>
          <p:spPr bwMode="auto">
            <a:xfrm>
              <a:off x="10318987" y="5083825"/>
              <a:ext cx="1578804" cy="412693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8F7A154C-CE63-9948-15A5-39D2A6BAA184}"/>
                </a:ext>
              </a:extLst>
            </p:cNvPr>
            <p:cNvSpPr txBox="1"/>
            <p:nvPr/>
          </p:nvSpPr>
          <p:spPr>
            <a:xfrm>
              <a:off x="10379552" y="5095714"/>
              <a:ext cx="1274990" cy="18442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en-US" altLang="ko-KR" sz="800"/>
                <a:t>2. </a:t>
              </a:r>
              <a:r>
                <a:rPr lang="ko-KR" altLang="en-US" sz="800"/>
                <a:t>항목 상관분석</a:t>
              </a:r>
              <a:endParaRPr lang="en-US" altLang="ko-KR" sz="80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7038EE9-090E-4D3B-1A43-4CB0D107D030}"/>
                </a:ext>
              </a:extLst>
            </p:cNvPr>
            <p:cNvSpPr txBox="1"/>
            <p:nvPr/>
          </p:nvSpPr>
          <p:spPr>
            <a:xfrm>
              <a:off x="10379555" y="5238115"/>
              <a:ext cx="1446227" cy="24468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문항간 연결강도∙군집 분석</a:t>
              </a:r>
              <a:endParaRPr lang="en-US" altLang="ko-KR" sz="700"/>
            </a:p>
          </p:txBody>
        </p: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EB807F35-8AFA-2F53-F474-1C8F01BF9A99}"/>
              </a:ext>
            </a:extLst>
          </p:cNvPr>
          <p:cNvGrpSpPr/>
          <p:nvPr/>
        </p:nvGrpSpPr>
        <p:grpSpPr>
          <a:xfrm>
            <a:off x="3574980" y="3729579"/>
            <a:ext cx="1578804" cy="360000"/>
            <a:chOff x="10318987" y="5083825"/>
            <a:chExt cx="1578804" cy="412693"/>
          </a:xfrm>
        </p:grpSpPr>
        <p:sp>
          <p:nvSpPr>
            <p:cNvPr id="155" name="사각형: 둥근 모서리 154">
              <a:extLst>
                <a:ext uri="{FF2B5EF4-FFF2-40B4-BE49-F238E27FC236}">
                  <a16:creationId xmlns:a16="http://schemas.microsoft.com/office/drawing/2014/main" id="{8DC8A340-A225-5274-D2F1-33AA54D6AD22}"/>
                </a:ext>
              </a:extLst>
            </p:cNvPr>
            <p:cNvSpPr/>
            <p:nvPr/>
          </p:nvSpPr>
          <p:spPr bwMode="auto">
            <a:xfrm>
              <a:off x="10318987" y="5083825"/>
              <a:ext cx="1578804" cy="412693"/>
            </a:xfrm>
            <a:prstGeom prst="roundRect">
              <a:avLst>
                <a:gd name="adj" fmla="val 3129"/>
              </a:avLst>
            </a:prstGeom>
            <a:solidFill>
              <a:srgbClr val="DBEEF4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7B5535E-E7E4-88F4-2F0F-A524A2314F58}"/>
                </a:ext>
              </a:extLst>
            </p:cNvPr>
            <p:cNvSpPr txBox="1"/>
            <p:nvPr/>
          </p:nvSpPr>
          <p:spPr>
            <a:xfrm>
              <a:off x="10379552" y="5095714"/>
              <a:ext cx="1274990" cy="18442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en-US" altLang="ko-KR" sz="800"/>
                <a:t>3. </a:t>
              </a:r>
              <a:r>
                <a:rPr lang="ko-KR" altLang="en-US" sz="800"/>
                <a:t>규칙 후보발굴</a:t>
              </a:r>
              <a:r>
                <a:rPr lang="en-US" altLang="ko-KR" sz="800"/>
                <a:t> 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ADA6137A-7A13-57D2-AFA9-D7CA61482379}"/>
                </a:ext>
              </a:extLst>
            </p:cNvPr>
            <p:cNvSpPr txBox="1"/>
            <p:nvPr/>
          </p:nvSpPr>
          <p:spPr>
            <a:xfrm>
              <a:off x="10379555" y="5238115"/>
              <a:ext cx="1446227" cy="24468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범주형</a:t>
              </a:r>
              <a:r>
                <a:rPr lang="en-US" altLang="ko-KR" sz="700"/>
                <a:t>/</a:t>
              </a:r>
              <a:r>
                <a:rPr lang="ko-KR" altLang="en-US" sz="700"/>
                <a:t>연속형 규칙 도출</a:t>
              </a:r>
              <a:endParaRPr lang="en-US" altLang="ko-KR" sz="700"/>
            </a:p>
          </p:txBody>
        </p: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525F46D8-83E9-6A49-00C5-07CD0FD9F46D}"/>
              </a:ext>
            </a:extLst>
          </p:cNvPr>
          <p:cNvGrpSpPr/>
          <p:nvPr/>
        </p:nvGrpSpPr>
        <p:grpSpPr>
          <a:xfrm>
            <a:off x="3574980" y="4166225"/>
            <a:ext cx="1578804" cy="360000"/>
            <a:chOff x="10318987" y="5083825"/>
            <a:chExt cx="1578804" cy="412693"/>
          </a:xfrm>
        </p:grpSpPr>
        <p:sp>
          <p:nvSpPr>
            <p:cNvPr id="162" name="사각형: 둥근 모서리 161">
              <a:extLst>
                <a:ext uri="{FF2B5EF4-FFF2-40B4-BE49-F238E27FC236}">
                  <a16:creationId xmlns:a16="http://schemas.microsoft.com/office/drawing/2014/main" id="{3890B73C-AD3C-21E4-59D3-E75E335AAD0B}"/>
                </a:ext>
              </a:extLst>
            </p:cNvPr>
            <p:cNvSpPr/>
            <p:nvPr/>
          </p:nvSpPr>
          <p:spPr bwMode="auto">
            <a:xfrm>
              <a:off x="10318987" y="5083825"/>
              <a:ext cx="1578804" cy="412693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C32F38E3-30A2-DA33-A235-99F742D95F5E}"/>
                </a:ext>
              </a:extLst>
            </p:cNvPr>
            <p:cNvSpPr txBox="1"/>
            <p:nvPr/>
          </p:nvSpPr>
          <p:spPr>
            <a:xfrm>
              <a:off x="10379552" y="5095714"/>
              <a:ext cx="1274990" cy="18442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en-US" altLang="ko-KR" sz="800"/>
                <a:t>4. </a:t>
              </a:r>
              <a:r>
                <a:rPr lang="ko-KR" altLang="en-US" sz="800"/>
                <a:t>위반 데이터 확인</a:t>
              </a:r>
              <a:endParaRPr lang="en-US" altLang="ko-KR" sz="80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11565FB2-62AD-721B-5172-217ED874549C}"/>
                </a:ext>
              </a:extLst>
            </p:cNvPr>
            <p:cNvSpPr txBox="1"/>
            <p:nvPr/>
          </p:nvSpPr>
          <p:spPr>
            <a:xfrm>
              <a:off x="10379555" y="5238115"/>
              <a:ext cx="1446227" cy="24468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위반 에디터 및 근거 확인</a:t>
              </a:r>
              <a:endParaRPr lang="en-US" altLang="ko-KR" sz="700"/>
            </a:p>
          </p:txBody>
        </p:sp>
      </p:grpSp>
    </p:spTree>
    <p:extLst>
      <p:ext uri="{BB962C8B-B14F-4D97-AF65-F5344CB8AC3E}">
        <p14:creationId xmlns:p14="http://schemas.microsoft.com/office/powerpoint/2010/main" val="3448265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67FEBF9-3887-7421-CCFF-F1985A01121D}"/>
              </a:ext>
            </a:extLst>
          </p:cNvPr>
          <p:cNvSpPr/>
          <p:nvPr/>
        </p:nvSpPr>
        <p:spPr bwMode="auto">
          <a:xfrm>
            <a:off x="432273" y="5124911"/>
            <a:ext cx="8949191" cy="1328425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34D58D5A-60EB-8EE6-BD27-F4C28E14D827}"/>
              </a:ext>
            </a:extLst>
          </p:cNvPr>
          <p:cNvGrpSpPr/>
          <p:nvPr/>
        </p:nvGrpSpPr>
        <p:grpSpPr>
          <a:xfrm>
            <a:off x="560512" y="5647558"/>
            <a:ext cx="2669620" cy="659051"/>
            <a:chOff x="10318986" y="5083825"/>
            <a:chExt cx="2669620" cy="659051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07DCC9D1-86F9-EE4C-EC96-720F8C9C5238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2BDEEE05-229E-A89D-6AE0-A2721D0E1A3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담당자별 편차 감소</a:t>
              </a:r>
              <a:endParaRPr lang="en-US" altLang="ko-KR" sz="100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77D5B9C-8751-CF77-CF98-91CA2B23C753}"/>
                </a:ext>
              </a:extLst>
            </p:cNvPr>
            <p:cNvSpPr txBox="1"/>
            <p:nvPr/>
          </p:nvSpPr>
          <p:spPr>
            <a:xfrm>
              <a:off x="10379554" y="5367990"/>
              <a:ext cx="2529163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동일 케이스에 동일 근거 </a:t>
              </a:r>
              <a:r>
                <a:rPr lang="en-US" altLang="ko-KR" sz="800"/>
                <a:t>- </a:t>
              </a:r>
              <a:r>
                <a:rPr lang="ko-KR" altLang="en-US" sz="800"/>
                <a:t>재현성 확보</a:t>
              </a:r>
              <a:endParaRPr lang="en-US" altLang="ko-KR" sz="800"/>
            </a:p>
          </p:txBody>
        </p:sp>
      </p:grp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01124" y="620688"/>
            <a:ext cx="8742756" cy="3683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ts val="2000"/>
              </a:lnSpc>
            </a:pP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자동 대체</a:t>
            </a:r>
            <a:r>
              <a:rPr lang="en-US" altLang="ko-KR" sz="2000">
                <a:solidFill>
                  <a:prstClr val="black"/>
                </a:solidFill>
                <a:latin typeface="+mn-ea"/>
                <a:ea typeface="+mn-ea"/>
              </a:rPr>
              <a:t>(Imputation) </a:t>
            </a: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추천</a:t>
            </a:r>
            <a:endParaRPr lang="ko-KR" altLang="en-US" sz="20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7FE19520-BCCC-C5BB-C8AF-0BBE1A9754D3}"/>
              </a:ext>
            </a:extLst>
          </p:cNvPr>
          <p:cNvGrpSpPr/>
          <p:nvPr/>
        </p:nvGrpSpPr>
        <p:grpSpPr>
          <a:xfrm>
            <a:off x="445071" y="1124744"/>
            <a:ext cx="9188449" cy="338554"/>
            <a:chOff x="445071" y="1124744"/>
            <a:chExt cx="9188449" cy="338554"/>
          </a:xfrm>
        </p:grpSpPr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119C4970-B753-3519-BE02-B254D5097F8E}"/>
                </a:ext>
              </a:extLst>
            </p:cNvPr>
            <p:cNvSpPr/>
            <p:nvPr/>
          </p:nvSpPr>
          <p:spPr>
            <a:xfrm>
              <a:off x="697071" y="1124744"/>
              <a:ext cx="89364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결측 ∙ 이상치에 대해 대체 후보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(1~N)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와 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"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근거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"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를 함께 제시</a:t>
              </a:r>
              <a:endParaRPr lang="ko-KR" altLang="en-US" sz="2000" dirty="0">
                <a:solidFill>
                  <a:srgbClr val="1692D3"/>
                </a:solidFill>
                <a:latin typeface="+mn-ea"/>
                <a:ea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4F6FA582-6393-C7E6-79D9-89A65B0FFA0A}"/>
                </a:ext>
              </a:extLst>
            </p:cNvPr>
            <p:cNvSpPr/>
            <p:nvPr/>
          </p:nvSpPr>
          <p:spPr bwMode="auto">
            <a:xfrm>
              <a:off x="445071" y="1173892"/>
              <a:ext cx="252000" cy="248283"/>
            </a:xfrm>
            <a:prstGeom prst="roundRect">
              <a:avLst/>
            </a:prstGeom>
            <a:solidFill>
              <a:srgbClr val="2E6CB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79488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▶</a:t>
              </a:r>
              <a:endParaRPr kumimoji="1" lang="ko-KR" altLang="en-US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73D774F-EFAC-210C-B306-6E3F311AB320}"/>
              </a:ext>
            </a:extLst>
          </p:cNvPr>
          <p:cNvSpPr/>
          <p:nvPr/>
        </p:nvSpPr>
        <p:spPr bwMode="auto">
          <a:xfrm>
            <a:off x="369076" y="610037"/>
            <a:ext cx="432048" cy="389040"/>
          </a:xfrm>
          <a:prstGeom prst="roundRect">
            <a:avLst>
              <a:gd name="adj" fmla="val 10117"/>
            </a:avLst>
          </a:prstGeom>
          <a:solidFill>
            <a:schemeClr val="tx2"/>
          </a:solidFill>
          <a:ln w="12700">
            <a:noFill/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en-US" altLang="ko-KR" b="1">
                <a:solidFill>
                  <a:schemeClr val="bg1"/>
                </a:solidFill>
                <a:latin typeface="+mn-ea"/>
                <a:ea typeface="+mn-ea"/>
              </a:rPr>
              <a:t>06</a:t>
            </a:r>
            <a:endParaRPr lang="ko-KR" altLang="en-US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4435F-8C6C-57FB-229E-98B2289EAFC9}"/>
              </a:ext>
            </a:extLst>
          </p:cNvPr>
          <p:cNvSpPr txBox="1"/>
          <p:nvPr/>
        </p:nvSpPr>
        <p:spPr>
          <a:xfrm>
            <a:off x="776536" y="1484784"/>
            <a:ext cx="8694494" cy="31398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200" b="0" spc="-100">
                <a:latin typeface="+mn-ea"/>
                <a:ea typeface="+mn-ea"/>
              </a:rPr>
              <a:t>단순 자동입력이 아니라 </a:t>
            </a:r>
            <a:r>
              <a:rPr lang="ko-KR" altLang="en-US" sz="1200" spc="-100">
                <a:latin typeface="+mn-ea"/>
                <a:ea typeface="+mn-ea"/>
              </a:rPr>
              <a:t>유사군 </a:t>
            </a:r>
            <a:r>
              <a:rPr lang="en-US" altLang="ko-KR" sz="1200" spc="-100">
                <a:latin typeface="+mn-ea"/>
                <a:ea typeface="+mn-ea"/>
              </a:rPr>
              <a:t>/ </a:t>
            </a:r>
            <a:r>
              <a:rPr lang="ko-KR" altLang="en-US" sz="1200" spc="-100">
                <a:latin typeface="+mn-ea"/>
                <a:ea typeface="+mn-ea"/>
              </a:rPr>
              <a:t>과거 시계열 </a:t>
            </a:r>
            <a:r>
              <a:rPr lang="en-US" altLang="ko-KR" sz="1200" spc="-100">
                <a:latin typeface="+mn-ea"/>
                <a:ea typeface="+mn-ea"/>
              </a:rPr>
              <a:t>/ </a:t>
            </a:r>
            <a:r>
              <a:rPr lang="ko-KR" altLang="en-US" sz="1200" spc="-100">
                <a:latin typeface="+mn-ea"/>
                <a:ea typeface="+mn-ea"/>
              </a:rPr>
              <a:t>제약조건 충족</a:t>
            </a:r>
            <a:r>
              <a:rPr lang="ko-KR" altLang="en-US" sz="1200" b="0" spc="-100">
                <a:latin typeface="+mn-ea"/>
                <a:ea typeface="+mn-ea"/>
              </a:rPr>
              <a:t> 근거를 함께 제공 </a:t>
            </a:r>
            <a:r>
              <a:rPr lang="en-US" altLang="ko-KR" sz="1200" b="0" spc="-100">
                <a:latin typeface="+mn-ea"/>
                <a:ea typeface="+mn-ea"/>
              </a:rPr>
              <a:t>- </a:t>
            </a:r>
            <a:r>
              <a:rPr lang="ko-KR" altLang="en-US" sz="1200" spc="-100">
                <a:latin typeface="+mn-ea"/>
                <a:ea typeface="+mn-ea"/>
              </a:rPr>
              <a:t>일관성</a:t>
            </a:r>
            <a:r>
              <a:rPr lang="ko-KR" altLang="en-US" sz="1200" b="0" spc="-100">
                <a:latin typeface="+mn-ea"/>
                <a:ea typeface="+mn-ea"/>
              </a:rPr>
              <a:t>과 </a:t>
            </a:r>
            <a:r>
              <a:rPr lang="ko-KR" altLang="en-US" sz="1200" spc="-100">
                <a:latin typeface="+mn-ea"/>
                <a:ea typeface="+mn-ea"/>
              </a:rPr>
              <a:t>설명가능성</a:t>
            </a:r>
            <a:r>
              <a:rPr lang="ko-KR" altLang="en-US" sz="1200" b="0" spc="-100">
                <a:latin typeface="+mn-ea"/>
                <a:ea typeface="+mn-ea"/>
              </a:rPr>
              <a:t>을 강화합니다</a:t>
            </a:r>
            <a:r>
              <a:rPr lang="en-US" altLang="ko-KR" sz="1200" b="0" spc="-100">
                <a:latin typeface="+mn-ea"/>
                <a:ea typeface="+mn-ea"/>
              </a:rPr>
              <a:t>.</a:t>
            </a:r>
            <a:endParaRPr lang="en-US" altLang="ko-KR" sz="1200" b="0" spc="-100" dirty="0">
              <a:latin typeface="+mn-ea"/>
              <a:ea typeface="+mn-ea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87F6383-3B90-5D8A-5E8A-72AAF3747502}"/>
              </a:ext>
            </a:extLst>
          </p:cNvPr>
          <p:cNvSpPr/>
          <p:nvPr/>
        </p:nvSpPr>
        <p:spPr bwMode="auto">
          <a:xfrm>
            <a:off x="432274" y="2333640"/>
            <a:ext cx="4232694" cy="2337436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B239B-9B77-986C-7183-04687505D49E}"/>
              </a:ext>
            </a:extLst>
          </p:cNvPr>
          <p:cNvSpPr txBox="1"/>
          <p:nvPr/>
        </p:nvSpPr>
        <p:spPr>
          <a:xfrm>
            <a:off x="848544" y="2360024"/>
            <a:ext cx="1883904" cy="213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40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r>
              <a:rPr lang="ko-KR" altLang="en-US" sz="700" b="0"/>
              <a:t>대체 후보와 함께 제공되는 근거 </a:t>
            </a:r>
            <a:r>
              <a:rPr lang="en-US" altLang="ko-KR" sz="700" b="0"/>
              <a:t>- 3</a:t>
            </a:r>
            <a:r>
              <a:rPr lang="ko-KR" altLang="en-US" sz="700" b="0"/>
              <a:t>요소</a:t>
            </a:r>
            <a:endParaRPr lang="en-US" altLang="ko-KR" sz="700" b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1CFEA-BCCF-9E4C-2F12-C12991EC1DD8}"/>
              </a:ext>
            </a:extLst>
          </p:cNvPr>
          <p:cNvSpPr txBox="1"/>
          <p:nvPr/>
        </p:nvSpPr>
        <p:spPr>
          <a:xfrm>
            <a:off x="848544" y="2529536"/>
            <a:ext cx="2205572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000"/>
              <a:t>유사군 ∙ 시계열 ∙ 제약</a:t>
            </a:r>
            <a:endParaRPr lang="en-US" altLang="ko-KR" sz="10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3BB79F7-A2F7-C727-E2D9-664BF2454BB4}"/>
              </a:ext>
            </a:extLst>
          </p:cNvPr>
          <p:cNvGrpSpPr/>
          <p:nvPr/>
        </p:nvGrpSpPr>
        <p:grpSpPr>
          <a:xfrm>
            <a:off x="560512" y="2856287"/>
            <a:ext cx="3965768" cy="503265"/>
            <a:chOff x="10318986" y="5083825"/>
            <a:chExt cx="3965768" cy="50326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A08A3682-EA07-DCFA-F4E5-E48B5A719531}"/>
                </a:ext>
              </a:extLst>
            </p:cNvPr>
            <p:cNvSpPr/>
            <p:nvPr/>
          </p:nvSpPr>
          <p:spPr bwMode="auto">
            <a:xfrm>
              <a:off x="10318986" y="5083825"/>
              <a:ext cx="3965768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6042E4-2E39-1A03-26B0-F33B3221242D}"/>
                </a:ext>
              </a:extLst>
            </p:cNvPr>
            <p:cNvSpPr txBox="1"/>
            <p:nvPr/>
          </p:nvSpPr>
          <p:spPr>
            <a:xfrm>
              <a:off x="10379552" y="5123439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유사 응답자 그룹</a:t>
              </a:r>
              <a:endParaRPr lang="en-US" altLang="ko-KR" sz="8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4848DF-A6A5-D1AF-840B-A6BAA617B3FB}"/>
                </a:ext>
              </a:extLst>
            </p:cNvPr>
            <p:cNvSpPr txBox="1"/>
            <p:nvPr/>
          </p:nvSpPr>
          <p:spPr>
            <a:xfrm>
              <a:off x="10379555" y="5290300"/>
              <a:ext cx="3848278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연령∙지역∙산업∙소득 등 유사 케이스의 중앙값 </a:t>
              </a:r>
              <a:r>
                <a:rPr lang="en-US" altLang="ko-KR" sz="700"/>
                <a:t>/ </a:t>
              </a:r>
              <a:r>
                <a:rPr lang="ko-KR" altLang="en-US" sz="700"/>
                <a:t>가중 평균을 근거로 제시</a:t>
              </a:r>
              <a:endParaRPr lang="en-US" altLang="ko-KR" sz="700"/>
            </a:p>
          </p:txBody>
        </p:sp>
      </p:grp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3E3B9804-C593-80DA-55CE-D2E0E402ADB8}"/>
              </a:ext>
            </a:extLst>
          </p:cNvPr>
          <p:cNvSpPr/>
          <p:nvPr/>
        </p:nvSpPr>
        <p:spPr bwMode="auto">
          <a:xfrm>
            <a:off x="524536" y="2441680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FEB178D-F49A-554D-41C0-D72EE1A1EC62}"/>
              </a:ext>
            </a:extLst>
          </p:cNvPr>
          <p:cNvSpPr txBox="1"/>
          <p:nvPr/>
        </p:nvSpPr>
        <p:spPr>
          <a:xfrm>
            <a:off x="403796" y="1932744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대체 후보와 함께 제공되는 근거 </a:t>
            </a:r>
            <a:r>
              <a:rPr lang="en-US" altLang="ko-KR">
                <a:latin typeface="+mn-ea"/>
                <a:ea typeface="+mn-ea"/>
              </a:rPr>
              <a:t>/ </a:t>
            </a:r>
            <a:r>
              <a:rPr lang="ko-KR" altLang="en-US">
                <a:latin typeface="+mn-ea"/>
                <a:ea typeface="+mn-ea"/>
              </a:rPr>
              <a:t>추천 </a:t>
            </a:r>
            <a:r>
              <a:rPr lang="en-US" altLang="ko-KR">
                <a:latin typeface="+mn-ea"/>
                <a:ea typeface="+mn-ea"/>
              </a:rPr>
              <a:t>UI </a:t>
            </a:r>
            <a:r>
              <a:rPr lang="ko-KR" altLang="en-US">
                <a:latin typeface="+mn-ea"/>
                <a:ea typeface="+mn-ea"/>
              </a:rPr>
              <a:t>예시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8A70F04-3FF6-C34C-1873-D67615872948}"/>
              </a:ext>
            </a:extLst>
          </p:cNvPr>
          <p:cNvSpPr txBox="1"/>
          <p:nvPr/>
        </p:nvSpPr>
        <p:spPr>
          <a:xfrm>
            <a:off x="403796" y="4763916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기대 효과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4F3F328-7489-78AF-84FC-8175DE0A4AE1}"/>
              </a:ext>
            </a:extLst>
          </p:cNvPr>
          <p:cNvSpPr txBox="1"/>
          <p:nvPr/>
        </p:nvSpPr>
        <p:spPr>
          <a:xfrm>
            <a:off x="848544" y="5250998"/>
            <a:ext cx="2301698" cy="2419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100"/>
              <a:t>대체값 일관성 ∙ 투명성</a:t>
            </a:r>
            <a:endParaRPr lang="en-US" altLang="ko-KR" sz="1100"/>
          </a:p>
        </p:txBody>
      </p:sp>
      <p:sp>
        <p:nvSpPr>
          <p:cNvPr id="181" name="순서도: 연결자 180">
            <a:extLst>
              <a:ext uri="{FF2B5EF4-FFF2-40B4-BE49-F238E27FC236}">
                <a16:creationId xmlns:a16="http://schemas.microsoft.com/office/drawing/2014/main" id="{3100B06F-B4DB-198F-534C-36A712710641}"/>
              </a:ext>
            </a:extLst>
          </p:cNvPr>
          <p:cNvSpPr/>
          <p:nvPr/>
        </p:nvSpPr>
        <p:spPr bwMode="auto">
          <a:xfrm>
            <a:off x="524536" y="5232951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08B00959-4701-F754-1201-A779B1FB430B}"/>
              </a:ext>
            </a:extLst>
          </p:cNvPr>
          <p:cNvGrpSpPr/>
          <p:nvPr/>
        </p:nvGrpSpPr>
        <p:grpSpPr>
          <a:xfrm>
            <a:off x="3501882" y="5647558"/>
            <a:ext cx="2669620" cy="659051"/>
            <a:chOff x="10318986" y="5083825"/>
            <a:chExt cx="2669620" cy="659051"/>
          </a:xfrm>
        </p:grpSpPr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BD05C4D7-F1F3-DCEA-4944-3E1DA4E76105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5ACAB24A-0A90-488B-1C0C-DC70BE43D2B1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감사 대응력 ↑</a:t>
              </a:r>
              <a:endParaRPr lang="en-US" altLang="ko-KR" sz="1000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E5C2B7A8-76EB-0867-8E15-9EC868F15C8A}"/>
                </a:ext>
              </a:extLst>
            </p:cNvPr>
            <p:cNvSpPr txBox="1"/>
            <p:nvPr/>
          </p:nvSpPr>
          <p:spPr>
            <a:xfrm>
              <a:off x="10379554" y="5367990"/>
              <a:ext cx="2529163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대체 사유 ∙ 근거 로그를 표 셀까지 역추적</a:t>
              </a:r>
              <a:endParaRPr lang="en-US" altLang="ko-KR" sz="800"/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7B18055D-FD2E-6783-1E65-2D09BDBA669D}"/>
              </a:ext>
            </a:extLst>
          </p:cNvPr>
          <p:cNvGrpSpPr/>
          <p:nvPr/>
        </p:nvGrpSpPr>
        <p:grpSpPr>
          <a:xfrm>
            <a:off x="6536553" y="5647558"/>
            <a:ext cx="2669620" cy="659051"/>
            <a:chOff x="10318986" y="5083825"/>
            <a:chExt cx="2669620" cy="659051"/>
          </a:xfrm>
        </p:grpSpPr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57AE59B2-5C2A-B895-7D6E-6A5B42A916D4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80BE796F-CB95-928A-2933-BCFBAF46A1C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병목 매핑</a:t>
              </a:r>
              <a:endParaRPr lang="en-US" altLang="ko-KR" sz="800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1B7A4C44-D6D7-5AD0-EC0E-7C57EC826304}"/>
                </a:ext>
              </a:extLst>
            </p:cNvPr>
            <p:cNvSpPr txBox="1"/>
            <p:nvPr/>
          </p:nvSpPr>
          <p:spPr>
            <a:xfrm>
              <a:off x="10379554" y="5328400"/>
              <a:ext cx="2529163" cy="37503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처리 </a:t>
              </a:r>
              <a:r>
                <a:rPr lang="en-US" altLang="ko-KR" sz="700"/>
                <a:t>( KSBPM ⑤ ) - </a:t>
              </a:r>
              <a:r>
                <a:rPr lang="ko-KR" altLang="en-US" sz="700"/>
                <a:t>결측</a:t>
              </a:r>
              <a:r>
                <a:rPr lang="en-US" altLang="ko-KR" sz="700"/>
                <a:t>/</a:t>
              </a:r>
              <a:r>
                <a:rPr lang="ko-KR" altLang="en-US" sz="700"/>
                <a:t>이상치 대체의 수기 반복을 근거 기반 자동 추천으로 전환</a:t>
              </a:r>
              <a:endParaRPr lang="en-US" altLang="ko-KR" sz="700"/>
            </a:p>
          </p:txBody>
        </p:sp>
      </p:grpSp>
      <p:sp>
        <p:nvSpPr>
          <p:cNvPr id="278" name="사각형: 둥근 모서리 277">
            <a:extLst>
              <a:ext uri="{FF2B5EF4-FFF2-40B4-BE49-F238E27FC236}">
                <a16:creationId xmlns:a16="http://schemas.microsoft.com/office/drawing/2014/main" id="{2AD9AD6D-A2E8-DF5F-60B1-2574633FD195}"/>
              </a:ext>
            </a:extLst>
          </p:cNvPr>
          <p:cNvSpPr/>
          <p:nvPr/>
        </p:nvSpPr>
        <p:spPr bwMode="auto">
          <a:xfrm>
            <a:off x="4819062" y="2333640"/>
            <a:ext cx="4562402" cy="2337436"/>
          </a:xfrm>
          <a:prstGeom prst="roundRect">
            <a:avLst>
              <a:gd name="adj" fmla="val 3923"/>
            </a:avLst>
          </a:prstGeom>
          <a:solidFill>
            <a:schemeClr val="tx2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9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FD559E8B-B039-DD50-5C5E-CD6C2B788A5E}"/>
              </a:ext>
            </a:extLst>
          </p:cNvPr>
          <p:cNvSpPr txBox="1"/>
          <p:nvPr/>
        </p:nvSpPr>
        <p:spPr>
          <a:xfrm>
            <a:off x="5006104" y="2388091"/>
            <a:ext cx="2180762" cy="23358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800" b="0">
                <a:solidFill>
                  <a:schemeClr val="bg1"/>
                </a:solidFill>
                <a:latin typeface="+mn-ea"/>
                <a:ea typeface="+mn-ea"/>
              </a:rPr>
              <a:t>추천 </a:t>
            </a:r>
            <a:r>
              <a:rPr lang="en-US" altLang="ko-KR" sz="800" b="0">
                <a:solidFill>
                  <a:schemeClr val="bg1"/>
                </a:solidFill>
                <a:latin typeface="+mn-ea"/>
                <a:ea typeface="+mn-ea"/>
              </a:rPr>
              <a:t>UI </a:t>
            </a:r>
            <a:r>
              <a:rPr lang="ko-KR" altLang="en-US" sz="800" b="0">
                <a:solidFill>
                  <a:schemeClr val="bg1"/>
                </a:solidFill>
                <a:latin typeface="+mn-ea"/>
                <a:ea typeface="+mn-ea"/>
              </a:rPr>
              <a:t>예시 </a:t>
            </a:r>
            <a:r>
              <a:rPr lang="en-US" altLang="ko-KR" sz="800" b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800" b="0">
                <a:solidFill>
                  <a:schemeClr val="bg1"/>
                </a:solidFill>
                <a:latin typeface="+mn-ea"/>
                <a:ea typeface="+mn-ea"/>
              </a:rPr>
              <a:t>결측 셀 클릭 시</a:t>
            </a:r>
            <a:endParaRPr lang="en-US" altLang="ko-KR" sz="8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80" name="사각형: 둥근 모서리 279">
            <a:extLst>
              <a:ext uri="{FF2B5EF4-FFF2-40B4-BE49-F238E27FC236}">
                <a16:creationId xmlns:a16="http://schemas.microsoft.com/office/drawing/2014/main" id="{0B60934F-9806-3A98-DD73-CE9C65027B03}"/>
              </a:ext>
            </a:extLst>
          </p:cNvPr>
          <p:cNvSpPr/>
          <p:nvPr/>
        </p:nvSpPr>
        <p:spPr bwMode="auto">
          <a:xfrm>
            <a:off x="5006104" y="2595910"/>
            <a:ext cx="4267376" cy="197294"/>
          </a:xfrm>
          <a:prstGeom prst="roundRect">
            <a:avLst>
              <a:gd name="adj" fmla="val 5741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defTabSz="979488" rtl="0" eaLnBrk="1" fontAlgn="base" latinLnBrk="1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Top</a:t>
            </a:r>
            <a:r>
              <a:rPr lang="en-US" altLang="ko-KR" sz="1100" b="1">
                <a:solidFill>
                  <a:schemeClr val="bg1"/>
                </a:solidFill>
                <a:latin typeface="+mn-ea"/>
                <a:ea typeface="+mn-ea"/>
              </a:rPr>
              <a:t>-3 </a:t>
            </a:r>
            <a:r>
              <a:rPr lang="ko-KR" altLang="en-US" sz="1100" b="1">
                <a:solidFill>
                  <a:schemeClr val="bg1"/>
                </a:solidFill>
                <a:latin typeface="+mn-ea"/>
                <a:ea typeface="+mn-ea"/>
              </a:rPr>
              <a:t>후보 </a:t>
            </a:r>
            <a:r>
              <a:rPr lang="en-US" altLang="ko-KR" sz="1100" b="1">
                <a:solidFill>
                  <a:schemeClr val="bg1"/>
                </a:solidFill>
                <a:latin typeface="+mn-ea"/>
                <a:ea typeface="+mn-ea"/>
              </a:rPr>
              <a:t>+ </a:t>
            </a:r>
            <a:r>
              <a:rPr lang="ko-KR" altLang="en-US" sz="1100" b="1">
                <a:solidFill>
                  <a:schemeClr val="bg1"/>
                </a:solidFill>
                <a:latin typeface="+mn-ea"/>
                <a:ea typeface="+mn-ea"/>
              </a:rPr>
              <a:t>신뢰도 </a:t>
            </a:r>
            <a:r>
              <a:rPr lang="en-US" altLang="ko-KR" sz="1100" b="1">
                <a:solidFill>
                  <a:schemeClr val="bg1"/>
                </a:solidFill>
                <a:latin typeface="+mn-ea"/>
                <a:ea typeface="+mn-ea"/>
              </a:rPr>
              <a:t>+ </a:t>
            </a:r>
            <a:r>
              <a:rPr lang="ko-KR" altLang="en-US" sz="1100" b="1">
                <a:solidFill>
                  <a:schemeClr val="bg1"/>
                </a:solidFill>
                <a:latin typeface="+mn-ea"/>
                <a:ea typeface="+mn-ea"/>
              </a:rPr>
              <a:t>근거</a:t>
            </a:r>
            <a:endParaRPr kumimoji="1" lang="ko-KR" altLang="en-US" sz="11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C3C707B-61EC-5010-0E8D-0B4E5F1DB2A0}"/>
              </a:ext>
            </a:extLst>
          </p:cNvPr>
          <p:cNvGrpSpPr/>
          <p:nvPr/>
        </p:nvGrpSpPr>
        <p:grpSpPr>
          <a:xfrm>
            <a:off x="560512" y="3437144"/>
            <a:ext cx="3965768" cy="503265"/>
            <a:chOff x="10318986" y="5083825"/>
            <a:chExt cx="3965768" cy="503265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47F79856-2A13-769E-A6C1-8BF7768B809F}"/>
                </a:ext>
              </a:extLst>
            </p:cNvPr>
            <p:cNvSpPr/>
            <p:nvPr/>
          </p:nvSpPr>
          <p:spPr bwMode="auto">
            <a:xfrm>
              <a:off x="10318986" y="5083825"/>
              <a:ext cx="3965768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22CA4F-4B4E-CAEE-EC40-5EC494B21C14}"/>
                </a:ext>
              </a:extLst>
            </p:cNvPr>
            <p:cNvSpPr txBox="1"/>
            <p:nvPr/>
          </p:nvSpPr>
          <p:spPr>
            <a:xfrm>
              <a:off x="10379552" y="5123439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과거 시계열 추세</a:t>
              </a:r>
              <a:endParaRPr lang="en-US" altLang="ko-KR" sz="8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623166-81A0-9A4E-F4D0-F2F7DCF9F660}"/>
                </a:ext>
              </a:extLst>
            </p:cNvPr>
            <p:cNvSpPr txBox="1"/>
            <p:nvPr/>
          </p:nvSpPr>
          <p:spPr>
            <a:xfrm>
              <a:off x="10379555" y="5290300"/>
              <a:ext cx="3848278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동일 응답자 </a:t>
              </a:r>
              <a:r>
                <a:rPr lang="en-US" altLang="ko-KR" sz="700"/>
                <a:t>/ </a:t>
              </a:r>
              <a:r>
                <a:rPr lang="ko-KR" altLang="en-US" sz="700"/>
                <a:t>사업체의 과거 응답값에 기반한 외샵 </a:t>
              </a:r>
              <a:r>
                <a:rPr lang="en-US" altLang="ko-KR" sz="700"/>
                <a:t>/ </a:t>
              </a:r>
              <a:r>
                <a:rPr lang="ko-KR" altLang="en-US" sz="700"/>
                <a:t>계절성 보정</a:t>
              </a:r>
              <a:endParaRPr lang="en-US" altLang="ko-KR" sz="70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4248241-2E9A-4695-DCA9-5A413A48A0CD}"/>
              </a:ext>
            </a:extLst>
          </p:cNvPr>
          <p:cNvGrpSpPr/>
          <p:nvPr/>
        </p:nvGrpSpPr>
        <p:grpSpPr>
          <a:xfrm>
            <a:off x="560512" y="4031214"/>
            <a:ext cx="3965768" cy="503265"/>
            <a:chOff x="10318986" y="5083825"/>
            <a:chExt cx="3965768" cy="503265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BA0089D4-DD44-548E-63A7-8EF96DFCFFFC}"/>
                </a:ext>
              </a:extLst>
            </p:cNvPr>
            <p:cNvSpPr/>
            <p:nvPr/>
          </p:nvSpPr>
          <p:spPr bwMode="auto">
            <a:xfrm>
              <a:off x="10318986" y="5083825"/>
              <a:ext cx="3965768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08064E0-7F61-B19F-E921-D14BB6DC2F14}"/>
                </a:ext>
              </a:extLst>
            </p:cNvPr>
            <p:cNvSpPr txBox="1"/>
            <p:nvPr/>
          </p:nvSpPr>
          <p:spPr>
            <a:xfrm>
              <a:off x="10379552" y="5123439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제약조건 충족 검증</a:t>
              </a:r>
              <a:endParaRPr lang="en-US" altLang="ko-KR" sz="8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F5FC860-C3FC-7EDD-5950-A1AAD17426F9}"/>
                </a:ext>
              </a:extLst>
            </p:cNvPr>
            <p:cNvSpPr txBox="1"/>
            <p:nvPr/>
          </p:nvSpPr>
          <p:spPr>
            <a:xfrm>
              <a:off x="10379555" y="5290300"/>
              <a:ext cx="3848278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합계</a:t>
              </a:r>
              <a:r>
                <a:rPr lang="en-US" altLang="ko-KR" sz="700"/>
                <a:t>=</a:t>
              </a:r>
              <a:r>
                <a:rPr lang="ko-KR" altLang="en-US" sz="700"/>
                <a:t>부분합 ∙ 단위 ∙ 범위 룰을 모두 통과하는 후보만 추천</a:t>
              </a:r>
              <a:endParaRPr lang="en-US" altLang="ko-KR" sz="70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02DF6D5-0BC3-9B0C-CF3C-985507351B1F}"/>
              </a:ext>
            </a:extLst>
          </p:cNvPr>
          <p:cNvGrpSpPr/>
          <p:nvPr/>
        </p:nvGrpSpPr>
        <p:grpSpPr>
          <a:xfrm>
            <a:off x="5010235" y="2876896"/>
            <a:ext cx="4196421" cy="624903"/>
            <a:chOff x="5010235" y="2876896"/>
            <a:chExt cx="4196421" cy="624903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D7756862-08B8-979D-DD6B-FE97A5055ACB}"/>
                </a:ext>
              </a:extLst>
            </p:cNvPr>
            <p:cNvGrpSpPr/>
            <p:nvPr/>
          </p:nvGrpSpPr>
          <p:grpSpPr>
            <a:xfrm>
              <a:off x="5010235" y="2876896"/>
              <a:ext cx="4196421" cy="624903"/>
              <a:chOff x="2264535" y="4581128"/>
              <a:chExt cx="2592288" cy="624903"/>
            </a:xfrm>
          </p:grpSpPr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44523D39-D27C-D916-5C62-6F3E5693646A}"/>
                  </a:ext>
                </a:extLst>
              </p:cNvPr>
              <p:cNvSpPr/>
              <p:nvPr/>
            </p:nvSpPr>
            <p:spPr bwMode="auto">
              <a:xfrm>
                <a:off x="2264535" y="4600653"/>
                <a:ext cx="2592288" cy="605378"/>
              </a:xfrm>
              <a:prstGeom prst="roundRect">
                <a:avLst>
                  <a:gd name="adj" fmla="val 10117"/>
                </a:avLst>
              </a:prstGeom>
              <a:solidFill>
                <a:schemeClr val="bg1"/>
              </a:solidFill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9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06ED61A-54D8-0D4C-7E06-BB52E32595DE}"/>
                  </a:ext>
                </a:extLst>
              </p:cNvPr>
              <p:cNvSpPr txBox="1"/>
              <p:nvPr/>
            </p:nvSpPr>
            <p:spPr>
              <a:xfrm>
                <a:off x="2288704" y="4581128"/>
                <a:ext cx="1487999" cy="23358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Wingdings" panose="05000000000000000000" pitchFamily="2" charset="2"/>
                  <a:buChar char="§"/>
                  <a:defRPr sz="1100" b="1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800" b="0">
                    <a:solidFill>
                      <a:schemeClr val="tx2"/>
                    </a:solidFill>
                    <a:latin typeface="+mn-ea"/>
                    <a:ea typeface="+mn-ea"/>
                  </a:rPr>
                  <a:t>후보①</a:t>
                </a:r>
                <a:endParaRPr lang="en-US" altLang="ko-KR" sz="800" b="0" dirty="0">
                  <a:solidFill>
                    <a:schemeClr val="tx2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34B188E4-1635-54DC-DB23-1D6528AC2F90}"/>
                  </a:ext>
                </a:extLst>
              </p:cNvPr>
              <p:cNvSpPr/>
              <p:nvPr/>
            </p:nvSpPr>
            <p:spPr bwMode="auto">
              <a:xfrm>
                <a:off x="2313839" y="4780812"/>
                <a:ext cx="2326959" cy="197294"/>
              </a:xfrm>
              <a:prstGeom prst="roundRect">
                <a:avLst>
                  <a:gd name="adj" fmla="val 5741"/>
                </a:avLst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defTabSz="979488" rtl="0" eaLnBrk="1" fontAlgn="base" latinLnBrk="1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ko-KR" sz="10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3,480,000</a:t>
                </a:r>
                <a:r>
                  <a:rPr kumimoji="1" lang="ko-KR" altLang="en-US" sz="10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원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E192665-845F-0A69-24E5-1CFBF11636A3}"/>
                </a:ext>
              </a:extLst>
            </p:cNvPr>
            <p:cNvSpPr txBox="1"/>
            <p:nvPr/>
          </p:nvSpPr>
          <p:spPr>
            <a:xfrm>
              <a:off x="5049359" y="3274042"/>
              <a:ext cx="4076923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en-US" altLang="ko-KR" sz="700"/>
                <a:t>♣ </a:t>
              </a:r>
              <a:r>
                <a:rPr lang="ko-KR" altLang="en-US" sz="700"/>
                <a:t>유사군 </a:t>
              </a:r>
              <a:r>
                <a:rPr lang="en-US" altLang="ko-KR" sz="700"/>
                <a:t>(N=412) </a:t>
              </a:r>
              <a:r>
                <a:rPr lang="ko-KR" altLang="en-US" sz="700"/>
                <a:t>중앙값</a:t>
              </a:r>
              <a:endParaRPr lang="en-US" altLang="ko-KR" sz="700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7AA017A-3769-E23F-8577-1E8630966DAA}"/>
              </a:ext>
            </a:extLst>
          </p:cNvPr>
          <p:cNvGrpSpPr/>
          <p:nvPr/>
        </p:nvGrpSpPr>
        <p:grpSpPr>
          <a:xfrm>
            <a:off x="5010235" y="3596185"/>
            <a:ext cx="4196421" cy="624903"/>
            <a:chOff x="5010235" y="2876896"/>
            <a:chExt cx="4196421" cy="624903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B47A819-8501-D6B4-B839-B71FBAA630F8}"/>
                </a:ext>
              </a:extLst>
            </p:cNvPr>
            <p:cNvGrpSpPr/>
            <p:nvPr/>
          </p:nvGrpSpPr>
          <p:grpSpPr>
            <a:xfrm>
              <a:off x="5010235" y="2876896"/>
              <a:ext cx="4196421" cy="624903"/>
              <a:chOff x="2264535" y="4581128"/>
              <a:chExt cx="2592288" cy="624903"/>
            </a:xfrm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56CFD9BB-D910-789B-1D9C-1DC3BD0F2721}"/>
                  </a:ext>
                </a:extLst>
              </p:cNvPr>
              <p:cNvSpPr/>
              <p:nvPr/>
            </p:nvSpPr>
            <p:spPr bwMode="auto">
              <a:xfrm>
                <a:off x="2264535" y="4600653"/>
                <a:ext cx="2592288" cy="605378"/>
              </a:xfrm>
              <a:prstGeom prst="roundRect">
                <a:avLst>
                  <a:gd name="adj" fmla="val 10117"/>
                </a:avLst>
              </a:prstGeom>
              <a:solidFill>
                <a:schemeClr val="bg1"/>
              </a:solidFill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endParaRPr lang="ko-KR" altLang="en-US" sz="9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105AE6A-54DF-A7FB-EB94-CBD083BC8639}"/>
                  </a:ext>
                </a:extLst>
              </p:cNvPr>
              <p:cNvSpPr txBox="1"/>
              <p:nvPr/>
            </p:nvSpPr>
            <p:spPr>
              <a:xfrm>
                <a:off x="2288704" y="4581128"/>
                <a:ext cx="1487999" cy="23358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Wingdings" panose="05000000000000000000" pitchFamily="2" charset="2"/>
                  <a:buChar char="§"/>
                  <a:defRPr sz="1100" b="1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800" b="0">
                    <a:solidFill>
                      <a:schemeClr val="tx2"/>
                    </a:solidFill>
                    <a:latin typeface="+mn-ea"/>
                    <a:ea typeface="+mn-ea"/>
                  </a:rPr>
                  <a:t>후보②</a:t>
                </a:r>
                <a:endParaRPr lang="en-US" altLang="ko-KR" sz="800" b="0" dirty="0">
                  <a:solidFill>
                    <a:schemeClr val="tx2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EB92332A-9038-9EFE-CBBE-D90D677A9104}"/>
                  </a:ext>
                </a:extLst>
              </p:cNvPr>
              <p:cNvSpPr/>
              <p:nvPr/>
            </p:nvSpPr>
            <p:spPr bwMode="auto">
              <a:xfrm>
                <a:off x="2313839" y="4780812"/>
                <a:ext cx="2326959" cy="197294"/>
              </a:xfrm>
              <a:prstGeom prst="roundRect">
                <a:avLst>
                  <a:gd name="adj" fmla="val 5741"/>
                </a:avLst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defTabSz="979488" rtl="0" eaLnBrk="1" fontAlgn="base" latinLnBrk="1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ko-KR" sz="10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3,200,000</a:t>
                </a:r>
                <a:r>
                  <a:rPr kumimoji="1" lang="ko-KR" altLang="en-US" sz="10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원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7DB9F87-D1F9-6E38-96DD-A3D13AD422EB}"/>
                </a:ext>
              </a:extLst>
            </p:cNvPr>
            <p:cNvSpPr txBox="1"/>
            <p:nvPr/>
          </p:nvSpPr>
          <p:spPr>
            <a:xfrm>
              <a:off x="5049359" y="3274042"/>
              <a:ext cx="4076923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en-US" altLang="ko-KR" sz="700"/>
                <a:t>♣ </a:t>
              </a:r>
              <a:r>
                <a:rPr lang="ko-KR" altLang="en-US" sz="700"/>
                <a:t>전년 동기 응답값 </a:t>
              </a:r>
              <a:r>
                <a:rPr lang="en-US" altLang="ko-KR" sz="700"/>
                <a:t>+ CPI </a:t>
              </a:r>
              <a:r>
                <a:rPr lang="ko-KR" altLang="en-US" sz="700"/>
                <a:t>보정</a:t>
              </a:r>
              <a:endParaRPr lang="en-US" altLang="ko-KR" sz="700"/>
            </a:p>
          </p:txBody>
        </p:sp>
      </p:grp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65DFCDC7-58F2-EEDB-74A0-7F6BCD486D42}"/>
              </a:ext>
            </a:extLst>
          </p:cNvPr>
          <p:cNvSpPr/>
          <p:nvPr/>
        </p:nvSpPr>
        <p:spPr bwMode="auto">
          <a:xfrm>
            <a:off x="8303436" y="3100759"/>
            <a:ext cx="776955" cy="200602"/>
          </a:xfrm>
          <a:prstGeom prst="roundRect">
            <a:avLst>
              <a:gd name="adj" fmla="val 24362"/>
            </a:avLst>
          </a:prstGeom>
          <a:solidFill>
            <a:srgbClr val="2A63A8"/>
          </a:solidFill>
          <a:ln w="12700">
            <a:noFill/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+mn-ea"/>
                <a:ea typeface="+mn-ea"/>
              </a:rPr>
              <a:t>신뢰도 </a:t>
            </a:r>
            <a:r>
              <a:rPr lang="en-US" altLang="ko-KR" sz="800" b="1">
                <a:solidFill>
                  <a:schemeClr val="bg1"/>
                </a:solidFill>
                <a:latin typeface="+mn-ea"/>
                <a:ea typeface="+mn-ea"/>
              </a:rPr>
              <a:t>92%</a:t>
            </a:r>
            <a:endParaRPr lang="ko-KR" altLang="en-US" sz="8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22C7CEA-2667-F5A1-5232-3141421C397C}"/>
              </a:ext>
            </a:extLst>
          </p:cNvPr>
          <p:cNvSpPr/>
          <p:nvPr/>
        </p:nvSpPr>
        <p:spPr bwMode="auto">
          <a:xfrm>
            <a:off x="8303436" y="3836315"/>
            <a:ext cx="776955" cy="200602"/>
          </a:xfrm>
          <a:prstGeom prst="roundRect">
            <a:avLst>
              <a:gd name="adj" fmla="val 24362"/>
            </a:avLst>
          </a:prstGeom>
          <a:solidFill>
            <a:schemeClr val="bg1">
              <a:lumMod val="50000"/>
            </a:schemeClr>
          </a:solidFill>
          <a:ln w="12700">
            <a:noFill/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+mn-ea"/>
                <a:ea typeface="+mn-ea"/>
              </a:rPr>
              <a:t>신뢰도 </a:t>
            </a:r>
            <a:r>
              <a:rPr lang="en-US" altLang="ko-KR" sz="800" b="1">
                <a:solidFill>
                  <a:schemeClr val="bg1"/>
                </a:solidFill>
                <a:latin typeface="+mn-ea"/>
                <a:ea typeface="+mn-ea"/>
              </a:rPr>
              <a:t>76%</a:t>
            </a:r>
            <a:endParaRPr lang="ko-KR" altLang="en-US" sz="8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17BC5F-F601-7C23-17B3-36EBA96EAE89}"/>
              </a:ext>
            </a:extLst>
          </p:cNvPr>
          <p:cNvSpPr txBox="1"/>
          <p:nvPr/>
        </p:nvSpPr>
        <p:spPr>
          <a:xfrm>
            <a:off x="5052541" y="4295673"/>
            <a:ext cx="4076923" cy="213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00" b="0">
                <a:ln w="3175"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defRPr>
            </a:lvl1pPr>
          </a:lstStyle>
          <a:p>
            <a:r>
              <a:rPr lang="en-US" altLang="ko-KR" sz="700">
                <a:solidFill>
                  <a:schemeClr val="bg1"/>
                </a:solidFill>
              </a:rPr>
              <a:t>♣ </a:t>
            </a:r>
            <a:r>
              <a:rPr lang="ko-KR" altLang="en-US" sz="700">
                <a:solidFill>
                  <a:schemeClr val="bg1"/>
                </a:solidFill>
              </a:rPr>
              <a:t>회귀모형 </a:t>
            </a:r>
            <a:r>
              <a:rPr lang="en-US" altLang="ko-KR" sz="700">
                <a:solidFill>
                  <a:schemeClr val="bg1"/>
                </a:solidFill>
              </a:rPr>
              <a:t>- </a:t>
            </a:r>
            <a:r>
              <a:rPr lang="ko-KR" altLang="en-US" sz="700">
                <a:solidFill>
                  <a:schemeClr val="bg1"/>
                </a:solidFill>
              </a:rPr>
              <a:t>동일 산업 ∙ 규모 기준</a:t>
            </a:r>
            <a:endParaRPr lang="en-US" altLang="ko-KR" sz="700">
              <a:solidFill>
                <a:schemeClr val="bg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D47BEE14-08FB-4610-8F4E-A84CB6017491}"/>
              </a:ext>
            </a:extLst>
          </p:cNvPr>
          <p:cNvSpPr/>
          <p:nvPr/>
        </p:nvSpPr>
        <p:spPr bwMode="auto">
          <a:xfrm>
            <a:off x="8303436" y="4334099"/>
            <a:ext cx="776955" cy="200602"/>
          </a:xfrm>
          <a:prstGeom prst="roundRect">
            <a:avLst>
              <a:gd name="adj" fmla="val 24362"/>
            </a:avLst>
          </a:prstGeom>
          <a:solidFill>
            <a:schemeClr val="bg1">
              <a:lumMod val="50000"/>
            </a:schemeClr>
          </a:solidFill>
          <a:ln w="12700">
            <a:noFill/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+mn-ea"/>
                <a:ea typeface="+mn-ea"/>
              </a:rPr>
              <a:t>신뢰도 </a:t>
            </a:r>
            <a:r>
              <a:rPr lang="en-US" altLang="ko-KR" sz="800" b="1">
                <a:solidFill>
                  <a:schemeClr val="bg1"/>
                </a:solidFill>
                <a:latin typeface="+mn-ea"/>
                <a:ea typeface="+mn-ea"/>
              </a:rPr>
              <a:t>68%</a:t>
            </a:r>
            <a:endParaRPr lang="ko-KR" altLang="en-US" sz="800" b="1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01732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4EE55D6-86F0-96F3-F439-AD8500E767C9}"/>
              </a:ext>
            </a:extLst>
          </p:cNvPr>
          <p:cNvSpPr/>
          <p:nvPr/>
        </p:nvSpPr>
        <p:spPr bwMode="auto">
          <a:xfrm>
            <a:off x="432273" y="5124911"/>
            <a:ext cx="8949191" cy="1328425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34D58D5A-60EB-8EE6-BD27-F4C28E14D827}"/>
              </a:ext>
            </a:extLst>
          </p:cNvPr>
          <p:cNvGrpSpPr/>
          <p:nvPr/>
        </p:nvGrpSpPr>
        <p:grpSpPr>
          <a:xfrm>
            <a:off x="560512" y="5647558"/>
            <a:ext cx="2669620" cy="659051"/>
            <a:chOff x="10318986" y="5083825"/>
            <a:chExt cx="2669620" cy="659051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07DCC9D1-86F9-EE4C-EC96-720F8C9C5238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2BDEEE05-229E-A89D-6AE0-A2721D0E1A3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코더 부담↓</a:t>
              </a:r>
              <a:endParaRPr lang="en-US" altLang="ko-KR" sz="100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77D5B9C-8751-CF77-CF98-91CA2B23C753}"/>
                </a:ext>
              </a:extLst>
            </p:cNvPr>
            <p:cNvSpPr txBox="1"/>
            <p:nvPr/>
          </p:nvSpPr>
          <p:spPr>
            <a:xfrm>
              <a:off x="10379554" y="5385547"/>
              <a:ext cx="2529163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고확신 케이스 자동 처리</a:t>
              </a:r>
              <a:r>
                <a:rPr lang="en-US" altLang="ko-KR" sz="800"/>
                <a:t>, </a:t>
              </a:r>
              <a:r>
                <a:rPr lang="ko-KR" altLang="en-US" sz="800"/>
                <a:t>저확신만 검토</a:t>
              </a:r>
              <a:endParaRPr lang="en-US" altLang="ko-KR" sz="800"/>
            </a:p>
          </p:txBody>
        </p:sp>
      </p:grp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01124" y="620688"/>
            <a:ext cx="8742756" cy="3683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ts val="2000"/>
              </a:lnSpc>
            </a:pP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분류코딩 자동화</a:t>
            </a:r>
            <a:r>
              <a:rPr lang="en-US" altLang="ko-KR" sz="2000">
                <a:solidFill>
                  <a:prstClr val="black"/>
                </a:solidFill>
                <a:latin typeface="+mn-ea"/>
                <a:ea typeface="+mn-ea"/>
              </a:rPr>
              <a:t>(</a:t>
            </a: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텍스트 → 분류코드</a:t>
            </a:r>
            <a:r>
              <a:rPr lang="en-US" altLang="ko-KR" sz="2000">
                <a:solidFill>
                  <a:prstClr val="black"/>
                </a:solidFill>
                <a:latin typeface="+mn-ea"/>
                <a:ea typeface="+mn-ea"/>
              </a:rPr>
              <a:t>)</a:t>
            </a:r>
            <a:endParaRPr lang="ko-KR" altLang="en-US" sz="20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7FE19520-BCCC-C5BB-C8AF-0BBE1A9754D3}"/>
              </a:ext>
            </a:extLst>
          </p:cNvPr>
          <p:cNvGrpSpPr/>
          <p:nvPr/>
        </p:nvGrpSpPr>
        <p:grpSpPr>
          <a:xfrm>
            <a:off x="445071" y="1124744"/>
            <a:ext cx="9188449" cy="338554"/>
            <a:chOff x="445071" y="1124744"/>
            <a:chExt cx="9188449" cy="338554"/>
          </a:xfrm>
        </p:grpSpPr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119C4970-B753-3519-BE02-B254D5097F8E}"/>
                </a:ext>
              </a:extLst>
            </p:cNvPr>
            <p:cNvSpPr/>
            <p:nvPr/>
          </p:nvSpPr>
          <p:spPr>
            <a:xfrm>
              <a:off x="697071" y="1124744"/>
              <a:ext cx="89364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자유서술 응답을 자동 분류하여 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"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확신도 낮은 건만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" 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사람이 검토</a:t>
              </a:r>
              <a:endParaRPr lang="ko-KR" altLang="en-US" sz="2000" dirty="0">
                <a:solidFill>
                  <a:srgbClr val="1692D3"/>
                </a:solidFill>
                <a:latin typeface="+mn-ea"/>
                <a:ea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4F6FA582-6393-C7E6-79D9-89A65B0FFA0A}"/>
                </a:ext>
              </a:extLst>
            </p:cNvPr>
            <p:cNvSpPr/>
            <p:nvPr/>
          </p:nvSpPr>
          <p:spPr bwMode="auto">
            <a:xfrm>
              <a:off x="445071" y="1173892"/>
              <a:ext cx="252000" cy="248283"/>
            </a:xfrm>
            <a:prstGeom prst="roundRect">
              <a:avLst/>
            </a:prstGeom>
            <a:solidFill>
              <a:srgbClr val="2E6CB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79488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▶</a:t>
              </a:r>
              <a:endParaRPr kumimoji="1" lang="ko-KR" altLang="en-US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73D774F-EFAC-210C-B306-6E3F311AB320}"/>
              </a:ext>
            </a:extLst>
          </p:cNvPr>
          <p:cNvSpPr/>
          <p:nvPr/>
        </p:nvSpPr>
        <p:spPr bwMode="auto">
          <a:xfrm>
            <a:off x="369076" y="610037"/>
            <a:ext cx="432048" cy="389040"/>
          </a:xfrm>
          <a:prstGeom prst="roundRect">
            <a:avLst>
              <a:gd name="adj" fmla="val 10117"/>
            </a:avLst>
          </a:prstGeom>
          <a:solidFill>
            <a:schemeClr val="tx2"/>
          </a:solidFill>
          <a:ln w="12700">
            <a:noFill/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en-US" altLang="ko-KR" b="1">
                <a:solidFill>
                  <a:schemeClr val="bg1"/>
                </a:solidFill>
                <a:latin typeface="+mn-ea"/>
                <a:ea typeface="+mn-ea"/>
              </a:rPr>
              <a:t>07</a:t>
            </a:r>
            <a:endParaRPr lang="ko-KR" altLang="en-US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4435F-8C6C-57FB-229E-98B2289EAFC9}"/>
              </a:ext>
            </a:extLst>
          </p:cNvPr>
          <p:cNvSpPr txBox="1"/>
          <p:nvPr/>
        </p:nvSpPr>
        <p:spPr>
          <a:xfrm>
            <a:off x="776536" y="1484784"/>
            <a:ext cx="8694494" cy="31398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200" b="0" spc="-120">
                <a:latin typeface="+mn-ea"/>
                <a:ea typeface="+mn-ea"/>
              </a:rPr>
              <a:t>직업 ∙ 산업 ∙ 품목 등 </a:t>
            </a:r>
            <a:r>
              <a:rPr lang="ko-KR" altLang="en-US" sz="1200" spc="-120">
                <a:latin typeface="+mn-ea"/>
                <a:ea typeface="+mn-ea"/>
              </a:rPr>
              <a:t>표준분류 코드</a:t>
            </a:r>
            <a:r>
              <a:rPr lang="ko-KR" altLang="en-US" sz="1200" b="0" spc="-120">
                <a:latin typeface="+mn-ea"/>
                <a:ea typeface="+mn-ea"/>
              </a:rPr>
              <a:t>를 텍스트에서 자동 추천하고 </a:t>
            </a:r>
            <a:r>
              <a:rPr lang="en-US" altLang="ko-KR" sz="1200" spc="-120">
                <a:latin typeface="+mn-ea"/>
                <a:ea typeface="+mn-ea"/>
              </a:rPr>
              <a:t>Top-k </a:t>
            </a:r>
            <a:r>
              <a:rPr lang="ko-KR" altLang="en-US" sz="1200" spc="-120">
                <a:latin typeface="+mn-ea"/>
                <a:ea typeface="+mn-ea"/>
              </a:rPr>
              <a:t>후보 </a:t>
            </a:r>
            <a:r>
              <a:rPr lang="en-US" altLang="ko-KR" sz="1200" spc="-120">
                <a:latin typeface="+mn-ea"/>
                <a:ea typeface="+mn-ea"/>
              </a:rPr>
              <a:t>+ </a:t>
            </a:r>
            <a:r>
              <a:rPr lang="ko-KR" altLang="en-US" sz="1200" spc="-120">
                <a:latin typeface="+mn-ea"/>
                <a:ea typeface="+mn-ea"/>
              </a:rPr>
              <a:t>근거</a:t>
            </a:r>
            <a:r>
              <a:rPr lang="ko-KR" altLang="en-US" sz="1200" b="0" spc="-120">
                <a:latin typeface="+mn-ea"/>
                <a:ea typeface="+mn-ea"/>
              </a:rPr>
              <a:t>를 제시 </a:t>
            </a:r>
            <a:r>
              <a:rPr lang="en-US" altLang="ko-KR" sz="1200" b="0" spc="-120">
                <a:latin typeface="+mn-ea"/>
                <a:ea typeface="+mn-ea"/>
              </a:rPr>
              <a:t>- </a:t>
            </a:r>
            <a:r>
              <a:rPr lang="ko-KR" altLang="en-US" sz="1200" b="0" spc="-120">
                <a:latin typeface="+mn-ea"/>
                <a:ea typeface="+mn-ea"/>
              </a:rPr>
              <a:t>코딩 인력 부담과 오분류 리스크를 함께 낮춥니다</a:t>
            </a:r>
            <a:r>
              <a:rPr lang="en-US" altLang="ko-KR" sz="1200" b="0" spc="-120">
                <a:latin typeface="+mn-ea"/>
                <a:ea typeface="+mn-ea"/>
              </a:rPr>
              <a:t>.</a:t>
            </a:r>
            <a:endParaRPr lang="en-US" altLang="ko-KR" sz="1200" b="0" spc="-120" dirty="0">
              <a:latin typeface="+mn-ea"/>
              <a:ea typeface="+mn-ea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87F6383-3B90-5D8A-5E8A-72AAF3747502}"/>
              </a:ext>
            </a:extLst>
          </p:cNvPr>
          <p:cNvSpPr/>
          <p:nvPr/>
        </p:nvSpPr>
        <p:spPr bwMode="auto">
          <a:xfrm>
            <a:off x="432274" y="2333640"/>
            <a:ext cx="4232694" cy="2337436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B239B-9B77-986C-7183-04687505D49E}"/>
              </a:ext>
            </a:extLst>
          </p:cNvPr>
          <p:cNvSpPr txBox="1"/>
          <p:nvPr/>
        </p:nvSpPr>
        <p:spPr>
          <a:xfrm>
            <a:off x="848544" y="2360024"/>
            <a:ext cx="1634521" cy="213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40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r>
              <a:rPr lang="ko-KR" altLang="en-US" sz="700" b="0"/>
              <a:t>적용 표준 분류 </a:t>
            </a:r>
            <a:r>
              <a:rPr lang="en-US" altLang="ko-KR" sz="700" b="0"/>
              <a:t>- </a:t>
            </a:r>
            <a:r>
              <a:rPr lang="ko-KR" altLang="en-US" sz="700" b="0"/>
              <a:t>주요 예시</a:t>
            </a:r>
            <a:endParaRPr lang="en-US" altLang="ko-KR" sz="700" b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1CFEA-BCCF-9E4C-2F12-C12991EC1DD8}"/>
              </a:ext>
            </a:extLst>
          </p:cNvPr>
          <p:cNvSpPr txBox="1"/>
          <p:nvPr/>
        </p:nvSpPr>
        <p:spPr>
          <a:xfrm>
            <a:off x="848544" y="2529536"/>
            <a:ext cx="2205572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000"/>
              <a:t>직업 ∙ 산업 ∙ 품목 등</a:t>
            </a:r>
            <a:endParaRPr lang="en-US" altLang="ko-KR" sz="10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3BB79F7-A2F7-C727-E2D9-664BF2454BB4}"/>
              </a:ext>
            </a:extLst>
          </p:cNvPr>
          <p:cNvGrpSpPr/>
          <p:nvPr/>
        </p:nvGrpSpPr>
        <p:grpSpPr>
          <a:xfrm>
            <a:off x="560512" y="2852936"/>
            <a:ext cx="3965768" cy="399352"/>
            <a:chOff x="10318986" y="5079565"/>
            <a:chExt cx="3965768" cy="50752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A08A3682-EA07-DCFA-F4E5-E48B5A719531}"/>
                </a:ext>
              </a:extLst>
            </p:cNvPr>
            <p:cNvSpPr/>
            <p:nvPr/>
          </p:nvSpPr>
          <p:spPr bwMode="auto">
            <a:xfrm>
              <a:off x="10318986" y="5083825"/>
              <a:ext cx="3965768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6042E4-2E39-1A03-26B0-F33B3221242D}"/>
                </a:ext>
              </a:extLst>
            </p:cNvPr>
            <p:cNvSpPr txBox="1"/>
            <p:nvPr/>
          </p:nvSpPr>
          <p:spPr>
            <a:xfrm>
              <a:off x="10379552" y="5079565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한국표준직업분류</a:t>
              </a:r>
              <a:r>
                <a:rPr lang="en-US" altLang="ko-KR" sz="800"/>
                <a:t>(KSCO)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4848DF-A6A5-D1AF-840B-A6BAA617B3FB}"/>
                </a:ext>
              </a:extLst>
            </p:cNvPr>
            <p:cNvSpPr txBox="1"/>
            <p:nvPr/>
          </p:nvSpPr>
          <p:spPr>
            <a:xfrm>
              <a:off x="10379555" y="5290300"/>
              <a:ext cx="3848278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취업자 직업 </a:t>
              </a:r>
              <a:r>
                <a:rPr lang="en-US" altLang="ko-KR" sz="700"/>
                <a:t>- </a:t>
              </a:r>
              <a:r>
                <a:rPr lang="ko-KR" altLang="en-US" sz="700"/>
                <a:t>자유서술 입력</a:t>
              </a:r>
              <a:endParaRPr lang="en-US" altLang="ko-KR" sz="700"/>
            </a:p>
          </p:txBody>
        </p:sp>
      </p:grp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3E3B9804-C593-80DA-55CE-D2E0E402ADB8}"/>
              </a:ext>
            </a:extLst>
          </p:cNvPr>
          <p:cNvSpPr/>
          <p:nvPr/>
        </p:nvSpPr>
        <p:spPr bwMode="auto">
          <a:xfrm>
            <a:off x="524536" y="2441680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FEB178D-F49A-554D-41C0-D72EE1A1EC62}"/>
              </a:ext>
            </a:extLst>
          </p:cNvPr>
          <p:cNvSpPr txBox="1"/>
          <p:nvPr/>
        </p:nvSpPr>
        <p:spPr>
          <a:xfrm>
            <a:off x="403796" y="1932744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적용 표준분류 </a:t>
            </a:r>
            <a:r>
              <a:rPr lang="en-US" altLang="ko-KR">
                <a:latin typeface="+mn-ea"/>
                <a:ea typeface="+mn-ea"/>
              </a:rPr>
              <a:t>/ </a:t>
            </a:r>
            <a:r>
              <a:rPr lang="ko-KR" altLang="en-US">
                <a:latin typeface="+mn-ea"/>
                <a:ea typeface="+mn-ea"/>
              </a:rPr>
              <a:t>직업 분류 코딩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8A70F04-3FF6-C34C-1873-D67615872948}"/>
              </a:ext>
            </a:extLst>
          </p:cNvPr>
          <p:cNvSpPr txBox="1"/>
          <p:nvPr/>
        </p:nvSpPr>
        <p:spPr>
          <a:xfrm>
            <a:off x="403796" y="4763916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기대 효과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4F3F328-7489-78AF-84FC-8175DE0A4AE1}"/>
              </a:ext>
            </a:extLst>
          </p:cNvPr>
          <p:cNvSpPr txBox="1"/>
          <p:nvPr/>
        </p:nvSpPr>
        <p:spPr>
          <a:xfrm>
            <a:off x="848544" y="5250998"/>
            <a:ext cx="2301698" cy="2419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100"/>
              <a:t>분류코딩 자동화율 대폭 상승</a:t>
            </a:r>
            <a:endParaRPr lang="en-US" altLang="ko-KR" sz="1100"/>
          </a:p>
        </p:txBody>
      </p:sp>
      <p:sp>
        <p:nvSpPr>
          <p:cNvPr id="181" name="순서도: 연결자 180">
            <a:extLst>
              <a:ext uri="{FF2B5EF4-FFF2-40B4-BE49-F238E27FC236}">
                <a16:creationId xmlns:a16="http://schemas.microsoft.com/office/drawing/2014/main" id="{3100B06F-B4DB-198F-534C-36A712710641}"/>
              </a:ext>
            </a:extLst>
          </p:cNvPr>
          <p:cNvSpPr/>
          <p:nvPr/>
        </p:nvSpPr>
        <p:spPr bwMode="auto">
          <a:xfrm>
            <a:off x="524536" y="5232951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08B00959-4701-F754-1201-A779B1FB430B}"/>
              </a:ext>
            </a:extLst>
          </p:cNvPr>
          <p:cNvGrpSpPr/>
          <p:nvPr/>
        </p:nvGrpSpPr>
        <p:grpSpPr>
          <a:xfrm>
            <a:off x="3501882" y="5647558"/>
            <a:ext cx="2669620" cy="659051"/>
            <a:chOff x="10318986" y="5083825"/>
            <a:chExt cx="2669620" cy="659051"/>
          </a:xfrm>
        </p:grpSpPr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BD05C4D7-F1F3-DCEA-4944-3E1DA4E76105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5ACAB24A-0A90-488B-1C0C-DC70BE43D2B1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분류 일관성 ↑</a:t>
              </a:r>
              <a:endParaRPr lang="en-US" altLang="ko-KR" sz="1000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E5C2B7A8-76EB-0867-8E15-9EC868F15C8A}"/>
                </a:ext>
              </a:extLst>
            </p:cNvPr>
            <p:cNvSpPr txBox="1"/>
            <p:nvPr/>
          </p:nvSpPr>
          <p:spPr>
            <a:xfrm>
              <a:off x="10379554" y="5367990"/>
              <a:ext cx="2529163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코더 간 </a:t>
              </a:r>
              <a:r>
                <a:rPr lang="en-US" altLang="ko-KR" sz="800"/>
                <a:t>/ </a:t>
              </a:r>
              <a:r>
                <a:rPr lang="ko-KR" altLang="en-US" sz="800"/>
                <a:t>시점 간 분류 편차 감소</a:t>
              </a:r>
              <a:endParaRPr lang="en-US" altLang="ko-KR" sz="800"/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7B18055D-FD2E-6783-1E65-2D09BDBA669D}"/>
              </a:ext>
            </a:extLst>
          </p:cNvPr>
          <p:cNvGrpSpPr/>
          <p:nvPr/>
        </p:nvGrpSpPr>
        <p:grpSpPr>
          <a:xfrm>
            <a:off x="6536553" y="5647558"/>
            <a:ext cx="2669620" cy="659051"/>
            <a:chOff x="10318986" y="5083825"/>
            <a:chExt cx="2669620" cy="659051"/>
          </a:xfrm>
        </p:grpSpPr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57AE59B2-5C2A-B895-7D6E-6A5B42A916D4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80BE796F-CB95-928A-2933-BCFBAF46A1C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병목 매핑</a:t>
              </a:r>
              <a:endParaRPr lang="en-US" altLang="ko-KR" sz="800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1B7A4C44-D6D7-5AD0-EC0E-7C57EC826304}"/>
                </a:ext>
              </a:extLst>
            </p:cNvPr>
            <p:cNvSpPr txBox="1"/>
            <p:nvPr/>
          </p:nvSpPr>
          <p:spPr>
            <a:xfrm>
              <a:off x="10379554" y="5328400"/>
              <a:ext cx="2529163" cy="37503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처리 </a:t>
              </a:r>
              <a:r>
                <a:rPr lang="en-US" altLang="ko-KR" sz="700"/>
                <a:t>( KSBPM ⑤ ) - </a:t>
              </a:r>
              <a:r>
                <a:rPr lang="ko-KR" altLang="en-US" sz="700"/>
                <a:t>자유서술 응답의 수기 코딩을 텍스트 분류 </a:t>
              </a:r>
              <a:r>
                <a:rPr lang="en-US" altLang="ko-KR" sz="700"/>
                <a:t>AI</a:t>
              </a:r>
              <a:r>
                <a:rPr lang="ko-KR" altLang="en-US" sz="700"/>
                <a:t>로 대체</a:t>
              </a:r>
              <a:endParaRPr lang="en-US" altLang="ko-KR" sz="700"/>
            </a:p>
          </p:txBody>
        </p:sp>
      </p:grpSp>
      <p:sp>
        <p:nvSpPr>
          <p:cNvPr id="278" name="사각형: 둥근 모서리 277">
            <a:extLst>
              <a:ext uri="{FF2B5EF4-FFF2-40B4-BE49-F238E27FC236}">
                <a16:creationId xmlns:a16="http://schemas.microsoft.com/office/drawing/2014/main" id="{2AD9AD6D-A2E8-DF5F-60B1-2574633FD195}"/>
              </a:ext>
            </a:extLst>
          </p:cNvPr>
          <p:cNvSpPr/>
          <p:nvPr/>
        </p:nvSpPr>
        <p:spPr bwMode="auto">
          <a:xfrm>
            <a:off x="4819062" y="2333640"/>
            <a:ext cx="4562402" cy="2337436"/>
          </a:xfrm>
          <a:prstGeom prst="roundRect">
            <a:avLst>
              <a:gd name="adj" fmla="val 3923"/>
            </a:avLst>
          </a:prstGeom>
          <a:solidFill>
            <a:schemeClr val="tx2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9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FD559E8B-B039-DD50-5C5E-CD6C2B788A5E}"/>
              </a:ext>
            </a:extLst>
          </p:cNvPr>
          <p:cNvSpPr txBox="1"/>
          <p:nvPr/>
        </p:nvSpPr>
        <p:spPr>
          <a:xfrm>
            <a:off x="5006104" y="2388091"/>
            <a:ext cx="2180762" cy="23358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800" b="0">
                <a:solidFill>
                  <a:schemeClr val="bg1"/>
                </a:solidFill>
                <a:latin typeface="+mn-ea"/>
                <a:ea typeface="+mn-ea"/>
              </a:rPr>
              <a:t>실제 동작 예시 </a:t>
            </a:r>
            <a:r>
              <a:rPr lang="en-US" altLang="ko-KR" sz="800" b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800" b="0">
                <a:solidFill>
                  <a:schemeClr val="bg1"/>
                </a:solidFill>
                <a:latin typeface="+mn-ea"/>
                <a:ea typeface="+mn-ea"/>
              </a:rPr>
              <a:t>직업 분류 코딩</a:t>
            </a:r>
            <a:endParaRPr lang="en-US" altLang="ko-KR" sz="8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80" name="사각형: 둥근 모서리 279">
            <a:extLst>
              <a:ext uri="{FF2B5EF4-FFF2-40B4-BE49-F238E27FC236}">
                <a16:creationId xmlns:a16="http://schemas.microsoft.com/office/drawing/2014/main" id="{0B60934F-9806-3A98-DD73-CE9C65027B03}"/>
              </a:ext>
            </a:extLst>
          </p:cNvPr>
          <p:cNvSpPr/>
          <p:nvPr/>
        </p:nvSpPr>
        <p:spPr bwMode="auto">
          <a:xfrm>
            <a:off x="5006104" y="2595910"/>
            <a:ext cx="4267376" cy="197294"/>
          </a:xfrm>
          <a:prstGeom prst="roundRect">
            <a:avLst>
              <a:gd name="adj" fmla="val 5741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defTabSz="979488" rtl="0" eaLnBrk="1" fontAlgn="base" latinLnBrk="1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→ </a:t>
            </a:r>
            <a:r>
              <a:rPr kumimoji="1" lang="ko-KR" altLang="en-US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자유서술 → </a:t>
            </a:r>
            <a:r>
              <a:rPr kumimoji="1" lang="en-US" altLang="ko-KR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Top-3 </a:t>
            </a:r>
            <a:r>
              <a:rPr kumimoji="1" lang="ko-KR" altLang="en-US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코드 후보 </a:t>
            </a:r>
            <a:r>
              <a:rPr kumimoji="1" lang="en-US" altLang="ko-KR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+ </a:t>
            </a:r>
            <a:r>
              <a:rPr kumimoji="1" lang="ko-KR" altLang="en-US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확신도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C3C707B-61EC-5010-0E8D-0B4E5F1DB2A0}"/>
              </a:ext>
            </a:extLst>
          </p:cNvPr>
          <p:cNvGrpSpPr/>
          <p:nvPr/>
        </p:nvGrpSpPr>
        <p:grpSpPr>
          <a:xfrm>
            <a:off x="560512" y="3284986"/>
            <a:ext cx="3965768" cy="398142"/>
            <a:chOff x="10318986" y="5081103"/>
            <a:chExt cx="3965768" cy="505987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47F79856-2A13-769E-A6C1-8BF7768B809F}"/>
                </a:ext>
              </a:extLst>
            </p:cNvPr>
            <p:cNvSpPr/>
            <p:nvPr/>
          </p:nvSpPr>
          <p:spPr bwMode="auto">
            <a:xfrm>
              <a:off x="10318986" y="5083825"/>
              <a:ext cx="3965768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22CA4F-4B4E-CAEE-EC40-5EC494B21C14}"/>
                </a:ext>
              </a:extLst>
            </p:cNvPr>
            <p:cNvSpPr txBox="1"/>
            <p:nvPr/>
          </p:nvSpPr>
          <p:spPr>
            <a:xfrm>
              <a:off x="10379552" y="5081103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한국표준산업분류</a:t>
              </a:r>
              <a:r>
                <a:rPr lang="en-US" altLang="ko-KR" sz="800"/>
                <a:t>(KSIC)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623166-81A0-9A4E-F4D0-F2F7DCF9F660}"/>
                </a:ext>
              </a:extLst>
            </p:cNvPr>
            <p:cNvSpPr txBox="1"/>
            <p:nvPr/>
          </p:nvSpPr>
          <p:spPr>
            <a:xfrm>
              <a:off x="10379555" y="5290300"/>
              <a:ext cx="3848278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사업체 업종 </a:t>
              </a:r>
              <a:r>
                <a:rPr lang="en-US" altLang="ko-KR" sz="700"/>
                <a:t>- </a:t>
              </a:r>
              <a:r>
                <a:rPr lang="ko-KR" altLang="en-US" sz="700"/>
                <a:t>사업 내용 서술</a:t>
              </a:r>
              <a:endParaRPr lang="en-US" altLang="ko-KR" sz="70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4248241-2E9A-4695-DCA9-5A413A48A0CD}"/>
              </a:ext>
            </a:extLst>
          </p:cNvPr>
          <p:cNvGrpSpPr/>
          <p:nvPr/>
        </p:nvGrpSpPr>
        <p:grpSpPr>
          <a:xfrm>
            <a:off x="560512" y="3717036"/>
            <a:ext cx="3965768" cy="396932"/>
            <a:chOff x="10318986" y="5082641"/>
            <a:chExt cx="3965768" cy="504449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BA0089D4-DD44-548E-63A7-8EF96DFCFFFC}"/>
                </a:ext>
              </a:extLst>
            </p:cNvPr>
            <p:cNvSpPr/>
            <p:nvPr/>
          </p:nvSpPr>
          <p:spPr bwMode="auto">
            <a:xfrm>
              <a:off x="10318986" y="5083825"/>
              <a:ext cx="3965768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08064E0-7F61-B19F-E921-D14BB6DC2F14}"/>
                </a:ext>
              </a:extLst>
            </p:cNvPr>
            <p:cNvSpPr txBox="1"/>
            <p:nvPr/>
          </p:nvSpPr>
          <p:spPr>
            <a:xfrm>
              <a:off x="10379552" y="5082641"/>
              <a:ext cx="1826776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품목∙상품 분류</a:t>
              </a:r>
              <a:endParaRPr lang="en-US" altLang="ko-KR" sz="8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F5FC860-C3FC-7EDD-5950-A1AAD17426F9}"/>
                </a:ext>
              </a:extLst>
            </p:cNvPr>
            <p:cNvSpPr txBox="1"/>
            <p:nvPr/>
          </p:nvSpPr>
          <p:spPr>
            <a:xfrm>
              <a:off x="10379555" y="5290300"/>
              <a:ext cx="3848278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가계동향 ∙ 물가지수 등</a:t>
              </a:r>
              <a:endParaRPr lang="en-US" altLang="ko-KR" sz="70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0B17BC5F-F601-7C23-17B3-36EBA96EAE89}"/>
              </a:ext>
            </a:extLst>
          </p:cNvPr>
          <p:cNvSpPr txBox="1"/>
          <p:nvPr/>
        </p:nvSpPr>
        <p:spPr>
          <a:xfrm>
            <a:off x="4980533" y="4295673"/>
            <a:ext cx="4076923" cy="213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00" b="0">
                <a:ln w="3175"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defRPr>
            </a:lvl1pPr>
          </a:lstStyle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700">
                <a:solidFill>
                  <a:schemeClr val="bg1"/>
                </a:solidFill>
              </a:rPr>
              <a:t>확신도 ≥ 임계값 </a:t>
            </a:r>
            <a:r>
              <a:rPr lang="en-US" altLang="ko-KR" sz="700">
                <a:solidFill>
                  <a:schemeClr val="bg1"/>
                </a:solidFill>
              </a:rPr>
              <a:t>(</a:t>
            </a:r>
            <a:r>
              <a:rPr lang="ko-KR" altLang="en-US" sz="700">
                <a:solidFill>
                  <a:schemeClr val="bg1"/>
                </a:solidFill>
              </a:rPr>
              <a:t>예</a:t>
            </a:r>
            <a:r>
              <a:rPr lang="en-US" altLang="ko-KR" sz="700">
                <a:solidFill>
                  <a:schemeClr val="bg1"/>
                </a:solidFill>
              </a:rPr>
              <a:t>: 85%) → </a:t>
            </a:r>
            <a:r>
              <a:rPr lang="ko-KR" altLang="en-US" sz="700">
                <a:solidFill>
                  <a:schemeClr val="bg1"/>
                </a:solidFill>
              </a:rPr>
              <a:t>자동 확정 </a:t>
            </a:r>
            <a:r>
              <a:rPr lang="en-US" altLang="ko-KR" sz="700">
                <a:solidFill>
                  <a:schemeClr val="bg1"/>
                </a:solidFill>
              </a:rPr>
              <a:t>/ </a:t>
            </a:r>
            <a:r>
              <a:rPr lang="ko-KR" altLang="en-US" sz="700">
                <a:solidFill>
                  <a:schemeClr val="bg1"/>
                </a:solidFill>
              </a:rPr>
              <a:t>미만 → 코더 검토 큐로 이동</a:t>
            </a:r>
            <a:endParaRPr lang="en-US" altLang="ko-KR" sz="700">
              <a:solidFill>
                <a:schemeClr val="bg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8E837CE-B451-9F7D-5973-529F341579C1}"/>
              </a:ext>
            </a:extLst>
          </p:cNvPr>
          <p:cNvSpPr/>
          <p:nvPr/>
        </p:nvSpPr>
        <p:spPr bwMode="auto">
          <a:xfrm>
            <a:off x="3973774" y="2977900"/>
            <a:ext cx="475970" cy="18451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6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</a:rPr>
              <a:t>7</a:t>
            </a:r>
            <a:r>
              <a:rPr kumimoji="1" lang="ko-KR" altLang="en-US" sz="6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</a:rPr>
              <a:t>자리 코드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4CDDFC5-B531-9A2B-D062-B097F0AF9DCF}"/>
              </a:ext>
            </a:extLst>
          </p:cNvPr>
          <p:cNvSpPr/>
          <p:nvPr/>
        </p:nvSpPr>
        <p:spPr bwMode="auto">
          <a:xfrm>
            <a:off x="3973774" y="3385570"/>
            <a:ext cx="475970" cy="18451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6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</a:rPr>
              <a:t>5</a:t>
            </a:r>
            <a:r>
              <a:rPr kumimoji="1" lang="ko-KR" altLang="en-US" sz="6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</a:rPr>
              <a:t>자리 코드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1122A3A-DF93-8359-AFC9-849C6D80A6D2}"/>
              </a:ext>
            </a:extLst>
          </p:cNvPr>
          <p:cNvSpPr/>
          <p:nvPr/>
        </p:nvSpPr>
        <p:spPr bwMode="auto">
          <a:xfrm>
            <a:off x="3973774" y="3820550"/>
            <a:ext cx="475970" cy="18451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1" lang="ko-KR" altLang="en-US" sz="6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</a:rPr>
              <a:t>계층 코드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D3CF76A-5133-C861-5A9D-C9162F22980D}"/>
              </a:ext>
            </a:extLst>
          </p:cNvPr>
          <p:cNvGrpSpPr/>
          <p:nvPr/>
        </p:nvGrpSpPr>
        <p:grpSpPr>
          <a:xfrm>
            <a:off x="560512" y="4148803"/>
            <a:ext cx="3965768" cy="396000"/>
            <a:chOff x="10318986" y="5083825"/>
            <a:chExt cx="3965768" cy="503265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41DE046E-61B8-5E67-E1AE-39FEEC3AAB1D}"/>
                </a:ext>
              </a:extLst>
            </p:cNvPr>
            <p:cNvSpPr/>
            <p:nvPr/>
          </p:nvSpPr>
          <p:spPr bwMode="auto">
            <a:xfrm>
              <a:off x="10318986" y="5083825"/>
              <a:ext cx="3965768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019CF6-BB1F-5D98-CA33-778808A97DC1}"/>
                </a:ext>
              </a:extLst>
            </p:cNvPr>
            <p:cNvSpPr txBox="1"/>
            <p:nvPr/>
          </p:nvSpPr>
          <p:spPr>
            <a:xfrm>
              <a:off x="10379552" y="5084177"/>
              <a:ext cx="1826776" cy="29685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교육∙전공∙자격 분류</a:t>
              </a:r>
              <a:endParaRPr lang="en-US" altLang="ko-KR" sz="80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8E8B96B-179F-86AC-62E1-0062CA5076C9}"/>
                </a:ext>
              </a:extLst>
            </p:cNvPr>
            <p:cNvSpPr txBox="1"/>
            <p:nvPr/>
          </p:nvSpPr>
          <p:spPr>
            <a:xfrm>
              <a:off x="10379555" y="5290300"/>
              <a:ext cx="3848278" cy="27126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사회조사 ∙교육조사 등</a:t>
              </a:r>
              <a:endParaRPr lang="en-US" altLang="ko-KR" sz="700"/>
            </a:p>
          </p:txBody>
        </p:sp>
      </p:grp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8F126FD-85EB-6D22-BF48-C9BBDEDC7907}"/>
              </a:ext>
            </a:extLst>
          </p:cNvPr>
          <p:cNvSpPr/>
          <p:nvPr/>
        </p:nvSpPr>
        <p:spPr bwMode="auto">
          <a:xfrm>
            <a:off x="3973774" y="4239166"/>
            <a:ext cx="475970" cy="18451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1" lang="ko-KR" altLang="en-US" sz="6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</a:rPr>
              <a:t>표준 코드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8A941EA3-F71F-8DAE-C4B1-323F78FAAA01}"/>
              </a:ext>
            </a:extLst>
          </p:cNvPr>
          <p:cNvGrpSpPr/>
          <p:nvPr/>
        </p:nvGrpSpPr>
        <p:grpSpPr>
          <a:xfrm>
            <a:off x="5010233" y="3501008"/>
            <a:ext cx="1262668" cy="624903"/>
            <a:chOff x="5010233" y="3596185"/>
            <a:chExt cx="1262668" cy="624903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7AA017A-3769-E23F-8577-1E8630966DAA}"/>
                </a:ext>
              </a:extLst>
            </p:cNvPr>
            <p:cNvGrpSpPr/>
            <p:nvPr/>
          </p:nvGrpSpPr>
          <p:grpSpPr>
            <a:xfrm>
              <a:off x="5010233" y="3596185"/>
              <a:ext cx="1262668" cy="624903"/>
              <a:chOff x="5010233" y="2876896"/>
              <a:chExt cx="1262668" cy="624903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1B47A819-8501-D6B4-B839-B71FBAA630F8}"/>
                  </a:ext>
                </a:extLst>
              </p:cNvPr>
              <p:cNvGrpSpPr/>
              <p:nvPr/>
            </p:nvGrpSpPr>
            <p:grpSpPr>
              <a:xfrm>
                <a:off x="5010233" y="2876896"/>
                <a:ext cx="1262668" cy="624903"/>
                <a:chOff x="2264535" y="4581128"/>
                <a:chExt cx="779998" cy="624903"/>
              </a:xfrm>
            </p:grpSpPr>
            <p:sp>
              <p:nvSpPr>
                <p:cNvPr id="22" name="사각형: 둥근 모서리 21">
                  <a:extLst>
                    <a:ext uri="{FF2B5EF4-FFF2-40B4-BE49-F238E27FC236}">
                      <a16:creationId xmlns:a16="http://schemas.microsoft.com/office/drawing/2014/main" id="{56CFD9BB-D910-789B-1D9C-1DC3BD0F2721}"/>
                    </a:ext>
                  </a:extLst>
                </p:cNvPr>
                <p:cNvSpPr/>
                <p:nvPr/>
              </p:nvSpPr>
              <p:spPr bwMode="auto">
                <a:xfrm>
                  <a:off x="2264535" y="4600653"/>
                  <a:ext cx="779998" cy="605378"/>
                </a:xfrm>
                <a:prstGeom prst="roundRect">
                  <a:avLst>
                    <a:gd name="adj" fmla="val 10117"/>
                  </a:avLst>
                </a:prstGeom>
                <a:solidFill>
                  <a:schemeClr val="bg1"/>
                </a:solidFill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 type="none" w="sm" len="med"/>
                </a:ln>
              </p:spPr>
              <p:txBody>
                <a:bodyPr wrap="none" rtlCol="0" anchor="ctr"/>
                <a:lstStyle/>
                <a:p>
                  <a:pPr algn="ctr"/>
                  <a:endParaRPr lang="ko-KR" altLang="en-US" sz="90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105AE6A-54DF-A7FB-EB94-CBD083BC8639}"/>
                    </a:ext>
                  </a:extLst>
                </p:cNvPr>
                <p:cNvSpPr txBox="1"/>
                <p:nvPr/>
              </p:nvSpPr>
              <p:spPr>
                <a:xfrm>
                  <a:off x="2288704" y="4581128"/>
                  <a:ext cx="490088" cy="233581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>
                  <a:defPPr>
                    <a:defRPr lang="ko-KR"/>
                  </a:defPPr>
                  <a:lvl1pPr marL="171450" indent="-171450">
                    <a:buFont typeface="Wingdings" panose="05000000000000000000" pitchFamily="2" charset="2"/>
                    <a:buChar char="§"/>
                    <a:defRPr sz="1100" b="1">
                      <a:ln w="3175">
                        <a:solidFill>
                          <a:prstClr val="black">
                            <a:alpha val="0"/>
                          </a:prstClr>
                        </a:solidFill>
                      </a:ln>
                      <a:latin typeface="KoPub돋움체 Medium" panose="02020603020101020101" pitchFamily="18" charset="-127"/>
                      <a:ea typeface="KoPub돋움체 Medium" panose="02020603020101020101" pitchFamily="18" charset="-127"/>
                    </a:defRPr>
                  </a:lvl1pPr>
                </a:lstStyle>
                <a:p>
                  <a:pPr marL="0" indent="0">
                    <a:lnSpc>
                      <a:spcPct val="150000"/>
                    </a:lnSpc>
                    <a:buNone/>
                  </a:pPr>
                  <a:r>
                    <a:rPr lang="en-US" altLang="ko-KR" sz="800" b="0">
                      <a:solidFill>
                        <a:schemeClr val="tx2"/>
                      </a:solidFill>
                      <a:latin typeface="+mn-ea"/>
                      <a:ea typeface="+mn-ea"/>
                    </a:rPr>
                    <a:t>Top1</a:t>
                  </a:r>
                  <a:endParaRPr lang="en-US" altLang="ko-KR" sz="800" b="0" dirty="0">
                    <a:solidFill>
                      <a:schemeClr val="tx2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5" name="사각형: 둥근 모서리 24">
                  <a:extLst>
                    <a:ext uri="{FF2B5EF4-FFF2-40B4-BE49-F238E27FC236}">
                      <a16:creationId xmlns:a16="http://schemas.microsoft.com/office/drawing/2014/main" id="{EB92332A-9038-9EFE-CBBE-D90D677A9104}"/>
                    </a:ext>
                  </a:extLst>
                </p:cNvPr>
                <p:cNvSpPr/>
                <p:nvPr/>
              </p:nvSpPr>
              <p:spPr bwMode="auto">
                <a:xfrm>
                  <a:off x="2313839" y="4780812"/>
                  <a:ext cx="668055" cy="197294"/>
                </a:xfrm>
                <a:prstGeom prst="roundRect">
                  <a:avLst>
                    <a:gd name="adj" fmla="val 5741"/>
                  </a:avLst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3600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defTabSz="979488" rtl="0" eaLnBrk="1" fontAlgn="base" latinLnBrk="1" hangingPunct="1">
                    <a:lnSpc>
                      <a:spcPct val="15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:r>
                    <a:rPr kumimoji="1" lang="en-US" altLang="ko-KR" sz="1000" b="1" i="0" u="none" strike="noStrike" cap="none" normalizeH="0" baseline="0">
                      <a:ln>
                        <a:noFill/>
                      </a:ln>
                      <a:effectLst/>
                      <a:latin typeface="+mn-ea"/>
                      <a:ea typeface="+mn-ea"/>
                    </a:rPr>
                    <a:t>1001</a:t>
                  </a:r>
                  <a:endParaRPr kumimoji="1" lang="ko-KR" altLang="en-US" sz="10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DB9F87-D1F9-6E38-96DD-A3D13AD422EB}"/>
                  </a:ext>
                </a:extLst>
              </p:cNvPr>
              <p:cNvSpPr txBox="1"/>
              <p:nvPr/>
            </p:nvSpPr>
            <p:spPr>
              <a:xfrm>
                <a:off x="5049359" y="3274042"/>
                <a:ext cx="1159343" cy="2134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000" b="0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+mn-ea"/>
                    <a:ea typeface="+mn-ea"/>
                  </a:defRPr>
                </a:lvl1pPr>
              </a:lstStyle>
              <a:p>
                <a:r>
                  <a:rPr lang="en-US" altLang="ko-KR" sz="700"/>
                  <a:t>♣ </a:t>
                </a:r>
                <a:r>
                  <a:rPr lang="ko-KR" altLang="en-US" sz="700"/>
                  <a:t>중∙고등학교 교사</a:t>
                </a:r>
                <a:endParaRPr lang="en-US" altLang="ko-KR" sz="700"/>
              </a:p>
            </p:txBody>
          </p:sp>
        </p:grp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F87E43CC-3B90-C1B6-B871-1B395DEB2380}"/>
                </a:ext>
              </a:extLst>
            </p:cNvPr>
            <p:cNvSpPr/>
            <p:nvPr/>
          </p:nvSpPr>
          <p:spPr bwMode="auto">
            <a:xfrm>
              <a:off x="5906918" y="3662838"/>
              <a:ext cx="301784" cy="163399"/>
            </a:xfrm>
            <a:prstGeom prst="roundRect">
              <a:avLst>
                <a:gd name="adj" fmla="val 24362"/>
              </a:avLst>
            </a:prstGeom>
            <a:solidFill>
              <a:srgbClr val="2A63A8"/>
            </a:solidFill>
            <a:ln w="12700">
              <a:noFill/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+mn-ea"/>
                  <a:ea typeface="+mn-ea"/>
                </a:rPr>
                <a:t>21%</a:t>
              </a:r>
              <a:endParaRPr lang="ko-KR" altLang="en-US" sz="800" b="1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C1D4D934-B273-B56D-1DDE-67CB12FCFCC1}"/>
              </a:ext>
            </a:extLst>
          </p:cNvPr>
          <p:cNvGrpSpPr/>
          <p:nvPr/>
        </p:nvGrpSpPr>
        <p:grpSpPr>
          <a:xfrm>
            <a:off x="5010234" y="2948427"/>
            <a:ext cx="4196421" cy="408565"/>
            <a:chOff x="2264534" y="4581128"/>
            <a:chExt cx="4196421" cy="408565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62BEF985-25EB-CCAE-5B99-C0DFE274B37B}"/>
                </a:ext>
              </a:extLst>
            </p:cNvPr>
            <p:cNvSpPr/>
            <p:nvPr/>
          </p:nvSpPr>
          <p:spPr bwMode="auto">
            <a:xfrm>
              <a:off x="2264534" y="4600653"/>
              <a:ext cx="4196421" cy="389040"/>
            </a:xfrm>
            <a:prstGeom prst="roundRect">
              <a:avLst>
                <a:gd name="adj" fmla="val 10117"/>
              </a:avLst>
            </a:prstGeom>
            <a:solidFill>
              <a:srgbClr val="2A63A8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9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14BB082-714D-AD3C-2A68-2D9FEA6E31EF}"/>
                </a:ext>
              </a:extLst>
            </p:cNvPr>
            <p:cNvSpPr txBox="1"/>
            <p:nvPr/>
          </p:nvSpPr>
          <p:spPr>
            <a:xfrm>
              <a:off x="2288704" y="4581128"/>
              <a:ext cx="1487999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altLang="ko-KR" sz="800">
                  <a:solidFill>
                    <a:schemeClr val="bg1"/>
                  </a:solidFill>
                  <a:latin typeface="+mn-ea"/>
                  <a:ea typeface="+mn-ea"/>
                </a:rPr>
                <a:t>INPUT - </a:t>
              </a:r>
              <a:r>
                <a:rPr lang="ko-KR" altLang="en-US" sz="800">
                  <a:solidFill>
                    <a:schemeClr val="bg1"/>
                  </a:solidFill>
                  <a:latin typeface="+mn-ea"/>
                  <a:ea typeface="+mn-ea"/>
                </a:rPr>
                <a:t>자유서술</a:t>
              </a:r>
              <a:endParaRPr lang="en-US" altLang="ko-KR" sz="8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5EF7B35D-3316-2DFF-8D60-FFD4893A6FFB}"/>
                </a:ext>
              </a:extLst>
            </p:cNvPr>
            <p:cNvSpPr/>
            <p:nvPr/>
          </p:nvSpPr>
          <p:spPr bwMode="auto">
            <a:xfrm>
              <a:off x="2313839" y="4774674"/>
              <a:ext cx="4066745" cy="197294"/>
            </a:xfrm>
            <a:prstGeom prst="roundRect">
              <a:avLst>
                <a:gd name="adj" fmla="val 5741"/>
              </a:avLst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R="0" defTabSz="979488" rtl="0" eaLnBrk="1" fontAlgn="base" latinLnBrk="1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700" i="1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"</a:t>
              </a:r>
              <a:r>
                <a:rPr kumimoji="1" lang="ko-KR" altLang="en-US" sz="700" i="1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중학교에서 수학을 가르치고 있어요</a:t>
              </a:r>
              <a:r>
                <a:rPr kumimoji="1" lang="en-US" altLang="ko-KR" sz="700" i="1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. </a:t>
              </a:r>
              <a:r>
                <a:rPr kumimoji="1" lang="ko-KR" altLang="en-US" sz="700" i="1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정규직 교사입니다</a:t>
              </a:r>
              <a:r>
                <a:rPr kumimoji="1" lang="en-US" altLang="ko-KR" sz="700" i="1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."</a:t>
              </a:r>
              <a:endParaRPr kumimoji="1" lang="ko-KR" altLang="en-US" sz="700" i="1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endParaRPr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7D842FDC-29EC-B3FD-CBE0-7F8259ED5C9D}"/>
              </a:ext>
            </a:extLst>
          </p:cNvPr>
          <p:cNvGrpSpPr/>
          <p:nvPr/>
        </p:nvGrpSpPr>
        <p:grpSpPr>
          <a:xfrm>
            <a:off x="6476869" y="3501008"/>
            <a:ext cx="1262668" cy="624903"/>
            <a:chOff x="5010233" y="3596185"/>
            <a:chExt cx="1262668" cy="624903"/>
          </a:xfrm>
        </p:grpSpPr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71C1F104-C975-D591-BAC7-93CF67EB8ECB}"/>
                </a:ext>
              </a:extLst>
            </p:cNvPr>
            <p:cNvGrpSpPr/>
            <p:nvPr/>
          </p:nvGrpSpPr>
          <p:grpSpPr>
            <a:xfrm>
              <a:off x="5010233" y="3596185"/>
              <a:ext cx="1262668" cy="624903"/>
              <a:chOff x="5010233" y="2876896"/>
              <a:chExt cx="1262668" cy="624903"/>
            </a:xfrm>
          </p:grpSpPr>
          <p:grpSp>
            <p:nvGrpSpPr>
              <p:cNvPr id="139" name="그룹 138">
                <a:extLst>
                  <a:ext uri="{FF2B5EF4-FFF2-40B4-BE49-F238E27FC236}">
                    <a16:creationId xmlns:a16="http://schemas.microsoft.com/office/drawing/2014/main" id="{81444773-F3E2-76D6-3746-29D538050C16}"/>
                  </a:ext>
                </a:extLst>
              </p:cNvPr>
              <p:cNvGrpSpPr/>
              <p:nvPr/>
            </p:nvGrpSpPr>
            <p:grpSpPr>
              <a:xfrm>
                <a:off x="5010233" y="2876896"/>
                <a:ext cx="1262668" cy="624903"/>
                <a:chOff x="2264535" y="4581128"/>
                <a:chExt cx="779998" cy="624903"/>
              </a:xfrm>
            </p:grpSpPr>
            <p:sp>
              <p:nvSpPr>
                <p:cNvPr id="141" name="사각형: 둥근 모서리 140">
                  <a:extLst>
                    <a:ext uri="{FF2B5EF4-FFF2-40B4-BE49-F238E27FC236}">
                      <a16:creationId xmlns:a16="http://schemas.microsoft.com/office/drawing/2014/main" id="{4175AADE-E297-A37D-B299-EA99EFC97C16}"/>
                    </a:ext>
                  </a:extLst>
                </p:cNvPr>
                <p:cNvSpPr/>
                <p:nvPr/>
              </p:nvSpPr>
              <p:spPr bwMode="auto">
                <a:xfrm>
                  <a:off x="2264535" y="4600653"/>
                  <a:ext cx="779998" cy="605378"/>
                </a:xfrm>
                <a:prstGeom prst="roundRect">
                  <a:avLst>
                    <a:gd name="adj" fmla="val 10117"/>
                  </a:avLst>
                </a:prstGeom>
                <a:solidFill>
                  <a:schemeClr val="bg1"/>
                </a:solidFill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 type="none" w="sm" len="med"/>
                </a:ln>
              </p:spPr>
              <p:txBody>
                <a:bodyPr wrap="none" rtlCol="0" anchor="ctr"/>
                <a:lstStyle/>
                <a:p>
                  <a:pPr algn="ctr"/>
                  <a:endParaRPr lang="ko-KR" altLang="en-US" sz="90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BFC1C7F2-B488-A411-8E5C-3F577E6E7E7C}"/>
                    </a:ext>
                  </a:extLst>
                </p:cNvPr>
                <p:cNvSpPr txBox="1"/>
                <p:nvPr/>
              </p:nvSpPr>
              <p:spPr>
                <a:xfrm>
                  <a:off x="2288704" y="4581128"/>
                  <a:ext cx="490088" cy="233581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>
                  <a:defPPr>
                    <a:defRPr lang="ko-KR"/>
                  </a:defPPr>
                  <a:lvl1pPr marL="171450" indent="-171450">
                    <a:buFont typeface="Wingdings" panose="05000000000000000000" pitchFamily="2" charset="2"/>
                    <a:buChar char="§"/>
                    <a:defRPr sz="1100" b="1">
                      <a:ln w="3175">
                        <a:solidFill>
                          <a:prstClr val="black">
                            <a:alpha val="0"/>
                          </a:prstClr>
                        </a:solidFill>
                      </a:ln>
                      <a:latin typeface="KoPub돋움체 Medium" panose="02020603020101020101" pitchFamily="18" charset="-127"/>
                      <a:ea typeface="KoPub돋움체 Medium" panose="02020603020101020101" pitchFamily="18" charset="-127"/>
                    </a:defRPr>
                  </a:lvl1pPr>
                </a:lstStyle>
                <a:p>
                  <a:pPr marL="0" indent="0">
                    <a:lnSpc>
                      <a:spcPct val="150000"/>
                    </a:lnSpc>
                    <a:buNone/>
                  </a:pPr>
                  <a:r>
                    <a:rPr lang="en-US" altLang="ko-KR" sz="800" b="0">
                      <a:solidFill>
                        <a:schemeClr val="tx2"/>
                      </a:solidFill>
                      <a:latin typeface="+mn-ea"/>
                      <a:ea typeface="+mn-ea"/>
                    </a:rPr>
                    <a:t>Top2</a:t>
                  </a:r>
                  <a:endParaRPr lang="en-US" altLang="ko-KR" sz="800" b="0" dirty="0">
                    <a:solidFill>
                      <a:schemeClr val="tx2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46" name="사각형: 둥근 모서리 145">
                  <a:extLst>
                    <a:ext uri="{FF2B5EF4-FFF2-40B4-BE49-F238E27FC236}">
                      <a16:creationId xmlns:a16="http://schemas.microsoft.com/office/drawing/2014/main" id="{CE746754-75C7-DBA3-3BC1-73D34201DDE4}"/>
                    </a:ext>
                  </a:extLst>
                </p:cNvPr>
                <p:cNvSpPr/>
                <p:nvPr/>
              </p:nvSpPr>
              <p:spPr bwMode="auto">
                <a:xfrm>
                  <a:off x="2313839" y="4780812"/>
                  <a:ext cx="668055" cy="197294"/>
                </a:xfrm>
                <a:prstGeom prst="roundRect">
                  <a:avLst>
                    <a:gd name="adj" fmla="val 5741"/>
                  </a:avLst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3600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defTabSz="979488" rtl="0" eaLnBrk="1" fontAlgn="base" latinLnBrk="1" hangingPunct="1">
                    <a:lnSpc>
                      <a:spcPct val="15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:r>
                    <a:rPr kumimoji="1" lang="en-US" altLang="ko-KR" sz="1000" b="1" i="0" u="none" strike="noStrike" cap="none" normalizeH="0" baseline="0">
                      <a:ln>
                        <a:noFill/>
                      </a:ln>
                      <a:effectLst/>
                      <a:latin typeface="+mn-ea"/>
                      <a:ea typeface="+mn-ea"/>
                    </a:rPr>
                    <a:t>2002</a:t>
                  </a:r>
                  <a:endParaRPr kumimoji="1" lang="ko-KR" altLang="en-US" sz="10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1C577499-C8E2-EA90-AF98-B76B5A3C34BD}"/>
                  </a:ext>
                </a:extLst>
              </p:cNvPr>
              <p:cNvSpPr txBox="1"/>
              <p:nvPr/>
            </p:nvSpPr>
            <p:spPr>
              <a:xfrm>
                <a:off x="5049359" y="3274042"/>
                <a:ext cx="1159343" cy="2134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000" b="0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+mn-ea"/>
                    <a:ea typeface="+mn-ea"/>
                  </a:defRPr>
                </a:lvl1pPr>
              </a:lstStyle>
              <a:p>
                <a:r>
                  <a:rPr lang="en-US" altLang="ko-KR" sz="700"/>
                  <a:t>♣ </a:t>
                </a:r>
                <a:r>
                  <a:rPr lang="ko-KR" altLang="en-US" sz="700"/>
                  <a:t>초등학교 교사</a:t>
                </a:r>
                <a:endParaRPr lang="en-US" altLang="ko-KR" sz="700"/>
              </a:p>
            </p:txBody>
          </p:sp>
        </p:grpSp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3DB053EE-1955-20DA-09BE-3F09BA545D03}"/>
                </a:ext>
              </a:extLst>
            </p:cNvPr>
            <p:cNvSpPr/>
            <p:nvPr/>
          </p:nvSpPr>
          <p:spPr bwMode="auto">
            <a:xfrm>
              <a:off x="5906918" y="3662838"/>
              <a:ext cx="301784" cy="163399"/>
            </a:xfrm>
            <a:prstGeom prst="roundRect">
              <a:avLst>
                <a:gd name="adj" fmla="val 24362"/>
              </a:avLst>
            </a:prstGeom>
            <a:solidFill>
              <a:schemeClr val="bg1">
                <a:lumMod val="50000"/>
              </a:schemeClr>
            </a:solidFill>
            <a:ln w="12700">
              <a:noFill/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700" b="1">
                  <a:solidFill>
                    <a:schemeClr val="bg1"/>
                  </a:solidFill>
                  <a:latin typeface="+mn-ea"/>
                  <a:ea typeface="+mn-ea"/>
                </a:rPr>
                <a:t>21%</a:t>
              </a:r>
              <a:endParaRPr lang="ko-KR" altLang="en-US" sz="700" b="1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54BF8B8A-7306-EF0B-24D3-FD7B7DFFDF11}"/>
              </a:ext>
            </a:extLst>
          </p:cNvPr>
          <p:cNvGrpSpPr/>
          <p:nvPr/>
        </p:nvGrpSpPr>
        <p:grpSpPr>
          <a:xfrm>
            <a:off x="7943505" y="3501008"/>
            <a:ext cx="1262668" cy="624903"/>
            <a:chOff x="5010233" y="3596185"/>
            <a:chExt cx="1262668" cy="624903"/>
          </a:xfrm>
        </p:grpSpPr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8CD1ED1E-9381-F1DB-3EF9-D1EA99ED1B3D}"/>
                </a:ext>
              </a:extLst>
            </p:cNvPr>
            <p:cNvGrpSpPr/>
            <p:nvPr/>
          </p:nvGrpSpPr>
          <p:grpSpPr>
            <a:xfrm>
              <a:off x="5010233" y="3596185"/>
              <a:ext cx="1262668" cy="624903"/>
              <a:chOff x="5010233" y="2876896"/>
              <a:chExt cx="1262668" cy="624903"/>
            </a:xfrm>
          </p:grpSpPr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5B445718-BFFC-4322-B68C-5900359DE819}"/>
                  </a:ext>
                </a:extLst>
              </p:cNvPr>
              <p:cNvGrpSpPr/>
              <p:nvPr/>
            </p:nvGrpSpPr>
            <p:grpSpPr>
              <a:xfrm>
                <a:off x="5010233" y="2876896"/>
                <a:ext cx="1262668" cy="624903"/>
                <a:chOff x="2264535" y="4581128"/>
                <a:chExt cx="779998" cy="624903"/>
              </a:xfrm>
            </p:grpSpPr>
            <p:sp>
              <p:nvSpPr>
                <p:cNvPr id="152" name="사각형: 둥근 모서리 151">
                  <a:extLst>
                    <a:ext uri="{FF2B5EF4-FFF2-40B4-BE49-F238E27FC236}">
                      <a16:creationId xmlns:a16="http://schemas.microsoft.com/office/drawing/2014/main" id="{AC7176F4-24D9-179D-09E2-504CEF5863B7}"/>
                    </a:ext>
                  </a:extLst>
                </p:cNvPr>
                <p:cNvSpPr/>
                <p:nvPr/>
              </p:nvSpPr>
              <p:spPr bwMode="auto">
                <a:xfrm>
                  <a:off x="2264535" y="4600653"/>
                  <a:ext cx="779998" cy="605378"/>
                </a:xfrm>
                <a:prstGeom prst="roundRect">
                  <a:avLst>
                    <a:gd name="adj" fmla="val 10117"/>
                  </a:avLst>
                </a:prstGeom>
                <a:solidFill>
                  <a:schemeClr val="bg1"/>
                </a:solidFill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 type="none" w="sm" len="med"/>
                </a:ln>
              </p:spPr>
              <p:txBody>
                <a:bodyPr wrap="none" rtlCol="0" anchor="ctr"/>
                <a:lstStyle/>
                <a:p>
                  <a:pPr algn="ctr"/>
                  <a:endParaRPr lang="ko-KR" altLang="en-US" sz="90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D2886A35-92B0-552D-73FF-8C956B740BFF}"/>
                    </a:ext>
                  </a:extLst>
                </p:cNvPr>
                <p:cNvSpPr txBox="1"/>
                <p:nvPr/>
              </p:nvSpPr>
              <p:spPr>
                <a:xfrm>
                  <a:off x="2288704" y="4581128"/>
                  <a:ext cx="490088" cy="233581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>
                  <a:defPPr>
                    <a:defRPr lang="ko-KR"/>
                  </a:defPPr>
                  <a:lvl1pPr marL="171450" indent="-171450">
                    <a:buFont typeface="Wingdings" panose="05000000000000000000" pitchFamily="2" charset="2"/>
                    <a:buChar char="§"/>
                    <a:defRPr sz="1100" b="1">
                      <a:ln w="3175">
                        <a:solidFill>
                          <a:prstClr val="black">
                            <a:alpha val="0"/>
                          </a:prstClr>
                        </a:solidFill>
                      </a:ln>
                      <a:latin typeface="KoPub돋움체 Medium" panose="02020603020101020101" pitchFamily="18" charset="-127"/>
                      <a:ea typeface="KoPub돋움체 Medium" panose="02020603020101020101" pitchFamily="18" charset="-127"/>
                    </a:defRPr>
                  </a:lvl1pPr>
                </a:lstStyle>
                <a:p>
                  <a:pPr marL="0" indent="0">
                    <a:lnSpc>
                      <a:spcPct val="150000"/>
                    </a:lnSpc>
                    <a:buNone/>
                  </a:pPr>
                  <a:r>
                    <a:rPr lang="en-US" altLang="ko-KR" sz="800" b="0">
                      <a:solidFill>
                        <a:schemeClr val="tx2"/>
                      </a:solidFill>
                      <a:latin typeface="+mn-ea"/>
                      <a:ea typeface="+mn-ea"/>
                    </a:rPr>
                    <a:t>Top3</a:t>
                  </a:r>
                  <a:endParaRPr lang="en-US" altLang="ko-KR" sz="800" b="0" dirty="0">
                    <a:solidFill>
                      <a:schemeClr val="tx2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4" name="사각형: 둥근 모서리 153">
                  <a:extLst>
                    <a:ext uri="{FF2B5EF4-FFF2-40B4-BE49-F238E27FC236}">
                      <a16:creationId xmlns:a16="http://schemas.microsoft.com/office/drawing/2014/main" id="{BE8E166F-229B-43DF-59A1-0830B78320C4}"/>
                    </a:ext>
                  </a:extLst>
                </p:cNvPr>
                <p:cNvSpPr/>
                <p:nvPr/>
              </p:nvSpPr>
              <p:spPr bwMode="auto">
                <a:xfrm>
                  <a:off x="2313839" y="4780812"/>
                  <a:ext cx="668055" cy="197294"/>
                </a:xfrm>
                <a:prstGeom prst="roundRect">
                  <a:avLst>
                    <a:gd name="adj" fmla="val 5741"/>
                  </a:avLst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3600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defTabSz="979488" rtl="0" eaLnBrk="1" fontAlgn="base" latinLnBrk="1" hangingPunct="1">
                    <a:lnSpc>
                      <a:spcPct val="15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:r>
                    <a:rPr kumimoji="1" lang="en-US" altLang="ko-KR" sz="1000" b="1" i="0" u="none" strike="noStrike" cap="none" normalizeH="0" baseline="0">
                      <a:ln>
                        <a:noFill/>
                      </a:ln>
                      <a:effectLst/>
                      <a:latin typeface="+mn-ea"/>
                      <a:ea typeface="+mn-ea"/>
                    </a:rPr>
                    <a:t>3003</a:t>
                  </a:r>
                  <a:endParaRPr kumimoji="1" lang="ko-KR" altLang="en-US" sz="10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3227E658-3C62-844A-92D8-EA02255F0244}"/>
                  </a:ext>
                </a:extLst>
              </p:cNvPr>
              <p:cNvSpPr txBox="1"/>
              <p:nvPr/>
            </p:nvSpPr>
            <p:spPr>
              <a:xfrm>
                <a:off x="5049359" y="3274042"/>
                <a:ext cx="1159343" cy="2134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000" b="0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+mn-ea"/>
                    <a:ea typeface="+mn-ea"/>
                  </a:defRPr>
                </a:lvl1pPr>
              </a:lstStyle>
              <a:p>
                <a:r>
                  <a:rPr lang="en-US" altLang="ko-KR" sz="700"/>
                  <a:t>♣ </a:t>
                </a:r>
                <a:r>
                  <a:rPr lang="ko-KR" altLang="en-US" sz="700"/>
                  <a:t>기타 교육 전문가</a:t>
                </a:r>
                <a:endParaRPr lang="en-US" altLang="ko-KR" sz="700"/>
              </a:p>
            </p:txBody>
          </p:sp>
        </p:grpSp>
        <p:sp>
          <p:nvSpPr>
            <p:cNvPr id="149" name="사각형: 둥근 모서리 148">
              <a:extLst>
                <a:ext uri="{FF2B5EF4-FFF2-40B4-BE49-F238E27FC236}">
                  <a16:creationId xmlns:a16="http://schemas.microsoft.com/office/drawing/2014/main" id="{01CEB58E-FEBA-DD1B-B753-14D9F38682A4}"/>
                </a:ext>
              </a:extLst>
            </p:cNvPr>
            <p:cNvSpPr/>
            <p:nvPr/>
          </p:nvSpPr>
          <p:spPr bwMode="auto">
            <a:xfrm>
              <a:off x="5906918" y="3662838"/>
              <a:ext cx="301784" cy="163399"/>
            </a:xfrm>
            <a:prstGeom prst="roundRect">
              <a:avLst>
                <a:gd name="adj" fmla="val 24362"/>
              </a:avLst>
            </a:prstGeom>
            <a:solidFill>
              <a:schemeClr val="bg1">
                <a:lumMod val="50000"/>
              </a:schemeClr>
            </a:solidFill>
            <a:ln w="12700">
              <a:noFill/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r>
                <a:rPr lang="en-US" altLang="ko-KR" sz="700" b="1">
                  <a:solidFill>
                    <a:schemeClr val="bg1"/>
                  </a:solidFill>
                  <a:latin typeface="+mn-ea"/>
                  <a:ea typeface="+mn-ea"/>
                </a:rPr>
                <a:t>12%</a:t>
              </a:r>
              <a:endParaRPr lang="ko-KR" altLang="en-US" sz="700" b="1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3582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BE2238B-78A6-0FF2-0605-C1289BBCB924}"/>
              </a:ext>
            </a:extLst>
          </p:cNvPr>
          <p:cNvSpPr/>
          <p:nvPr/>
        </p:nvSpPr>
        <p:spPr bwMode="auto">
          <a:xfrm>
            <a:off x="432273" y="5124911"/>
            <a:ext cx="8949191" cy="1328425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34D58D5A-60EB-8EE6-BD27-F4C28E14D827}"/>
              </a:ext>
            </a:extLst>
          </p:cNvPr>
          <p:cNvGrpSpPr/>
          <p:nvPr/>
        </p:nvGrpSpPr>
        <p:grpSpPr>
          <a:xfrm>
            <a:off x="560512" y="5647558"/>
            <a:ext cx="2669620" cy="659051"/>
            <a:chOff x="10318986" y="5083825"/>
            <a:chExt cx="2669620" cy="659051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07DCC9D1-86F9-EE4C-EC96-720F8C9C5238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2BDEEE05-229E-A89D-6AE0-A2721D0E1A3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조사별 분산 → 표준화</a:t>
              </a:r>
              <a:endParaRPr lang="en-US" altLang="ko-KR" sz="100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77D5B9C-8751-CF77-CF98-91CA2B23C753}"/>
                </a:ext>
              </a:extLst>
            </p:cNvPr>
            <p:cNvSpPr txBox="1"/>
            <p:nvPr/>
          </p:nvSpPr>
          <p:spPr>
            <a:xfrm>
              <a:off x="10379554" y="5385547"/>
              <a:ext cx="2529163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스크립트 자산 재사용 </a:t>
              </a:r>
              <a:r>
                <a:rPr lang="en-US" altLang="ko-KR" sz="800"/>
                <a:t>- </a:t>
              </a:r>
              <a:r>
                <a:rPr lang="ko-KR" altLang="en-US" sz="800"/>
                <a:t>산출물 일관성</a:t>
              </a:r>
              <a:endParaRPr lang="en-US" altLang="ko-KR" sz="800"/>
            </a:p>
          </p:txBody>
        </p:sp>
      </p:grp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01124" y="620688"/>
            <a:ext cx="8742756" cy="3683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ts val="2000"/>
              </a:lnSpc>
            </a:pP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통계표 자동 생성</a:t>
            </a:r>
            <a:endParaRPr lang="ko-KR" altLang="en-US" sz="20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7FE19520-BCCC-C5BB-C8AF-0BBE1A9754D3}"/>
              </a:ext>
            </a:extLst>
          </p:cNvPr>
          <p:cNvGrpSpPr/>
          <p:nvPr/>
        </p:nvGrpSpPr>
        <p:grpSpPr>
          <a:xfrm>
            <a:off x="445071" y="1124744"/>
            <a:ext cx="9188449" cy="338554"/>
            <a:chOff x="445071" y="1124744"/>
            <a:chExt cx="9188449" cy="338554"/>
          </a:xfrm>
        </p:grpSpPr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119C4970-B753-3519-BE02-B254D5097F8E}"/>
                </a:ext>
              </a:extLst>
            </p:cNvPr>
            <p:cNvSpPr/>
            <p:nvPr/>
          </p:nvSpPr>
          <p:spPr>
            <a:xfrm>
              <a:off x="697071" y="1124744"/>
              <a:ext cx="89364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"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표 명세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"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만 주면 집계 파이프라인과 레이아웃을 자동 구성</a:t>
              </a:r>
              <a:endParaRPr lang="ko-KR" altLang="en-US" sz="2000" dirty="0">
                <a:solidFill>
                  <a:srgbClr val="1692D3"/>
                </a:solidFill>
                <a:latin typeface="+mn-ea"/>
                <a:ea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4F6FA582-6393-C7E6-79D9-89A65B0FFA0A}"/>
                </a:ext>
              </a:extLst>
            </p:cNvPr>
            <p:cNvSpPr/>
            <p:nvPr/>
          </p:nvSpPr>
          <p:spPr bwMode="auto">
            <a:xfrm>
              <a:off x="445071" y="1173892"/>
              <a:ext cx="252000" cy="248283"/>
            </a:xfrm>
            <a:prstGeom prst="roundRect">
              <a:avLst/>
            </a:prstGeom>
            <a:solidFill>
              <a:srgbClr val="2E6CB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79488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▶</a:t>
              </a:r>
              <a:endParaRPr kumimoji="1" lang="ko-KR" altLang="en-US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73D774F-EFAC-210C-B306-6E3F311AB320}"/>
              </a:ext>
            </a:extLst>
          </p:cNvPr>
          <p:cNvSpPr/>
          <p:nvPr/>
        </p:nvSpPr>
        <p:spPr bwMode="auto">
          <a:xfrm>
            <a:off x="369076" y="610037"/>
            <a:ext cx="432048" cy="389040"/>
          </a:xfrm>
          <a:prstGeom prst="roundRect">
            <a:avLst>
              <a:gd name="adj" fmla="val 10117"/>
            </a:avLst>
          </a:prstGeom>
          <a:solidFill>
            <a:schemeClr val="tx2"/>
          </a:solidFill>
          <a:ln w="12700">
            <a:noFill/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en-US" altLang="ko-KR" b="1">
                <a:solidFill>
                  <a:schemeClr val="bg1"/>
                </a:solidFill>
                <a:latin typeface="+mn-ea"/>
                <a:ea typeface="+mn-ea"/>
              </a:rPr>
              <a:t>08</a:t>
            </a:r>
            <a:endParaRPr lang="ko-KR" altLang="en-US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4435F-8C6C-57FB-229E-98B2289EAFC9}"/>
              </a:ext>
            </a:extLst>
          </p:cNvPr>
          <p:cNvSpPr txBox="1"/>
          <p:nvPr/>
        </p:nvSpPr>
        <p:spPr>
          <a:xfrm>
            <a:off x="776536" y="1484784"/>
            <a:ext cx="8694494" cy="31398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200" b="0" spc="-120">
                <a:latin typeface="+mn-ea"/>
                <a:ea typeface="+mn-ea"/>
              </a:rPr>
              <a:t>통계표 메타</a:t>
            </a:r>
            <a:r>
              <a:rPr lang="en-US" altLang="ko-KR" sz="1200" b="0" spc="-120">
                <a:latin typeface="+mn-ea"/>
                <a:ea typeface="+mn-ea"/>
              </a:rPr>
              <a:t>(</a:t>
            </a:r>
            <a:r>
              <a:rPr lang="ko-KR" altLang="en-US" sz="1200" spc="-120">
                <a:latin typeface="+mn-ea"/>
                <a:ea typeface="+mn-ea"/>
              </a:rPr>
              <a:t>차원∙분류∙기간∙단위</a:t>
            </a:r>
            <a:r>
              <a:rPr lang="en-US" altLang="ko-KR" sz="1200" b="0" spc="-120">
                <a:latin typeface="+mn-ea"/>
                <a:ea typeface="+mn-ea"/>
              </a:rPr>
              <a:t>)</a:t>
            </a:r>
            <a:r>
              <a:rPr lang="ko-KR" altLang="en-US" sz="1200" b="0" spc="-120">
                <a:latin typeface="+mn-ea"/>
                <a:ea typeface="+mn-ea"/>
              </a:rPr>
              <a:t>와 기본 집계 스크립트 자산을 연결해 </a:t>
            </a:r>
            <a:r>
              <a:rPr lang="ko-KR" altLang="en-US" sz="1200" spc="-120">
                <a:latin typeface="+mn-ea"/>
                <a:ea typeface="+mn-ea"/>
              </a:rPr>
              <a:t>반복 산출물 생산을 표준화∙자동화</a:t>
            </a:r>
            <a:r>
              <a:rPr lang="ko-KR" altLang="en-US" sz="1200" b="0" spc="-120">
                <a:latin typeface="+mn-ea"/>
                <a:ea typeface="+mn-ea"/>
              </a:rPr>
              <a:t>하고 장시 공표 리스크를 낮춥니다</a:t>
            </a:r>
            <a:r>
              <a:rPr lang="en-US" altLang="ko-KR" sz="1200" b="0" spc="-120">
                <a:latin typeface="+mn-ea"/>
                <a:ea typeface="+mn-ea"/>
              </a:rPr>
              <a:t>.</a:t>
            </a:r>
            <a:endParaRPr lang="en-US" altLang="ko-KR" sz="1200" b="0" spc="-120" dirty="0">
              <a:latin typeface="+mn-ea"/>
              <a:ea typeface="+mn-ea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87F6383-3B90-5D8A-5E8A-72AAF3747502}"/>
              </a:ext>
            </a:extLst>
          </p:cNvPr>
          <p:cNvSpPr/>
          <p:nvPr/>
        </p:nvSpPr>
        <p:spPr bwMode="auto">
          <a:xfrm>
            <a:off x="432274" y="2333640"/>
            <a:ext cx="2914176" cy="2337436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B239B-9B77-986C-7183-04687505D49E}"/>
              </a:ext>
            </a:extLst>
          </p:cNvPr>
          <p:cNvSpPr txBox="1"/>
          <p:nvPr/>
        </p:nvSpPr>
        <p:spPr>
          <a:xfrm>
            <a:off x="848544" y="2360024"/>
            <a:ext cx="1634521" cy="213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40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r>
              <a:rPr lang="en-US" altLang="ko-KR" sz="700" b="0"/>
              <a:t>INPUT</a:t>
            </a:r>
            <a:r>
              <a:rPr lang="ko-KR" altLang="en-US" sz="700" b="0"/>
              <a:t> </a:t>
            </a:r>
            <a:r>
              <a:rPr lang="en-US" altLang="ko-KR" sz="700" b="0"/>
              <a:t>- </a:t>
            </a:r>
            <a:r>
              <a:rPr lang="ko-KR" altLang="en-US" sz="700" b="0"/>
              <a:t>표 명세</a:t>
            </a:r>
            <a:r>
              <a:rPr lang="en-US" altLang="ko-KR" sz="700" b="0"/>
              <a:t>(</a:t>
            </a:r>
            <a:r>
              <a:rPr lang="ko-KR" altLang="en-US" sz="700" b="0"/>
              <a:t>메타</a:t>
            </a:r>
            <a:r>
              <a:rPr lang="en-US" altLang="ko-KR" sz="700" b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1CFEA-BCCF-9E4C-2F12-C12991EC1DD8}"/>
              </a:ext>
            </a:extLst>
          </p:cNvPr>
          <p:cNvSpPr txBox="1"/>
          <p:nvPr/>
        </p:nvSpPr>
        <p:spPr>
          <a:xfrm>
            <a:off x="848544" y="2529536"/>
            <a:ext cx="2205572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000"/>
              <a:t>차원 ∙ 분류 ∙ 기간 ∙ 단위</a:t>
            </a:r>
            <a:endParaRPr lang="en-US" altLang="ko-KR" sz="10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3BB79F7-A2F7-C727-E2D9-664BF2454BB4}"/>
              </a:ext>
            </a:extLst>
          </p:cNvPr>
          <p:cNvGrpSpPr/>
          <p:nvPr/>
        </p:nvGrpSpPr>
        <p:grpSpPr>
          <a:xfrm>
            <a:off x="560512" y="2852936"/>
            <a:ext cx="2669620" cy="399352"/>
            <a:chOff x="10318986" y="5079565"/>
            <a:chExt cx="2669620" cy="50752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A08A3682-EA07-DCFA-F4E5-E48B5A719531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6042E4-2E39-1A03-26B0-F33B3221242D}"/>
                </a:ext>
              </a:extLst>
            </p:cNvPr>
            <p:cNvSpPr txBox="1"/>
            <p:nvPr/>
          </p:nvSpPr>
          <p:spPr>
            <a:xfrm>
              <a:off x="10379552" y="5079565"/>
              <a:ext cx="1826776" cy="29685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차원 </a:t>
              </a:r>
              <a:r>
                <a:rPr lang="en-US" altLang="ko-KR" sz="800"/>
                <a:t>(Dimensions)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4848DF-A6A5-D1AF-840B-A6BAA617B3FB}"/>
                </a:ext>
              </a:extLst>
            </p:cNvPr>
            <p:cNvSpPr txBox="1"/>
            <p:nvPr/>
          </p:nvSpPr>
          <p:spPr>
            <a:xfrm>
              <a:off x="10379555" y="5290300"/>
              <a:ext cx="2529162" cy="27126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시도 </a:t>
              </a:r>
              <a:r>
                <a:rPr lang="en-US" altLang="ko-KR" sz="700"/>
                <a:t>X </a:t>
              </a:r>
              <a:r>
                <a:rPr lang="ko-KR" altLang="en-US" sz="700"/>
                <a:t>산업 </a:t>
              </a:r>
              <a:r>
                <a:rPr lang="en-US" altLang="ko-KR" sz="700"/>
                <a:t>X </a:t>
              </a:r>
              <a:r>
                <a:rPr lang="ko-KR" altLang="en-US" sz="700"/>
                <a:t>연령 </a:t>
              </a:r>
              <a:r>
                <a:rPr lang="en-US" altLang="ko-KR" sz="700"/>
                <a:t>X </a:t>
              </a:r>
              <a:r>
                <a:rPr lang="ko-KR" altLang="en-US" sz="700"/>
                <a:t>성별 </a:t>
              </a:r>
              <a:r>
                <a:rPr lang="en-US" altLang="ko-KR" sz="700"/>
                <a:t>- </a:t>
              </a:r>
              <a:r>
                <a:rPr lang="ko-KR" altLang="en-US" sz="700"/>
                <a:t>행 ∙ 열 자동 배치</a:t>
              </a:r>
              <a:endParaRPr lang="en-US" altLang="ko-KR" sz="700"/>
            </a:p>
          </p:txBody>
        </p:sp>
      </p:grp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3E3B9804-C593-80DA-55CE-D2E0E402ADB8}"/>
              </a:ext>
            </a:extLst>
          </p:cNvPr>
          <p:cNvSpPr/>
          <p:nvPr/>
        </p:nvSpPr>
        <p:spPr bwMode="auto">
          <a:xfrm>
            <a:off x="524536" y="2441680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FEB178D-F49A-554D-41C0-D72EE1A1EC62}"/>
              </a:ext>
            </a:extLst>
          </p:cNvPr>
          <p:cNvSpPr txBox="1"/>
          <p:nvPr/>
        </p:nvSpPr>
        <p:spPr>
          <a:xfrm>
            <a:off x="403796" y="1932744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</a:t>
            </a:r>
            <a:r>
              <a:rPr lang="en-US" altLang="ko-KR">
                <a:latin typeface="+mn-ea"/>
                <a:ea typeface="+mn-ea"/>
              </a:rPr>
              <a:t>INPUT / OUTPUT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8A70F04-3FF6-C34C-1873-D67615872948}"/>
              </a:ext>
            </a:extLst>
          </p:cNvPr>
          <p:cNvSpPr txBox="1"/>
          <p:nvPr/>
        </p:nvSpPr>
        <p:spPr>
          <a:xfrm>
            <a:off x="403796" y="4763916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기대 효과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4F3F328-7489-78AF-84FC-8175DE0A4AE1}"/>
              </a:ext>
            </a:extLst>
          </p:cNvPr>
          <p:cNvSpPr txBox="1"/>
          <p:nvPr/>
        </p:nvSpPr>
        <p:spPr>
          <a:xfrm>
            <a:off x="848544" y="5250998"/>
            <a:ext cx="2301698" cy="2419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100"/>
              <a:t>공표 패키지 표준화</a:t>
            </a:r>
            <a:endParaRPr lang="en-US" altLang="ko-KR" sz="1100"/>
          </a:p>
        </p:txBody>
      </p:sp>
      <p:sp>
        <p:nvSpPr>
          <p:cNvPr id="181" name="순서도: 연결자 180">
            <a:extLst>
              <a:ext uri="{FF2B5EF4-FFF2-40B4-BE49-F238E27FC236}">
                <a16:creationId xmlns:a16="http://schemas.microsoft.com/office/drawing/2014/main" id="{3100B06F-B4DB-198F-534C-36A712710641}"/>
              </a:ext>
            </a:extLst>
          </p:cNvPr>
          <p:cNvSpPr/>
          <p:nvPr/>
        </p:nvSpPr>
        <p:spPr bwMode="auto">
          <a:xfrm>
            <a:off x="524536" y="5232951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08B00959-4701-F754-1201-A779B1FB430B}"/>
              </a:ext>
            </a:extLst>
          </p:cNvPr>
          <p:cNvGrpSpPr/>
          <p:nvPr/>
        </p:nvGrpSpPr>
        <p:grpSpPr>
          <a:xfrm>
            <a:off x="3501882" y="5647558"/>
            <a:ext cx="2669620" cy="659051"/>
            <a:chOff x="10318986" y="5083825"/>
            <a:chExt cx="2669620" cy="659051"/>
          </a:xfrm>
        </p:grpSpPr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BD05C4D7-F1F3-DCEA-4944-3E1DA4E76105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5ACAB24A-0A90-488B-1C0C-DC70BE43D2B1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정시 공표 리스크 ↓</a:t>
              </a:r>
              <a:endParaRPr lang="en-US" altLang="ko-KR" sz="1000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E5C2B7A8-76EB-0867-8E15-9EC868F15C8A}"/>
                </a:ext>
              </a:extLst>
            </p:cNvPr>
            <p:cNvSpPr txBox="1"/>
            <p:nvPr/>
          </p:nvSpPr>
          <p:spPr>
            <a:xfrm>
              <a:off x="10379554" y="5367990"/>
              <a:ext cx="2529163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집계 ∙ 레이아웃 재작업 시간 단축</a:t>
              </a:r>
              <a:endParaRPr lang="en-US" altLang="ko-KR" sz="800"/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7B18055D-FD2E-6783-1E65-2D09BDBA669D}"/>
              </a:ext>
            </a:extLst>
          </p:cNvPr>
          <p:cNvGrpSpPr/>
          <p:nvPr/>
        </p:nvGrpSpPr>
        <p:grpSpPr>
          <a:xfrm>
            <a:off x="6536553" y="5647558"/>
            <a:ext cx="2669620" cy="659051"/>
            <a:chOff x="10318986" y="5083825"/>
            <a:chExt cx="2669620" cy="659051"/>
          </a:xfrm>
        </p:grpSpPr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57AE59B2-5C2A-B895-7D6E-6A5B42A916D4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80BE796F-CB95-928A-2933-BCFBAF46A1C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병목 매핑</a:t>
              </a:r>
              <a:endParaRPr lang="en-US" altLang="ko-KR" sz="800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1B7A4C44-D6D7-5AD0-EC0E-7C57EC826304}"/>
                </a:ext>
              </a:extLst>
            </p:cNvPr>
            <p:cNvSpPr txBox="1"/>
            <p:nvPr/>
          </p:nvSpPr>
          <p:spPr>
            <a:xfrm>
              <a:off x="10379554" y="5328400"/>
              <a:ext cx="2529163" cy="37503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공표 </a:t>
              </a:r>
              <a:r>
                <a:rPr lang="en-US" altLang="ko-KR" sz="700"/>
                <a:t>( KSBPM ⑦ ) - </a:t>
              </a:r>
              <a:r>
                <a:rPr lang="ko-KR" altLang="en-US" sz="700"/>
                <a:t>통계표 생성 스크립트의 조사별 재작성 부담 해소</a:t>
              </a:r>
              <a:endParaRPr lang="en-US" altLang="ko-KR" sz="700"/>
            </a:p>
          </p:txBody>
        </p:sp>
      </p:grpSp>
      <p:sp>
        <p:nvSpPr>
          <p:cNvPr id="278" name="사각형: 둥근 모서리 277">
            <a:extLst>
              <a:ext uri="{FF2B5EF4-FFF2-40B4-BE49-F238E27FC236}">
                <a16:creationId xmlns:a16="http://schemas.microsoft.com/office/drawing/2014/main" id="{2AD9AD6D-A2E8-DF5F-60B1-2574633FD195}"/>
              </a:ext>
            </a:extLst>
          </p:cNvPr>
          <p:cNvSpPr/>
          <p:nvPr/>
        </p:nvSpPr>
        <p:spPr bwMode="auto">
          <a:xfrm>
            <a:off x="3501882" y="2333640"/>
            <a:ext cx="5879582" cy="2337436"/>
          </a:xfrm>
          <a:prstGeom prst="roundRect">
            <a:avLst>
              <a:gd name="adj" fmla="val 3923"/>
            </a:avLst>
          </a:prstGeom>
          <a:solidFill>
            <a:schemeClr val="tx2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9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FD559E8B-B039-DD50-5C5E-CD6C2B788A5E}"/>
              </a:ext>
            </a:extLst>
          </p:cNvPr>
          <p:cNvSpPr txBox="1"/>
          <p:nvPr/>
        </p:nvSpPr>
        <p:spPr>
          <a:xfrm>
            <a:off x="3682427" y="2388091"/>
            <a:ext cx="2180762" cy="23358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800" b="0">
                <a:solidFill>
                  <a:schemeClr val="bg1"/>
                </a:solidFill>
                <a:latin typeface="+mn-ea"/>
                <a:ea typeface="+mn-ea"/>
              </a:rPr>
              <a:t>OUTPUT</a:t>
            </a:r>
            <a:r>
              <a:rPr lang="ko-KR" altLang="en-US" sz="800" b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ko-KR" sz="800" b="0">
                <a:solidFill>
                  <a:schemeClr val="bg1"/>
                </a:solidFill>
                <a:latin typeface="+mn-ea"/>
                <a:ea typeface="+mn-ea"/>
              </a:rPr>
              <a:t>-</a:t>
            </a:r>
            <a:r>
              <a:rPr lang="ko-KR" altLang="en-US" sz="800" b="0">
                <a:solidFill>
                  <a:schemeClr val="bg1"/>
                </a:solidFill>
                <a:latin typeface="+mn-ea"/>
                <a:ea typeface="+mn-ea"/>
              </a:rPr>
              <a:t> 자동 구성되는 </a:t>
            </a:r>
            <a:r>
              <a:rPr lang="en-US" altLang="ko-KR" sz="800" b="0">
                <a:solidFill>
                  <a:schemeClr val="bg1"/>
                </a:solidFill>
                <a:latin typeface="+mn-ea"/>
                <a:ea typeface="+mn-ea"/>
              </a:rPr>
              <a:t>4</a:t>
            </a:r>
            <a:r>
              <a:rPr lang="ko-KR" altLang="en-US" sz="800" b="0">
                <a:solidFill>
                  <a:schemeClr val="bg1"/>
                </a:solidFill>
                <a:latin typeface="+mn-ea"/>
                <a:ea typeface="+mn-ea"/>
              </a:rPr>
              <a:t>종</a:t>
            </a:r>
            <a:endParaRPr lang="en-US" altLang="ko-KR" sz="8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80" name="사각형: 둥근 모서리 279">
            <a:extLst>
              <a:ext uri="{FF2B5EF4-FFF2-40B4-BE49-F238E27FC236}">
                <a16:creationId xmlns:a16="http://schemas.microsoft.com/office/drawing/2014/main" id="{0B60934F-9806-3A98-DD73-CE9C65027B03}"/>
              </a:ext>
            </a:extLst>
          </p:cNvPr>
          <p:cNvSpPr/>
          <p:nvPr/>
        </p:nvSpPr>
        <p:spPr bwMode="auto">
          <a:xfrm>
            <a:off x="3682427" y="2595910"/>
            <a:ext cx="4267376" cy="197294"/>
          </a:xfrm>
          <a:prstGeom prst="roundRect">
            <a:avLst>
              <a:gd name="adj" fmla="val 5741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defTabSz="979488" rtl="0" eaLnBrk="1" fontAlgn="base" latinLnBrk="1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kumimoji="1" lang="ko-KR" altLang="en-US" sz="1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파이프라인 </a:t>
            </a:r>
            <a:r>
              <a:rPr lang="en-US" altLang="ko-KR" sz="1100" b="1">
                <a:solidFill>
                  <a:schemeClr val="bg1"/>
                </a:solidFill>
                <a:latin typeface="+mn-ea"/>
                <a:ea typeface="+mn-ea"/>
              </a:rPr>
              <a:t>+ </a:t>
            </a:r>
            <a:r>
              <a:rPr lang="ko-KR" altLang="en-US" sz="1100" b="1">
                <a:solidFill>
                  <a:schemeClr val="bg1"/>
                </a:solidFill>
                <a:latin typeface="+mn-ea"/>
                <a:ea typeface="+mn-ea"/>
              </a:rPr>
              <a:t>표 </a:t>
            </a:r>
            <a:r>
              <a:rPr lang="en-US" altLang="ko-KR" sz="1100" b="1">
                <a:solidFill>
                  <a:schemeClr val="bg1"/>
                </a:solidFill>
                <a:latin typeface="+mn-ea"/>
                <a:ea typeface="+mn-ea"/>
              </a:rPr>
              <a:t>+ </a:t>
            </a:r>
            <a:r>
              <a:rPr lang="ko-KR" altLang="en-US" sz="1100" b="1">
                <a:solidFill>
                  <a:schemeClr val="bg1"/>
                </a:solidFill>
                <a:latin typeface="+mn-ea"/>
                <a:ea typeface="+mn-ea"/>
              </a:rPr>
              <a:t>차트 </a:t>
            </a:r>
            <a:r>
              <a:rPr lang="en-US" altLang="ko-KR" sz="1100" b="1">
                <a:solidFill>
                  <a:schemeClr val="bg1"/>
                </a:solidFill>
                <a:latin typeface="+mn-ea"/>
                <a:ea typeface="+mn-ea"/>
              </a:rPr>
              <a:t>+ </a:t>
            </a:r>
            <a:r>
              <a:rPr lang="ko-KR" altLang="en-US" sz="1100" b="1">
                <a:solidFill>
                  <a:schemeClr val="bg1"/>
                </a:solidFill>
                <a:latin typeface="+mn-ea"/>
                <a:ea typeface="+mn-ea"/>
              </a:rPr>
              <a:t>공표 패키지</a:t>
            </a:r>
            <a:endParaRPr kumimoji="1" lang="ko-KR" altLang="en-US" sz="11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B47A819-8501-D6B4-B839-B71FBAA630F8}"/>
              </a:ext>
            </a:extLst>
          </p:cNvPr>
          <p:cNvGrpSpPr/>
          <p:nvPr/>
        </p:nvGrpSpPr>
        <p:grpSpPr>
          <a:xfrm>
            <a:off x="3686556" y="4070722"/>
            <a:ext cx="5486472" cy="459106"/>
            <a:chOff x="2264535" y="4600178"/>
            <a:chExt cx="3389202" cy="459106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56CFD9BB-D910-789B-1D9C-1DC3BD0F2721}"/>
                </a:ext>
              </a:extLst>
            </p:cNvPr>
            <p:cNvSpPr/>
            <p:nvPr/>
          </p:nvSpPr>
          <p:spPr bwMode="auto">
            <a:xfrm>
              <a:off x="2264535" y="4600653"/>
              <a:ext cx="3389202" cy="458631"/>
            </a:xfrm>
            <a:prstGeom prst="roundRect">
              <a:avLst>
                <a:gd name="adj" fmla="val 10117"/>
              </a:avLst>
            </a:prstGeom>
            <a:solidFill>
              <a:schemeClr val="bg1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9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105AE6A-54DF-A7FB-EB94-CBD083BC8639}"/>
                </a:ext>
              </a:extLst>
            </p:cNvPr>
            <p:cNvSpPr txBox="1"/>
            <p:nvPr/>
          </p:nvSpPr>
          <p:spPr>
            <a:xfrm>
              <a:off x="2288704" y="4600178"/>
              <a:ext cx="490088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700" b="0">
                  <a:solidFill>
                    <a:schemeClr val="tx2"/>
                  </a:solidFill>
                  <a:latin typeface="+mn-ea"/>
                  <a:ea typeface="+mn-ea"/>
                </a:rPr>
                <a:t>다음 단계 연계</a:t>
              </a:r>
              <a:endParaRPr lang="en-US" altLang="ko-KR" sz="700" b="0" dirty="0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EB92332A-9038-9EFE-CBBE-D90D677A9104}"/>
                </a:ext>
              </a:extLst>
            </p:cNvPr>
            <p:cNvSpPr/>
            <p:nvPr/>
          </p:nvSpPr>
          <p:spPr bwMode="auto">
            <a:xfrm>
              <a:off x="2313839" y="4793512"/>
              <a:ext cx="3311022" cy="197294"/>
            </a:xfrm>
            <a:prstGeom prst="roundRect">
              <a:avLst>
                <a:gd name="adj" fmla="val 5741"/>
              </a:avLst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R="0" defTabSz="979488" rtl="0" eaLnBrk="1" fontAlgn="base" latinLnBrk="1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ko-KR" altLang="en-US" sz="800" b="1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rPr>
                <a:t>생성된 표는 자동으로 과제 </a:t>
              </a:r>
              <a:r>
                <a:rPr kumimoji="1" lang="en-US" altLang="ko-KR" sz="800" b="1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rPr>
                <a:t>09(</a:t>
              </a:r>
              <a:r>
                <a:rPr kumimoji="1" lang="ko-KR" altLang="en-US" sz="800" b="1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rPr>
                <a:t>공표 전 자동 검증</a:t>
              </a:r>
              <a:r>
                <a:rPr kumimoji="1" lang="en-US" altLang="ko-KR" sz="800" b="1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rPr>
                <a:t>)</a:t>
              </a:r>
              <a:r>
                <a:rPr kumimoji="1" lang="ko-KR" altLang="en-US" sz="800" b="1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rPr>
                <a:t>에 투입 → 합계 ∙ 급변 ∙ 비밀보호 점검 후 승인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C1D4D934-B273-B56D-1DDE-67CB12FCFCC1}"/>
              </a:ext>
            </a:extLst>
          </p:cNvPr>
          <p:cNvGrpSpPr/>
          <p:nvPr/>
        </p:nvGrpSpPr>
        <p:grpSpPr>
          <a:xfrm>
            <a:off x="3686557" y="2948427"/>
            <a:ext cx="2562587" cy="504000"/>
            <a:chOff x="2264534" y="4581128"/>
            <a:chExt cx="2562587" cy="408565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62BEF985-25EB-CCAE-5B99-C0DFE274B37B}"/>
                </a:ext>
              </a:extLst>
            </p:cNvPr>
            <p:cNvSpPr/>
            <p:nvPr/>
          </p:nvSpPr>
          <p:spPr bwMode="auto">
            <a:xfrm>
              <a:off x="2264534" y="4600653"/>
              <a:ext cx="2562587" cy="389040"/>
            </a:xfrm>
            <a:prstGeom prst="roundRect">
              <a:avLst>
                <a:gd name="adj" fmla="val 10117"/>
              </a:avLst>
            </a:prstGeom>
            <a:solidFill>
              <a:srgbClr val="2A63A8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9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14BB082-714D-AD3C-2A68-2D9FEA6E31EF}"/>
                </a:ext>
              </a:extLst>
            </p:cNvPr>
            <p:cNvSpPr txBox="1"/>
            <p:nvPr/>
          </p:nvSpPr>
          <p:spPr>
            <a:xfrm>
              <a:off x="2288704" y="4581128"/>
              <a:ext cx="1487999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800">
                  <a:solidFill>
                    <a:schemeClr val="bg1"/>
                  </a:solidFill>
                  <a:latin typeface="+mn-ea"/>
                  <a:ea typeface="+mn-ea"/>
                </a:rPr>
                <a:t>집계 파이프라인 코드</a:t>
              </a:r>
              <a:endParaRPr lang="en-US" altLang="ko-KR" sz="8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5EF7B35D-3316-2DFF-8D60-FFD4893A6FFB}"/>
                </a:ext>
              </a:extLst>
            </p:cNvPr>
            <p:cNvSpPr/>
            <p:nvPr/>
          </p:nvSpPr>
          <p:spPr bwMode="auto">
            <a:xfrm>
              <a:off x="2313840" y="4774674"/>
              <a:ext cx="2435640" cy="197294"/>
            </a:xfrm>
            <a:prstGeom prst="roundRect">
              <a:avLst>
                <a:gd name="adj" fmla="val 5741"/>
              </a:avLst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R="0" defTabSz="979488" rtl="0" eaLnBrk="1" fontAlgn="base" latinLnBrk="1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70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SQL / Python / R </a:t>
              </a:r>
              <a:r>
                <a:rPr kumimoji="1" lang="ko-KR" altLang="en-US" sz="70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스크립트 자동 생성 </a:t>
              </a:r>
              <a:r>
                <a:rPr kumimoji="1" lang="en-US" altLang="ko-KR" sz="70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+ </a:t>
              </a:r>
              <a:r>
                <a:rPr kumimoji="1" lang="ko-KR" altLang="en-US" sz="70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단위테스트 포함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819B8E9-69F4-8FCF-1391-BF0D4A31FBA8}"/>
              </a:ext>
            </a:extLst>
          </p:cNvPr>
          <p:cNvGrpSpPr/>
          <p:nvPr/>
        </p:nvGrpSpPr>
        <p:grpSpPr>
          <a:xfrm>
            <a:off x="560512" y="3283774"/>
            <a:ext cx="2669620" cy="399352"/>
            <a:chOff x="10318986" y="5079565"/>
            <a:chExt cx="2669620" cy="507525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C048FAD7-7602-2282-A2C7-74C60FD27C29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BFFD849-97ED-3636-51E0-5A503CA64188}"/>
                </a:ext>
              </a:extLst>
            </p:cNvPr>
            <p:cNvSpPr txBox="1"/>
            <p:nvPr/>
          </p:nvSpPr>
          <p:spPr>
            <a:xfrm>
              <a:off x="10379552" y="5079565"/>
              <a:ext cx="1826776" cy="29685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분류체계</a:t>
              </a:r>
              <a:r>
                <a:rPr lang="en-US" altLang="ko-KR" sz="800"/>
                <a:t>(Code list)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161CE02-EB23-A138-B300-E50BBC08610B}"/>
                </a:ext>
              </a:extLst>
            </p:cNvPr>
            <p:cNvSpPr txBox="1"/>
            <p:nvPr/>
          </p:nvSpPr>
          <p:spPr>
            <a:xfrm>
              <a:off x="10379555" y="5290300"/>
              <a:ext cx="2529162" cy="27126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en-US" altLang="ko-KR" sz="700"/>
                <a:t>KSIC / KSCO / </a:t>
              </a:r>
              <a:r>
                <a:rPr lang="ko-KR" altLang="en-US" sz="700"/>
                <a:t>행정구역 </a:t>
              </a:r>
              <a:r>
                <a:rPr lang="en-US" altLang="ko-KR" sz="700"/>
                <a:t>- </a:t>
              </a:r>
              <a:r>
                <a:rPr lang="ko-KR" altLang="en-US" sz="700"/>
                <a:t>표준 </a:t>
              </a:r>
              <a:r>
                <a:rPr lang="en-US" altLang="ko-KR" sz="700"/>
                <a:t>ID </a:t>
              </a:r>
              <a:r>
                <a:rPr lang="ko-KR" altLang="en-US" sz="700"/>
                <a:t>자동 매핑</a:t>
              </a:r>
              <a:endParaRPr lang="en-US" altLang="ko-KR" sz="700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0653B3D-A533-506C-F25F-5F22631AD29F}"/>
              </a:ext>
            </a:extLst>
          </p:cNvPr>
          <p:cNvGrpSpPr/>
          <p:nvPr/>
        </p:nvGrpSpPr>
        <p:grpSpPr>
          <a:xfrm>
            <a:off x="560512" y="3714612"/>
            <a:ext cx="2669620" cy="399352"/>
            <a:chOff x="10318986" y="5079565"/>
            <a:chExt cx="2669620" cy="507525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567A204D-1D55-AAFE-3E79-6A7F2B6FCB44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9357432-5904-6964-8B44-7FC6957230BF}"/>
                </a:ext>
              </a:extLst>
            </p:cNvPr>
            <p:cNvSpPr txBox="1"/>
            <p:nvPr/>
          </p:nvSpPr>
          <p:spPr>
            <a:xfrm>
              <a:off x="10379552" y="5079565"/>
              <a:ext cx="1826776" cy="29685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기간 ∙ 주기</a:t>
              </a:r>
              <a:endParaRPr lang="en-US" altLang="ko-KR" sz="80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BBCF6F9-9A0C-4BC3-F5A9-85ABDACF8765}"/>
                </a:ext>
              </a:extLst>
            </p:cNvPr>
            <p:cNvSpPr txBox="1"/>
            <p:nvPr/>
          </p:nvSpPr>
          <p:spPr>
            <a:xfrm>
              <a:off x="10379555" y="5290300"/>
              <a:ext cx="2529162" cy="27126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월 ∙ 분기 ∙ 연 </a:t>
              </a:r>
              <a:r>
                <a:rPr lang="en-US" altLang="ko-KR" sz="700"/>
                <a:t>+ </a:t>
              </a:r>
              <a:r>
                <a:rPr lang="ko-KR" altLang="en-US" sz="700"/>
                <a:t>직전 동기 비교 셀 자동 생성</a:t>
              </a:r>
              <a:endParaRPr lang="en-US" altLang="ko-KR" sz="700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EA65273-F3DA-D001-229A-1A3F81C76113}"/>
              </a:ext>
            </a:extLst>
          </p:cNvPr>
          <p:cNvGrpSpPr/>
          <p:nvPr/>
        </p:nvGrpSpPr>
        <p:grpSpPr>
          <a:xfrm>
            <a:off x="560512" y="4145451"/>
            <a:ext cx="2669620" cy="399352"/>
            <a:chOff x="10318986" y="5079565"/>
            <a:chExt cx="2669620" cy="507525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05F8791E-364E-0F8D-2229-E06D66D13B0E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0A2E61B-2522-BFBB-E857-7EC4CBDA6971}"/>
                </a:ext>
              </a:extLst>
            </p:cNvPr>
            <p:cNvSpPr txBox="1"/>
            <p:nvPr/>
          </p:nvSpPr>
          <p:spPr>
            <a:xfrm>
              <a:off x="10379552" y="5079565"/>
              <a:ext cx="1826776" cy="29685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단위 ∙ 소수점</a:t>
              </a:r>
              <a:endParaRPr lang="en-US" altLang="ko-KR" sz="8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42799CB-2A7D-73E6-6AA9-21F712444A01}"/>
                </a:ext>
              </a:extLst>
            </p:cNvPr>
            <p:cNvSpPr txBox="1"/>
            <p:nvPr/>
          </p:nvSpPr>
          <p:spPr>
            <a:xfrm>
              <a:off x="10379555" y="5290300"/>
              <a:ext cx="2529162" cy="27126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천명 </a:t>
              </a:r>
              <a:r>
                <a:rPr lang="en-US" altLang="ko-KR" sz="700"/>
                <a:t>/ % / </a:t>
              </a:r>
              <a:r>
                <a:rPr lang="ko-KR" altLang="en-US" sz="700"/>
                <a:t>백만원 </a:t>
              </a:r>
              <a:r>
                <a:rPr lang="en-US" altLang="ko-KR" sz="700"/>
                <a:t>- </a:t>
              </a:r>
              <a:r>
                <a:rPr lang="ko-KR" altLang="en-US" sz="700"/>
                <a:t>반올림 ∙ 표기 규칙 일괄 적용</a:t>
              </a:r>
              <a:endParaRPr lang="en-US" altLang="ko-KR" sz="700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CB0ED7D-D862-BBBE-64A9-24F3791CD2C9}"/>
              </a:ext>
            </a:extLst>
          </p:cNvPr>
          <p:cNvGrpSpPr/>
          <p:nvPr/>
        </p:nvGrpSpPr>
        <p:grpSpPr>
          <a:xfrm>
            <a:off x="6610441" y="2948427"/>
            <a:ext cx="2562587" cy="504000"/>
            <a:chOff x="2264534" y="4581128"/>
            <a:chExt cx="2562587" cy="408565"/>
          </a:xfrm>
        </p:grpSpPr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61136012-A828-B77F-6D6C-BDD4F854F612}"/>
                </a:ext>
              </a:extLst>
            </p:cNvPr>
            <p:cNvSpPr/>
            <p:nvPr/>
          </p:nvSpPr>
          <p:spPr bwMode="auto">
            <a:xfrm>
              <a:off x="2264534" y="4600653"/>
              <a:ext cx="2562587" cy="389040"/>
            </a:xfrm>
            <a:prstGeom prst="roundRect">
              <a:avLst>
                <a:gd name="adj" fmla="val 10117"/>
              </a:avLst>
            </a:prstGeom>
            <a:solidFill>
              <a:srgbClr val="2A63A8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9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87D46A-CD03-2832-F418-324229590761}"/>
                </a:ext>
              </a:extLst>
            </p:cNvPr>
            <p:cNvSpPr txBox="1"/>
            <p:nvPr/>
          </p:nvSpPr>
          <p:spPr>
            <a:xfrm>
              <a:off x="2288704" y="4581128"/>
              <a:ext cx="1487999" cy="18935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800">
                  <a:solidFill>
                    <a:schemeClr val="bg1"/>
                  </a:solidFill>
                  <a:latin typeface="+mn-ea"/>
                  <a:ea typeface="+mn-ea"/>
                </a:rPr>
                <a:t>공표용 표</a:t>
              </a:r>
              <a:r>
                <a:rPr lang="en-US" altLang="ko-KR" sz="800">
                  <a:solidFill>
                    <a:schemeClr val="bg1"/>
                  </a:solidFill>
                  <a:latin typeface="+mn-ea"/>
                  <a:ea typeface="+mn-ea"/>
                </a:rPr>
                <a:t>(</a:t>
              </a:r>
              <a:r>
                <a:rPr lang="ko-KR" altLang="en-US" sz="800">
                  <a:solidFill>
                    <a:schemeClr val="bg1"/>
                  </a:solidFill>
                  <a:latin typeface="+mn-ea"/>
                  <a:ea typeface="+mn-ea"/>
                </a:rPr>
                <a:t>레이아웃</a:t>
              </a:r>
              <a:r>
                <a:rPr lang="en-US" altLang="ko-KR" sz="800">
                  <a:solidFill>
                    <a:schemeClr val="bg1"/>
                  </a:solidFill>
                  <a:latin typeface="+mn-ea"/>
                  <a:ea typeface="+mn-ea"/>
                </a:rPr>
                <a:t>)</a:t>
              </a:r>
              <a:endParaRPr lang="en-US" altLang="ko-KR" sz="8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8684451E-7D99-E8AA-885A-6F9E8EA75A80}"/>
                </a:ext>
              </a:extLst>
            </p:cNvPr>
            <p:cNvSpPr/>
            <p:nvPr/>
          </p:nvSpPr>
          <p:spPr bwMode="auto">
            <a:xfrm>
              <a:off x="2313840" y="4774674"/>
              <a:ext cx="2435640" cy="197294"/>
            </a:xfrm>
            <a:prstGeom prst="roundRect">
              <a:avLst>
                <a:gd name="adj" fmla="val 5741"/>
              </a:avLst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R="0" defTabSz="979488" rtl="0" eaLnBrk="1" fontAlgn="base" latinLnBrk="1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ko-KR" altLang="en-US" sz="70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행∙열 머리글</a:t>
              </a:r>
              <a:r>
                <a:rPr kumimoji="1" lang="en-US" altLang="ko-KR" sz="70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, </a:t>
              </a:r>
              <a:r>
                <a:rPr kumimoji="1" lang="ko-KR" altLang="en-US" sz="70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소계∙합계</a:t>
              </a:r>
              <a:r>
                <a:rPr kumimoji="1" lang="en-US" altLang="ko-KR" sz="70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, </a:t>
              </a:r>
              <a:r>
                <a:rPr kumimoji="1" lang="ko-KR" altLang="en-US" sz="70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표 제목∙각주 자동 배치</a:t>
              </a:r>
            </a:p>
          </p:txBody>
        </p: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5DE93E9F-9202-4F2A-974A-AA87E77AFAA5}"/>
              </a:ext>
            </a:extLst>
          </p:cNvPr>
          <p:cNvGrpSpPr/>
          <p:nvPr/>
        </p:nvGrpSpPr>
        <p:grpSpPr>
          <a:xfrm>
            <a:off x="3686557" y="3501008"/>
            <a:ext cx="2562587" cy="504000"/>
            <a:chOff x="2264534" y="4581128"/>
            <a:chExt cx="2562587" cy="408565"/>
          </a:xfrm>
        </p:grpSpPr>
        <p:sp>
          <p:nvSpPr>
            <p:cNvPr id="160" name="사각형: 둥근 모서리 159">
              <a:extLst>
                <a:ext uri="{FF2B5EF4-FFF2-40B4-BE49-F238E27FC236}">
                  <a16:creationId xmlns:a16="http://schemas.microsoft.com/office/drawing/2014/main" id="{95DA8598-93BA-6E00-E881-B9DBCD00F207}"/>
                </a:ext>
              </a:extLst>
            </p:cNvPr>
            <p:cNvSpPr/>
            <p:nvPr/>
          </p:nvSpPr>
          <p:spPr bwMode="auto">
            <a:xfrm>
              <a:off x="2264534" y="4600653"/>
              <a:ext cx="2562587" cy="389040"/>
            </a:xfrm>
            <a:prstGeom prst="roundRect">
              <a:avLst>
                <a:gd name="adj" fmla="val 10117"/>
              </a:avLst>
            </a:prstGeom>
            <a:solidFill>
              <a:srgbClr val="2A63A8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9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8AE7E26A-C533-DEB4-8202-BD7745C2084B}"/>
                </a:ext>
              </a:extLst>
            </p:cNvPr>
            <p:cNvSpPr txBox="1"/>
            <p:nvPr/>
          </p:nvSpPr>
          <p:spPr>
            <a:xfrm>
              <a:off x="2288704" y="4581128"/>
              <a:ext cx="1487999" cy="18935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800">
                  <a:solidFill>
                    <a:schemeClr val="bg1"/>
                  </a:solidFill>
                  <a:latin typeface="+mn-ea"/>
                  <a:ea typeface="+mn-ea"/>
                </a:rPr>
                <a:t>차트 </a:t>
              </a:r>
              <a:r>
                <a:rPr lang="en-US" altLang="ko-KR" sz="800">
                  <a:solidFill>
                    <a:schemeClr val="bg1"/>
                  </a:solidFill>
                  <a:latin typeface="+mn-ea"/>
                  <a:ea typeface="+mn-ea"/>
                </a:rPr>
                <a:t>(</a:t>
              </a:r>
              <a:r>
                <a:rPr lang="ko-KR" altLang="en-US" sz="800">
                  <a:solidFill>
                    <a:schemeClr val="bg1"/>
                  </a:solidFill>
                  <a:latin typeface="+mn-ea"/>
                  <a:ea typeface="+mn-ea"/>
                </a:rPr>
                <a:t>시각화</a:t>
              </a:r>
              <a:r>
                <a:rPr lang="en-US" altLang="ko-KR" sz="800">
                  <a:solidFill>
                    <a:schemeClr val="bg1"/>
                  </a:solidFill>
                  <a:latin typeface="+mn-ea"/>
                  <a:ea typeface="+mn-ea"/>
                </a:rPr>
                <a:t>)</a:t>
              </a:r>
              <a:endParaRPr lang="en-US" altLang="ko-KR" sz="8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64" name="사각형: 둥근 모서리 163">
              <a:extLst>
                <a:ext uri="{FF2B5EF4-FFF2-40B4-BE49-F238E27FC236}">
                  <a16:creationId xmlns:a16="http://schemas.microsoft.com/office/drawing/2014/main" id="{5FAAAA2B-771D-8939-0F54-1E0036052C38}"/>
                </a:ext>
              </a:extLst>
            </p:cNvPr>
            <p:cNvSpPr/>
            <p:nvPr/>
          </p:nvSpPr>
          <p:spPr bwMode="auto">
            <a:xfrm>
              <a:off x="2313840" y="4774674"/>
              <a:ext cx="2435640" cy="197294"/>
            </a:xfrm>
            <a:prstGeom prst="roundRect">
              <a:avLst>
                <a:gd name="adj" fmla="val 5741"/>
              </a:avLst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R="0" defTabSz="979488" rtl="0" eaLnBrk="1" fontAlgn="base" latinLnBrk="1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ko-KR" altLang="en-US" sz="70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표 유형별 막대∙선∙도넛 자동 매칭 </a:t>
              </a:r>
              <a:r>
                <a:rPr kumimoji="1" lang="en-US" altLang="ko-KR" sz="70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- </a:t>
              </a:r>
              <a:r>
                <a:rPr kumimoji="1" lang="ko-KR" altLang="en-US" sz="70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색∙범례 표준</a:t>
              </a:r>
            </a:p>
          </p:txBody>
        </p:sp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C7B2A48A-729E-315D-58E5-79D94CAB140F}"/>
              </a:ext>
            </a:extLst>
          </p:cNvPr>
          <p:cNvGrpSpPr/>
          <p:nvPr/>
        </p:nvGrpSpPr>
        <p:grpSpPr>
          <a:xfrm>
            <a:off x="6610441" y="3501008"/>
            <a:ext cx="2562587" cy="504000"/>
            <a:chOff x="2264534" y="4581128"/>
            <a:chExt cx="2562587" cy="40856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3DADAFFA-F39F-4829-8B23-563B978EA8BC}"/>
                </a:ext>
              </a:extLst>
            </p:cNvPr>
            <p:cNvSpPr/>
            <p:nvPr/>
          </p:nvSpPr>
          <p:spPr bwMode="auto">
            <a:xfrm>
              <a:off x="2264534" y="4600653"/>
              <a:ext cx="2562587" cy="389040"/>
            </a:xfrm>
            <a:prstGeom prst="roundRect">
              <a:avLst>
                <a:gd name="adj" fmla="val 10117"/>
              </a:avLst>
            </a:prstGeom>
            <a:solidFill>
              <a:srgbClr val="2A63A8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9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33FCD80F-1986-ADBF-A356-B2446003AA5A}"/>
                </a:ext>
              </a:extLst>
            </p:cNvPr>
            <p:cNvSpPr txBox="1"/>
            <p:nvPr/>
          </p:nvSpPr>
          <p:spPr>
            <a:xfrm>
              <a:off x="2288704" y="4581128"/>
              <a:ext cx="1487999" cy="18935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800">
                  <a:solidFill>
                    <a:schemeClr val="bg1"/>
                  </a:solidFill>
                  <a:latin typeface="+mn-ea"/>
                  <a:ea typeface="+mn-ea"/>
                </a:rPr>
                <a:t>공표 패키지</a:t>
              </a:r>
              <a:endParaRPr lang="en-US" altLang="ko-KR" sz="8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68" name="사각형: 둥근 모서리 167">
              <a:extLst>
                <a:ext uri="{FF2B5EF4-FFF2-40B4-BE49-F238E27FC236}">
                  <a16:creationId xmlns:a16="http://schemas.microsoft.com/office/drawing/2014/main" id="{32D374FF-BF14-49F8-1343-7A2CF7DD2D27}"/>
                </a:ext>
              </a:extLst>
            </p:cNvPr>
            <p:cNvSpPr/>
            <p:nvPr/>
          </p:nvSpPr>
          <p:spPr bwMode="auto">
            <a:xfrm>
              <a:off x="2313840" y="4774674"/>
              <a:ext cx="2435640" cy="197294"/>
            </a:xfrm>
            <a:prstGeom prst="roundRect">
              <a:avLst>
                <a:gd name="adj" fmla="val 5741"/>
              </a:avLst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R="0" defTabSz="979488" rtl="0" eaLnBrk="1" fontAlgn="base" latinLnBrk="1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ko-KR" altLang="en-US" sz="70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엑셀 </a:t>
              </a:r>
              <a:r>
                <a:rPr kumimoji="1" lang="en-US" altLang="ko-KR" sz="70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/ </a:t>
              </a:r>
              <a:r>
                <a:rPr kumimoji="1" lang="ko-KR" altLang="en-US" sz="70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오픈데이터 </a:t>
              </a:r>
              <a:r>
                <a:rPr kumimoji="1" lang="en-US" altLang="ko-KR" sz="70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/ API - </a:t>
              </a:r>
              <a:r>
                <a:rPr kumimoji="1" lang="ko-KR" altLang="en-US" sz="70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동일 셀 정의 일괄 </a:t>
              </a:r>
              <a:r>
                <a:rPr lang="en-US" altLang="ko-KR" sz="700">
                  <a:solidFill>
                    <a:schemeClr val="bg1"/>
                  </a:solidFill>
                  <a:latin typeface="+mn-ea"/>
                  <a:ea typeface="+mn-ea"/>
                </a:rPr>
                <a:t>export</a:t>
              </a:r>
              <a:endParaRPr kumimoji="1" lang="ko-KR" altLang="en-US" sz="70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1523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8F1B47A-1E2F-F0D9-D1E9-C7F7250B5A38}"/>
              </a:ext>
            </a:extLst>
          </p:cNvPr>
          <p:cNvSpPr/>
          <p:nvPr/>
        </p:nvSpPr>
        <p:spPr bwMode="auto">
          <a:xfrm>
            <a:off x="432273" y="5124911"/>
            <a:ext cx="8949191" cy="1328425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34D58D5A-60EB-8EE6-BD27-F4C28E14D827}"/>
              </a:ext>
            </a:extLst>
          </p:cNvPr>
          <p:cNvGrpSpPr/>
          <p:nvPr/>
        </p:nvGrpSpPr>
        <p:grpSpPr>
          <a:xfrm>
            <a:off x="560512" y="5647558"/>
            <a:ext cx="2669620" cy="659051"/>
            <a:chOff x="10318986" y="5083825"/>
            <a:chExt cx="2669620" cy="659051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07DCC9D1-86F9-EE4C-EC96-720F8C9C5238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2BDEEE05-229E-A89D-6AE0-A2721D0E1A3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사후 정정 → 사전 차단</a:t>
              </a:r>
              <a:endParaRPr lang="en-US" altLang="ko-KR" sz="100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77D5B9C-8751-CF77-CF98-91CA2B23C753}"/>
                </a:ext>
              </a:extLst>
            </p:cNvPr>
            <p:cNvSpPr txBox="1"/>
            <p:nvPr/>
          </p:nvSpPr>
          <p:spPr>
            <a:xfrm>
              <a:off x="10379554" y="5367990"/>
              <a:ext cx="2529163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대외 정정공표 ∙ 재공표 비용 최소화</a:t>
              </a:r>
              <a:endParaRPr lang="en-US" altLang="ko-KR" sz="800"/>
            </a:p>
          </p:txBody>
        </p:sp>
      </p:grp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01124" y="620688"/>
            <a:ext cx="8742756" cy="3683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ts val="2000"/>
              </a:lnSpc>
            </a:pP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공표 전 자동 검증</a:t>
            </a:r>
            <a:endParaRPr lang="ko-KR" altLang="en-US" sz="20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7FE19520-BCCC-C5BB-C8AF-0BBE1A9754D3}"/>
              </a:ext>
            </a:extLst>
          </p:cNvPr>
          <p:cNvGrpSpPr/>
          <p:nvPr/>
        </p:nvGrpSpPr>
        <p:grpSpPr>
          <a:xfrm>
            <a:off x="445071" y="1124744"/>
            <a:ext cx="9188449" cy="338554"/>
            <a:chOff x="445071" y="1124744"/>
            <a:chExt cx="9188449" cy="338554"/>
          </a:xfrm>
        </p:grpSpPr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119C4970-B753-3519-BE02-B254D5097F8E}"/>
                </a:ext>
              </a:extLst>
            </p:cNvPr>
            <p:cNvSpPr/>
            <p:nvPr/>
          </p:nvSpPr>
          <p:spPr>
            <a:xfrm>
              <a:off x="697071" y="1124744"/>
              <a:ext cx="89364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공표 직전 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"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자동 점검 리포트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"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로 오류 ∙ 정정 리스크를 선제 차단</a:t>
              </a:r>
              <a:endParaRPr lang="ko-KR" altLang="en-US" sz="2000" dirty="0">
                <a:solidFill>
                  <a:srgbClr val="1692D3"/>
                </a:solidFill>
                <a:latin typeface="+mn-ea"/>
                <a:ea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4F6FA582-6393-C7E6-79D9-89A65B0FFA0A}"/>
                </a:ext>
              </a:extLst>
            </p:cNvPr>
            <p:cNvSpPr/>
            <p:nvPr/>
          </p:nvSpPr>
          <p:spPr bwMode="auto">
            <a:xfrm>
              <a:off x="445071" y="1173892"/>
              <a:ext cx="252000" cy="248283"/>
            </a:xfrm>
            <a:prstGeom prst="roundRect">
              <a:avLst/>
            </a:prstGeom>
            <a:solidFill>
              <a:srgbClr val="2E6CB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79488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▶</a:t>
              </a:r>
              <a:endParaRPr kumimoji="1" lang="ko-KR" altLang="en-US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73D774F-EFAC-210C-B306-6E3F311AB320}"/>
              </a:ext>
            </a:extLst>
          </p:cNvPr>
          <p:cNvSpPr/>
          <p:nvPr/>
        </p:nvSpPr>
        <p:spPr bwMode="auto">
          <a:xfrm>
            <a:off x="369076" y="610037"/>
            <a:ext cx="432048" cy="389040"/>
          </a:xfrm>
          <a:prstGeom prst="roundRect">
            <a:avLst>
              <a:gd name="adj" fmla="val 10117"/>
            </a:avLst>
          </a:prstGeom>
          <a:solidFill>
            <a:schemeClr val="tx2"/>
          </a:solidFill>
          <a:ln w="12700">
            <a:noFill/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en-US" altLang="ko-KR" b="1">
                <a:solidFill>
                  <a:schemeClr val="bg1"/>
                </a:solidFill>
                <a:latin typeface="+mn-ea"/>
                <a:ea typeface="+mn-ea"/>
              </a:rPr>
              <a:t>09</a:t>
            </a:r>
            <a:endParaRPr lang="ko-KR" altLang="en-US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4435F-8C6C-57FB-229E-98B2289EAFC9}"/>
              </a:ext>
            </a:extLst>
          </p:cNvPr>
          <p:cNvSpPr txBox="1"/>
          <p:nvPr/>
        </p:nvSpPr>
        <p:spPr>
          <a:xfrm>
            <a:off x="776536" y="1484784"/>
            <a:ext cx="8694494" cy="31398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200" b="0" spc="-120">
                <a:latin typeface="+mn-ea"/>
                <a:ea typeface="+mn-ea"/>
              </a:rPr>
              <a:t>합계∙급변∙불가능값∙분류 단절∙비밀보호를 표준 룰로 자동 점검하고 </a:t>
            </a:r>
            <a:r>
              <a:rPr lang="ko-KR" altLang="en-US" sz="1200" spc="-120">
                <a:latin typeface="+mn-ea"/>
                <a:ea typeface="+mn-ea"/>
              </a:rPr>
              <a:t>정정 전 단계에서 원인∙근거를 함께 제시</a:t>
            </a:r>
            <a:r>
              <a:rPr lang="ko-KR" altLang="en-US" sz="1200" b="0" spc="-120">
                <a:latin typeface="+mn-ea"/>
                <a:ea typeface="+mn-ea"/>
              </a:rPr>
              <a:t>해 신뢰도와 정시성을 강화합니다</a:t>
            </a:r>
            <a:r>
              <a:rPr lang="en-US" altLang="ko-KR" sz="1200" b="0" spc="-120">
                <a:latin typeface="+mn-ea"/>
                <a:ea typeface="+mn-ea"/>
              </a:rPr>
              <a:t>.</a:t>
            </a:r>
            <a:endParaRPr lang="en-US" altLang="ko-KR" sz="1200" b="0" spc="-120" dirty="0">
              <a:latin typeface="+mn-ea"/>
              <a:ea typeface="+mn-ea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87F6383-3B90-5D8A-5E8A-72AAF3747502}"/>
              </a:ext>
            </a:extLst>
          </p:cNvPr>
          <p:cNvSpPr/>
          <p:nvPr/>
        </p:nvSpPr>
        <p:spPr bwMode="auto">
          <a:xfrm>
            <a:off x="432274" y="2333640"/>
            <a:ext cx="4088093" cy="2337436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B239B-9B77-986C-7183-04687505D49E}"/>
              </a:ext>
            </a:extLst>
          </p:cNvPr>
          <p:cNvSpPr txBox="1"/>
          <p:nvPr/>
        </p:nvSpPr>
        <p:spPr>
          <a:xfrm>
            <a:off x="848544" y="2360024"/>
            <a:ext cx="1634521" cy="213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40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r>
              <a:rPr lang="ko-KR" altLang="en-US" sz="700" b="0"/>
              <a:t>표준 룰 </a:t>
            </a:r>
            <a:r>
              <a:rPr lang="en-US" altLang="ko-KR" sz="700" b="0"/>
              <a:t>- </a:t>
            </a:r>
            <a:r>
              <a:rPr lang="ko-KR" altLang="en-US" sz="700" b="0"/>
              <a:t>자동 검증 </a:t>
            </a:r>
            <a:r>
              <a:rPr lang="en-US" altLang="ko-KR" sz="700" b="0"/>
              <a:t>5</a:t>
            </a:r>
            <a:r>
              <a:rPr lang="ko-KR" altLang="en-US" sz="700" b="0"/>
              <a:t>요수</a:t>
            </a:r>
            <a:endParaRPr lang="en-US" altLang="ko-KR" sz="700" b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1CFEA-BCCF-9E4C-2F12-C12991EC1DD8}"/>
              </a:ext>
            </a:extLst>
          </p:cNvPr>
          <p:cNvSpPr txBox="1"/>
          <p:nvPr/>
        </p:nvSpPr>
        <p:spPr>
          <a:xfrm>
            <a:off x="848544" y="2529536"/>
            <a:ext cx="2205572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000"/>
              <a:t>논리 ∙ 시계열 ∙ 비밀보호</a:t>
            </a:r>
            <a:endParaRPr lang="en-US" altLang="ko-KR" sz="10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3BB79F7-A2F7-C727-E2D9-664BF2454BB4}"/>
              </a:ext>
            </a:extLst>
          </p:cNvPr>
          <p:cNvGrpSpPr/>
          <p:nvPr/>
        </p:nvGrpSpPr>
        <p:grpSpPr>
          <a:xfrm>
            <a:off x="560511" y="2856287"/>
            <a:ext cx="1887341" cy="503265"/>
            <a:chOff x="10318985" y="5083825"/>
            <a:chExt cx="1887341" cy="50326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A08A3682-EA07-DCFA-F4E5-E48B5A719531}"/>
                </a:ext>
              </a:extLst>
            </p:cNvPr>
            <p:cNvSpPr/>
            <p:nvPr/>
          </p:nvSpPr>
          <p:spPr bwMode="auto">
            <a:xfrm>
              <a:off x="10318985" y="5083825"/>
              <a:ext cx="1887341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6042E4-2E39-1A03-26B0-F33B3221242D}"/>
                </a:ext>
              </a:extLst>
            </p:cNvPr>
            <p:cNvSpPr txBox="1"/>
            <p:nvPr/>
          </p:nvSpPr>
          <p:spPr>
            <a:xfrm>
              <a:off x="10379552" y="5123439"/>
              <a:ext cx="1595618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합계 일치</a:t>
              </a:r>
              <a:endParaRPr lang="en-US" altLang="ko-KR" sz="8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4848DF-A6A5-D1AF-840B-A6BAA617B3FB}"/>
                </a:ext>
              </a:extLst>
            </p:cNvPr>
            <p:cNvSpPr txBox="1"/>
            <p:nvPr/>
          </p:nvSpPr>
          <p:spPr>
            <a:xfrm>
              <a:off x="10379555" y="5290300"/>
              <a:ext cx="173963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행 합계 </a:t>
              </a:r>
              <a:r>
                <a:rPr lang="en-US" altLang="ko-KR" sz="700"/>
                <a:t>= </a:t>
              </a:r>
              <a:r>
                <a:rPr lang="ko-KR" altLang="en-US" sz="700"/>
                <a:t>열 합계 </a:t>
              </a:r>
              <a:r>
                <a:rPr lang="en-US" altLang="ko-KR" sz="700"/>
                <a:t>= </a:t>
              </a:r>
              <a:r>
                <a:rPr lang="ko-KR" altLang="en-US" sz="700"/>
                <a:t>총계 </a:t>
              </a:r>
              <a:r>
                <a:rPr lang="en-US" altLang="ko-KR" sz="700"/>
                <a:t>/ </a:t>
              </a:r>
              <a:r>
                <a:rPr lang="ko-KR" altLang="en-US" sz="700"/>
                <a:t>부분합 일치</a:t>
              </a:r>
              <a:endParaRPr lang="en-US" altLang="ko-KR" sz="700"/>
            </a:p>
          </p:txBody>
        </p:sp>
      </p:grp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3E3B9804-C593-80DA-55CE-D2E0E402ADB8}"/>
              </a:ext>
            </a:extLst>
          </p:cNvPr>
          <p:cNvSpPr/>
          <p:nvPr/>
        </p:nvSpPr>
        <p:spPr bwMode="auto">
          <a:xfrm>
            <a:off x="524536" y="2441680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FEB178D-F49A-554D-41C0-D72EE1A1EC62}"/>
              </a:ext>
            </a:extLst>
          </p:cNvPr>
          <p:cNvSpPr txBox="1"/>
          <p:nvPr/>
        </p:nvSpPr>
        <p:spPr>
          <a:xfrm>
            <a:off x="403796" y="1932744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표준 룰 </a:t>
            </a:r>
            <a:r>
              <a:rPr lang="en-US" altLang="ko-KR">
                <a:latin typeface="+mn-ea"/>
                <a:ea typeface="+mn-ea"/>
              </a:rPr>
              <a:t>/ </a:t>
            </a:r>
            <a:r>
              <a:rPr lang="ko-KR" altLang="en-US">
                <a:latin typeface="+mn-ea"/>
                <a:ea typeface="+mn-ea"/>
              </a:rPr>
              <a:t>자동 점검 리포트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8A70F04-3FF6-C34C-1873-D67615872948}"/>
              </a:ext>
            </a:extLst>
          </p:cNvPr>
          <p:cNvSpPr txBox="1"/>
          <p:nvPr/>
        </p:nvSpPr>
        <p:spPr>
          <a:xfrm>
            <a:off x="403796" y="4763916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기대 효과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4F3F328-7489-78AF-84FC-8175DE0A4AE1}"/>
              </a:ext>
            </a:extLst>
          </p:cNvPr>
          <p:cNvSpPr txBox="1"/>
          <p:nvPr/>
        </p:nvSpPr>
        <p:spPr>
          <a:xfrm>
            <a:off x="848544" y="5250998"/>
            <a:ext cx="2301698" cy="2419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100"/>
              <a:t>정정 공표 리스크 차단</a:t>
            </a:r>
            <a:endParaRPr lang="en-US" altLang="ko-KR" sz="1100"/>
          </a:p>
        </p:txBody>
      </p:sp>
      <p:sp>
        <p:nvSpPr>
          <p:cNvPr id="181" name="순서도: 연결자 180">
            <a:extLst>
              <a:ext uri="{FF2B5EF4-FFF2-40B4-BE49-F238E27FC236}">
                <a16:creationId xmlns:a16="http://schemas.microsoft.com/office/drawing/2014/main" id="{3100B06F-B4DB-198F-534C-36A712710641}"/>
              </a:ext>
            </a:extLst>
          </p:cNvPr>
          <p:cNvSpPr/>
          <p:nvPr/>
        </p:nvSpPr>
        <p:spPr bwMode="auto">
          <a:xfrm>
            <a:off x="524536" y="5232951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08B00959-4701-F754-1201-A779B1FB430B}"/>
              </a:ext>
            </a:extLst>
          </p:cNvPr>
          <p:cNvGrpSpPr/>
          <p:nvPr/>
        </p:nvGrpSpPr>
        <p:grpSpPr>
          <a:xfrm>
            <a:off x="3501882" y="5647558"/>
            <a:ext cx="2669620" cy="659051"/>
            <a:chOff x="10318986" y="5083825"/>
            <a:chExt cx="2669620" cy="659051"/>
          </a:xfrm>
        </p:grpSpPr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BD05C4D7-F1F3-DCEA-4944-3E1DA4E76105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5ACAB24A-0A90-488B-1C0C-DC70BE43D2B1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검증 리드타임 ↓</a:t>
              </a:r>
              <a:endParaRPr lang="en-US" altLang="ko-KR" sz="1000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E5C2B7A8-76EB-0867-8E15-9EC868F15C8A}"/>
                </a:ext>
              </a:extLst>
            </p:cNvPr>
            <p:cNvSpPr txBox="1"/>
            <p:nvPr/>
          </p:nvSpPr>
          <p:spPr>
            <a:xfrm>
              <a:off x="10379554" y="5367990"/>
              <a:ext cx="2529163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말단에 집중된 수기 점검을 자동화</a:t>
              </a:r>
              <a:endParaRPr lang="en-US" altLang="ko-KR" sz="800"/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7B18055D-FD2E-6783-1E65-2D09BDBA669D}"/>
              </a:ext>
            </a:extLst>
          </p:cNvPr>
          <p:cNvGrpSpPr/>
          <p:nvPr/>
        </p:nvGrpSpPr>
        <p:grpSpPr>
          <a:xfrm>
            <a:off x="6536553" y="5647558"/>
            <a:ext cx="2669620" cy="659051"/>
            <a:chOff x="10318986" y="5083825"/>
            <a:chExt cx="2669620" cy="659051"/>
          </a:xfrm>
        </p:grpSpPr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57AE59B2-5C2A-B895-7D6E-6A5B42A916D4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80BE796F-CB95-928A-2933-BCFBAF46A1C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병목 매핑</a:t>
              </a:r>
              <a:endParaRPr lang="en-US" altLang="ko-KR" sz="800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1B7A4C44-D6D7-5AD0-EC0E-7C57EC826304}"/>
                </a:ext>
              </a:extLst>
            </p:cNvPr>
            <p:cNvSpPr txBox="1"/>
            <p:nvPr/>
          </p:nvSpPr>
          <p:spPr>
            <a:xfrm>
              <a:off x="10379554" y="5328400"/>
              <a:ext cx="2529163" cy="37503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공표 </a:t>
              </a:r>
              <a:r>
                <a:rPr lang="en-US" altLang="ko-KR" sz="700"/>
                <a:t>( KSBPM ⑦ ) - </a:t>
              </a:r>
              <a:r>
                <a:rPr lang="ko-KR" altLang="en-US" sz="700"/>
                <a:t>말단 집중되면 수기 검증을 자동화하여 정시 공표 방어선 확보</a:t>
              </a:r>
              <a:endParaRPr lang="en-US" altLang="ko-KR" sz="700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6482EC4-B969-805C-5F47-D129680DAA68}"/>
              </a:ext>
            </a:extLst>
          </p:cNvPr>
          <p:cNvGrpSpPr/>
          <p:nvPr/>
        </p:nvGrpSpPr>
        <p:grpSpPr>
          <a:xfrm>
            <a:off x="2561603" y="2856287"/>
            <a:ext cx="1887341" cy="503265"/>
            <a:chOff x="10318985" y="5083825"/>
            <a:chExt cx="1887341" cy="503265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775464BF-4FE9-D368-5A4D-A46868932422}"/>
                </a:ext>
              </a:extLst>
            </p:cNvPr>
            <p:cNvSpPr/>
            <p:nvPr/>
          </p:nvSpPr>
          <p:spPr bwMode="auto">
            <a:xfrm>
              <a:off x="10318985" y="5083825"/>
              <a:ext cx="1887341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55BD0DE-16E2-B76E-4B1B-A7B9A5C67872}"/>
                </a:ext>
              </a:extLst>
            </p:cNvPr>
            <p:cNvSpPr txBox="1"/>
            <p:nvPr/>
          </p:nvSpPr>
          <p:spPr>
            <a:xfrm>
              <a:off x="10379552" y="5123439"/>
              <a:ext cx="1595618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급변 </a:t>
              </a:r>
              <a:r>
                <a:rPr lang="en-US" altLang="ko-KR" sz="800"/>
                <a:t>(Anomaly)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2B0120B-1337-F85D-2934-126C753DFEA5}"/>
                </a:ext>
              </a:extLst>
            </p:cNvPr>
            <p:cNvSpPr txBox="1"/>
            <p:nvPr/>
          </p:nvSpPr>
          <p:spPr>
            <a:xfrm>
              <a:off x="10379555" y="5290300"/>
              <a:ext cx="173963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 spc="-100"/>
                <a:t>전기 대비 </a:t>
              </a:r>
              <a:r>
                <a:rPr lang="en-US" altLang="ko-KR" sz="700" spc="-100"/>
                <a:t>±N% </a:t>
              </a:r>
              <a:r>
                <a:rPr lang="ko-KR" altLang="en-US" sz="700" spc="-100"/>
                <a:t>초과 셀 자동 표시</a:t>
              </a:r>
              <a:r>
                <a:rPr lang="en-US" altLang="ko-KR" sz="700" spc="-100"/>
                <a:t>+</a:t>
              </a:r>
              <a:r>
                <a:rPr lang="ko-KR" altLang="en-US" sz="700" spc="-100"/>
                <a:t>임계값 설정 </a:t>
              </a:r>
              <a:endParaRPr lang="en-US" altLang="ko-KR" sz="700" spc="-100"/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CE170AA-6613-65F7-9EC4-B2046EC37DD3}"/>
              </a:ext>
            </a:extLst>
          </p:cNvPr>
          <p:cNvGrpSpPr/>
          <p:nvPr/>
        </p:nvGrpSpPr>
        <p:grpSpPr>
          <a:xfrm>
            <a:off x="560511" y="3457955"/>
            <a:ext cx="1887341" cy="503265"/>
            <a:chOff x="10318985" y="5083825"/>
            <a:chExt cx="1887341" cy="503265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2B96995E-7519-7A1F-D412-F742C1751909}"/>
                </a:ext>
              </a:extLst>
            </p:cNvPr>
            <p:cNvSpPr/>
            <p:nvPr/>
          </p:nvSpPr>
          <p:spPr bwMode="auto">
            <a:xfrm>
              <a:off x="10318985" y="5083825"/>
              <a:ext cx="1887341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8A12491-047F-D5D3-02A5-1461DD492238}"/>
                </a:ext>
              </a:extLst>
            </p:cNvPr>
            <p:cNvSpPr txBox="1"/>
            <p:nvPr/>
          </p:nvSpPr>
          <p:spPr>
            <a:xfrm>
              <a:off x="10379552" y="5123439"/>
              <a:ext cx="1595618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불가능값</a:t>
              </a:r>
              <a:endParaRPr lang="en-US" altLang="ko-KR" sz="80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AC953CA-2E14-CC50-A044-CCD555F7D265}"/>
                </a:ext>
              </a:extLst>
            </p:cNvPr>
            <p:cNvSpPr txBox="1"/>
            <p:nvPr/>
          </p:nvSpPr>
          <p:spPr>
            <a:xfrm>
              <a:off x="10379555" y="5290300"/>
              <a:ext cx="173963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음수 인구∙</a:t>
              </a:r>
              <a:r>
                <a:rPr lang="en-US" altLang="ko-KR" sz="700"/>
                <a:t>100% </a:t>
              </a:r>
              <a:r>
                <a:rPr lang="ko-KR" altLang="en-US" sz="700"/>
                <a:t>초과 비율 등 논리 위반</a:t>
              </a:r>
              <a:endParaRPr lang="en-US" altLang="ko-KR" sz="700"/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E44C07A6-0D44-1E13-8AF2-D6D0BE60B382}"/>
              </a:ext>
            </a:extLst>
          </p:cNvPr>
          <p:cNvGrpSpPr/>
          <p:nvPr/>
        </p:nvGrpSpPr>
        <p:grpSpPr>
          <a:xfrm>
            <a:off x="2561603" y="3457955"/>
            <a:ext cx="1887341" cy="503265"/>
            <a:chOff x="10318985" y="5083825"/>
            <a:chExt cx="1887341" cy="503265"/>
          </a:xfrm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C8F175B0-C2C1-5D4B-43DF-5BC27EE5E339}"/>
                </a:ext>
              </a:extLst>
            </p:cNvPr>
            <p:cNvSpPr/>
            <p:nvPr/>
          </p:nvSpPr>
          <p:spPr bwMode="auto">
            <a:xfrm>
              <a:off x="10318985" y="5083825"/>
              <a:ext cx="1887341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ED5301D-6604-94B1-D203-84F8A4ADFC0B}"/>
                </a:ext>
              </a:extLst>
            </p:cNvPr>
            <p:cNvSpPr txBox="1"/>
            <p:nvPr/>
          </p:nvSpPr>
          <p:spPr>
            <a:xfrm>
              <a:off x="10379552" y="5123439"/>
              <a:ext cx="1595618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분류 변경 단절</a:t>
              </a:r>
              <a:endParaRPr lang="en-US" altLang="ko-KR" sz="80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33798D5-CC3D-6FC3-CE6B-24C5CC6769A9}"/>
                </a:ext>
              </a:extLst>
            </p:cNvPr>
            <p:cNvSpPr txBox="1"/>
            <p:nvPr/>
          </p:nvSpPr>
          <p:spPr>
            <a:xfrm>
              <a:off x="10379555" y="5290300"/>
              <a:ext cx="173963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 spc="-50"/>
                <a:t>셀 빈도∙우월기여도 </a:t>
              </a:r>
              <a:r>
                <a:rPr lang="en-US" altLang="ko-KR" sz="700" spc="-50"/>
                <a:t>- </a:t>
              </a:r>
              <a:r>
                <a:rPr lang="ko-KR" altLang="en-US" sz="700" spc="-50"/>
                <a:t>비밀보호 룰 자동 적용</a:t>
              </a:r>
              <a:endParaRPr lang="en-US" altLang="ko-KR" sz="700" spc="-50"/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9049001-4A0B-38C9-49B9-2D7B9D40B94D}"/>
              </a:ext>
            </a:extLst>
          </p:cNvPr>
          <p:cNvGrpSpPr/>
          <p:nvPr/>
        </p:nvGrpSpPr>
        <p:grpSpPr>
          <a:xfrm>
            <a:off x="560511" y="4059622"/>
            <a:ext cx="1887341" cy="503265"/>
            <a:chOff x="10318985" y="5083825"/>
            <a:chExt cx="1887341" cy="503265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7D01F0E3-CA08-4E08-881A-8F99F00B370D}"/>
                </a:ext>
              </a:extLst>
            </p:cNvPr>
            <p:cNvSpPr/>
            <p:nvPr/>
          </p:nvSpPr>
          <p:spPr bwMode="auto">
            <a:xfrm>
              <a:off x="10318985" y="5083825"/>
              <a:ext cx="1887341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33053C8F-B081-0C95-5BE0-95F09252759B}"/>
                </a:ext>
              </a:extLst>
            </p:cNvPr>
            <p:cNvSpPr txBox="1"/>
            <p:nvPr/>
          </p:nvSpPr>
          <p:spPr>
            <a:xfrm>
              <a:off x="10379552" y="5123439"/>
              <a:ext cx="1595618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비밀보호</a:t>
              </a:r>
              <a:r>
                <a:rPr lang="en-US" altLang="ko-KR" sz="800"/>
                <a:t>(SDC)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4A17D8DD-ECD6-1971-2CC2-017133DF1214}"/>
                </a:ext>
              </a:extLst>
            </p:cNvPr>
            <p:cNvSpPr txBox="1"/>
            <p:nvPr/>
          </p:nvSpPr>
          <p:spPr>
            <a:xfrm>
              <a:off x="10379555" y="5290300"/>
              <a:ext cx="173963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 spc="-50"/>
                <a:t>셀 빈도∙우월기여도 </a:t>
              </a:r>
              <a:r>
                <a:rPr lang="en-US" altLang="ko-KR" sz="700" spc="-50"/>
                <a:t>- </a:t>
              </a:r>
              <a:r>
                <a:rPr lang="ko-KR" altLang="en-US" sz="700" spc="-50"/>
                <a:t>비밀보호 룰 자동 적용</a:t>
              </a:r>
              <a:endParaRPr lang="en-US" altLang="ko-KR" sz="700" spc="-5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A430589-4881-7620-F0CF-45A5462EF91B}"/>
              </a:ext>
            </a:extLst>
          </p:cNvPr>
          <p:cNvGrpSpPr/>
          <p:nvPr/>
        </p:nvGrpSpPr>
        <p:grpSpPr>
          <a:xfrm>
            <a:off x="4649189" y="2333640"/>
            <a:ext cx="4732275" cy="2337436"/>
            <a:chOff x="4819062" y="2333640"/>
            <a:chExt cx="4562402" cy="2337436"/>
          </a:xfrm>
        </p:grpSpPr>
        <p:sp>
          <p:nvSpPr>
            <p:cNvPr id="278" name="사각형: 둥근 모서리 277">
              <a:extLst>
                <a:ext uri="{FF2B5EF4-FFF2-40B4-BE49-F238E27FC236}">
                  <a16:creationId xmlns:a16="http://schemas.microsoft.com/office/drawing/2014/main" id="{2AD9AD6D-A2E8-DF5F-60B1-2574633FD195}"/>
                </a:ext>
              </a:extLst>
            </p:cNvPr>
            <p:cNvSpPr/>
            <p:nvPr/>
          </p:nvSpPr>
          <p:spPr bwMode="auto">
            <a:xfrm>
              <a:off x="4819062" y="2333640"/>
              <a:ext cx="4562402" cy="2337436"/>
            </a:xfrm>
            <a:prstGeom prst="roundRect">
              <a:avLst>
                <a:gd name="adj" fmla="val 3923"/>
              </a:avLst>
            </a:prstGeom>
            <a:solidFill>
              <a:schemeClr val="tx2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9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FD559E8B-B039-DD50-5C5E-CD6C2B788A5E}"/>
                </a:ext>
              </a:extLst>
            </p:cNvPr>
            <p:cNvSpPr txBox="1"/>
            <p:nvPr/>
          </p:nvSpPr>
          <p:spPr>
            <a:xfrm>
              <a:off x="5006104" y="2388091"/>
              <a:ext cx="2180762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800" b="0">
                  <a:solidFill>
                    <a:schemeClr val="bg1"/>
                  </a:solidFill>
                  <a:latin typeface="+mn-ea"/>
                  <a:ea typeface="+mn-ea"/>
                </a:rPr>
                <a:t>자동 점검 리포트 </a:t>
              </a:r>
              <a:r>
                <a:rPr lang="en-US" altLang="ko-KR" sz="800" b="0">
                  <a:solidFill>
                    <a:schemeClr val="bg1"/>
                  </a:solidFill>
                  <a:latin typeface="+mn-ea"/>
                  <a:ea typeface="+mn-ea"/>
                </a:rPr>
                <a:t>- </a:t>
              </a:r>
              <a:r>
                <a:rPr lang="ko-KR" altLang="en-US" sz="800" b="0">
                  <a:solidFill>
                    <a:schemeClr val="bg1"/>
                  </a:solidFill>
                  <a:latin typeface="+mn-ea"/>
                  <a:ea typeface="+mn-ea"/>
                </a:rPr>
                <a:t>예시</a:t>
              </a:r>
              <a:endParaRPr lang="en-US" altLang="ko-KR" sz="800" b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80" name="사각형: 둥근 모서리 279">
              <a:extLst>
                <a:ext uri="{FF2B5EF4-FFF2-40B4-BE49-F238E27FC236}">
                  <a16:creationId xmlns:a16="http://schemas.microsoft.com/office/drawing/2014/main" id="{0B60934F-9806-3A98-DD73-CE9C65027B03}"/>
                </a:ext>
              </a:extLst>
            </p:cNvPr>
            <p:cNvSpPr/>
            <p:nvPr/>
          </p:nvSpPr>
          <p:spPr bwMode="auto">
            <a:xfrm>
              <a:off x="5006104" y="2595910"/>
              <a:ext cx="4267376" cy="197294"/>
            </a:xfrm>
            <a:prstGeom prst="roundRect">
              <a:avLst>
                <a:gd name="adj" fmla="val 5741"/>
              </a:avLst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R="0" defTabSz="979488" rtl="0" eaLnBrk="1" fontAlgn="base" latinLnBrk="1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ko-KR" altLang="en-US" sz="11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원인 ∙ 근거 ∙ 정정 제안까지 함께</a:t>
              </a:r>
            </a:p>
          </p:txBody>
        </p:sp>
        <p:grpSp>
          <p:nvGrpSpPr>
            <p:cNvPr id="170" name="그룹 169">
              <a:extLst>
                <a:ext uri="{FF2B5EF4-FFF2-40B4-BE49-F238E27FC236}">
                  <a16:creationId xmlns:a16="http://schemas.microsoft.com/office/drawing/2014/main" id="{747C6890-781B-B083-0593-F88DBE2B65A7}"/>
                </a:ext>
              </a:extLst>
            </p:cNvPr>
            <p:cNvGrpSpPr/>
            <p:nvPr/>
          </p:nvGrpSpPr>
          <p:grpSpPr>
            <a:xfrm>
              <a:off x="5010235" y="2876896"/>
              <a:ext cx="4196422" cy="540000"/>
              <a:chOff x="5010235" y="2876896"/>
              <a:chExt cx="4196422" cy="540000"/>
            </a:xfrm>
          </p:grpSpPr>
          <p:grpSp>
            <p:nvGrpSpPr>
              <p:cNvPr id="168" name="그룹 167">
                <a:extLst>
                  <a:ext uri="{FF2B5EF4-FFF2-40B4-BE49-F238E27FC236}">
                    <a16:creationId xmlns:a16="http://schemas.microsoft.com/office/drawing/2014/main" id="{69C0249E-9342-F1B4-B92E-ADB4344DE295}"/>
                  </a:ext>
                </a:extLst>
              </p:cNvPr>
              <p:cNvGrpSpPr/>
              <p:nvPr/>
            </p:nvGrpSpPr>
            <p:grpSpPr>
              <a:xfrm>
                <a:off x="5010235" y="2876896"/>
                <a:ext cx="4196422" cy="540000"/>
                <a:chOff x="10150769" y="2125023"/>
                <a:chExt cx="4196422" cy="540000"/>
              </a:xfrm>
            </p:grpSpPr>
            <p:grpSp>
              <p:nvGrpSpPr>
                <p:cNvPr id="154" name="그룹 153">
                  <a:extLst>
                    <a:ext uri="{FF2B5EF4-FFF2-40B4-BE49-F238E27FC236}">
                      <a16:creationId xmlns:a16="http://schemas.microsoft.com/office/drawing/2014/main" id="{80E4AE6C-1A54-CA7D-C7E3-76A95411EF54}"/>
                    </a:ext>
                  </a:extLst>
                </p:cNvPr>
                <p:cNvGrpSpPr/>
                <p:nvPr/>
              </p:nvGrpSpPr>
              <p:grpSpPr>
                <a:xfrm>
                  <a:off x="10150769" y="2125023"/>
                  <a:ext cx="4196422" cy="540000"/>
                  <a:chOff x="445071" y="4149080"/>
                  <a:chExt cx="4196422" cy="1147641"/>
                </a:xfrm>
              </p:grpSpPr>
              <p:sp>
                <p:nvSpPr>
                  <p:cNvPr id="162" name="양쪽 대괄호 161">
                    <a:extLst>
                      <a:ext uri="{FF2B5EF4-FFF2-40B4-BE49-F238E27FC236}">
                        <a16:creationId xmlns:a16="http://schemas.microsoft.com/office/drawing/2014/main" id="{401686AB-416D-7C74-25E7-59E48AC4BF4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45071" y="4149080"/>
                    <a:ext cx="252000" cy="1147641"/>
                  </a:xfrm>
                  <a:prstGeom prst="bracketPair">
                    <a:avLst>
                      <a:gd name="adj" fmla="val 20494"/>
                    </a:avLst>
                  </a:prstGeom>
                  <a:solidFill>
                    <a:srgbClr val="C00000"/>
                  </a:solidFill>
                  <a:ln w="1905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7969" tIns="48984" rIns="97969" bIns="48984" numCol="1" rtlCol="0" anchor="t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79488">
                      <a:spcBef>
                        <a:spcPct val="50000"/>
                      </a:spcBef>
                    </a:pPr>
                    <a:endParaRPr lang="ko-KR" altLang="en-US" sz="1200">
                      <a:solidFill>
                        <a:srgbClr val="000099"/>
                      </a:solidFill>
                    </a:endParaRPr>
                  </a:p>
                </p:txBody>
              </p:sp>
              <p:sp>
                <p:nvSpPr>
                  <p:cNvPr id="164" name="사각형: 둥근 모서리 163">
                    <a:extLst>
                      <a:ext uri="{FF2B5EF4-FFF2-40B4-BE49-F238E27FC236}">
                        <a16:creationId xmlns:a16="http://schemas.microsoft.com/office/drawing/2014/main" id="{520ED495-107B-9EE0-DB0D-6E9028C9B7C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88505" y="4149080"/>
                    <a:ext cx="4152988" cy="1147641"/>
                  </a:xfrm>
                  <a:prstGeom prst="roundRect">
                    <a:avLst>
                      <a:gd name="adj" fmla="val 3129"/>
                    </a:avLst>
                  </a:prstGeom>
                  <a:solidFill>
                    <a:schemeClr val="bg1"/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  <a:round/>
                    <a:headEnd/>
                    <a:tailEnd type="none" w="sm" len="med"/>
                  </a:ln>
                </p:spPr>
                <p:txBody>
                  <a:bodyPr wrap="none" rtlCol="0" anchor="ctr"/>
                  <a:lstStyle/>
                  <a:p>
                    <a:pPr algn="ctr"/>
                    <a:endParaRPr lang="ko-KR" altLang="en-US" sz="1000">
                      <a:solidFill>
                        <a:srgbClr val="000000"/>
                      </a:solidFill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BA0310A6-9366-1E57-BCCB-4C43142AFA65}"/>
                    </a:ext>
                  </a:extLst>
                </p:cNvPr>
                <p:cNvSpPr txBox="1"/>
                <p:nvPr/>
              </p:nvSpPr>
              <p:spPr>
                <a:xfrm>
                  <a:off x="10281592" y="2127022"/>
                  <a:ext cx="2408787" cy="16087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ko-KR"/>
                  </a:defPPr>
                  <a:lvl1pPr marL="171450" indent="-171450">
                    <a:buFont typeface="Wingdings" panose="05000000000000000000" pitchFamily="2" charset="2"/>
                    <a:buChar char="§"/>
                    <a:defRPr sz="1100" b="1">
                      <a:ln w="3175">
                        <a:solidFill>
                          <a:prstClr val="black">
                            <a:alpha val="0"/>
                          </a:prstClr>
                        </a:solidFill>
                      </a:ln>
                      <a:latin typeface="KoPub돋움체 Medium" panose="02020603020101020101" pitchFamily="18" charset="-127"/>
                      <a:ea typeface="KoPub돋움체 Medium" panose="02020603020101020101" pitchFamily="18" charset="-127"/>
                    </a:defRPr>
                  </a:lvl1pPr>
                </a:lstStyle>
                <a:p>
                  <a:pPr marL="0" indent="0">
                    <a:lnSpc>
                      <a:spcPct val="150000"/>
                    </a:lnSpc>
                    <a:buNone/>
                  </a:pPr>
                  <a:r>
                    <a:rPr lang="en-US" altLang="ko-KR" sz="800" b="0">
                      <a:solidFill>
                        <a:srgbClr val="C00000"/>
                      </a:solidFill>
                      <a:latin typeface="+mn-ea"/>
                      <a:ea typeface="+mn-ea"/>
                    </a:rPr>
                    <a:t>ERROR - </a:t>
                  </a:r>
                  <a:r>
                    <a:rPr lang="ko-KR" altLang="en-US" sz="800" b="0">
                      <a:solidFill>
                        <a:srgbClr val="C00000"/>
                      </a:solidFill>
                      <a:latin typeface="+mn-ea"/>
                      <a:ea typeface="+mn-ea"/>
                    </a:rPr>
                    <a:t>합계 불일치</a:t>
                  </a:r>
                  <a:endParaRPr lang="en-US" altLang="ko-KR" sz="800" b="0" dirty="0">
                    <a:solidFill>
                      <a:srgbClr val="C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66" name="사각형: 둥근 모서리 165">
                  <a:extLst>
                    <a:ext uri="{FF2B5EF4-FFF2-40B4-BE49-F238E27FC236}">
                      <a16:creationId xmlns:a16="http://schemas.microsoft.com/office/drawing/2014/main" id="{1C431AB3-A44E-7D38-4A80-4A342B150DC5}"/>
                    </a:ext>
                  </a:extLst>
                </p:cNvPr>
                <p:cNvSpPr/>
                <p:nvPr/>
              </p:nvSpPr>
              <p:spPr bwMode="auto">
                <a:xfrm>
                  <a:off x="10281592" y="2275479"/>
                  <a:ext cx="3766904" cy="197294"/>
                </a:xfrm>
                <a:prstGeom prst="roundRect">
                  <a:avLst>
                    <a:gd name="adj" fmla="val 5741"/>
                  </a:avLst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3600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defTabSz="979488" rtl="0" eaLnBrk="1" fontAlgn="base" latinLnBrk="1" hangingPunct="1">
                    <a:lnSpc>
                      <a:spcPct val="15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:r>
                    <a:rPr kumimoji="1" lang="en-US" altLang="ko-KR" sz="900" b="1" i="0" u="none" strike="noStrike" cap="none" normalizeH="0" baseline="0">
                      <a:ln>
                        <a:noFill/>
                      </a:ln>
                      <a:effectLst/>
                      <a:latin typeface="+mn-ea"/>
                      <a:ea typeface="+mn-ea"/>
                    </a:rPr>
                    <a:t>Table-3.2 / </a:t>
                  </a:r>
                  <a:r>
                    <a:rPr kumimoji="1" lang="ko-KR" altLang="en-US" sz="900" b="1" i="0" u="none" strike="noStrike" cap="none" normalizeH="0" baseline="0">
                      <a:ln>
                        <a:noFill/>
                      </a:ln>
                      <a:effectLst/>
                      <a:latin typeface="+mn-ea"/>
                      <a:ea typeface="+mn-ea"/>
                    </a:rPr>
                    <a:t>시도 </a:t>
                  </a:r>
                  <a:r>
                    <a:rPr lang="en-US" altLang="ko-KR" sz="900" b="1">
                      <a:latin typeface="+mn-ea"/>
                      <a:ea typeface="+mn-ea"/>
                    </a:rPr>
                    <a:t>X </a:t>
                  </a:r>
                  <a:r>
                    <a:rPr lang="ko-KR" altLang="en-US" sz="900" b="1">
                      <a:latin typeface="+mn-ea"/>
                      <a:ea typeface="+mn-ea"/>
                    </a:rPr>
                    <a:t>산업 </a:t>
                  </a:r>
                  <a:r>
                    <a:rPr lang="en-US" altLang="ko-KR" sz="900" b="1">
                      <a:latin typeface="+mn-ea"/>
                      <a:ea typeface="+mn-ea"/>
                    </a:rPr>
                    <a:t>/ </a:t>
                  </a:r>
                  <a:r>
                    <a:rPr lang="ko-KR" altLang="en-US" sz="900" b="1">
                      <a:latin typeface="+mn-ea"/>
                      <a:ea typeface="+mn-ea"/>
                    </a:rPr>
                    <a:t>행 합계 ≠ 총계</a:t>
                  </a:r>
                  <a:endParaRPr kumimoji="1" lang="ko-KR" altLang="en-US" sz="9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endParaRPr>
                </a:p>
              </p:txBody>
            </p:sp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7EE765A8-C6A8-734E-F075-0DE6BD42254E}"/>
                    </a:ext>
                  </a:extLst>
                </p:cNvPr>
                <p:cNvSpPr txBox="1"/>
                <p:nvPr/>
              </p:nvSpPr>
              <p:spPr>
                <a:xfrm>
                  <a:off x="10281593" y="2444195"/>
                  <a:ext cx="3957232" cy="21344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>
                  <a:defPPr>
                    <a:defRPr lang="ko-KR"/>
                  </a:defPPr>
                  <a:lvl1pPr marL="0" indent="0">
                    <a:lnSpc>
                      <a:spcPct val="150000"/>
                    </a:lnSpc>
                    <a:buFont typeface="Wingdings" panose="05000000000000000000" pitchFamily="2" charset="2"/>
                    <a:buNone/>
                    <a:defRPr sz="1000" b="0">
                      <a:ln w="3175">
                        <a:solidFill>
                          <a:prstClr val="black">
                            <a:alpha val="0"/>
                          </a:prstClr>
                        </a:solidFill>
                      </a:ln>
                      <a:latin typeface="+mn-ea"/>
                      <a:ea typeface="+mn-ea"/>
                    </a:defRPr>
                  </a:lvl1pPr>
                </a:lstStyle>
                <a:p>
                  <a:r>
                    <a:rPr lang="ko-KR" altLang="en-US" sz="700"/>
                    <a:t>서울 합계 </a:t>
                  </a:r>
                  <a:r>
                    <a:rPr lang="en-US" altLang="ko-KR" sz="700"/>
                    <a:t>: 5,210 / </a:t>
                  </a:r>
                  <a:r>
                    <a:rPr lang="ko-KR" altLang="en-US" sz="700"/>
                    <a:t>총계 표시 </a:t>
                  </a:r>
                  <a:r>
                    <a:rPr lang="en-US" altLang="ko-KR" sz="700"/>
                    <a:t>: 5,180 - </a:t>
                  </a:r>
                  <a:r>
                    <a:rPr lang="ko-KR" altLang="en-US" sz="700"/>
                    <a:t>차이 </a:t>
                  </a:r>
                  <a:r>
                    <a:rPr lang="en-US" altLang="ko-KR" sz="700"/>
                    <a:t>30</a:t>
                  </a:r>
                </a:p>
              </p:txBody>
            </p:sp>
          </p:grpSp>
          <p:sp>
            <p:nvSpPr>
              <p:cNvPr id="169" name="사각형: 둥근 모서리 168">
                <a:extLst>
                  <a:ext uri="{FF2B5EF4-FFF2-40B4-BE49-F238E27FC236}">
                    <a16:creationId xmlns:a16="http://schemas.microsoft.com/office/drawing/2014/main" id="{CD2CFC0D-A6A3-DEB9-0084-E7138CF5531C}"/>
                  </a:ext>
                </a:extLst>
              </p:cNvPr>
              <p:cNvSpPr/>
              <p:nvPr/>
            </p:nvSpPr>
            <p:spPr bwMode="auto">
              <a:xfrm>
                <a:off x="8546064" y="2933058"/>
                <a:ext cx="605620" cy="163399"/>
              </a:xfrm>
              <a:prstGeom prst="roundRect">
                <a:avLst>
                  <a:gd name="adj" fmla="val 24362"/>
                </a:avLst>
              </a:prstGeom>
              <a:solidFill>
                <a:srgbClr val="C00000"/>
              </a:solidFill>
              <a:ln w="12700">
                <a:noFill/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r>
                  <a:rPr lang="ko-KR" altLang="en-US" sz="700" b="1">
                    <a:solidFill>
                      <a:schemeClr val="bg1"/>
                    </a:solidFill>
                    <a:latin typeface="+mn-ea"/>
                    <a:ea typeface="+mn-ea"/>
                  </a:rPr>
                  <a:t>즉시 차단</a:t>
                </a:r>
              </a:p>
            </p:txBody>
          </p:sp>
        </p:grp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2F166EFA-C1C4-7EB8-2164-532EDA350EB3}"/>
                </a:ext>
              </a:extLst>
            </p:cNvPr>
            <p:cNvGrpSpPr/>
            <p:nvPr/>
          </p:nvGrpSpPr>
          <p:grpSpPr>
            <a:xfrm>
              <a:off x="5010235" y="3492859"/>
              <a:ext cx="4196422" cy="540000"/>
              <a:chOff x="5010235" y="2876896"/>
              <a:chExt cx="4196422" cy="540000"/>
            </a:xfrm>
          </p:grpSpPr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A9B18FD1-B6AB-23AF-80AF-4F38F304CB62}"/>
                  </a:ext>
                </a:extLst>
              </p:cNvPr>
              <p:cNvGrpSpPr/>
              <p:nvPr/>
            </p:nvGrpSpPr>
            <p:grpSpPr>
              <a:xfrm>
                <a:off x="5010235" y="2876896"/>
                <a:ext cx="4196422" cy="540000"/>
                <a:chOff x="10150769" y="2125023"/>
                <a:chExt cx="4196422" cy="540000"/>
              </a:xfrm>
            </p:grpSpPr>
            <p:grpSp>
              <p:nvGrpSpPr>
                <p:cNvPr id="174" name="그룹 173">
                  <a:extLst>
                    <a:ext uri="{FF2B5EF4-FFF2-40B4-BE49-F238E27FC236}">
                      <a16:creationId xmlns:a16="http://schemas.microsoft.com/office/drawing/2014/main" id="{896BEEFD-6AAC-C422-6758-717B68F6422A}"/>
                    </a:ext>
                  </a:extLst>
                </p:cNvPr>
                <p:cNvGrpSpPr/>
                <p:nvPr/>
              </p:nvGrpSpPr>
              <p:grpSpPr>
                <a:xfrm>
                  <a:off x="10150769" y="2125023"/>
                  <a:ext cx="4196422" cy="540000"/>
                  <a:chOff x="445071" y="4149080"/>
                  <a:chExt cx="4196422" cy="1147641"/>
                </a:xfrm>
              </p:grpSpPr>
              <p:sp>
                <p:nvSpPr>
                  <p:cNvPr id="178" name="양쪽 대괄호 177">
                    <a:extLst>
                      <a:ext uri="{FF2B5EF4-FFF2-40B4-BE49-F238E27FC236}">
                        <a16:creationId xmlns:a16="http://schemas.microsoft.com/office/drawing/2014/main" id="{6FB26A6D-9871-F097-51F8-7EFEFB9CE56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45071" y="4149080"/>
                    <a:ext cx="252000" cy="1147641"/>
                  </a:xfrm>
                  <a:prstGeom prst="bracketPair">
                    <a:avLst>
                      <a:gd name="adj" fmla="val 20494"/>
                    </a:avLst>
                  </a:prstGeom>
                  <a:solidFill>
                    <a:schemeClr val="accent6"/>
                  </a:solidFill>
                  <a:ln w="1905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7969" tIns="48984" rIns="97969" bIns="48984" numCol="1" rtlCol="0" anchor="t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79488">
                      <a:spcBef>
                        <a:spcPct val="50000"/>
                      </a:spcBef>
                    </a:pPr>
                    <a:endParaRPr lang="ko-KR" altLang="en-US" sz="1200">
                      <a:solidFill>
                        <a:srgbClr val="000099"/>
                      </a:solidFill>
                    </a:endParaRPr>
                  </a:p>
                </p:txBody>
              </p:sp>
              <p:sp>
                <p:nvSpPr>
                  <p:cNvPr id="179" name="사각형: 둥근 모서리 178">
                    <a:extLst>
                      <a:ext uri="{FF2B5EF4-FFF2-40B4-BE49-F238E27FC236}">
                        <a16:creationId xmlns:a16="http://schemas.microsoft.com/office/drawing/2014/main" id="{30AB797D-E254-D568-9611-740F4271D69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88505" y="4149080"/>
                    <a:ext cx="4152988" cy="1147641"/>
                  </a:xfrm>
                  <a:prstGeom prst="roundRect">
                    <a:avLst>
                      <a:gd name="adj" fmla="val 3129"/>
                    </a:avLst>
                  </a:prstGeom>
                  <a:solidFill>
                    <a:schemeClr val="bg1"/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  <a:round/>
                    <a:headEnd/>
                    <a:tailEnd type="none" w="sm" len="med"/>
                  </a:ln>
                </p:spPr>
                <p:txBody>
                  <a:bodyPr wrap="none" rtlCol="0" anchor="ctr"/>
                  <a:lstStyle/>
                  <a:p>
                    <a:pPr algn="ctr"/>
                    <a:endParaRPr lang="ko-KR" altLang="en-US" sz="1000">
                      <a:solidFill>
                        <a:srgbClr val="000000"/>
                      </a:solidFill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id="{7E2E0C11-F6DD-D6C4-100E-652AECF11C49}"/>
                    </a:ext>
                  </a:extLst>
                </p:cNvPr>
                <p:cNvSpPr txBox="1"/>
                <p:nvPr/>
              </p:nvSpPr>
              <p:spPr>
                <a:xfrm>
                  <a:off x="10281592" y="2127022"/>
                  <a:ext cx="2408787" cy="16087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ko-KR"/>
                  </a:defPPr>
                  <a:lvl1pPr marL="171450" indent="-171450">
                    <a:buFont typeface="Wingdings" panose="05000000000000000000" pitchFamily="2" charset="2"/>
                    <a:buChar char="§"/>
                    <a:defRPr sz="1100" b="1">
                      <a:ln w="3175">
                        <a:solidFill>
                          <a:prstClr val="black">
                            <a:alpha val="0"/>
                          </a:prstClr>
                        </a:solidFill>
                      </a:ln>
                      <a:latin typeface="KoPub돋움체 Medium" panose="02020603020101020101" pitchFamily="18" charset="-127"/>
                      <a:ea typeface="KoPub돋움체 Medium" panose="02020603020101020101" pitchFamily="18" charset="-127"/>
                    </a:defRPr>
                  </a:lvl1pPr>
                </a:lstStyle>
                <a:p>
                  <a:pPr marL="0" indent="0">
                    <a:lnSpc>
                      <a:spcPct val="150000"/>
                    </a:lnSpc>
                    <a:buNone/>
                  </a:pPr>
                  <a:r>
                    <a:rPr lang="en-US" altLang="ko-KR" sz="800" b="0">
                      <a:solidFill>
                        <a:schemeClr val="accent4"/>
                      </a:solidFill>
                      <a:latin typeface="+mn-ea"/>
                      <a:ea typeface="+mn-ea"/>
                    </a:rPr>
                    <a:t>WARNING - </a:t>
                  </a:r>
                  <a:r>
                    <a:rPr lang="ko-KR" altLang="en-US" sz="800" b="0">
                      <a:solidFill>
                        <a:schemeClr val="accent4"/>
                      </a:solidFill>
                      <a:latin typeface="+mn-ea"/>
                      <a:ea typeface="+mn-ea"/>
                    </a:rPr>
                    <a:t>급변</a:t>
                  </a:r>
                  <a:endParaRPr lang="en-US" altLang="ko-KR" sz="800" b="0" dirty="0">
                    <a:solidFill>
                      <a:schemeClr val="accent4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76" name="사각형: 둥근 모서리 175">
                  <a:extLst>
                    <a:ext uri="{FF2B5EF4-FFF2-40B4-BE49-F238E27FC236}">
                      <a16:creationId xmlns:a16="http://schemas.microsoft.com/office/drawing/2014/main" id="{A6E83555-6CD2-2420-BADB-8B23103AB724}"/>
                    </a:ext>
                  </a:extLst>
                </p:cNvPr>
                <p:cNvSpPr/>
                <p:nvPr/>
              </p:nvSpPr>
              <p:spPr bwMode="auto">
                <a:xfrm>
                  <a:off x="10281592" y="2275479"/>
                  <a:ext cx="3766904" cy="197294"/>
                </a:xfrm>
                <a:prstGeom prst="roundRect">
                  <a:avLst>
                    <a:gd name="adj" fmla="val 5741"/>
                  </a:avLst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3600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defTabSz="979488" rtl="0" eaLnBrk="1" fontAlgn="base" latinLnBrk="1" hangingPunct="1">
                    <a:lnSpc>
                      <a:spcPct val="15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:r>
                    <a:rPr kumimoji="1" lang="en-US" altLang="ko-KR" sz="900" b="1" i="0" u="none" strike="noStrike" cap="none" normalizeH="0" baseline="0">
                      <a:ln>
                        <a:noFill/>
                      </a:ln>
                      <a:effectLst/>
                      <a:latin typeface="+mn-ea"/>
                      <a:ea typeface="+mn-ea"/>
                    </a:rPr>
                    <a:t>Table-2.1 / </a:t>
                  </a:r>
                  <a:r>
                    <a:rPr kumimoji="1" lang="ko-KR" altLang="en-US" sz="900" b="1" i="0" u="none" strike="noStrike" cap="none" normalizeH="0" baseline="0">
                      <a:ln>
                        <a:noFill/>
                      </a:ln>
                      <a:effectLst/>
                      <a:latin typeface="+mn-ea"/>
                      <a:ea typeface="+mn-ea"/>
                    </a:rPr>
                    <a:t>경상남도</a:t>
                  </a:r>
                  <a:r>
                    <a:rPr lang="ko-KR" altLang="en-US" sz="900" b="1">
                      <a:latin typeface="+mn-ea"/>
                      <a:ea typeface="+mn-ea"/>
                    </a:rPr>
                    <a:t> </a:t>
                  </a:r>
                  <a:r>
                    <a:rPr lang="en-US" altLang="ko-KR" sz="900" b="1">
                      <a:latin typeface="+mn-ea"/>
                      <a:ea typeface="+mn-ea"/>
                    </a:rPr>
                    <a:t>/ </a:t>
                  </a:r>
                  <a:r>
                    <a:rPr lang="ko-KR" altLang="en-US" sz="900" b="1">
                      <a:latin typeface="+mn-ea"/>
                      <a:ea typeface="+mn-ea"/>
                    </a:rPr>
                    <a:t>전월 대비 </a:t>
                  </a:r>
                  <a:r>
                    <a:rPr lang="en-US" altLang="ko-KR" sz="900" b="1">
                      <a:latin typeface="+mn-ea"/>
                      <a:ea typeface="+mn-ea"/>
                    </a:rPr>
                    <a:t>+47%</a:t>
                  </a:r>
                  <a:endParaRPr kumimoji="1" lang="ko-KR" altLang="en-US" sz="900" b="1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endParaRP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6FFFF60E-F6D2-5FE9-F997-A6EF7451FF90}"/>
                    </a:ext>
                  </a:extLst>
                </p:cNvPr>
                <p:cNvSpPr txBox="1"/>
                <p:nvPr/>
              </p:nvSpPr>
              <p:spPr>
                <a:xfrm>
                  <a:off x="10281593" y="2444195"/>
                  <a:ext cx="3957232" cy="21344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>
                  <a:defPPr>
                    <a:defRPr lang="ko-KR"/>
                  </a:defPPr>
                  <a:lvl1pPr marL="0" indent="0">
                    <a:lnSpc>
                      <a:spcPct val="150000"/>
                    </a:lnSpc>
                    <a:buFont typeface="Wingdings" panose="05000000000000000000" pitchFamily="2" charset="2"/>
                    <a:buNone/>
                    <a:defRPr sz="1000" b="0">
                      <a:ln w="3175">
                        <a:solidFill>
                          <a:prstClr val="black">
                            <a:alpha val="0"/>
                          </a:prstClr>
                        </a:solidFill>
                      </a:ln>
                      <a:latin typeface="+mn-ea"/>
                      <a:ea typeface="+mn-ea"/>
                    </a:defRPr>
                  </a:lvl1pPr>
                </a:lstStyle>
                <a:p>
                  <a:r>
                    <a:rPr lang="ko-KR" altLang="en-US" sz="700"/>
                    <a:t>표본 변경 이력 확인 권장 </a:t>
                  </a:r>
                  <a:r>
                    <a:rPr lang="en-US" altLang="ko-KR" sz="700"/>
                    <a:t>(paradate </a:t>
                  </a:r>
                  <a:r>
                    <a:rPr lang="ko-KR" altLang="en-US" sz="700"/>
                    <a:t>링크 포함</a:t>
                  </a:r>
                  <a:r>
                    <a:rPr lang="en-US" altLang="ko-KR" sz="700"/>
                    <a:t>)</a:t>
                  </a:r>
                </a:p>
              </p:txBody>
            </p:sp>
          </p:grpSp>
          <p:sp>
            <p:nvSpPr>
              <p:cNvPr id="173" name="사각형: 둥근 모서리 172">
                <a:extLst>
                  <a:ext uri="{FF2B5EF4-FFF2-40B4-BE49-F238E27FC236}">
                    <a16:creationId xmlns:a16="http://schemas.microsoft.com/office/drawing/2014/main" id="{4B12EE46-B782-2536-08DF-ECB53EE9687C}"/>
                  </a:ext>
                </a:extLst>
              </p:cNvPr>
              <p:cNvSpPr/>
              <p:nvPr/>
            </p:nvSpPr>
            <p:spPr bwMode="auto">
              <a:xfrm>
                <a:off x="8546064" y="2933058"/>
                <a:ext cx="605620" cy="163399"/>
              </a:xfrm>
              <a:prstGeom prst="roundRect">
                <a:avLst>
                  <a:gd name="adj" fmla="val 24362"/>
                </a:avLst>
              </a:prstGeom>
              <a:solidFill>
                <a:schemeClr val="accent6"/>
              </a:solidFill>
              <a:ln w="12700">
                <a:noFill/>
                <a:round/>
                <a:headEnd/>
                <a:tailEnd type="none" w="sm" len="med"/>
              </a:ln>
            </p:spPr>
            <p:txBody>
              <a:bodyPr wrap="none" rtlCol="0" anchor="ctr"/>
              <a:lstStyle/>
              <a:p>
                <a:pPr algn="ctr"/>
                <a:r>
                  <a:rPr lang="ko-KR" altLang="en-US" sz="700" b="1">
                    <a:solidFill>
                      <a:schemeClr val="bg1"/>
                    </a:solidFill>
                    <a:latin typeface="+mn-ea"/>
                    <a:ea typeface="+mn-ea"/>
                  </a:rPr>
                  <a:t>검토 필요</a:t>
                </a:r>
              </a:p>
            </p:txBody>
          </p:sp>
        </p:grpSp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6A18FB9D-66F4-0CF9-4642-2D62CCB6100C}"/>
                </a:ext>
              </a:extLst>
            </p:cNvPr>
            <p:cNvGrpSpPr/>
            <p:nvPr/>
          </p:nvGrpSpPr>
          <p:grpSpPr>
            <a:xfrm>
              <a:off x="5010235" y="4108822"/>
              <a:ext cx="4196422" cy="432000"/>
              <a:chOff x="10150769" y="2125020"/>
              <a:chExt cx="4196422" cy="432000"/>
            </a:xfrm>
          </p:grpSpPr>
          <p:grpSp>
            <p:nvGrpSpPr>
              <p:cNvPr id="188" name="그룹 187">
                <a:extLst>
                  <a:ext uri="{FF2B5EF4-FFF2-40B4-BE49-F238E27FC236}">
                    <a16:creationId xmlns:a16="http://schemas.microsoft.com/office/drawing/2014/main" id="{19F9A354-831C-5D56-AD8B-055301823FFE}"/>
                  </a:ext>
                </a:extLst>
              </p:cNvPr>
              <p:cNvGrpSpPr/>
              <p:nvPr/>
            </p:nvGrpSpPr>
            <p:grpSpPr>
              <a:xfrm>
                <a:off x="10150769" y="2125020"/>
                <a:ext cx="4196422" cy="432000"/>
                <a:chOff x="445071" y="4149080"/>
                <a:chExt cx="4196422" cy="918114"/>
              </a:xfrm>
            </p:grpSpPr>
            <p:sp>
              <p:nvSpPr>
                <p:cNvPr id="192" name="양쪽 대괄호 191">
                  <a:extLst>
                    <a:ext uri="{FF2B5EF4-FFF2-40B4-BE49-F238E27FC236}">
                      <a16:creationId xmlns:a16="http://schemas.microsoft.com/office/drawing/2014/main" id="{541BE033-D579-7F12-A3CF-28C2B757AE6A}"/>
                    </a:ext>
                  </a:extLst>
                </p:cNvPr>
                <p:cNvSpPr/>
                <p:nvPr/>
              </p:nvSpPr>
              <p:spPr bwMode="auto">
                <a:xfrm>
                  <a:off x="445071" y="4149080"/>
                  <a:ext cx="252000" cy="918114"/>
                </a:xfrm>
                <a:prstGeom prst="bracketPair">
                  <a:avLst>
                    <a:gd name="adj" fmla="val 20494"/>
                  </a:avLst>
                </a:prstGeom>
                <a:solidFill>
                  <a:srgbClr val="00B050"/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7969" tIns="48984" rIns="97969" bIns="48984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979488">
                    <a:spcBef>
                      <a:spcPct val="50000"/>
                    </a:spcBef>
                  </a:pPr>
                  <a:endParaRPr lang="ko-KR" altLang="en-US" sz="1200">
                    <a:solidFill>
                      <a:srgbClr val="000099"/>
                    </a:solidFill>
                  </a:endParaRPr>
                </a:p>
              </p:txBody>
            </p:sp>
            <p:sp>
              <p:nvSpPr>
                <p:cNvPr id="193" name="사각형: 둥근 모서리 192">
                  <a:extLst>
                    <a:ext uri="{FF2B5EF4-FFF2-40B4-BE49-F238E27FC236}">
                      <a16:creationId xmlns:a16="http://schemas.microsoft.com/office/drawing/2014/main" id="{C50B73E6-7638-0B6E-2E51-F7A84BF4A973}"/>
                    </a:ext>
                  </a:extLst>
                </p:cNvPr>
                <p:cNvSpPr/>
                <p:nvPr/>
              </p:nvSpPr>
              <p:spPr bwMode="auto">
                <a:xfrm>
                  <a:off x="488505" y="4149080"/>
                  <a:ext cx="4152988" cy="918113"/>
                </a:xfrm>
                <a:prstGeom prst="roundRect">
                  <a:avLst>
                    <a:gd name="adj" fmla="val 3129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85000"/>
                    </a:schemeClr>
                  </a:solidFill>
                  <a:round/>
                  <a:headEnd/>
                  <a:tailEnd type="none" w="sm" len="med"/>
                </a:ln>
              </p:spPr>
              <p:txBody>
                <a:bodyPr wrap="none" rtlCol="0" anchor="ctr"/>
                <a:lstStyle/>
                <a:p>
                  <a:pPr algn="ctr"/>
                  <a:endParaRPr lang="ko-KR" altLang="en-US" sz="100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35DB96D4-46C9-EB90-2664-BA91CC1709FB}"/>
                  </a:ext>
                </a:extLst>
              </p:cNvPr>
              <p:cNvSpPr txBox="1"/>
              <p:nvPr/>
            </p:nvSpPr>
            <p:spPr>
              <a:xfrm>
                <a:off x="10281592" y="2127022"/>
                <a:ext cx="2408787" cy="1608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Wingdings" panose="05000000000000000000" pitchFamily="2" charset="2"/>
                  <a:buChar char="§"/>
                  <a:defRPr sz="1100" b="1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800">
                    <a:solidFill>
                      <a:schemeClr val="accent3">
                        <a:lumMod val="50000"/>
                      </a:schemeClr>
                    </a:solidFill>
                    <a:latin typeface="+mn-ea"/>
                    <a:ea typeface="+mn-ea"/>
                  </a:rPr>
                  <a:t>PASS - </a:t>
                </a:r>
                <a:r>
                  <a:rPr lang="ko-KR" altLang="en-US" sz="800">
                    <a:solidFill>
                      <a:schemeClr val="accent3">
                        <a:lumMod val="50000"/>
                      </a:schemeClr>
                    </a:solidFill>
                    <a:latin typeface="+mn-ea"/>
                    <a:ea typeface="+mn-ea"/>
                  </a:rPr>
                  <a:t>비밀보호 룰 </a:t>
                </a:r>
                <a:r>
                  <a:rPr lang="en-US" altLang="ko-KR" sz="800">
                    <a:solidFill>
                      <a:schemeClr val="accent3">
                        <a:lumMod val="50000"/>
                      </a:schemeClr>
                    </a:solidFill>
                    <a:latin typeface="+mn-ea"/>
                    <a:ea typeface="+mn-ea"/>
                  </a:rPr>
                  <a:t>/ </a:t>
                </a:r>
                <a:r>
                  <a:rPr lang="ko-KR" altLang="en-US" sz="800">
                    <a:solidFill>
                      <a:schemeClr val="accent3">
                        <a:lumMod val="50000"/>
                      </a:schemeClr>
                    </a:solidFill>
                    <a:latin typeface="+mn-ea"/>
                    <a:ea typeface="+mn-ea"/>
                  </a:rPr>
                  <a:t>분류 일관성 </a:t>
                </a:r>
                <a:r>
                  <a:rPr lang="en-US" altLang="ko-KR" sz="800">
                    <a:solidFill>
                      <a:schemeClr val="accent3">
                        <a:lumMod val="50000"/>
                      </a:schemeClr>
                    </a:solidFill>
                    <a:latin typeface="+mn-ea"/>
                    <a:ea typeface="+mn-ea"/>
                  </a:rPr>
                  <a:t>/ </a:t>
                </a:r>
                <a:r>
                  <a:rPr lang="ko-KR" altLang="en-US" sz="800">
                    <a:solidFill>
                      <a:schemeClr val="accent3">
                        <a:lumMod val="50000"/>
                      </a:schemeClr>
                    </a:solidFill>
                    <a:latin typeface="+mn-ea"/>
                    <a:ea typeface="+mn-ea"/>
                  </a:rPr>
                  <a:t>불가능값</a:t>
                </a:r>
                <a:endParaRPr lang="en-US" altLang="ko-KR" sz="800" dirty="0">
                  <a:solidFill>
                    <a:schemeClr val="accent3">
                      <a:lumMod val="50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90" name="사각형: 둥근 모서리 189">
                <a:extLst>
                  <a:ext uri="{FF2B5EF4-FFF2-40B4-BE49-F238E27FC236}">
                    <a16:creationId xmlns:a16="http://schemas.microsoft.com/office/drawing/2014/main" id="{D4054571-03EA-135A-D025-CAF9EC9A5E0B}"/>
                  </a:ext>
                </a:extLst>
              </p:cNvPr>
              <p:cNvSpPr/>
              <p:nvPr/>
            </p:nvSpPr>
            <p:spPr bwMode="auto">
              <a:xfrm>
                <a:off x="10281592" y="2313579"/>
                <a:ext cx="3766904" cy="197294"/>
              </a:xfrm>
              <a:prstGeom prst="roundRect">
                <a:avLst>
                  <a:gd name="adj" fmla="val 5741"/>
                </a:avLst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defTabSz="979488" rtl="0" eaLnBrk="1" fontAlgn="base" latinLnBrk="1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ko-KR" sz="700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5,840 </a:t>
                </a:r>
                <a:r>
                  <a:rPr kumimoji="1" lang="ko-KR" altLang="en-US" sz="700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셀 점검 통과 </a:t>
                </a:r>
                <a:r>
                  <a:rPr kumimoji="1" lang="en-US" altLang="ko-KR" sz="700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- </a:t>
                </a:r>
                <a:r>
                  <a:rPr kumimoji="1" lang="ko-KR" altLang="en-US" sz="700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평균 점검 시간 </a:t>
                </a:r>
                <a:r>
                  <a:rPr kumimoji="1" lang="en-US" altLang="ko-KR" sz="700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12</a:t>
                </a:r>
                <a:r>
                  <a:rPr kumimoji="1" lang="ko-KR" altLang="en-US" sz="700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초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42351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6497ACF5-6CAF-0FD8-C374-F0F122A9EF42}"/>
              </a:ext>
            </a:extLst>
          </p:cNvPr>
          <p:cNvSpPr/>
          <p:nvPr/>
        </p:nvSpPr>
        <p:spPr bwMode="auto">
          <a:xfrm>
            <a:off x="432273" y="5124911"/>
            <a:ext cx="8949191" cy="1328425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34D58D5A-60EB-8EE6-BD27-F4C28E14D827}"/>
              </a:ext>
            </a:extLst>
          </p:cNvPr>
          <p:cNvGrpSpPr/>
          <p:nvPr/>
        </p:nvGrpSpPr>
        <p:grpSpPr>
          <a:xfrm>
            <a:off x="560512" y="5647558"/>
            <a:ext cx="2669620" cy="659051"/>
            <a:chOff x="10318986" y="5083825"/>
            <a:chExt cx="2669620" cy="659051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07DCC9D1-86F9-EE4C-EC96-720F8C9C5238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2BDEEE05-229E-A89D-6AE0-A2721D0E1A3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담당자별 표현 편차↓</a:t>
              </a:r>
              <a:endParaRPr lang="en-US" altLang="ko-KR" sz="100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77D5B9C-8751-CF77-CF98-91CA2B23C753}"/>
                </a:ext>
              </a:extLst>
            </p:cNvPr>
            <p:cNvSpPr txBox="1"/>
            <p:nvPr/>
          </p:nvSpPr>
          <p:spPr>
            <a:xfrm>
              <a:off x="10379554" y="5367990"/>
              <a:ext cx="2529163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과거 해설 인용 → 톤 ∙ 용어 표준화</a:t>
              </a:r>
              <a:endParaRPr lang="en-US" altLang="ko-KR" sz="800"/>
            </a:p>
          </p:txBody>
        </p:sp>
      </p:grp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01124" y="620688"/>
            <a:ext cx="8742756" cy="3683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ts val="2000"/>
              </a:lnSpc>
            </a:pP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공표 설명자료 초안 생성</a:t>
            </a:r>
            <a:endParaRPr lang="ko-KR" altLang="en-US" sz="20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7FE19520-BCCC-C5BB-C8AF-0BBE1A9754D3}"/>
              </a:ext>
            </a:extLst>
          </p:cNvPr>
          <p:cNvGrpSpPr/>
          <p:nvPr/>
        </p:nvGrpSpPr>
        <p:grpSpPr>
          <a:xfrm>
            <a:off x="445071" y="1124744"/>
            <a:ext cx="9188449" cy="338554"/>
            <a:chOff x="445071" y="1124744"/>
            <a:chExt cx="9188449" cy="338554"/>
          </a:xfrm>
        </p:grpSpPr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119C4970-B753-3519-BE02-B254D5097F8E}"/>
                </a:ext>
              </a:extLst>
            </p:cNvPr>
            <p:cNvSpPr/>
            <p:nvPr/>
          </p:nvSpPr>
          <p:spPr>
            <a:xfrm>
              <a:off x="697071" y="1124744"/>
              <a:ext cx="89364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결과 ∙ 변동요인 입력만으로 해설 ∙ 주석 ∙ 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FAQ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를 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"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근거와 함께</a:t>
              </a:r>
              <a:r>
                <a:rPr lang="en-US" altLang="ko-KR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" </a:t>
              </a:r>
              <a:r>
                <a:rPr lang="ko-KR" altLang="en-US" sz="1600" b="1" kern="0">
                  <a:solidFill>
                    <a:srgbClr val="1692D3"/>
                  </a:solidFill>
                  <a:latin typeface="+mn-ea"/>
                  <a:ea typeface="+mn-ea"/>
                  <a:cs typeface="+mj-cs"/>
                </a:rPr>
                <a:t>자동 초안화</a:t>
              </a:r>
              <a:endParaRPr lang="ko-KR" altLang="en-US" sz="2000" dirty="0">
                <a:solidFill>
                  <a:srgbClr val="1692D3"/>
                </a:solidFill>
                <a:latin typeface="+mn-ea"/>
                <a:ea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4F6FA582-6393-C7E6-79D9-89A65B0FFA0A}"/>
                </a:ext>
              </a:extLst>
            </p:cNvPr>
            <p:cNvSpPr/>
            <p:nvPr/>
          </p:nvSpPr>
          <p:spPr bwMode="auto">
            <a:xfrm>
              <a:off x="445071" y="1173892"/>
              <a:ext cx="252000" cy="248283"/>
            </a:xfrm>
            <a:prstGeom prst="roundRect">
              <a:avLst/>
            </a:prstGeom>
            <a:solidFill>
              <a:srgbClr val="2E6CB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79488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▶</a:t>
              </a:r>
              <a:endParaRPr kumimoji="1" lang="ko-KR" altLang="en-US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73D774F-EFAC-210C-B306-6E3F311AB320}"/>
              </a:ext>
            </a:extLst>
          </p:cNvPr>
          <p:cNvSpPr/>
          <p:nvPr/>
        </p:nvSpPr>
        <p:spPr bwMode="auto">
          <a:xfrm>
            <a:off x="369076" y="610037"/>
            <a:ext cx="432048" cy="389040"/>
          </a:xfrm>
          <a:prstGeom prst="roundRect">
            <a:avLst>
              <a:gd name="adj" fmla="val 10117"/>
            </a:avLst>
          </a:prstGeom>
          <a:solidFill>
            <a:schemeClr val="tx2"/>
          </a:solidFill>
          <a:ln w="12700">
            <a:noFill/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en-US" altLang="ko-KR" b="1">
                <a:solidFill>
                  <a:schemeClr val="bg1"/>
                </a:solidFill>
                <a:latin typeface="+mn-ea"/>
                <a:ea typeface="+mn-ea"/>
              </a:rPr>
              <a:t>10</a:t>
            </a:r>
            <a:endParaRPr lang="ko-KR" altLang="en-US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4435F-8C6C-57FB-229E-98B2289EAFC9}"/>
              </a:ext>
            </a:extLst>
          </p:cNvPr>
          <p:cNvSpPr txBox="1"/>
          <p:nvPr/>
        </p:nvSpPr>
        <p:spPr>
          <a:xfrm>
            <a:off x="776536" y="1484784"/>
            <a:ext cx="8694494" cy="31398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200">
                <a:latin typeface="+mn-ea"/>
                <a:ea typeface="+mn-ea"/>
              </a:rPr>
              <a:t>내부 지침 ∙ 과거 해설 ∙ 메타데이터</a:t>
            </a:r>
            <a:r>
              <a:rPr lang="ko-KR" altLang="en-US" sz="1200" b="0">
                <a:latin typeface="+mn-ea"/>
                <a:ea typeface="+mn-ea"/>
              </a:rPr>
              <a:t>를 검색∙인용</a:t>
            </a:r>
            <a:r>
              <a:rPr lang="en-US" altLang="ko-KR" sz="1200" b="0">
                <a:latin typeface="+mn-ea"/>
                <a:ea typeface="+mn-ea"/>
              </a:rPr>
              <a:t>(RAG)</a:t>
            </a:r>
            <a:r>
              <a:rPr lang="ko-KR" altLang="en-US" sz="1200" b="0">
                <a:latin typeface="+mn-ea"/>
                <a:ea typeface="+mn-ea"/>
              </a:rPr>
              <a:t>하여 </a:t>
            </a:r>
            <a:r>
              <a:rPr lang="ko-KR" altLang="en-US" sz="1200">
                <a:latin typeface="+mn-ea"/>
                <a:ea typeface="+mn-ea"/>
              </a:rPr>
              <a:t>설명의 표준화</a:t>
            </a:r>
            <a:r>
              <a:rPr lang="ko-KR" altLang="en-US" sz="1200" b="0">
                <a:latin typeface="+mn-ea"/>
                <a:ea typeface="+mn-ea"/>
              </a:rPr>
              <a:t>와 </a:t>
            </a:r>
            <a:r>
              <a:rPr lang="ko-KR" altLang="en-US" sz="1200">
                <a:latin typeface="+mn-ea"/>
                <a:ea typeface="+mn-ea"/>
              </a:rPr>
              <a:t>검토 효율</a:t>
            </a:r>
            <a:r>
              <a:rPr lang="ko-KR" altLang="en-US" sz="1200" b="0">
                <a:latin typeface="+mn-ea"/>
                <a:ea typeface="+mn-ea"/>
              </a:rPr>
              <a:t>을 동시에 확보합니다</a:t>
            </a:r>
            <a:r>
              <a:rPr lang="en-US" altLang="ko-KR" sz="1200" b="0">
                <a:latin typeface="+mn-ea"/>
                <a:ea typeface="+mn-ea"/>
              </a:rPr>
              <a:t>.</a:t>
            </a:r>
            <a:r>
              <a:rPr lang="ko-KR" altLang="en-US" sz="1200" b="0">
                <a:latin typeface="+mn-ea"/>
                <a:ea typeface="+mn-ea"/>
              </a:rPr>
              <a:t> </a:t>
            </a:r>
            <a:endParaRPr lang="en-US" altLang="ko-KR" sz="1200" b="0" dirty="0">
              <a:latin typeface="+mn-ea"/>
              <a:ea typeface="+mn-ea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87F6383-3B90-5D8A-5E8A-72AAF3747502}"/>
              </a:ext>
            </a:extLst>
          </p:cNvPr>
          <p:cNvSpPr/>
          <p:nvPr/>
        </p:nvSpPr>
        <p:spPr bwMode="auto">
          <a:xfrm>
            <a:off x="432274" y="2333640"/>
            <a:ext cx="4088678" cy="2337436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B239B-9B77-986C-7183-04687505D49E}"/>
              </a:ext>
            </a:extLst>
          </p:cNvPr>
          <p:cNvSpPr txBox="1"/>
          <p:nvPr/>
        </p:nvSpPr>
        <p:spPr>
          <a:xfrm>
            <a:off x="848544" y="2360024"/>
            <a:ext cx="1634521" cy="213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40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r>
              <a:rPr lang="en-US" altLang="ko-KR" sz="700" b="0"/>
              <a:t>RAG </a:t>
            </a:r>
            <a:r>
              <a:rPr lang="ko-KR" altLang="en-US" sz="700" b="0"/>
              <a:t>지식 베이스 </a:t>
            </a:r>
            <a:r>
              <a:rPr lang="en-US" altLang="ko-KR" sz="700" b="0"/>
              <a:t>- 4</a:t>
            </a:r>
            <a:r>
              <a:rPr lang="ko-KR" altLang="en-US" sz="700" b="0"/>
              <a:t>종 소스</a:t>
            </a:r>
            <a:endParaRPr lang="en-US" altLang="ko-KR" sz="700" b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1CFEA-BCCF-9E4C-2F12-C12991EC1DD8}"/>
              </a:ext>
            </a:extLst>
          </p:cNvPr>
          <p:cNvSpPr txBox="1"/>
          <p:nvPr/>
        </p:nvSpPr>
        <p:spPr>
          <a:xfrm>
            <a:off x="848544" y="2529536"/>
            <a:ext cx="2205572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000"/>
              <a:t>근거 데이터 풀</a:t>
            </a:r>
            <a:endParaRPr lang="en-US" altLang="ko-KR" sz="10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3BB79F7-A2F7-C727-E2D9-664BF2454BB4}"/>
              </a:ext>
            </a:extLst>
          </p:cNvPr>
          <p:cNvGrpSpPr/>
          <p:nvPr/>
        </p:nvGrpSpPr>
        <p:grpSpPr>
          <a:xfrm>
            <a:off x="560511" y="2856287"/>
            <a:ext cx="1887341" cy="503265"/>
            <a:chOff x="10318985" y="5083825"/>
            <a:chExt cx="1887341" cy="50326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A08A3682-EA07-DCFA-F4E5-E48B5A719531}"/>
                </a:ext>
              </a:extLst>
            </p:cNvPr>
            <p:cNvSpPr/>
            <p:nvPr/>
          </p:nvSpPr>
          <p:spPr bwMode="auto">
            <a:xfrm>
              <a:off x="10318985" y="5083825"/>
              <a:ext cx="1887341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6042E4-2E39-1A03-26B0-F33B3221242D}"/>
                </a:ext>
              </a:extLst>
            </p:cNvPr>
            <p:cNvSpPr txBox="1"/>
            <p:nvPr/>
          </p:nvSpPr>
          <p:spPr>
            <a:xfrm>
              <a:off x="10379552" y="5123439"/>
              <a:ext cx="1595618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내부 통계작성 지침</a:t>
              </a:r>
              <a:endParaRPr lang="en-US" altLang="ko-KR" sz="8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4848DF-A6A5-D1AF-840B-A6BAA617B3FB}"/>
                </a:ext>
              </a:extLst>
            </p:cNvPr>
            <p:cNvSpPr txBox="1"/>
            <p:nvPr/>
          </p:nvSpPr>
          <p:spPr>
            <a:xfrm>
              <a:off x="10379555" y="5290300"/>
              <a:ext cx="173963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조사방법∙정의∙해설 표준</a:t>
              </a:r>
              <a:r>
                <a:rPr lang="en-US" altLang="ko-KR" sz="700"/>
                <a:t>-</a:t>
              </a:r>
              <a:r>
                <a:rPr lang="ko-KR" altLang="en-US" sz="700"/>
                <a:t>인용 </a:t>
              </a:r>
              <a:r>
                <a:rPr lang="en-US" altLang="ko-KR" sz="700"/>
                <a:t>1</a:t>
              </a:r>
              <a:r>
                <a:rPr lang="ko-KR" altLang="en-US" sz="700"/>
                <a:t>순위</a:t>
              </a:r>
              <a:endParaRPr lang="en-US" altLang="ko-KR" sz="700"/>
            </a:p>
          </p:txBody>
        </p:sp>
      </p:grp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3E3B9804-C593-80DA-55CE-D2E0E402ADB8}"/>
              </a:ext>
            </a:extLst>
          </p:cNvPr>
          <p:cNvSpPr/>
          <p:nvPr/>
        </p:nvSpPr>
        <p:spPr bwMode="auto">
          <a:xfrm>
            <a:off x="524536" y="2441680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FEB178D-F49A-554D-41C0-D72EE1A1EC62}"/>
              </a:ext>
            </a:extLst>
          </p:cNvPr>
          <p:cNvSpPr txBox="1"/>
          <p:nvPr/>
        </p:nvSpPr>
        <p:spPr>
          <a:xfrm>
            <a:off x="432274" y="1932744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</a:t>
            </a:r>
            <a:r>
              <a:rPr lang="en-US" altLang="ko-KR">
                <a:latin typeface="+mn-ea"/>
                <a:ea typeface="+mn-ea"/>
              </a:rPr>
              <a:t>RAG </a:t>
            </a:r>
            <a:r>
              <a:rPr lang="ko-KR" altLang="en-US">
                <a:latin typeface="+mn-ea"/>
                <a:ea typeface="+mn-ea"/>
              </a:rPr>
              <a:t>지식 베이스 </a:t>
            </a:r>
            <a:r>
              <a:rPr lang="en-US" altLang="ko-KR">
                <a:latin typeface="+mn-ea"/>
                <a:ea typeface="+mn-ea"/>
              </a:rPr>
              <a:t>/ </a:t>
            </a:r>
            <a:r>
              <a:rPr lang="ko-KR" altLang="en-US">
                <a:latin typeface="+mn-ea"/>
                <a:ea typeface="+mn-ea"/>
              </a:rPr>
              <a:t>자동 초안화 산출물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8A70F04-3FF6-C34C-1873-D67615872948}"/>
              </a:ext>
            </a:extLst>
          </p:cNvPr>
          <p:cNvSpPr txBox="1"/>
          <p:nvPr/>
        </p:nvSpPr>
        <p:spPr>
          <a:xfrm>
            <a:off x="403796" y="4763916"/>
            <a:ext cx="8694494" cy="2939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100" b="1">
                <a:ln w="3175">
                  <a:solidFill>
                    <a:prstClr val="black">
                      <a:alpha val="0"/>
                    </a:prst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>
                <a:latin typeface="+mn-ea"/>
                <a:ea typeface="+mn-ea"/>
              </a:rPr>
              <a:t>■ 기대 효과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4F3F328-7489-78AF-84FC-8175DE0A4AE1}"/>
              </a:ext>
            </a:extLst>
          </p:cNvPr>
          <p:cNvSpPr txBox="1"/>
          <p:nvPr/>
        </p:nvSpPr>
        <p:spPr>
          <a:xfrm>
            <a:off x="848544" y="5250998"/>
            <a:ext cx="2301698" cy="2419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1050" b="1" i="0" u="none" strike="noStrike">
                <a:ln w="3175">
                  <a:solidFill>
                    <a:prstClr val="black">
                      <a:alpha val="0"/>
                    </a:prstClr>
                  </a:solidFill>
                </a:ln>
                <a:effectLst/>
                <a:latin typeface="+mn-ea"/>
                <a:ea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100"/>
              <a:t>설명자료 작성 시간 단축</a:t>
            </a:r>
            <a:endParaRPr lang="en-US" altLang="ko-KR" sz="1100"/>
          </a:p>
        </p:txBody>
      </p: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08B00959-4701-F754-1201-A779B1FB430B}"/>
              </a:ext>
            </a:extLst>
          </p:cNvPr>
          <p:cNvGrpSpPr/>
          <p:nvPr/>
        </p:nvGrpSpPr>
        <p:grpSpPr>
          <a:xfrm>
            <a:off x="3501882" y="5647558"/>
            <a:ext cx="2669620" cy="659051"/>
            <a:chOff x="10318986" y="5083825"/>
            <a:chExt cx="2669620" cy="659051"/>
          </a:xfrm>
        </p:grpSpPr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BD05C4D7-F1F3-DCEA-4944-3E1DA4E76105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5ACAB24A-0A90-488B-1C0C-DC70BE43D2B1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7378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1000"/>
                <a:t>환각 최소화</a:t>
              </a:r>
              <a:endParaRPr lang="en-US" altLang="ko-KR" sz="1000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E5C2B7A8-76EB-0867-8E15-9EC868F15C8A}"/>
                </a:ext>
              </a:extLst>
            </p:cNvPr>
            <p:cNvSpPr txBox="1"/>
            <p:nvPr/>
          </p:nvSpPr>
          <p:spPr>
            <a:xfrm>
              <a:off x="10379554" y="5367990"/>
              <a:ext cx="2529163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근거 인용 강제 </a:t>
              </a:r>
              <a:r>
                <a:rPr lang="en-US" altLang="ko-KR" sz="800"/>
                <a:t>- </a:t>
              </a:r>
              <a:r>
                <a:rPr lang="ko-KR" altLang="en-US" sz="800"/>
                <a:t>출처 없는 문자 차단</a:t>
              </a:r>
              <a:endParaRPr lang="en-US" altLang="ko-KR" sz="800"/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7B18055D-FD2E-6783-1E65-2D09BDBA669D}"/>
              </a:ext>
            </a:extLst>
          </p:cNvPr>
          <p:cNvGrpSpPr/>
          <p:nvPr/>
        </p:nvGrpSpPr>
        <p:grpSpPr>
          <a:xfrm>
            <a:off x="6536553" y="5647558"/>
            <a:ext cx="2669620" cy="659051"/>
            <a:chOff x="10318986" y="5083825"/>
            <a:chExt cx="2669620" cy="659051"/>
          </a:xfrm>
        </p:grpSpPr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57AE59B2-5C2A-B895-7D6E-6A5B42A916D4}"/>
                </a:ext>
              </a:extLst>
            </p:cNvPr>
            <p:cNvSpPr/>
            <p:nvPr/>
          </p:nvSpPr>
          <p:spPr bwMode="auto">
            <a:xfrm>
              <a:off x="10318986" y="5083825"/>
              <a:ext cx="2669620" cy="659051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80BE796F-CB95-928A-2933-BCFBAF46A1CD}"/>
                </a:ext>
              </a:extLst>
            </p:cNvPr>
            <p:cNvSpPr txBox="1"/>
            <p:nvPr/>
          </p:nvSpPr>
          <p:spPr>
            <a:xfrm>
              <a:off x="10379551" y="5123439"/>
              <a:ext cx="2529165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병목 매핑</a:t>
              </a:r>
              <a:endParaRPr lang="en-US" altLang="ko-KR" sz="800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1B7A4C44-D6D7-5AD0-EC0E-7C57EC826304}"/>
                </a:ext>
              </a:extLst>
            </p:cNvPr>
            <p:cNvSpPr txBox="1"/>
            <p:nvPr/>
          </p:nvSpPr>
          <p:spPr>
            <a:xfrm>
              <a:off x="10379554" y="5328400"/>
              <a:ext cx="2529163" cy="37503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공표 </a:t>
              </a:r>
              <a:r>
                <a:rPr lang="en-US" altLang="ko-KR" sz="700"/>
                <a:t>( KSBPM ⑦ ) - </a:t>
              </a:r>
              <a:r>
                <a:rPr lang="ko-KR" altLang="en-US" sz="700"/>
                <a:t>반복 문서작성 단축 </a:t>
              </a:r>
              <a:r>
                <a:rPr lang="en-US" altLang="ko-KR" sz="700"/>
                <a:t>+ RAG </a:t>
              </a:r>
              <a:r>
                <a:rPr lang="ko-KR" altLang="en-US" sz="700"/>
                <a:t>인용으로 환각</a:t>
              </a:r>
              <a:r>
                <a:rPr lang="en-US" altLang="ko-KR" sz="700"/>
                <a:t>/</a:t>
              </a:r>
              <a:r>
                <a:rPr lang="ko-KR" altLang="en-US" sz="700"/>
                <a:t>오류 최소화</a:t>
              </a:r>
              <a:endParaRPr lang="en-US" altLang="ko-KR" sz="700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6482EC4-B969-805C-5F47-D129680DAA68}"/>
              </a:ext>
            </a:extLst>
          </p:cNvPr>
          <p:cNvGrpSpPr/>
          <p:nvPr/>
        </p:nvGrpSpPr>
        <p:grpSpPr>
          <a:xfrm>
            <a:off x="2504728" y="2856287"/>
            <a:ext cx="1887341" cy="503265"/>
            <a:chOff x="10318985" y="5083825"/>
            <a:chExt cx="1887341" cy="503265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775464BF-4FE9-D368-5A4D-A46868932422}"/>
                </a:ext>
              </a:extLst>
            </p:cNvPr>
            <p:cNvSpPr/>
            <p:nvPr/>
          </p:nvSpPr>
          <p:spPr bwMode="auto">
            <a:xfrm>
              <a:off x="10318985" y="5083825"/>
              <a:ext cx="1887341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55BD0DE-16E2-B76E-4B1B-A7B9A5C67872}"/>
                </a:ext>
              </a:extLst>
            </p:cNvPr>
            <p:cNvSpPr txBox="1"/>
            <p:nvPr/>
          </p:nvSpPr>
          <p:spPr>
            <a:xfrm>
              <a:off x="10379552" y="5123439"/>
              <a:ext cx="1595618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과거 공표 해설 ∙ 보도자료</a:t>
              </a:r>
              <a:endParaRPr lang="en-US" altLang="ko-KR" sz="80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2B0120B-1337-F85D-2934-126C753DFEA5}"/>
                </a:ext>
              </a:extLst>
            </p:cNvPr>
            <p:cNvSpPr txBox="1"/>
            <p:nvPr/>
          </p:nvSpPr>
          <p:spPr>
            <a:xfrm>
              <a:off x="10379555" y="5290300"/>
              <a:ext cx="173963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동일 통계의 직전 회차 표현∙문구 자산</a:t>
              </a:r>
              <a:endParaRPr lang="en-US" altLang="ko-KR" sz="700"/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CE170AA-6613-65F7-9EC4-B2046EC37DD3}"/>
              </a:ext>
            </a:extLst>
          </p:cNvPr>
          <p:cNvGrpSpPr/>
          <p:nvPr/>
        </p:nvGrpSpPr>
        <p:grpSpPr>
          <a:xfrm>
            <a:off x="560511" y="3445604"/>
            <a:ext cx="1887341" cy="503265"/>
            <a:chOff x="10318985" y="5083825"/>
            <a:chExt cx="1887341" cy="503265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2B96995E-7519-7A1F-D412-F742C1751909}"/>
                </a:ext>
              </a:extLst>
            </p:cNvPr>
            <p:cNvSpPr/>
            <p:nvPr/>
          </p:nvSpPr>
          <p:spPr bwMode="auto">
            <a:xfrm>
              <a:off x="10318985" y="5083825"/>
              <a:ext cx="1887341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8A12491-047F-D5D3-02A5-1461DD492238}"/>
                </a:ext>
              </a:extLst>
            </p:cNvPr>
            <p:cNvSpPr txBox="1"/>
            <p:nvPr/>
          </p:nvSpPr>
          <p:spPr>
            <a:xfrm>
              <a:off x="10379552" y="5123439"/>
              <a:ext cx="1595618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표 메타데이터</a:t>
              </a:r>
              <a:endParaRPr lang="en-US" altLang="ko-KR" sz="80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AC953CA-2E14-CC50-A044-CCD555F7D265}"/>
                </a:ext>
              </a:extLst>
            </p:cNvPr>
            <p:cNvSpPr txBox="1"/>
            <p:nvPr/>
          </p:nvSpPr>
          <p:spPr>
            <a:xfrm>
              <a:off x="10379555" y="5290300"/>
              <a:ext cx="173963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차원∙분류∙단위∙기간</a:t>
              </a:r>
              <a:r>
                <a:rPr lang="en-US" altLang="ko-KR" sz="700"/>
                <a:t>-</a:t>
              </a:r>
              <a:r>
                <a:rPr lang="ko-KR" altLang="en-US" sz="700"/>
                <a:t>정확한 셀 인용</a:t>
              </a:r>
              <a:endParaRPr lang="en-US" altLang="ko-KR" sz="700"/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E44C07A6-0D44-1E13-8AF2-D6D0BE60B382}"/>
              </a:ext>
            </a:extLst>
          </p:cNvPr>
          <p:cNvGrpSpPr/>
          <p:nvPr/>
        </p:nvGrpSpPr>
        <p:grpSpPr>
          <a:xfrm>
            <a:off x="2504727" y="3445604"/>
            <a:ext cx="1887341" cy="503265"/>
            <a:chOff x="10318985" y="5083825"/>
            <a:chExt cx="1887341" cy="503265"/>
          </a:xfrm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C8F175B0-C2C1-5D4B-43DF-5BC27EE5E339}"/>
                </a:ext>
              </a:extLst>
            </p:cNvPr>
            <p:cNvSpPr/>
            <p:nvPr/>
          </p:nvSpPr>
          <p:spPr bwMode="auto">
            <a:xfrm>
              <a:off x="10318985" y="5083825"/>
              <a:ext cx="1887341" cy="503265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0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ED5301D-6604-94B1-D203-84F8A4ADFC0B}"/>
                </a:ext>
              </a:extLst>
            </p:cNvPr>
            <p:cNvSpPr txBox="1"/>
            <p:nvPr/>
          </p:nvSpPr>
          <p:spPr>
            <a:xfrm>
              <a:off x="10379552" y="5123439"/>
              <a:ext cx="1595618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ko-KR" altLang="en-US" sz="800"/>
                <a:t>과제 </a:t>
              </a:r>
              <a:r>
                <a:rPr lang="en-US" altLang="ko-KR" sz="800"/>
                <a:t>09 </a:t>
              </a:r>
              <a:r>
                <a:rPr lang="ko-KR" altLang="en-US" sz="800"/>
                <a:t>검증 리포트</a:t>
              </a:r>
              <a:endParaRPr lang="en-US" altLang="ko-KR" sz="80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33798D5-CC3D-6FC3-CE6B-24C5CC6769A9}"/>
                </a:ext>
              </a:extLst>
            </p:cNvPr>
            <p:cNvSpPr txBox="1"/>
            <p:nvPr/>
          </p:nvSpPr>
          <p:spPr>
            <a:xfrm>
              <a:off x="10379555" y="5290300"/>
              <a:ext cx="1739631" cy="2134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 sz="700"/>
                <a:t>급변 사유∙정정 이력 자동 반영</a:t>
              </a:r>
              <a:endParaRPr lang="en-US" altLang="ko-KR" sz="700"/>
            </a:p>
          </p:txBody>
        </p:sp>
      </p:grpSp>
      <p:sp>
        <p:nvSpPr>
          <p:cNvPr id="29" name="순서도: 연결자 28">
            <a:extLst>
              <a:ext uri="{FF2B5EF4-FFF2-40B4-BE49-F238E27FC236}">
                <a16:creationId xmlns:a16="http://schemas.microsoft.com/office/drawing/2014/main" id="{6D335D84-7FA7-F339-F681-7E0CD21BB91A}"/>
              </a:ext>
            </a:extLst>
          </p:cNvPr>
          <p:cNvSpPr/>
          <p:nvPr/>
        </p:nvSpPr>
        <p:spPr bwMode="auto">
          <a:xfrm>
            <a:off x="524536" y="5232951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81D4C1A-2201-9A53-336E-CF363BE1E9AC}"/>
              </a:ext>
            </a:extLst>
          </p:cNvPr>
          <p:cNvGrpSpPr/>
          <p:nvPr/>
        </p:nvGrpSpPr>
        <p:grpSpPr>
          <a:xfrm>
            <a:off x="4649189" y="2333640"/>
            <a:ext cx="4732275" cy="2337436"/>
            <a:chOff x="2850836" y="2333640"/>
            <a:chExt cx="6530628" cy="2337436"/>
          </a:xfrm>
        </p:grpSpPr>
        <p:sp>
          <p:nvSpPr>
            <p:cNvPr id="278" name="사각형: 둥근 모서리 277">
              <a:extLst>
                <a:ext uri="{FF2B5EF4-FFF2-40B4-BE49-F238E27FC236}">
                  <a16:creationId xmlns:a16="http://schemas.microsoft.com/office/drawing/2014/main" id="{2AD9AD6D-A2E8-DF5F-60B1-2574633FD195}"/>
                </a:ext>
              </a:extLst>
            </p:cNvPr>
            <p:cNvSpPr/>
            <p:nvPr/>
          </p:nvSpPr>
          <p:spPr bwMode="auto">
            <a:xfrm>
              <a:off x="2850836" y="2333640"/>
              <a:ext cx="6530628" cy="2337436"/>
            </a:xfrm>
            <a:prstGeom prst="roundRect">
              <a:avLst>
                <a:gd name="adj" fmla="val 3923"/>
              </a:avLst>
            </a:prstGeom>
            <a:solidFill>
              <a:schemeClr val="tx2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9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FD559E8B-B039-DD50-5C5E-CD6C2B788A5E}"/>
                </a:ext>
              </a:extLst>
            </p:cNvPr>
            <p:cNvSpPr txBox="1"/>
            <p:nvPr/>
          </p:nvSpPr>
          <p:spPr>
            <a:xfrm>
              <a:off x="3080792" y="2388091"/>
              <a:ext cx="2180762" cy="23358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§"/>
                <a:defRPr sz="1100" b="1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800" b="0">
                  <a:solidFill>
                    <a:schemeClr val="bg1"/>
                  </a:solidFill>
                  <a:latin typeface="+mn-ea"/>
                  <a:ea typeface="+mn-ea"/>
                </a:rPr>
                <a:t>자동 초안화 산출물 </a:t>
              </a:r>
              <a:r>
                <a:rPr lang="en-US" altLang="ko-KR" sz="800" b="0">
                  <a:solidFill>
                    <a:schemeClr val="bg1"/>
                  </a:solidFill>
                  <a:latin typeface="+mn-ea"/>
                  <a:ea typeface="+mn-ea"/>
                </a:rPr>
                <a:t>- 3</a:t>
              </a:r>
              <a:r>
                <a:rPr lang="ko-KR" altLang="en-US" sz="800" b="0">
                  <a:solidFill>
                    <a:schemeClr val="bg1"/>
                  </a:solidFill>
                  <a:latin typeface="+mn-ea"/>
                  <a:ea typeface="+mn-ea"/>
                </a:rPr>
                <a:t>요소</a:t>
              </a:r>
              <a:endParaRPr lang="en-US" altLang="ko-KR" sz="800" b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80" name="사각형: 둥근 모서리 279">
              <a:extLst>
                <a:ext uri="{FF2B5EF4-FFF2-40B4-BE49-F238E27FC236}">
                  <a16:creationId xmlns:a16="http://schemas.microsoft.com/office/drawing/2014/main" id="{0B60934F-9806-3A98-DD73-CE9C65027B03}"/>
                </a:ext>
              </a:extLst>
            </p:cNvPr>
            <p:cNvSpPr/>
            <p:nvPr/>
          </p:nvSpPr>
          <p:spPr bwMode="auto">
            <a:xfrm>
              <a:off x="3080792" y="2595910"/>
              <a:ext cx="4267376" cy="197294"/>
            </a:xfrm>
            <a:prstGeom prst="roundRect">
              <a:avLst>
                <a:gd name="adj" fmla="val 5741"/>
              </a:avLst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R="0" defTabSz="979488" rtl="0" eaLnBrk="1" fontAlgn="base" latinLnBrk="1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ko-KR" altLang="en-US" sz="11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해설 ∙ 주석 ∙ </a:t>
              </a:r>
              <a:r>
                <a:rPr kumimoji="1" lang="en-US" altLang="ko-KR" sz="11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FAQ + </a:t>
              </a:r>
              <a:r>
                <a:rPr kumimoji="1" lang="ko-KR" altLang="en-US" sz="11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+mn-ea"/>
                  <a:ea typeface="+mn-ea"/>
                </a:rPr>
                <a:t>인용</a:t>
              </a:r>
            </a:p>
          </p:txBody>
        </p: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69C0249E-9342-F1B4-B92E-ADB4344DE295}"/>
                </a:ext>
              </a:extLst>
            </p:cNvPr>
            <p:cNvGrpSpPr/>
            <p:nvPr/>
          </p:nvGrpSpPr>
          <p:grpSpPr>
            <a:xfrm>
              <a:off x="3084923" y="2876896"/>
              <a:ext cx="6013366" cy="540152"/>
              <a:chOff x="10150769" y="2125023"/>
              <a:chExt cx="6013366" cy="540152"/>
            </a:xfrm>
          </p:grpSpPr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80E4AE6C-1A54-CA7D-C7E3-76A95411EF54}"/>
                  </a:ext>
                </a:extLst>
              </p:cNvPr>
              <p:cNvGrpSpPr/>
              <p:nvPr/>
            </p:nvGrpSpPr>
            <p:grpSpPr>
              <a:xfrm>
                <a:off x="10150769" y="2125023"/>
                <a:ext cx="6013366" cy="540000"/>
                <a:chOff x="445071" y="4149080"/>
                <a:chExt cx="6013366" cy="1147641"/>
              </a:xfrm>
            </p:grpSpPr>
            <p:sp>
              <p:nvSpPr>
                <p:cNvPr id="162" name="양쪽 대괄호 161">
                  <a:extLst>
                    <a:ext uri="{FF2B5EF4-FFF2-40B4-BE49-F238E27FC236}">
                      <a16:creationId xmlns:a16="http://schemas.microsoft.com/office/drawing/2014/main" id="{401686AB-416D-7C74-25E7-59E48AC4BF45}"/>
                    </a:ext>
                  </a:extLst>
                </p:cNvPr>
                <p:cNvSpPr/>
                <p:nvPr/>
              </p:nvSpPr>
              <p:spPr bwMode="auto">
                <a:xfrm>
                  <a:off x="445071" y="4149080"/>
                  <a:ext cx="252000" cy="1147641"/>
                </a:xfrm>
                <a:prstGeom prst="bracketPair">
                  <a:avLst>
                    <a:gd name="adj" fmla="val 20494"/>
                  </a:avLst>
                </a:prstGeom>
                <a:solidFill>
                  <a:schemeClr val="accent1"/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7969" tIns="48984" rIns="97969" bIns="48984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979488">
                    <a:spcBef>
                      <a:spcPct val="50000"/>
                    </a:spcBef>
                  </a:pPr>
                  <a:endParaRPr lang="ko-KR" altLang="en-US" sz="1200">
                    <a:solidFill>
                      <a:srgbClr val="000099"/>
                    </a:solidFill>
                  </a:endParaRPr>
                </a:p>
              </p:txBody>
            </p:sp>
            <p:sp>
              <p:nvSpPr>
                <p:cNvPr id="164" name="사각형: 둥근 모서리 163">
                  <a:extLst>
                    <a:ext uri="{FF2B5EF4-FFF2-40B4-BE49-F238E27FC236}">
                      <a16:creationId xmlns:a16="http://schemas.microsoft.com/office/drawing/2014/main" id="{520ED495-107B-9EE0-DB0D-6E9028C9B7C7}"/>
                    </a:ext>
                  </a:extLst>
                </p:cNvPr>
                <p:cNvSpPr/>
                <p:nvPr/>
              </p:nvSpPr>
              <p:spPr bwMode="auto">
                <a:xfrm>
                  <a:off x="488504" y="4149080"/>
                  <a:ext cx="5969933" cy="1147641"/>
                </a:xfrm>
                <a:prstGeom prst="roundRect">
                  <a:avLst>
                    <a:gd name="adj" fmla="val 3129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85000"/>
                    </a:schemeClr>
                  </a:solidFill>
                  <a:round/>
                  <a:headEnd/>
                  <a:tailEnd type="none" w="sm" len="med"/>
                </a:ln>
              </p:spPr>
              <p:txBody>
                <a:bodyPr wrap="none" rtlCol="0" anchor="ctr"/>
                <a:lstStyle/>
                <a:p>
                  <a:pPr algn="ctr"/>
                  <a:endParaRPr lang="ko-KR" altLang="en-US" sz="100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BA0310A6-9366-1E57-BCCB-4C43142AFA65}"/>
                  </a:ext>
                </a:extLst>
              </p:cNvPr>
              <p:cNvSpPr txBox="1"/>
              <p:nvPr/>
            </p:nvSpPr>
            <p:spPr>
              <a:xfrm>
                <a:off x="10281592" y="2127022"/>
                <a:ext cx="2408787" cy="1608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Wingdings" panose="05000000000000000000" pitchFamily="2" charset="2"/>
                  <a:buChar char="§"/>
                  <a:defRPr sz="1100" b="1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800">
                    <a:solidFill>
                      <a:schemeClr val="tx2"/>
                    </a:solidFill>
                    <a:latin typeface="+mn-ea"/>
                    <a:ea typeface="+mn-ea"/>
                  </a:rPr>
                  <a:t>① </a:t>
                </a:r>
                <a:r>
                  <a:rPr lang="ko-KR" altLang="en-US" sz="800">
                    <a:solidFill>
                      <a:schemeClr val="tx2"/>
                    </a:solidFill>
                    <a:latin typeface="+mn-ea"/>
                    <a:ea typeface="+mn-ea"/>
                  </a:rPr>
                  <a:t>해설</a:t>
                </a:r>
                <a:r>
                  <a:rPr lang="en-US" altLang="ko-KR" sz="800">
                    <a:solidFill>
                      <a:schemeClr val="tx2"/>
                    </a:solidFill>
                    <a:latin typeface="+mn-ea"/>
                    <a:ea typeface="+mn-ea"/>
                  </a:rPr>
                  <a:t>(</a:t>
                </a:r>
                <a:r>
                  <a:rPr lang="ko-KR" altLang="en-US" sz="800">
                    <a:solidFill>
                      <a:schemeClr val="tx2"/>
                    </a:solidFill>
                    <a:latin typeface="+mn-ea"/>
                    <a:ea typeface="+mn-ea"/>
                  </a:rPr>
                  <a:t>요약문</a:t>
                </a:r>
                <a:r>
                  <a:rPr lang="en-US" altLang="ko-KR" sz="800">
                    <a:solidFill>
                      <a:schemeClr val="tx2"/>
                    </a:solidFill>
                    <a:latin typeface="+mn-ea"/>
                    <a:ea typeface="+mn-ea"/>
                  </a:rPr>
                  <a:t>)</a:t>
                </a:r>
                <a:endParaRPr lang="en-US" altLang="ko-KR" sz="800" dirty="0">
                  <a:solidFill>
                    <a:schemeClr val="tx2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66" name="사각형: 둥근 모서리 165">
                <a:extLst>
                  <a:ext uri="{FF2B5EF4-FFF2-40B4-BE49-F238E27FC236}">
                    <a16:creationId xmlns:a16="http://schemas.microsoft.com/office/drawing/2014/main" id="{1C431AB3-A44E-7D38-4A80-4A342B150DC5}"/>
                  </a:ext>
                </a:extLst>
              </p:cNvPr>
              <p:cNvSpPr/>
              <p:nvPr/>
            </p:nvSpPr>
            <p:spPr bwMode="auto">
              <a:xfrm>
                <a:off x="10281592" y="2275479"/>
                <a:ext cx="5769702" cy="197294"/>
              </a:xfrm>
              <a:prstGeom prst="roundRect">
                <a:avLst>
                  <a:gd name="adj" fmla="val 5741"/>
                </a:avLst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defTabSz="979488" rtl="0" eaLnBrk="1" fontAlgn="base" latinLnBrk="1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ko-KR" sz="800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"2026</a:t>
                </a:r>
                <a:r>
                  <a:rPr kumimoji="1" lang="ko-KR" altLang="en-US" sz="800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년 </a:t>
                </a:r>
                <a:r>
                  <a:rPr kumimoji="1" lang="en-US" altLang="ko-KR" sz="800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1</a:t>
                </a:r>
                <a:r>
                  <a:rPr kumimoji="1" lang="ko-KR" altLang="en-US" sz="800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분기 취업자는 </a:t>
                </a:r>
                <a:r>
                  <a:rPr kumimoji="1" lang="en-US" altLang="ko-KR" sz="800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2,820</a:t>
                </a:r>
                <a:r>
                  <a:rPr kumimoji="1" lang="ko-KR" altLang="en-US" sz="800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만 명으로 전년 동기 대비 </a:t>
                </a:r>
                <a:r>
                  <a:rPr kumimoji="1" lang="en-US" altLang="ko-KR" sz="800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+1.2%(34</a:t>
                </a:r>
                <a:r>
                  <a:rPr lang="ko-KR" altLang="en-US" sz="800">
                    <a:latin typeface="+mn-ea"/>
                    <a:ea typeface="+mn-ea"/>
                  </a:rPr>
                  <a:t>만 명</a:t>
                </a:r>
                <a:r>
                  <a:rPr lang="en-US" altLang="ko-KR" sz="800">
                    <a:latin typeface="+mn-ea"/>
                    <a:ea typeface="+mn-ea"/>
                  </a:rPr>
                  <a:t>) </a:t>
                </a:r>
                <a:r>
                  <a:rPr lang="ko-KR" altLang="en-US" sz="800">
                    <a:latin typeface="+mn-ea"/>
                    <a:ea typeface="+mn-ea"/>
                  </a:rPr>
                  <a:t>증가했다</a:t>
                </a:r>
                <a:r>
                  <a:rPr lang="en-US" altLang="ko-KR" sz="800">
                    <a:latin typeface="+mn-ea"/>
                    <a:ea typeface="+mn-ea"/>
                  </a:rPr>
                  <a:t>. </a:t>
                </a:r>
                <a:r>
                  <a:rPr lang="ko-KR" altLang="en-US" sz="800">
                    <a:latin typeface="+mn-ea"/>
                    <a:ea typeface="+mn-ea"/>
                  </a:rPr>
                  <a:t>보건∙사회복지서비스업이 </a:t>
                </a:r>
                <a:r>
                  <a:rPr lang="en-US" altLang="ko-KR" sz="800">
                    <a:latin typeface="+mn-ea"/>
                    <a:ea typeface="+mn-ea"/>
                  </a:rPr>
                  <a:t>+12</a:t>
                </a:r>
                <a:r>
                  <a:rPr lang="ko-KR" altLang="en-US" sz="800">
                    <a:latin typeface="+mn-ea"/>
                    <a:ea typeface="+mn-ea"/>
                  </a:rPr>
                  <a:t>만으로</a:t>
                </a:r>
                <a:r>
                  <a:rPr lang="en-US" altLang="ko-KR" sz="800">
                    <a:latin typeface="+mn-ea"/>
                    <a:ea typeface="+mn-ea"/>
                  </a:rPr>
                  <a:t>..."</a:t>
                </a:r>
                <a:endParaRPr kumimoji="1" lang="ko-KR" altLang="en-US" sz="800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endParaRP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7EE765A8-C6A8-734E-F075-0DE6BD42254E}"/>
                  </a:ext>
                </a:extLst>
              </p:cNvPr>
              <p:cNvSpPr txBox="1"/>
              <p:nvPr/>
            </p:nvSpPr>
            <p:spPr>
              <a:xfrm>
                <a:off x="12143808" y="2451728"/>
                <a:ext cx="3957232" cy="21344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1000" b="0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+mn-ea"/>
                    <a:ea typeface="+mn-ea"/>
                  </a:defRPr>
                </a:lvl1pPr>
              </a:lstStyle>
              <a:p>
                <a:pPr algn="r"/>
                <a:r>
                  <a:rPr lang="ko-KR" altLang="en-US" sz="700" spc="-100"/>
                  <a:t>⊙ 인용 </a:t>
                </a:r>
                <a:r>
                  <a:rPr lang="en-US" altLang="ko-KR" sz="700" spc="-100"/>
                  <a:t>: </a:t>
                </a:r>
                <a:r>
                  <a:rPr lang="ko-KR" altLang="en-US" sz="700" spc="-100"/>
                  <a:t>경제활동인구조사 결과 해설 </a:t>
                </a:r>
                <a:r>
                  <a:rPr lang="en-US" altLang="ko-KR" sz="700" spc="-100"/>
                  <a:t>P 2.1 / </a:t>
                </a:r>
                <a:r>
                  <a:rPr lang="ko-KR" altLang="en-US" sz="700" spc="-100"/>
                  <a:t>직전회차 보도자료 </a:t>
                </a:r>
                <a:r>
                  <a:rPr lang="en-US" altLang="ko-KR" sz="700" spc="-100"/>
                  <a:t>P 3</a:t>
                </a:r>
              </a:p>
            </p:txBody>
          </p:sp>
        </p:grpSp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6A18FB9D-66F4-0CF9-4642-2D62CCB6100C}"/>
                </a:ext>
              </a:extLst>
            </p:cNvPr>
            <p:cNvGrpSpPr/>
            <p:nvPr/>
          </p:nvGrpSpPr>
          <p:grpSpPr>
            <a:xfrm>
              <a:off x="3084923" y="3501008"/>
              <a:ext cx="6013366" cy="432000"/>
              <a:chOff x="10150769" y="2125020"/>
              <a:chExt cx="6013366" cy="432000"/>
            </a:xfrm>
          </p:grpSpPr>
          <p:grpSp>
            <p:nvGrpSpPr>
              <p:cNvPr id="188" name="그룹 187">
                <a:extLst>
                  <a:ext uri="{FF2B5EF4-FFF2-40B4-BE49-F238E27FC236}">
                    <a16:creationId xmlns:a16="http://schemas.microsoft.com/office/drawing/2014/main" id="{19F9A354-831C-5D56-AD8B-055301823FFE}"/>
                  </a:ext>
                </a:extLst>
              </p:cNvPr>
              <p:cNvGrpSpPr/>
              <p:nvPr/>
            </p:nvGrpSpPr>
            <p:grpSpPr>
              <a:xfrm>
                <a:off x="10150769" y="2125020"/>
                <a:ext cx="6013366" cy="432000"/>
                <a:chOff x="445071" y="4149080"/>
                <a:chExt cx="6013366" cy="918114"/>
              </a:xfrm>
            </p:grpSpPr>
            <p:sp>
              <p:nvSpPr>
                <p:cNvPr id="192" name="양쪽 대괄호 191">
                  <a:extLst>
                    <a:ext uri="{FF2B5EF4-FFF2-40B4-BE49-F238E27FC236}">
                      <a16:creationId xmlns:a16="http://schemas.microsoft.com/office/drawing/2014/main" id="{541BE033-D579-7F12-A3CF-28C2B757AE6A}"/>
                    </a:ext>
                  </a:extLst>
                </p:cNvPr>
                <p:cNvSpPr/>
                <p:nvPr/>
              </p:nvSpPr>
              <p:spPr bwMode="auto">
                <a:xfrm>
                  <a:off x="445071" y="4149080"/>
                  <a:ext cx="252000" cy="918114"/>
                </a:xfrm>
                <a:prstGeom prst="bracketPair">
                  <a:avLst>
                    <a:gd name="adj" fmla="val 20494"/>
                  </a:avLst>
                </a:prstGeom>
                <a:solidFill>
                  <a:schemeClr val="accent1"/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7969" tIns="48984" rIns="97969" bIns="48984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979488">
                    <a:spcBef>
                      <a:spcPct val="50000"/>
                    </a:spcBef>
                  </a:pPr>
                  <a:endParaRPr lang="ko-KR" altLang="en-US" sz="1200">
                    <a:solidFill>
                      <a:srgbClr val="000099"/>
                    </a:solidFill>
                  </a:endParaRPr>
                </a:p>
              </p:txBody>
            </p:sp>
            <p:sp>
              <p:nvSpPr>
                <p:cNvPr id="193" name="사각형: 둥근 모서리 192">
                  <a:extLst>
                    <a:ext uri="{FF2B5EF4-FFF2-40B4-BE49-F238E27FC236}">
                      <a16:creationId xmlns:a16="http://schemas.microsoft.com/office/drawing/2014/main" id="{C50B73E6-7638-0B6E-2E51-F7A84BF4A973}"/>
                    </a:ext>
                  </a:extLst>
                </p:cNvPr>
                <p:cNvSpPr/>
                <p:nvPr/>
              </p:nvSpPr>
              <p:spPr bwMode="auto">
                <a:xfrm>
                  <a:off x="488505" y="4149080"/>
                  <a:ext cx="5969932" cy="918114"/>
                </a:xfrm>
                <a:prstGeom prst="roundRect">
                  <a:avLst>
                    <a:gd name="adj" fmla="val 3129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85000"/>
                    </a:schemeClr>
                  </a:solidFill>
                  <a:round/>
                  <a:headEnd/>
                  <a:tailEnd type="none" w="sm" len="med"/>
                </a:ln>
              </p:spPr>
              <p:txBody>
                <a:bodyPr wrap="none" rtlCol="0" anchor="ctr"/>
                <a:lstStyle/>
                <a:p>
                  <a:pPr algn="ctr"/>
                  <a:endParaRPr lang="ko-KR" altLang="en-US" sz="100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35DB96D4-46C9-EB90-2664-BA91CC1709FB}"/>
                  </a:ext>
                </a:extLst>
              </p:cNvPr>
              <p:cNvSpPr txBox="1"/>
              <p:nvPr/>
            </p:nvSpPr>
            <p:spPr>
              <a:xfrm>
                <a:off x="10281592" y="2127022"/>
                <a:ext cx="2408787" cy="1608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  <a:defRPr sz="800" b="1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schemeClr val="tx2"/>
                    </a:solidFill>
                    <a:latin typeface="+mn-ea"/>
                    <a:ea typeface="+mn-ea"/>
                  </a:defRPr>
                </a:lvl1pPr>
              </a:lstStyle>
              <a:p>
                <a:r>
                  <a:rPr lang="en-US" altLang="ko-KR"/>
                  <a:t>② </a:t>
                </a:r>
                <a:r>
                  <a:rPr lang="ko-KR" altLang="en-US"/>
                  <a:t>주석</a:t>
                </a:r>
                <a:r>
                  <a:rPr lang="en-US" altLang="ko-KR"/>
                  <a:t>(Footnote)</a:t>
                </a:r>
                <a:endParaRPr lang="en-US" altLang="ko-KR" dirty="0"/>
              </a:p>
            </p:txBody>
          </p:sp>
          <p:sp>
            <p:nvSpPr>
              <p:cNvPr id="190" name="사각형: 둥근 모서리 189">
                <a:extLst>
                  <a:ext uri="{FF2B5EF4-FFF2-40B4-BE49-F238E27FC236}">
                    <a16:creationId xmlns:a16="http://schemas.microsoft.com/office/drawing/2014/main" id="{D4054571-03EA-135A-D025-CAF9EC9A5E0B}"/>
                  </a:ext>
                </a:extLst>
              </p:cNvPr>
              <p:cNvSpPr/>
              <p:nvPr/>
            </p:nvSpPr>
            <p:spPr bwMode="auto">
              <a:xfrm>
                <a:off x="10281592" y="2313579"/>
                <a:ext cx="5769702" cy="197294"/>
              </a:xfrm>
              <a:prstGeom prst="roundRect">
                <a:avLst>
                  <a:gd name="adj" fmla="val 5741"/>
                </a:avLst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defTabSz="979488" rtl="0" eaLnBrk="1" fontAlgn="base" latinLnBrk="1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ko-KR" sz="700" spc="-50">
                    <a:latin typeface="+mn-ea"/>
                    <a:ea typeface="+mn-ea"/>
                  </a:rPr>
                  <a:t>"</a:t>
                </a:r>
                <a:r>
                  <a:rPr lang="ko-KR" altLang="en-US" sz="700" spc="-50">
                    <a:latin typeface="+mn-ea"/>
                    <a:ea typeface="+mn-ea"/>
                  </a:rPr>
                  <a:t>보건 ∙ 사회복지서비스업은 </a:t>
                </a:r>
                <a:r>
                  <a:rPr lang="en-US" altLang="ko-KR" sz="700" spc="-50">
                    <a:latin typeface="+mn-ea"/>
                    <a:ea typeface="+mn-ea"/>
                  </a:rPr>
                  <a:t>KSIC 10</a:t>
                </a:r>
                <a:r>
                  <a:rPr lang="ko-KR" altLang="en-US" sz="700" spc="-50">
                    <a:latin typeface="+mn-ea"/>
                    <a:ea typeface="+mn-ea"/>
                  </a:rPr>
                  <a:t>차 개정</a:t>
                </a:r>
                <a:r>
                  <a:rPr lang="en-US" altLang="ko-KR" sz="700" spc="-50">
                    <a:latin typeface="+mn-ea"/>
                    <a:ea typeface="+mn-ea"/>
                  </a:rPr>
                  <a:t>(2024.1) </a:t>
                </a:r>
                <a:r>
                  <a:rPr lang="ko-KR" altLang="en-US" sz="700" spc="-50">
                    <a:latin typeface="+mn-ea"/>
                    <a:ea typeface="+mn-ea"/>
                  </a:rPr>
                  <a:t>이후 코드 </a:t>
                </a:r>
                <a:r>
                  <a:rPr lang="en-US" altLang="ko-KR" sz="700" spc="-50">
                    <a:latin typeface="+mn-ea"/>
                    <a:ea typeface="+mn-ea"/>
                  </a:rPr>
                  <a:t>Q86-88 </a:t>
                </a:r>
                <a:r>
                  <a:rPr lang="ko-KR" altLang="en-US" sz="700" spc="-50">
                    <a:latin typeface="+mn-ea"/>
                    <a:ea typeface="+mn-ea"/>
                  </a:rPr>
                  <a:t>기준 </a:t>
                </a:r>
                <a:r>
                  <a:rPr lang="en-US" altLang="ko-KR" sz="700" spc="-50">
                    <a:latin typeface="+mn-ea"/>
                    <a:ea typeface="+mn-ea"/>
                  </a:rPr>
                  <a:t>- </a:t>
                </a:r>
                <a:r>
                  <a:rPr lang="ko-KR" altLang="en-US" sz="700" spc="-50">
                    <a:latin typeface="+mn-ea"/>
                    <a:ea typeface="+mn-ea"/>
                  </a:rPr>
                  <a:t>시계열 비교 시 유의</a:t>
                </a:r>
                <a:r>
                  <a:rPr lang="en-US" altLang="ko-KR" sz="700" spc="-50">
                    <a:latin typeface="+mn-ea"/>
                    <a:ea typeface="+mn-ea"/>
                  </a:rPr>
                  <a:t>" [</a:t>
                </a:r>
                <a:r>
                  <a:rPr lang="ko-KR" altLang="en-US" sz="700" spc="-50">
                    <a:latin typeface="+mn-ea"/>
                    <a:ea typeface="+mn-ea"/>
                  </a:rPr>
                  <a:t>지침 </a:t>
                </a:r>
                <a:r>
                  <a:rPr lang="en-US" altLang="ko-KR" sz="700" spc="-50">
                    <a:latin typeface="+mn-ea"/>
                    <a:ea typeface="+mn-ea"/>
                  </a:rPr>
                  <a:t>4.3)</a:t>
                </a:r>
                <a:endParaRPr kumimoji="1" lang="ko-KR" altLang="en-US" sz="700" i="0" u="none" strike="noStrike" cap="none" spc="-50" normalizeH="0">
                  <a:ln>
                    <a:noFill/>
                  </a:ln>
                  <a:effectLst/>
                  <a:latin typeface="+mn-ea"/>
                  <a:ea typeface="+mn-ea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C91F20A3-6D37-129F-74C7-E8B72AA3792B}"/>
                </a:ext>
              </a:extLst>
            </p:cNvPr>
            <p:cNvGrpSpPr/>
            <p:nvPr/>
          </p:nvGrpSpPr>
          <p:grpSpPr>
            <a:xfrm>
              <a:off x="3084923" y="4018603"/>
              <a:ext cx="6013366" cy="540000"/>
              <a:chOff x="10150769" y="2125023"/>
              <a:chExt cx="6013366" cy="540000"/>
            </a:xfrm>
          </p:grpSpPr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84F21784-D725-8FFA-F6EA-E7BF4388C1BA}"/>
                  </a:ext>
                </a:extLst>
              </p:cNvPr>
              <p:cNvGrpSpPr/>
              <p:nvPr/>
            </p:nvGrpSpPr>
            <p:grpSpPr>
              <a:xfrm>
                <a:off x="10150769" y="2125023"/>
                <a:ext cx="6013366" cy="540000"/>
                <a:chOff x="445071" y="4149080"/>
                <a:chExt cx="6013366" cy="1147641"/>
              </a:xfrm>
            </p:grpSpPr>
            <p:sp>
              <p:nvSpPr>
                <p:cNvPr id="44" name="양쪽 대괄호 43">
                  <a:extLst>
                    <a:ext uri="{FF2B5EF4-FFF2-40B4-BE49-F238E27FC236}">
                      <a16:creationId xmlns:a16="http://schemas.microsoft.com/office/drawing/2014/main" id="{60A3B7D8-5666-1D8A-0C5C-D4553F14E478}"/>
                    </a:ext>
                  </a:extLst>
                </p:cNvPr>
                <p:cNvSpPr/>
                <p:nvPr/>
              </p:nvSpPr>
              <p:spPr bwMode="auto">
                <a:xfrm>
                  <a:off x="445071" y="4149080"/>
                  <a:ext cx="252000" cy="1147641"/>
                </a:xfrm>
                <a:prstGeom prst="bracketPair">
                  <a:avLst>
                    <a:gd name="adj" fmla="val 20494"/>
                  </a:avLst>
                </a:prstGeom>
                <a:solidFill>
                  <a:schemeClr val="accent1"/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7969" tIns="48984" rIns="97969" bIns="48984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979488">
                    <a:spcBef>
                      <a:spcPct val="50000"/>
                    </a:spcBef>
                  </a:pPr>
                  <a:endParaRPr lang="ko-KR" altLang="en-US" sz="1200">
                    <a:solidFill>
                      <a:srgbClr val="000099"/>
                    </a:solidFill>
                  </a:endParaRPr>
                </a:p>
              </p:txBody>
            </p:sp>
            <p:sp>
              <p:nvSpPr>
                <p:cNvPr id="45" name="사각형: 둥근 모서리 44">
                  <a:extLst>
                    <a:ext uri="{FF2B5EF4-FFF2-40B4-BE49-F238E27FC236}">
                      <a16:creationId xmlns:a16="http://schemas.microsoft.com/office/drawing/2014/main" id="{CE934C6A-767C-8D38-9895-EF65BBBEC1A0}"/>
                    </a:ext>
                  </a:extLst>
                </p:cNvPr>
                <p:cNvSpPr/>
                <p:nvPr/>
              </p:nvSpPr>
              <p:spPr bwMode="auto">
                <a:xfrm>
                  <a:off x="488504" y="4149080"/>
                  <a:ext cx="5969933" cy="1147641"/>
                </a:xfrm>
                <a:prstGeom prst="roundRect">
                  <a:avLst>
                    <a:gd name="adj" fmla="val 3129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85000"/>
                    </a:schemeClr>
                  </a:solidFill>
                  <a:round/>
                  <a:headEnd/>
                  <a:tailEnd type="none" w="sm" len="med"/>
                </a:ln>
              </p:spPr>
              <p:txBody>
                <a:bodyPr wrap="none" rtlCol="0" anchor="ctr"/>
                <a:lstStyle/>
                <a:p>
                  <a:pPr algn="ctr"/>
                  <a:endParaRPr lang="ko-KR" altLang="en-US" sz="100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9F1E86A-1B0B-2252-1FCE-3FD08C45295D}"/>
                  </a:ext>
                </a:extLst>
              </p:cNvPr>
              <p:cNvSpPr txBox="1"/>
              <p:nvPr/>
            </p:nvSpPr>
            <p:spPr>
              <a:xfrm>
                <a:off x="10281592" y="2127022"/>
                <a:ext cx="2408787" cy="1608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Wingdings" panose="05000000000000000000" pitchFamily="2" charset="2"/>
                  <a:buChar char="§"/>
                  <a:defRPr sz="1100" b="1">
                    <a:ln w="3175">
                      <a:solidFill>
                        <a:prstClr val="black">
                          <a:alpha val="0"/>
                        </a:prstClr>
                      </a:solidFill>
                    </a:ln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800">
                    <a:solidFill>
                      <a:schemeClr val="tx2"/>
                    </a:solidFill>
                    <a:latin typeface="+mn-ea"/>
                    <a:ea typeface="+mn-ea"/>
                  </a:rPr>
                  <a:t>③ FAQ(</a:t>
                </a:r>
                <a:r>
                  <a:rPr lang="ko-KR" altLang="en-US" sz="800">
                    <a:solidFill>
                      <a:schemeClr val="tx2"/>
                    </a:solidFill>
                    <a:latin typeface="+mn-ea"/>
                    <a:ea typeface="+mn-ea"/>
                  </a:rPr>
                  <a:t>예상 질의응답</a:t>
                </a:r>
                <a:r>
                  <a:rPr lang="en-US" altLang="ko-KR" sz="800">
                    <a:solidFill>
                      <a:schemeClr val="tx2"/>
                    </a:solidFill>
                    <a:latin typeface="+mn-ea"/>
                    <a:ea typeface="+mn-ea"/>
                  </a:rPr>
                  <a:t>)</a:t>
                </a:r>
                <a:endParaRPr lang="en-US" altLang="ko-KR" sz="800" dirty="0">
                  <a:solidFill>
                    <a:schemeClr val="tx2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59C7EE97-C2FC-B208-6F5B-1F06D89238BF}"/>
                  </a:ext>
                </a:extLst>
              </p:cNvPr>
              <p:cNvSpPr/>
              <p:nvPr/>
            </p:nvSpPr>
            <p:spPr bwMode="auto">
              <a:xfrm>
                <a:off x="10281592" y="2340871"/>
                <a:ext cx="5769702" cy="288280"/>
              </a:xfrm>
              <a:prstGeom prst="roundRect">
                <a:avLst>
                  <a:gd name="adj" fmla="val 5741"/>
                </a:avLst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360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defTabSz="979488" rtl="0" eaLnBrk="1" fontAlgn="base" latinLnBrk="1" hangingPunct="1"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ko-KR" sz="800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Q. </a:t>
                </a:r>
                <a:r>
                  <a:rPr kumimoji="1" lang="ko-KR" altLang="en-US" sz="800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청년층 실업률이 급변한 이유는</a:t>
                </a:r>
                <a:r>
                  <a:rPr kumimoji="1" lang="en-US" altLang="ko-KR" sz="800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  <a:t>?</a:t>
                </a:r>
                <a:br>
                  <a:rPr kumimoji="1" lang="en-US" altLang="ko-KR" sz="800" i="0" u="none" strike="noStrike" cap="none" normalizeH="0" baseline="0">
                    <a:ln>
                      <a:noFill/>
                    </a:ln>
                    <a:effectLst/>
                    <a:latin typeface="+mn-ea"/>
                    <a:ea typeface="+mn-ea"/>
                  </a:rPr>
                </a:br>
                <a:r>
                  <a:rPr lang="en-US" altLang="ko-KR" sz="800">
                    <a:latin typeface="+mn-ea"/>
                    <a:ea typeface="+mn-ea"/>
                  </a:rPr>
                  <a:t>A. </a:t>
                </a:r>
                <a:r>
                  <a:rPr lang="ko-KR" altLang="en-US" sz="800">
                    <a:latin typeface="+mn-ea"/>
                    <a:ea typeface="+mn-ea"/>
                  </a:rPr>
                  <a:t>표본 개편</a:t>
                </a:r>
                <a:r>
                  <a:rPr lang="en-US" altLang="ko-KR" sz="800">
                    <a:latin typeface="+mn-ea"/>
                    <a:ea typeface="+mn-ea"/>
                  </a:rPr>
                  <a:t>(2026.1)</a:t>
                </a:r>
                <a:r>
                  <a:rPr lang="ko-KR" altLang="en-US" sz="800">
                    <a:latin typeface="+mn-ea"/>
                    <a:ea typeface="+mn-ea"/>
                  </a:rPr>
                  <a:t>에 따른 효과로 추정 </a:t>
                </a:r>
                <a:r>
                  <a:rPr lang="en-US" altLang="ko-KR" sz="800">
                    <a:latin typeface="+mn-ea"/>
                    <a:ea typeface="+mn-ea"/>
                  </a:rPr>
                  <a:t>- </a:t>
                </a:r>
                <a:r>
                  <a:rPr lang="ko-KR" altLang="en-US" sz="800">
                    <a:latin typeface="+mn-ea"/>
                    <a:ea typeface="+mn-ea"/>
                  </a:rPr>
                  <a:t>자세한 사유는 검증 리포트 </a:t>
                </a:r>
                <a:r>
                  <a:rPr lang="en-US" altLang="ko-KR" sz="800">
                    <a:latin typeface="+mn-ea"/>
                    <a:ea typeface="+mn-ea"/>
                  </a:rPr>
                  <a:t>P2.4 </a:t>
                </a:r>
                <a:r>
                  <a:rPr lang="ko-KR" altLang="en-US" sz="800">
                    <a:latin typeface="+mn-ea"/>
                    <a:ea typeface="+mn-ea"/>
                  </a:rPr>
                  <a:t>참조</a:t>
                </a:r>
                <a:endParaRPr kumimoji="1" lang="ko-KR" altLang="en-US" sz="800" i="0" u="none" strike="noStrike" cap="none" normalizeH="0" baseline="0">
                  <a:ln>
                    <a:noFill/>
                  </a:ln>
                  <a:effectLst/>
                  <a:latin typeface="+mn-ea"/>
                  <a:ea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84291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01124" y="620688"/>
            <a:ext cx="8742756" cy="3683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ts val="2000"/>
              </a:lnSpc>
            </a:pPr>
            <a:r>
              <a:rPr lang="ko-KR" altLang="en-US" sz="2000">
                <a:solidFill>
                  <a:prstClr val="black"/>
                </a:solidFill>
                <a:latin typeface="+mn-ea"/>
                <a:ea typeface="+mn-ea"/>
              </a:rPr>
              <a:t>부록</a:t>
            </a:r>
            <a:endParaRPr lang="ko-KR" altLang="en-US" sz="20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73D774F-EFAC-210C-B306-6E3F311AB320}"/>
              </a:ext>
            </a:extLst>
          </p:cNvPr>
          <p:cNvSpPr/>
          <p:nvPr/>
        </p:nvSpPr>
        <p:spPr bwMode="auto">
          <a:xfrm>
            <a:off x="369076" y="610037"/>
            <a:ext cx="432048" cy="389040"/>
          </a:xfrm>
          <a:prstGeom prst="roundRect">
            <a:avLst>
              <a:gd name="adj" fmla="val 10117"/>
            </a:avLst>
          </a:prstGeom>
          <a:solidFill>
            <a:schemeClr val="tx2"/>
          </a:solidFill>
          <a:ln w="12700">
            <a:noFill/>
            <a:round/>
            <a:headEnd/>
            <a:tailEnd type="none" w="sm" len="med"/>
          </a:ln>
        </p:spPr>
        <p:txBody>
          <a:bodyPr wrap="none" rtlCol="0" anchor="ctr"/>
          <a:lstStyle/>
          <a:p>
            <a:pPr algn="ctr"/>
            <a:r>
              <a:rPr lang="ko-KR" altLang="en-US" b="1">
                <a:solidFill>
                  <a:schemeClr val="bg1"/>
                </a:solidFill>
                <a:latin typeface="+mn-ea"/>
                <a:ea typeface="+mn-ea"/>
              </a:rPr>
              <a:t>♣</a:t>
            </a:r>
          </a:p>
        </p:txBody>
      </p:sp>
      <p:sp>
        <p:nvSpPr>
          <p:cNvPr id="181" name="순서도: 연결자 180">
            <a:extLst>
              <a:ext uri="{FF2B5EF4-FFF2-40B4-BE49-F238E27FC236}">
                <a16:creationId xmlns:a16="http://schemas.microsoft.com/office/drawing/2014/main" id="{3100B06F-B4DB-198F-534C-36A712710641}"/>
              </a:ext>
            </a:extLst>
          </p:cNvPr>
          <p:cNvSpPr/>
          <p:nvPr/>
        </p:nvSpPr>
        <p:spPr bwMode="auto">
          <a:xfrm>
            <a:off x="999108" y="3471308"/>
            <a:ext cx="252000" cy="252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79488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2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√</a:t>
            </a: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B139006-6742-C046-CFAE-73056E94C1C4}"/>
              </a:ext>
            </a:extLst>
          </p:cNvPr>
          <p:cNvGrpSpPr/>
          <p:nvPr/>
        </p:nvGrpSpPr>
        <p:grpSpPr>
          <a:xfrm>
            <a:off x="344488" y="1207233"/>
            <a:ext cx="9199392" cy="5030078"/>
            <a:chOff x="10318984" y="5083825"/>
            <a:chExt cx="5636030" cy="1876083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D43FC2D9-3C98-4A71-5390-02CA6EB046D7}"/>
                </a:ext>
              </a:extLst>
            </p:cNvPr>
            <p:cNvSpPr/>
            <p:nvPr/>
          </p:nvSpPr>
          <p:spPr bwMode="auto">
            <a:xfrm>
              <a:off x="10318984" y="5083825"/>
              <a:ext cx="5636030" cy="1876083"/>
            </a:xfrm>
            <a:prstGeom prst="roundRect">
              <a:avLst>
                <a:gd name="adj" fmla="val 3129"/>
              </a:avLst>
            </a:prstGeom>
            <a:solidFill>
              <a:srgbClr val="F1F7FF"/>
            </a:solid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 type="none" w="sm" len="med"/>
            </a:ln>
          </p:spPr>
          <p:txBody>
            <a:bodyPr wrap="none" rtlCol="0" anchor="ctr"/>
            <a:lstStyle/>
            <a:p>
              <a:pPr algn="ctr"/>
              <a:endParaRPr lang="ko-KR" altLang="en-US" sz="12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D834D94-0A92-FC92-8C20-861CD4B28BB3}"/>
                </a:ext>
              </a:extLst>
            </p:cNvPr>
            <p:cNvSpPr txBox="1"/>
            <p:nvPr/>
          </p:nvSpPr>
          <p:spPr>
            <a:xfrm>
              <a:off x="10379551" y="5123439"/>
              <a:ext cx="2262192" cy="10586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100" b="1" i="0" u="none" strike="noStrike">
                  <a:ln w="3175">
                    <a:solidFill>
                      <a:prstClr val="black">
                        <a:alpha val="0"/>
                      </a:prstClr>
                    </a:solidFill>
                  </a:ln>
                  <a:effectLst/>
                  <a:latin typeface="+mn-ea"/>
                  <a:ea typeface="+mn-ea"/>
                </a:defRPr>
              </a:lvl1pPr>
            </a:lstStyle>
            <a:p>
              <a:r>
                <a:rPr lang="en-US" altLang="ko-KR" sz="1050"/>
                <a:t>RAG</a:t>
              </a:r>
              <a:r>
                <a:rPr lang="ko-KR" altLang="en-US" sz="1050"/>
                <a:t>와 온톨리지 </a:t>
              </a:r>
              <a:r>
                <a:rPr lang="en-US" altLang="ko-KR" sz="1050"/>
                <a:t>DB</a:t>
              </a:r>
              <a:r>
                <a:rPr lang="ko-KR" altLang="en-US" sz="1050"/>
                <a:t>의 상호 보완적 연관성</a:t>
              </a:r>
              <a:endParaRPr lang="en-US" altLang="ko-KR" sz="105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BCDECC4-D44B-639F-0819-F42B1446311C}"/>
                </a:ext>
              </a:extLst>
            </p:cNvPr>
            <p:cNvSpPr txBox="1"/>
            <p:nvPr/>
          </p:nvSpPr>
          <p:spPr>
            <a:xfrm>
              <a:off x="10379555" y="5290300"/>
              <a:ext cx="5525694" cy="1565716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ko-KR"/>
              </a:defPPr>
              <a:lvl1pPr marL="0" indent="0">
                <a:lnSpc>
                  <a:spcPct val="150000"/>
                </a:lnSpc>
                <a:buFont typeface="Wingdings" panose="05000000000000000000" pitchFamily="2" charset="2"/>
                <a:buNone/>
                <a:defRPr sz="1000" b="0">
                  <a:ln w="3175">
                    <a:solidFill>
                      <a:prstClr val="black">
                        <a:alpha val="0"/>
                      </a:prstClr>
                    </a:solidFill>
                  </a:ln>
                  <a:latin typeface="+mn-ea"/>
                  <a:ea typeface="+mn-ea"/>
                </a:defRPr>
              </a:lvl1pPr>
            </a:lstStyle>
            <a:p>
              <a:r>
                <a:rPr lang="ko-KR" altLang="en-US"/>
                <a:t>두 기술은 데이터 검색과 생성이라는 파이프라인에서 각각 다른 강점을 가지며 서로를 보완합니다</a:t>
              </a:r>
              <a:r>
                <a:rPr lang="en-US" altLang="ko-KR"/>
                <a:t>.</a:t>
              </a:r>
            </a:p>
            <a:p>
              <a:endParaRPr lang="en-US" altLang="ko-KR"/>
            </a:p>
            <a:p>
              <a:r>
                <a:rPr lang="en-US" altLang="ko-KR" b="1"/>
                <a:t>① </a:t>
              </a:r>
              <a:r>
                <a:rPr lang="ko-KR" altLang="en-US" b="1"/>
                <a:t>검색단계 </a:t>
              </a:r>
              <a:r>
                <a:rPr lang="en-US" altLang="ko-KR" b="1"/>
                <a:t>: </a:t>
              </a:r>
              <a:r>
                <a:rPr lang="ko-KR" altLang="en-US" b="1"/>
                <a:t>하이브리드 검색 </a:t>
              </a:r>
              <a:r>
                <a:rPr lang="en-US" altLang="ko-KR" b="1"/>
                <a:t>(Hybrid Retrieval)</a:t>
              </a:r>
            </a:p>
            <a:p>
              <a:r>
                <a:rPr lang="en-US" altLang="ko-KR"/>
                <a:t>RAG</a:t>
              </a:r>
              <a:r>
                <a:rPr lang="ko-KR" altLang="en-US"/>
                <a:t>가 사용자의 질문을 분석할 때</a:t>
              </a:r>
              <a:r>
                <a:rPr lang="en-US" altLang="ko-KR"/>
                <a:t>, </a:t>
              </a:r>
              <a:r>
                <a:rPr lang="ko-KR" altLang="en-US"/>
                <a:t>두 가지 검색을 동시에 수행하여 정확도를 높입니다</a:t>
              </a:r>
              <a:r>
                <a:rPr lang="en-US" altLang="ko-KR"/>
                <a:t>.</a:t>
              </a:r>
            </a:p>
            <a:p>
              <a:endParaRPr lang="en-US" altLang="ko-KR"/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ko-KR" altLang="en-US"/>
                <a:t>벡터 검색</a:t>
              </a:r>
              <a:r>
                <a:rPr lang="en-US" altLang="ko-KR"/>
                <a:t>(RAG) : </a:t>
              </a:r>
              <a:r>
                <a:rPr lang="ko-KR" altLang="en-US"/>
                <a:t>사용자의 질문과 </a:t>
              </a:r>
              <a:r>
                <a:rPr lang="en-US" altLang="ko-KR"/>
                <a:t>'</a:t>
              </a:r>
              <a:r>
                <a:rPr lang="ko-KR" altLang="en-US"/>
                <a:t>의사상 유사한</a:t>
              </a:r>
              <a:r>
                <a:rPr lang="en-US" altLang="ko-KR"/>
                <a:t>' </a:t>
              </a:r>
              <a:r>
                <a:rPr lang="ko-KR" altLang="en-US"/>
                <a:t>비정형 데이터</a:t>
              </a:r>
              <a:r>
                <a:rPr lang="en-US" altLang="ko-KR"/>
                <a:t>(</a:t>
              </a:r>
              <a:r>
                <a:rPr lang="ko-KR" altLang="en-US"/>
                <a:t>문서</a:t>
              </a:r>
              <a:r>
                <a:rPr lang="en-US" altLang="ko-KR"/>
                <a:t>, </a:t>
              </a:r>
              <a:r>
                <a:rPr lang="ko-KR" altLang="en-US"/>
                <a:t>보고서 등</a:t>
              </a:r>
              <a:r>
                <a:rPr lang="en-US" altLang="ko-KR"/>
                <a:t>)</a:t>
              </a:r>
              <a:r>
                <a:rPr lang="ko-KR" altLang="en-US"/>
                <a:t>를 넓게 찾아냅니다</a:t>
              </a:r>
              <a:r>
                <a:rPr lang="en-US" altLang="ko-KR"/>
                <a:t>.</a:t>
              </a: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ko-KR" altLang="en-US"/>
                <a:t>심볼릭 검색</a:t>
              </a:r>
              <a:r>
                <a:rPr lang="en-US" altLang="ko-KR"/>
                <a:t>(Ontology DB) : </a:t>
              </a:r>
              <a:r>
                <a:rPr lang="ko-KR" altLang="en-US"/>
                <a:t>질문에 포함된 핵심 키워드 간의 </a:t>
              </a:r>
              <a:r>
                <a:rPr lang="en-US" altLang="ko-KR"/>
                <a:t>'</a:t>
              </a:r>
              <a:r>
                <a:rPr lang="ko-KR" altLang="en-US"/>
                <a:t>정확한 관계와 규칙</a:t>
              </a:r>
              <a:r>
                <a:rPr lang="en-US" altLang="ko-KR"/>
                <a:t>'</a:t>
              </a:r>
              <a:r>
                <a:rPr lang="ko-KR" altLang="en-US"/>
                <a:t>을 정형화된 그래프에서 찾아냅니다</a:t>
              </a:r>
              <a:r>
                <a:rPr lang="en-US" altLang="ko-KR"/>
                <a:t>.</a:t>
              </a: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ko-KR" altLang="en-US"/>
                <a:t>시너지 </a:t>
              </a:r>
              <a:r>
                <a:rPr lang="en-US" altLang="ko-KR"/>
                <a:t>: </a:t>
              </a:r>
              <a:r>
                <a:rPr lang="ko-KR" altLang="en-US"/>
                <a:t>두 결과를 합치면</a:t>
              </a:r>
              <a:r>
                <a:rPr lang="en-US" altLang="ko-KR"/>
                <a:t>, </a:t>
              </a:r>
              <a:r>
                <a:rPr lang="ko-KR" altLang="en-US"/>
                <a:t>사용자의 의도를 완벽히 파악하면서도 구체적인 수치나 관계 오류가 없는 완벽한 참조 데이터가 </a:t>
              </a:r>
              <a:r>
                <a:rPr lang="en-US" altLang="ko-KR"/>
                <a:t>LLM</a:t>
              </a:r>
              <a:r>
                <a:rPr lang="ko-KR" altLang="en-US"/>
                <a:t>에게 전달됩니다</a:t>
              </a:r>
              <a:r>
                <a:rPr lang="en-US" altLang="ko-KR"/>
                <a:t>.</a:t>
              </a:r>
            </a:p>
            <a:p>
              <a:endParaRPr lang="en-US" altLang="ko-KR"/>
            </a:p>
            <a:p>
              <a:r>
                <a:rPr lang="en-US" altLang="ko-KR" b="1"/>
                <a:t>② </a:t>
              </a:r>
              <a:r>
                <a:rPr lang="ko-KR" altLang="en-US" b="1"/>
                <a:t>컨텍스트 확장</a:t>
              </a:r>
              <a:r>
                <a:rPr lang="en-US" altLang="ko-KR" b="1"/>
                <a:t>(Context Expansion)</a:t>
              </a:r>
            </a:p>
            <a:p>
              <a:r>
                <a:rPr lang="ko-KR" altLang="en-US"/>
                <a:t>사용자가 </a:t>
              </a:r>
              <a:r>
                <a:rPr lang="en-US" altLang="ko-KR"/>
                <a:t>"</a:t>
              </a:r>
              <a:r>
                <a:rPr lang="ko-KR" altLang="en-US"/>
                <a:t>최근 보안 패치 이후 발생한 서버 오류 해결방안</a:t>
              </a:r>
              <a:r>
                <a:rPr lang="en-US" altLang="ko-KR"/>
                <a:t>"</a:t>
              </a:r>
              <a:r>
                <a:rPr lang="ko-KR" altLang="en-US"/>
                <a:t>을 물었을 때</a:t>
              </a:r>
              <a:r>
                <a:rPr lang="en-US" altLang="ko-KR"/>
                <a:t>, </a:t>
              </a:r>
              <a:r>
                <a:rPr lang="ko-KR" altLang="en-US"/>
                <a:t>온톨리지 </a:t>
              </a:r>
              <a:r>
                <a:rPr lang="en-US" altLang="ko-KR"/>
                <a:t>DB</a:t>
              </a:r>
              <a:r>
                <a:rPr lang="ko-KR" altLang="en-US"/>
                <a:t>는 </a:t>
              </a:r>
              <a:endParaRPr lang="en-US" altLang="ko-KR"/>
            </a:p>
            <a:p>
              <a:r>
                <a:rPr lang="en-US" altLang="ko-KR"/>
                <a:t>"[</a:t>
              </a:r>
              <a:r>
                <a:rPr lang="ko-KR" altLang="en-US"/>
                <a:t>보안패치</a:t>
              </a:r>
              <a:r>
                <a:rPr lang="en-US" altLang="ko-KR"/>
                <a:t>A]→(</a:t>
              </a:r>
              <a:r>
                <a:rPr lang="ko-KR" altLang="en-US"/>
                <a:t>영향을 미침</a:t>
              </a:r>
              <a:r>
                <a:rPr lang="en-US" altLang="ko-KR"/>
                <a:t>)→[OS</a:t>
              </a:r>
              <a:r>
                <a:rPr lang="ko-KR" altLang="en-US"/>
                <a:t>커럼</a:t>
              </a:r>
              <a:r>
                <a:rPr lang="en-US" altLang="ko-KR"/>
                <a:t>B]→(</a:t>
              </a:r>
              <a:r>
                <a:rPr lang="ko-KR" altLang="en-US"/>
                <a:t>유발함</a:t>
              </a:r>
              <a:r>
                <a:rPr lang="en-US" altLang="ko-KR"/>
                <a:t>)→[</a:t>
              </a:r>
              <a:r>
                <a:rPr lang="ko-KR" altLang="en-US"/>
                <a:t>메모리누수오류</a:t>
              </a:r>
              <a:r>
                <a:rPr lang="en-US" altLang="ko-KR"/>
                <a:t>]" </a:t>
              </a:r>
              <a:r>
                <a:rPr lang="ko-KR" altLang="en-US"/>
                <a:t>와 같은 지식 체인을 제공합니다</a:t>
              </a:r>
              <a:r>
                <a:rPr lang="en-US" altLang="ko-KR"/>
                <a:t>.</a:t>
              </a:r>
            </a:p>
            <a:p>
              <a:r>
                <a:rPr lang="en-US" altLang="ko-KR"/>
                <a:t>RAG</a:t>
              </a:r>
              <a:r>
                <a:rPr lang="ko-KR" altLang="en-US"/>
                <a:t>는 이 관계도를 바탕으로 관련된 다른 문서들까지 덩달아 검색 범위에 포함시켜</a:t>
              </a:r>
              <a:r>
                <a:rPr lang="en-US" altLang="ko-KR"/>
                <a:t>, </a:t>
              </a:r>
              <a:r>
                <a:rPr lang="ko-KR" altLang="en-US"/>
                <a:t>훨씬 깊이 있고 다각적인 해결책 초안을 생성합니다</a:t>
              </a:r>
              <a:r>
                <a:rPr lang="en-US" altLang="ko-KR"/>
                <a:t>.</a:t>
              </a:r>
            </a:p>
            <a:p>
              <a:endParaRPr lang="en-US" altLang="ko-KR"/>
            </a:p>
            <a:p>
              <a:r>
                <a:rPr lang="en-US" altLang="ko-KR" b="1"/>
                <a:t>③ </a:t>
              </a:r>
              <a:r>
                <a:rPr lang="ko-KR" altLang="en-US" b="1"/>
                <a:t>지식의 추론</a:t>
              </a:r>
              <a:r>
                <a:rPr lang="en-US" altLang="ko-KR" b="1"/>
                <a:t>(Reasoning) </a:t>
              </a:r>
              <a:r>
                <a:rPr lang="ko-KR" altLang="en-US" b="1"/>
                <a:t>가능</a:t>
              </a:r>
              <a:endParaRPr lang="en-US" altLang="ko-KR" b="1"/>
            </a:p>
            <a:p>
              <a:r>
                <a:rPr lang="ko-KR" altLang="en-US"/>
                <a:t>온톨리지 </a:t>
              </a:r>
              <a:r>
                <a:rPr lang="en-US" altLang="ko-KR"/>
                <a:t>DB</a:t>
              </a:r>
              <a:r>
                <a:rPr lang="ko-KR" altLang="en-US"/>
                <a:t>는 </a:t>
              </a:r>
              <a:r>
                <a:rPr lang="en-US" altLang="ko-KR"/>
                <a:t>'A</a:t>
              </a:r>
              <a:r>
                <a:rPr lang="ko-KR" altLang="en-US"/>
                <a:t>가 </a:t>
              </a:r>
              <a:r>
                <a:rPr lang="en-US" altLang="ko-KR"/>
                <a:t>B</a:t>
              </a:r>
              <a:r>
                <a:rPr lang="ko-KR" altLang="en-US"/>
                <a:t>에 포함되고</a:t>
              </a:r>
              <a:r>
                <a:rPr lang="en-US" altLang="ko-KR"/>
                <a:t>, B</a:t>
              </a:r>
              <a:r>
                <a:rPr lang="ko-KR" altLang="en-US"/>
                <a:t>가 </a:t>
              </a:r>
              <a:r>
                <a:rPr lang="en-US" altLang="ko-KR"/>
                <a:t>C</a:t>
              </a:r>
              <a:r>
                <a:rPr lang="ko-KR" altLang="en-US"/>
                <a:t>에 포함되면</a:t>
              </a:r>
              <a:r>
                <a:rPr lang="en-US" altLang="ko-KR"/>
                <a:t>, A</a:t>
              </a:r>
              <a:r>
                <a:rPr lang="ko-KR" altLang="en-US"/>
                <a:t>는 </a:t>
              </a:r>
              <a:r>
                <a:rPr lang="en-US" altLang="ko-KR"/>
                <a:t>C</a:t>
              </a:r>
              <a:r>
                <a:rPr lang="ko-KR" altLang="en-US"/>
                <a:t>에 포함된다</a:t>
              </a:r>
              <a:r>
                <a:rPr lang="en-US" altLang="ko-KR"/>
                <a:t>'</a:t>
              </a:r>
              <a:r>
                <a:rPr lang="ko-KR" altLang="en-US"/>
                <a:t>와 같은 논리적 규칙을 가지고 있습니다</a:t>
              </a:r>
              <a:r>
                <a:rPr lang="en-US" altLang="ko-KR"/>
                <a:t>.</a:t>
              </a:r>
            </a:p>
            <a:p>
              <a:r>
                <a:rPr lang="en-US" altLang="ko-KR"/>
                <a:t>RAG </a:t>
              </a:r>
              <a:r>
                <a:rPr lang="ko-KR" altLang="en-US"/>
                <a:t>시스템에 이 온톨리지 추론 능력이 더해지면</a:t>
              </a:r>
              <a:r>
                <a:rPr lang="en-US" altLang="ko-KR"/>
                <a:t>, </a:t>
              </a:r>
              <a:r>
                <a:rPr lang="ko-KR" altLang="en-US"/>
                <a:t>문서에 직접적으로 명시되지 않은 숨겨진 사실까지도 </a:t>
              </a:r>
              <a:r>
                <a:rPr lang="en-US" altLang="ko-KR"/>
                <a:t>AI</a:t>
              </a:r>
              <a:r>
                <a:rPr lang="ko-KR" altLang="en-US"/>
                <a:t>가 논리적으로 유추하여 답변을 생성할 수 있게 됩니다</a:t>
              </a:r>
              <a:r>
                <a:rPr lang="en-US" altLang="ko-KR"/>
                <a:t>.</a:t>
              </a: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A4A051-EC0B-2587-2CC8-8459956C9B0A}"/>
              </a:ext>
            </a:extLst>
          </p:cNvPr>
          <p:cNvSpPr/>
          <p:nvPr/>
        </p:nvSpPr>
        <p:spPr>
          <a:xfrm>
            <a:off x="344488" y="6268323"/>
            <a:ext cx="924140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1050" b="1" kern="0">
                <a:latin typeface="+mn-ea"/>
                <a:ea typeface="+mn-ea"/>
                <a:cs typeface="+mj-cs"/>
              </a:rPr>
              <a:t>RAG</a:t>
            </a:r>
            <a:r>
              <a:rPr lang="ko-KR" altLang="en-US" sz="1050" b="1" kern="0">
                <a:latin typeface="+mn-ea"/>
                <a:ea typeface="+mn-ea"/>
                <a:cs typeface="+mj-cs"/>
              </a:rPr>
              <a:t>가 </a:t>
            </a:r>
            <a:r>
              <a:rPr lang="en-US" altLang="ko-KR" sz="1050" b="1" kern="0">
                <a:latin typeface="+mn-ea"/>
                <a:ea typeface="+mn-ea"/>
                <a:cs typeface="+mj-cs"/>
              </a:rPr>
              <a:t>AI</a:t>
            </a:r>
            <a:r>
              <a:rPr lang="ko-KR" altLang="en-US" sz="1050" b="1" kern="0">
                <a:latin typeface="+mn-ea"/>
                <a:ea typeface="+mn-ea"/>
                <a:cs typeface="+mj-cs"/>
              </a:rPr>
              <a:t>에게 </a:t>
            </a:r>
            <a:r>
              <a:rPr lang="en-US" altLang="ko-KR" sz="1050" b="1" kern="0">
                <a:latin typeface="+mn-ea"/>
                <a:ea typeface="+mn-ea"/>
                <a:cs typeface="+mj-cs"/>
              </a:rPr>
              <a:t>'</a:t>
            </a:r>
            <a:r>
              <a:rPr lang="ko-KR" altLang="en-US" sz="1050" b="1" kern="0">
                <a:latin typeface="+mn-ea"/>
                <a:ea typeface="+mn-ea"/>
                <a:cs typeface="+mj-cs"/>
              </a:rPr>
              <a:t>방대한 서재에서 관련 책을 찾아 읽는 능력</a:t>
            </a:r>
            <a:r>
              <a:rPr lang="en-US" altLang="ko-KR" sz="1050" b="1" kern="0">
                <a:latin typeface="+mn-ea"/>
                <a:ea typeface="+mn-ea"/>
                <a:cs typeface="+mj-cs"/>
              </a:rPr>
              <a:t>'</a:t>
            </a:r>
            <a:r>
              <a:rPr lang="ko-KR" altLang="en-US" sz="1050" b="1" kern="0">
                <a:latin typeface="+mn-ea"/>
                <a:ea typeface="+mn-ea"/>
                <a:cs typeface="+mj-cs"/>
              </a:rPr>
              <a:t>을 준다면</a:t>
            </a:r>
            <a:r>
              <a:rPr lang="en-US" altLang="ko-KR" sz="1050" b="1" kern="0">
                <a:latin typeface="+mn-ea"/>
                <a:ea typeface="+mn-ea"/>
                <a:cs typeface="+mj-cs"/>
              </a:rPr>
              <a:t>, </a:t>
            </a:r>
            <a:r>
              <a:rPr lang="ko-KR" altLang="en-US" sz="1050" b="1" kern="0">
                <a:latin typeface="+mn-ea"/>
                <a:ea typeface="+mn-ea"/>
                <a:cs typeface="+mj-cs"/>
              </a:rPr>
              <a:t>온톨리지 </a:t>
            </a:r>
            <a:r>
              <a:rPr lang="en-US" altLang="ko-KR" sz="1050" b="1" kern="0">
                <a:latin typeface="+mn-ea"/>
                <a:ea typeface="+mn-ea"/>
                <a:cs typeface="+mj-cs"/>
              </a:rPr>
              <a:t>DB</a:t>
            </a:r>
            <a:r>
              <a:rPr lang="ko-KR" altLang="en-US" sz="1050" b="1" kern="0">
                <a:latin typeface="+mn-ea"/>
                <a:ea typeface="+mn-ea"/>
                <a:cs typeface="+mj-cs"/>
              </a:rPr>
              <a:t>는 </a:t>
            </a:r>
            <a:r>
              <a:rPr lang="en-US" altLang="ko-KR" sz="1050" b="1" kern="0">
                <a:latin typeface="+mn-ea"/>
                <a:ea typeface="+mn-ea"/>
                <a:cs typeface="+mj-cs"/>
              </a:rPr>
              <a:t>'</a:t>
            </a:r>
            <a:r>
              <a:rPr lang="ko-KR" altLang="en-US" sz="1050" b="1" kern="0">
                <a:latin typeface="+mn-ea"/>
                <a:ea typeface="+mn-ea"/>
                <a:cs typeface="+mj-cs"/>
              </a:rPr>
              <a:t>책 속 지식들의 관계를 일목요연하게 정리한 요약 맵을 제공</a:t>
            </a:r>
            <a:r>
              <a:rPr lang="en-US" altLang="ko-KR" sz="1050" b="1" kern="0">
                <a:latin typeface="+mn-ea"/>
                <a:ea typeface="+mn-ea"/>
                <a:cs typeface="+mj-cs"/>
              </a:rPr>
              <a:t>'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28922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9135F12-7D25-42BF-8831-C196A6CEFA7D}"/>
              </a:ext>
            </a:extLst>
          </p:cNvPr>
          <p:cNvSpPr txBox="1"/>
          <p:nvPr/>
        </p:nvSpPr>
        <p:spPr>
          <a:xfrm>
            <a:off x="2360712" y="4227622"/>
            <a:ext cx="5184576" cy="523220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80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감사합니다</a:t>
            </a:r>
            <a:endParaRPr lang="ko-KR" altLang="en-US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A9F7EBC-E80E-4180-8ED6-C844A051F3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09"/>
          <a:stretch/>
        </p:blipFill>
        <p:spPr>
          <a:xfrm>
            <a:off x="2720752" y="1988840"/>
            <a:ext cx="4320478" cy="11355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A3CF60-AC7A-9289-A8DE-53F837A48292}"/>
              </a:ext>
            </a:extLst>
          </p:cNvPr>
          <p:cNvSpPr txBox="1"/>
          <p:nvPr/>
        </p:nvSpPr>
        <p:spPr>
          <a:xfrm>
            <a:off x="4401407" y="2996952"/>
            <a:ext cx="11031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>
                <a:latin typeface="Magneto" panose="04030805050802020D02" pitchFamily="82" charset="0"/>
                <a:ea typeface="Gadugi" panose="020B0502040204020203" pitchFamily="34" charset="0"/>
              </a:rPr>
              <a:t>2.0</a:t>
            </a:r>
            <a:endParaRPr lang="ko-KR" altLang="en-US" sz="4000">
              <a:latin typeface="Magneto" panose="04030805050802020D02" pitchFamily="82" charset="0"/>
              <a:ea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D574879-8BCD-34F1-DCB8-2CAC3D25AF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80" y="3601791"/>
            <a:ext cx="2199571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68380"/>
      </p:ext>
    </p:extLst>
  </p:cSld>
  <p:clrMapOvr>
    <a:masterClrMapping/>
  </p:clrMapOvr>
</p:sld>
</file>

<file path=ppt/theme/theme1.xml><?xml version="1.0" encoding="utf-8"?>
<a:theme xmlns:a="http://schemas.openxmlformats.org/drawingml/2006/main" name="표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기본템플릿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_Metanet_Form_2008-12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72000" tIns="36000" rIns="72000" bIns="36000" numCol="1" rtlCol="0" anchor="t" anchorCtr="0" compatLnSpc="1">
        <a:prstTxWarp prst="textNoShape">
          <a:avLst/>
        </a:prstTxWarp>
        <a:noAutofit/>
      </a:bodyPr>
      <a:lstStyle>
        <a:defPPr marL="92075" marR="0" indent="-92075" algn="l" defTabSz="979488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 typeface="Arial" pitchFamily="34" charset="0"/>
          <a:buChar char="•"/>
          <a:tabLst/>
          <a:defRPr kumimoji="1" sz="1200" b="0" i="0" u="none" strike="noStrike" cap="none" normalizeH="0" baseline="0" smtClean="0">
            <a:ln>
              <a:noFill/>
            </a:ln>
            <a:effectLst/>
            <a:latin typeface="+mn-ea"/>
            <a:ea typeface="+mn-ea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7969" tIns="48984" rIns="97969" bIns="48984" numCol="1" anchor="t" anchorCtr="0" compatLnSpc="1">
        <a:prstTxWarp prst="textNoShape">
          <a:avLst/>
        </a:prstTxWarp>
        <a:spAutoFit/>
      </a:bodyPr>
      <a:lstStyle>
        <a:defPPr marL="0" marR="0" indent="0" algn="l" defTabSz="979488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en-US" sz="1200" b="0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400" smtClean="0">
            <a:latin typeface="+mn-ea"/>
            <a:ea typeface="+mn-ea"/>
          </a:defRPr>
        </a:defPPr>
      </a:lstStyle>
    </a:txDef>
  </a:objectDefaults>
  <a:extraClrSchemeLst>
    <a:extraClrScheme>
      <a:clrScheme name="5_Metanet_Form_2008-12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be44__xace0_ xmlns="1f825a70-8d4d-4244-a1b4-9642d25e771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F4F48E8F69C11419B2FC47A2F44FC97" ma:contentTypeVersion="10" ma:contentTypeDescription="새 문서를 만듭니다." ma:contentTypeScope="" ma:versionID="f4a665f538eeb2556cf39520ea9a8fa4">
  <xsd:schema xmlns:xsd="http://www.w3.org/2001/XMLSchema" xmlns:xs="http://www.w3.org/2001/XMLSchema" xmlns:p="http://schemas.microsoft.com/office/2006/metadata/properties" xmlns:ns2="1f825a70-8d4d-4244-a1b4-9642d25e7715" xmlns:ns3="4acfe268-45a1-4b6a-9184-3885a2f8184a" targetNamespace="http://schemas.microsoft.com/office/2006/metadata/properties" ma:root="true" ma:fieldsID="4382f31dc3a5dd1c14765328029f8825" ns2:_="" ns3:_="">
    <xsd:import namespace="1f825a70-8d4d-4244-a1b4-9642d25e7715"/>
    <xsd:import namespace="4acfe268-45a1-4b6a-9184-3885a2f818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_xbe44__xace0_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825a70-8d4d-4244-a1b4-9642d25e77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_xbe44__xace0_" ma:index="13" nillable="true" ma:displayName="비고" ma:format="Dropdown" ma:internalName="_xbe44__xace0_">
      <xsd:simpleType>
        <xsd:restriction base="dms:Text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cfe268-45a1-4b6a-9184-3885a2f8184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AE33B2-7078-4E38-A0E3-C879AE5EB5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93A031-3364-4D93-8027-237A8C6350FA}">
  <ds:schemaRefs>
    <ds:schemaRef ds:uri="http://www.w3.org/XML/1998/namespace"/>
    <ds:schemaRef ds:uri="http://purl.org/dc/terms/"/>
    <ds:schemaRef ds:uri="1f825a70-8d4d-4244-a1b4-9642d25e7715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4acfe268-45a1-4b6a-9184-3885a2f8184a"/>
  </ds:schemaRefs>
</ds:datastoreItem>
</file>

<file path=customXml/itemProps3.xml><?xml version="1.0" encoding="utf-8"?>
<ds:datastoreItem xmlns:ds="http://schemas.openxmlformats.org/officeDocument/2006/customXml" ds:itemID="{D24D7118-6C6A-42AB-8DA0-129C5DE8FA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825a70-8d4d-4244-a1b4-9642d25e7715"/>
    <ds:schemaRef ds:uri="4acfe268-45a1-4b6a-9184-3885a2f818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108961</TotalTime>
  <Words>3432</Words>
  <Application>Microsoft Office PowerPoint</Application>
  <PresentationFormat>A4 용지(210x297mm)</PresentationFormat>
  <Paragraphs>559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KoPub돋움체 Bold</vt:lpstr>
      <vt:lpstr>굴림</vt:lpstr>
      <vt:lpstr>맑은 고딕</vt:lpstr>
      <vt:lpstr>Arial</vt:lpstr>
      <vt:lpstr>Cambria Math</vt:lpstr>
      <vt:lpstr>Magneto</vt:lpstr>
      <vt:lpstr>Wingdings</vt:lpstr>
      <vt:lpstr>표지</vt:lpstr>
      <vt:lpstr>기본템플릿</vt:lpstr>
      <vt:lpstr>PowerPoint 프레젠테이션</vt:lpstr>
      <vt:lpstr>나라통계시스템 AI 10대 과제</vt:lpstr>
      <vt:lpstr>나라통계시스템 AI 적용 아키텍처</vt:lpstr>
      <vt:lpstr>조사표 ∙ 항목 자동 설계 보조</vt:lpstr>
      <vt:lpstr>조사지침서와 조사표 문서 검증</vt:lpstr>
      <vt:lpstr>모바일 전자조사표 UX 자동 변환</vt:lpstr>
      <vt:lpstr>항목이동∙유효성 검증 룰 자동 생성</vt:lpstr>
      <vt:lpstr>에디팅 우선순위 추천</vt:lpstr>
      <vt:lpstr>자동 대체(Imputation) 추천</vt:lpstr>
      <vt:lpstr>분류코딩 자동화(텍스트 → 분류코드)</vt:lpstr>
      <vt:lpstr>통계표 자동 생성</vt:lpstr>
      <vt:lpstr>공표 전 자동 검증</vt:lpstr>
      <vt:lpstr>공표 설명자료 초안 생성</vt:lpstr>
      <vt:lpstr>부록</vt:lpstr>
      <vt:lpstr>PowerPoint 프레젠테이션</vt:lpstr>
    </vt:vector>
  </TitlesOfParts>
  <Company>대우정보시스템(주)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OracleSQLDeveloper기본설정</dc:title>
  <dc:creator>인아이티</dc:creator>
  <cp:lastModifiedBy>INIT-PC</cp:lastModifiedBy>
  <cp:revision>13629</cp:revision>
  <cp:lastPrinted>2026-08-04T02:33:12Z</cp:lastPrinted>
  <dcterms:created xsi:type="dcterms:W3CDTF">2008-12-17T00:08:18Z</dcterms:created>
  <dcterms:modified xsi:type="dcterms:W3CDTF">2026-08-04T02:35:18Z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0x010100AF4F48E8F69C11419B2FC47A2F44FC97</vt:lpwstr>
  </property>
</Properties>
</file>