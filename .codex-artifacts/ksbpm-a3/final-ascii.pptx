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e40113ff814c7a" /><Relationship Type="http://schemas.openxmlformats.org/officeDocument/2006/relationships/extended-properties" Target="/docProps/app.xml" Id="R650a53805d974a31" /><Relationship Type="http://schemas.openxmlformats.org/officeDocument/2006/relationships/officeDocument" Target="/ppt/presentation.xml" Id="Ra28fe28397d24e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7212348a2b47fb"/>
  </p:sldMasterIdLst>
  <p:notesMasterIdLst>
    <p:notesMasterId xmlns:r="http://schemas.openxmlformats.org/officeDocument/2006/relationships" r:id="R92e2c59060d24ee7"/>
  </p:notesMasterIdLst>
  <p:sldIdLst>
    <p:sldId xmlns:r="http://schemas.openxmlformats.org/officeDocument/2006/relationships" id="256" r:id="R614fbf5c8fc94b1c"/>
  </p:sldIdLst>
  <p:sldSz cx="15116175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d541d5cbda45ef" /><Relationship Type="http://schemas.openxmlformats.org/officeDocument/2006/relationships/slideMaster" Target="/ppt/slideMasters/slideMaster1.xml" Id="Rd07212348a2b47fb" /><Relationship Type="http://schemas.openxmlformats.org/officeDocument/2006/relationships/notesMaster" Target="/ppt/notesMasters/notesMaster1.xml" Id="R92e2c59060d24ee7" /><Relationship Type="http://schemas.openxmlformats.org/officeDocument/2006/relationships/presProps" Target="/ppt/presProps.xml" Id="Rd466c119a065490b" /><Relationship Type="http://schemas.openxmlformats.org/officeDocument/2006/relationships/tableStyles" Target="/ppt/tableStyles.xml" Id="Rf96c9cfb3a6c447a" /><Relationship Type="http://schemas.openxmlformats.org/officeDocument/2006/relationships/slide" Target="/ppt/slides/slide1.xml" Id="R614fbf5c8fc94b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d41a2c309c4f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KSBPM AI Strategy">
      <a:dk1>
        <a:srgbClr val="000000"/>
      </a:dk1>
      <a:lt1>
        <a:srgbClr val="FFFFFF"/>
      </a:lt1>
      <a:dk2>
        <a:srgbClr val="111827"/>
      </a:dk2>
      <a:lt2>
        <a:srgbClr val="F3F5F7"/>
      </a:lt2>
      <a:accent1>
        <a:srgbClr val="1C6AA6"/>
      </a:accent1>
      <a:accent2>
        <a:srgbClr val="0B4F86"/>
      </a:accent2>
      <a:accent3>
        <a:srgbClr val="7BC8F6"/>
      </a:accent3>
      <a:accent4>
        <a:srgbClr val="1E7A5C"/>
      </a:accent4>
      <a:accent5>
        <a:srgbClr val="C47A13"/>
      </a:accent5>
      <a:accent6>
        <a:srgbClr val="6B7280"/>
      </a:accent6>
      <a:hlink>
        <a:srgbClr val="1C6AA6"/>
      </a:hlink>
      <a:folHlink>
        <a:srgbClr val="0B4F86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KSBPM AI Strategy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b8b134368f466c" /><Relationship Type="http://schemas.openxmlformats.org/officeDocument/2006/relationships/notesMaster" Target="/ppt/notesMasters/notesMaster1.xml" Id="R60ce715a7fbf49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C:/Users/kse/Desktop/시연/20260301_공통_나라통계시스템AI활용서비스발굴(초안)_v0.5.pptx (user-provided source; slides 2–14)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Priority is a synthesis of the source deck's process order and mandatory common foundation: initiative 01 first, with metadata linkage and guideline Vector DB implemented in parallel as phase 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1f9852dd524d2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0a660fa8a84d51" /><Relationship Type="http://schemas.openxmlformats.org/officeDocument/2006/relationships/slideLayout" Target="/ppt/slideLayouts/slideLayout1.xml" Id="Rff57728894764b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57728894764b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KSBPM AI Strategy">
      <a:dk1>
        <a:srgbClr val="000000"/>
      </a:dk1>
      <a:lt1>
        <a:srgbClr val="FFFFFF"/>
      </a:lt1>
      <a:dk2>
        <a:srgbClr val="111827"/>
      </a:dk2>
      <a:lt2>
        <a:srgbClr val="F3F5F7"/>
      </a:lt2>
      <a:accent1>
        <a:srgbClr val="1C6AA6"/>
      </a:accent1>
      <a:accent2>
        <a:srgbClr val="0B4F86"/>
      </a:accent2>
      <a:accent3>
        <a:srgbClr val="7BC8F6"/>
      </a:accent3>
      <a:accent4>
        <a:srgbClr val="1E7A5C"/>
      </a:accent4>
      <a:accent5>
        <a:srgbClr val="C47A13"/>
      </a:accent5>
      <a:accent6>
        <a:srgbClr val="6B7280"/>
      </a:accent6>
      <a:hlink>
        <a:srgbClr val="1C6AA6"/>
      </a:hlink>
      <a:folHlink>
        <a:srgbClr val="0B4F86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KSBPM AI Strategy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ab54d47e844094" /><Relationship Type="http://schemas.openxmlformats.org/officeDocument/2006/relationships/notesSlide" Target="/ppt/notesSlides/notesSlide1.xml" Id="Rc11e041ed359483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1" name="ksbpm-process-connector">
            <a:extLst xmlns:a="http://schemas.openxmlformats.org/drawingml/2006/main">
              <a:ext uri="{FF2B5EF4-FFF2-40B4-BE49-F238E27FC236}">
                <a16:creationId xmlns:a16="http://schemas.microsoft.com/office/drawing/2014/main" id="{2E0D5D18-F868-438E-94C7-79FDD1928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57400"/>
            <a:ext cx="1257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0CC"/>
            </a:solidFill>
            <a:prstDash val="solid"/>
          </a:ln>
        </p:spPr>
      </p:sp>
      <p:sp>
        <p:nvSpPr>
          <p:cNvPr id="2" name="roadmap-connector">
            <a:extLst xmlns:a="http://schemas.openxmlformats.org/drawingml/2006/main">
              <a:ext uri="{FF2B5EF4-FFF2-40B4-BE49-F238E27FC236}">
                <a16:creationId xmlns:a16="http://schemas.microsoft.com/office/drawing/2014/main" id="{63B63DE9-0D61-44F6-BF3F-9C6C69642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9810750"/>
            <a:ext cx="11258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0CC"/>
            </a:solidFill>
            <a:prstDash val="solid"/>
          </a:ln>
        </p:spPr>
      </p:sp>
      <p:sp>
        <p:nvSpPr>
          <p:cNvPr id="3" name="top-accent-rule">
            <a:extLst xmlns:a="http://schemas.openxmlformats.org/drawingml/2006/main">
              <a:ext uri="{FF2B5EF4-FFF2-40B4-BE49-F238E27FC236}">
                <a16:creationId xmlns:a16="http://schemas.microsoft.com/office/drawing/2014/main" id="{0F0191E8-F73D-492F-90D5-CC850B1DE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40874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A60C1D43-3FCC-4153-9E5E-9DB9631A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4F8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B4F86"/>
                </a:solidFill>
                <a:latin typeface="Malgun Gothic"/>
                <a:ea typeface="Malgun Gothic"/>
                <a:cs typeface="Malgun Gothic"/>
              </a:rPr>
              <a:t>NATIONAL STATISTICS SYSTEM 2.0  /  A3 EXECUTIVE SUMMARY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984CEE9-8BC8-4678-9EB9-EA5719BDE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0100"/>
            <a:ext cx="14087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KSBPM 기반 AI 10대 과제 — 메타를 먼저 연결하고 전 과정을 자동화한다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2579650-CBFB-4D3E-9BAF-04540D1F3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14087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통계항목 중심 메타데이터 · 지침서 Vector DB · 에디팅 이력을 공통 기반으로, 설계→수집→처리→공표→보관을 하나의 근거형 AI 업무흐름으로 전환</a:t>
            </a:r>
          </a:p>
        </p:txBody>
      </p:sp>
      <p:sp>
        <p:nvSpPr>
          <p:cNvPr id="7" name="ksbpm-label">
            <a:extLst xmlns:a="http://schemas.openxmlformats.org/drawingml/2006/main">
              <a:ext uri="{FF2B5EF4-FFF2-40B4-BE49-F238E27FC236}">
                <a16:creationId xmlns:a16="http://schemas.microsoft.com/office/drawing/2014/main" id="{C5416B08-8B0E-426A-9DB6-FF974099A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38325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37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4F8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B4F86"/>
                </a:solidFill>
                <a:latin typeface="Malgun Gothic"/>
                <a:ea typeface="Malgun Gothic"/>
                <a:cs typeface="Malgun Gothic"/>
              </a:rPr>
              <a:t>KSBPM 9단계</a:t>
            </a:r>
          </a:p>
        </p:txBody>
      </p:sp>
      <p:sp>
        <p:nvSpPr>
          <p:cNvPr id="8" name="ksbpm-step-1">
            <a:extLst xmlns:a="http://schemas.openxmlformats.org/drawingml/2006/main">
              <a:ext uri="{FF2B5EF4-FFF2-40B4-BE49-F238E27FC236}">
                <a16:creationId xmlns:a16="http://schemas.microsoft.com/office/drawing/2014/main" id="{D7A0FE98-6CF9-46FD-96F8-09B2367FF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838325"/>
            <a:ext cx="13430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B8C0CC"/>
            </a:solidFill>
            <a:prstDash val="solid"/>
          </a:ln>
        </p:spPr>
      </p:sp>
      <p:sp>
        <p:nvSpPr>
          <p:cNvPr id="9" name="ksbpm-step-text-1">
            <a:extLst xmlns:a="http://schemas.openxmlformats.org/drawingml/2006/main">
              <a:ext uri="{FF2B5EF4-FFF2-40B4-BE49-F238E27FC236}">
                <a16:creationId xmlns:a16="http://schemas.microsoft.com/office/drawing/2014/main" id="{CE213018-2583-4712-AF95-EC9AB06B6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838325"/>
            <a:ext cx="13430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  기획</a:t>
            </a:r>
          </a:p>
        </p:txBody>
      </p:sp>
      <p:sp>
        <p:nvSpPr>
          <p:cNvPr id="10" name="ksbpm-step-2">
            <a:extLst xmlns:a="http://schemas.openxmlformats.org/drawingml/2006/main">
              <a:ext uri="{FF2B5EF4-FFF2-40B4-BE49-F238E27FC236}">
                <a16:creationId xmlns:a16="http://schemas.microsoft.com/office/drawing/2014/main" id="{A13DA157-421A-4A2F-AB41-DD7F6F2FE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1838325"/>
            <a:ext cx="13430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  <a:ln xmlns:a="http://schemas.openxmlformats.org/drawingml/2006/main" w="19050">
            <a:solidFill>
              <a:srgbClr val="1C6AA6"/>
            </a:solidFill>
            <a:prstDash val="solid"/>
          </a:ln>
        </p:spPr>
      </p:sp>
      <p:sp>
        <p:nvSpPr>
          <p:cNvPr id="11" name="ksbpm-step-text-2">
            <a:extLst xmlns:a="http://schemas.openxmlformats.org/drawingml/2006/main">
              <a:ext uri="{FF2B5EF4-FFF2-40B4-BE49-F238E27FC236}">
                <a16:creationId xmlns:a16="http://schemas.microsoft.com/office/drawing/2014/main" id="{CEAB9AB1-3488-4958-85B3-834CCD6E8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1838325"/>
            <a:ext cx="13430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4F8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B4F86"/>
                </a:solidFill>
                <a:latin typeface="Malgun Gothic"/>
                <a:ea typeface="Malgun Gothic"/>
                <a:cs typeface="Malgun Gothic"/>
              </a:rPr>
              <a:t>2  설계</a:t>
            </a:r>
          </a:p>
        </p:txBody>
      </p:sp>
      <p:sp>
        <p:nvSpPr>
          <p:cNvPr id="12" name="ksbpm-step-map-2">
            <a:extLst xmlns:a="http://schemas.openxmlformats.org/drawingml/2006/main">
              <a:ext uri="{FF2B5EF4-FFF2-40B4-BE49-F238E27FC236}">
                <a16:creationId xmlns:a16="http://schemas.microsoft.com/office/drawing/2014/main" id="{8F299653-C86F-4C54-8961-DCED9AD4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362200"/>
            <a:ext cx="1343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4F8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B4F86"/>
                </a:solidFill>
                <a:latin typeface="Malgun Gothic"/>
                <a:ea typeface="Malgun Gothic"/>
                <a:cs typeface="Malgun Gothic"/>
              </a:rPr>
              <a:t>①②④</a:t>
            </a:r>
          </a:p>
        </p:txBody>
      </p:sp>
      <p:sp>
        <p:nvSpPr>
          <p:cNvPr id="13" name="ksbpm-step-3">
            <a:extLst xmlns:a="http://schemas.openxmlformats.org/drawingml/2006/main">
              <a:ext uri="{FF2B5EF4-FFF2-40B4-BE49-F238E27FC236}">
                <a16:creationId xmlns:a16="http://schemas.microsoft.com/office/drawing/2014/main" id="{139B5BC1-2E27-46A2-A3C9-B22305C80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838325"/>
            <a:ext cx="13430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B8C0CC"/>
            </a:solidFill>
            <a:prstDash val="solid"/>
          </a:ln>
        </p:spPr>
      </p:sp>
      <p:sp>
        <p:nvSpPr>
          <p:cNvPr id="14" name="ksbpm-step-text-3">
            <a:extLst xmlns:a="http://schemas.openxmlformats.org/drawingml/2006/main">
              <a:ext uri="{FF2B5EF4-FFF2-40B4-BE49-F238E27FC236}">
                <a16:creationId xmlns:a16="http://schemas.microsoft.com/office/drawing/2014/main" id="{A017807E-256D-412D-B05C-2AB1F08E9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838325"/>
            <a:ext cx="13430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3  구현</a:t>
            </a:r>
          </a:p>
        </p:txBody>
      </p:sp>
      <p:sp>
        <p:nvSpPr>
          <p:cNvPr id="15" name="ksbpm-step-4">
            <a:extLst xmlns:a="http://schemas.openxmlformats.org/drawingml/2006/main">
              <a:ext uri="{FF2B5EF4-FFF2-40B4-BE49-F238E27FC236}">
                <a16:creationId xmlns:a16="http://schemas.microsoft.com/office/drawing/2014/main" id="{B946D916-A0C8-4B14-BA48-C416F2FF6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838325"/>
            <a:ext cx="13430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  <a:ln xmlns:a="http://schemas.openxmlformats.org/drawingml/2006/main" w="19050">
            <a:solidFill>
              <a:srgbClr val="1C6AA6"/>
            </a:solidFill>
            <a:prstDash val="solid"/>
          </a:ln>
        </p:spPr>
      </p:sp>
      <p:sp>
        <p:nvSpPr>
          <p:cNvPr id="16" name="ksbpm-step-text-4">
            <a:extLst xmlns:a="http://schemas.openxmlformats.org/drawingml/2006/main">
              <a:ext uri="{FF2B5EF4-FFF2-40B4-BE49-F238E27FC236}">
                <a16:creationId xmlns:a16="http://schemas.microsoft.com/office/drawing/2014/main" id="{C9E9F5C3-4382-4C9B-9109-F8B735DB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838325"/>
            <a:ext cx="13430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4F8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B4F86"/>
                </a:solidFill>
                <a:latin typeface="Malgun Gothic"/>
                <a:ea typeface="Malgun Gothic"/>
                <a:cs typeface="Malgun Gothic"/>
              </a:rPr>
              <a:t>4  수집</a:t>
            </a:r>
          </a:p>
        </p:txBody>
      </p:sp>
      <p:sp>
        <p:nvSpPr>
          <p:cNvPr id="17" name="ksbpm-step-map-4">
            <a:extLst xmlns:a="http://schemas.openxmlformats.org/drawingml/2006/main">
              <a:ext uri="{FF2B5EF4-FFF2-40B4-BE49-F238E27FC236}">
                <a16:creationId xmlns:a16="http://schemas.microsoft.com/office/drawing/2014/main" id="{79CCF715-64D3-4563-8A0C-BC8661A5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362200"/>
            <a:ext cx="1343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4F8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B4F86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18" name="ksbpm-step-5">
            <a:extLst xmlns:a="http://schemas.openxmlformats.org/drawingml/2006/main">
              <a:ext uri="{FF2B5EF4-FFF2-40B4-BE49-F238E27FC236}">
                <a16:creationId xmlns:a16="http://schemas.microsoft.com/office/drawing/2014/main" id="{93EF4154-3A60-4588-BE55-40B3FE43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838325"/>
            <a:ext cx="13430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  <a:ln xmlns:a="http://schemas.openxmlformats.org/drawingml/2006/main" w="19050">
            <a:solidFill>
              <a:srgbClr val="1C6AA6"/>
            </a:solidFill>
            <a:prstDash val="solid"/>
          </a:ln>
        </p:spPr>
      </p:sp>
      <p:sp>
        <p:nvSpPr>
          <p:cNvPr id="19" name="ksbpm-step-text-5">
            <a:extLst xmlns:a="http://schemas.openxmlformats.org/drawingml/2006/main">
              <a:ext uri="{FF2B5EF4-FFF2-40B4-BE49-F238E27FC236}">
                <a16:creationId xmlns:a16="http://schemas.microsoft.com/office/drawing/2014/main" id="{C483EAFA-9C62-4EA2-821F-1B8B078A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838325"/>
            <a:ext cx="13430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4F8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B4F86"/>
                </a:solidFill>
                <a:latin typeface="Malgun Gothic"/>
                <a:ea typeface="Malgun Gothic"/>
                <a:cs typeface="Malgun Gothic"/>
              </a:rPr>
              <a:t>5  처리</a:t>
            </a:r>
          </a:p>
        </p:txBody>
      </p:sp>
      <p:sp>
        <p:nvSpPr>
          <p:cNvPr id="20" name="ksbpm-step-map-5">
            <a:extLst xmlns:a="http://schemas.openxmlformats.org/drawingml/2006/main">
              <a:ext uri="{FF2B5EF4-FFF2-40B4-BE49-F238E27FC236}">
                <a16:creationId xmlns:a16="http://schemas.microsoft.com/office/drawing/2014/main" id="{5819FD3A-D77E-441A-9585-44C00587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362200"/>
            <a:ext cx="1343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4F8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B4F86"/>
                </a:solidFill>
                <a:latin typeface="Malgun Gothic"/>
                <a:ea typeface="Malgun Gothic"/>
                <a:cs typeface="Malgun Gothic"/>
              </a:rPr>
              <a:t>⑤⑥⑦</a:t>
            </a:r>
          </a:p>
        </p:txBody>
      </p:sp>
      <p:sp>
        <p:nvSpPr>
          <p:cNvPr id="21" name="ksbpm-step-6">
            <a:extLst xmlns:a="http://schemas.openxmlformats.org/drawingml/2006/main">
              <a:ext uri="{FF2B5EF4-FFF2-40B4-BE49-F238E27FC236}">
                <a16:creationId xmlns:a16="http://schemas.microsoft.com/office/drawing/2014/main" id="{C75933A7-C42B-4CB5-819E-9B11A46D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1838325"/>
            <a:ext cx="13430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B8C0CC"/>
            </a:solidFill>
            <a:prstDash val="solid"/>
          </a:ln>
        </p:spPr>
      </p:sp>
      <p:sp>
        <p:nvSpPr>
          <p:cNvPr id="22" name="ksbpm-step-text-6">
            <a:extLst xmlns:a="http://schemas.openxmlformats.org/drawingml/2006/main">
              <a:ext uri="{FF2B5EF4-FFF2-40B4-BE49-F238E27FC236}">
                <a16:creationId xmlns:a16="http://schemas.microsoft.com/office/drawing/2014/main" id="{63D43483-B2CA-4EDE-BF0B-145B0F5A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1838325"/>
            <a:ext cx="13430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6  분석</a:t>
            </a:r>
          </a:p>
        </p:txBody>
      </p:sp>
      <p:sp>
        <p:nvSpPr>
          <p:cNvPr id="23" name="ksbpm-step-7">
            <a:extLst xmlns:a="http://schemas.openxmlformats.org/drawingml/2006/main">
              <a:ext uri="{FF2B5EF4-FFF2-40B4-BE49-F238E27FC236}">
                <a16:creationId xmlns:a16="http://schemas.microsoft.com/office/drawing/2014/main" id="{67156425-F0D5-4033-AC07-F823ED8B8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1838325"/>
            <a:ext cx="13430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  <a:ln xmlns:a="http://schemas.openxmlformats.org/drawingml/2006/main" w="19050">
            <a:solidFill>
              <a:srgbClr val="1C6AA6"/>
            </a:solidFill>
            <a:prstDash val="solid"/>
          </a:ln>
        </p:spPr>
      </p:sp>
      <p:sp>
        <p:nvSpPr>
          <p:cNvPr id="24" name="ksbpm-step-text-7">
            <a:extLst xmlns:a="http://schemas.openxmlformats.org/drawingml/2006/main">
              <a:ext uri="{FF2B5EF4-FFF2-40B4-BE49-F238E27FC236}">
                <a16:creationId xmlns:a16="http://schemas.microsoft.com/office/drawing/2014/main" id="{BEA304C7-E1FF-4C7E-A610-DD7F700CE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1838325"/>
            <a:ext cx="13430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4F8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B4F86"/>
                </a:solidFill>
                <a:latin typeface="Malgun Gothic"/>
                <a:ea typeface="Malgun Gothic"/>
                <a:cs typeface="Malgun Gothic"/>
              </a:rPr>
              <a:t>7  공표</a:t>
            </a:r>
          </a:p>
        </p:txBody>
      </p:sp>
      <p:sp>
        <p:nvSpPr>
          <p:cNvPr id="25" name="ksbpm-step-map-7">
            <a:extLst xmlns:a="http://schemas.openxmlformats.org/drawingml/2006/main">
              <a:ext uri="{FF2B5EF4-FFF2-40B4-BE49-F238E27FC236}">
                <a16:creationId xmlns:a16="http://schemas.microsoft.com/office/drawing/2014/main" id="{A9AF3E46-7FE4-4405-AECB-D82566A2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362200"/>
            <a:ext cx="1343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4F8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B4F86"/>
                </a:solidFill>
                <a:latin typeface="Malgun Gothic"/>
                <a:ea typeface="Malgun Gothic"/>
                <a:cs typeface="Malgun Gothic"/>
              </a:rPr>
              <a:t>⑧⑨⑩</a:t>
            </a:r>
          </a:p>
        </p:txBody>
      </p:sp>
      <p:sp>
        <p:nvSpPr>
          <p:cNvPr id="26" name="ksbpm-step-8">
            <a:extLst xmlns:a="http://schemas.openxmlformats.org/drawingml/2006/main">
              <a:ext uri="{FF2B5EF4-FFF2-40B4-BE49-F238E27FC236}">
                <a16:creationId xmlns:a16="http://schemas.microsoft.com/office/drawing/2014/main" id="{BAEA5039-B1A2-4246-8860-CC64F226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2925" y="1838325"/>
            <a:ext cx="13430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B8C0CC"/>
            </a:solidFill>
            <a:prstDash val="solid"/>
          </a:ln>
        </p:spPr>
      </p:sp>
      <p:sp>
        <p:nvSpPr>
          <p:cNvPr id="27" name="ksbpm-step-text-8">
            <a:extLst xmlns:a="http://schemas.openxmlformats.org/drawingml/2006/main">
              <a:ext uri="{FF2B5EF4-FFF2-40B4-BE49-F238E27FC236}">
                <a16:creationId xmlns:a16="http://schemas.microsoft.com/office/drawing/2014/main" id="{6E4F8549-CF91-41CA-8510-7B0BF4AB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2925" y="1838325"/>
            <a:ext cx="13430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8  평가</a:t>
            </a:r>
          </a:p>
        </p:txBody>
      </p:sp>
      <p:sp>
        <p:nvSpPr>
          <p:cNvPr id="28" name="ksbpm-step-9">
            <a:extLst xmlns:a="http://schemas.openxmlformats.org/drawingml/2006/main">
              <a:ext uri="{FF2B5EF4-FFF2-40B4-BE49-F238E27FC236}">
                <a16:creationId xmlns:a16="http://schemas.microsoft.com/office/drawing/2014/main" id="{890E626C-CBB0-43E8-90D8-1C04AC84D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838325"/>
            <a:ext cx="13430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  <a:ln xmlns:a="http://schemas.openxmlformats.org/drawingml/2006/main" w="19050">
            <a:solidFill>
              <a:srgbClr val="1C6AA6"/>
            </a:solidFill>
            <a:prstDash val="solid"/>
          </a:ln>
        </p:spPr>
      </p:sp>
      <p:sp>
        <p:nvSpPr>
          <p:cNvPr id="29" name="ksbpm-step-text-9">
            <a:extLst xmlns:a="http://schemas.openxmlformats.org/drawingml/2006/main">
              <a:ext uri="{FF2B5EF4-FFF2-40B4-BE49-F238E27FC236}">
                <a16:creationId xmlns:a16="http://schemas.microsoft.com/office/drawing/2014/main" id="{6FFFCD55-19FF-495D-8992-EEBB58B8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838325"/>
            <a:ext cx="13430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4F8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B4F86"/>
                </a:solidFill>
                <a:latin typeface="Malgun Gothic"/>
                <a:ea typeface="Malgun Gothic"/>
                <a:cs typeface="Malgun Gothic"/>
              </a:rPr>
              <a:t>9  보관</a:t>
            </a:r>
          </a:p>
        </p:txBody>
      </p:sp>
      <p:sp>
        <p:nvSpPr>
          <p:cNvPr id="30" name="ksbpm-step-map-9">
            <a:extLst xmlns:a="http://schemas.openxmlformats.org/drawingml/2006/main">
              <a:ext uri="{FF2B5EF4-FFF2-40B4-BE49-F238E27FC236}">
                <a16:creationId xmlns:a16="http://schemas.microsoft.com/office/drawing/2014/main" id="{B4CF9AC4-2C67-4205-9867-2DE7DF61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2362200"/>
            <a:ext cx="1343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4F8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B4F86"/>
                </a:solidFill>
                <a:latin typeface="Malgun Gothic"/>
                <a:ea typeface="Malgun Gothic"/>
                <a:cs typeface="Malgun Gothic"/>
              </a:rPr>
              <a:t>메타·이력</a:t>
            </a:r>
          </a:p>
        </p:txBody>
      </p:sp>
      <p:sp>
        <p:nvSpPr>
          <p:cNvPr id="31" name="initiatives-title">
            <a:extLst xmlns:a="http://schemas.openxmlformats.org/drawingml/2006/main">
              <a:ext uri="{FF2B5EF4-FFF2-40B4-BE49-F238E27FC236}">
                <a16:creationId xmlns:a16="http://schemas.microsoft.com/office/drawing/2014/main" id="{D24D10DD-21C5-478E-969A-F7CF61128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33675"/>
            <a:ext cx="9648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10대 과제  |  KSBPM 업무영역별 실행 묶음</a:t>
            </a:r>
          </a:p>
        </p:txBody>
      </p:sp>
      <p:sp>
        <p:nvSpPr>
          <p:cNvPr id="32" name="task-row-1">
            <a:extLst xmlns:a="http://schemas.openxmlformats.org/drawingml/2006/main">
              <a:ext uri="{FF2B5EF4-FFF2-40B4-BE49-F238E27FC236}">
                <a16:creationId xmlns:a16="http://schemas.microsoft.com/office/drawing/2014/main" id="{3C1B49B5-2151-4910-8D34-B54B35F7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81350"/>
            <a:ext cx="96488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AFD"/>
          </a:solidFill>
          <a:ln xmlns:a="http://schemas.openxmlformats.org/drawingml/2006/main" w="9525">
            <a:solidFill>
              <a:srgbClr val="B8C0CC"/>
            </a:solidFill>
            <a:prstDash val="solid"/>
          </a:ln>
        </p:spPr>
      </p:sp>
      <p:sp>
        <p:nvSpPr>
          <p:cNvPr id="33" name="task-row-accent-1">
            <a:extLst xmlns:a="http://schemas.openxmlformats.org/drawingml/2006/main">
              <a:ext uri="{FF2B5EF4-FFF2-40B4-BE49-F238E27FC236}">
                <a16:creationId xmlns:a16="http://schemas.microsoft.com/office/drawing/2014/main" id="{C6D0D3CD-A71C-4BEA-9406-DD6809A56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813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ask-row-range-1">
            <a:extLst xmlns:a="http://schemas.openxmlformats.org/drawingml/2006/main">
              <a:ext uri="{FF2B5EF4-FFF2-40B4-BE49-F238E27FC236}">
                <a16:creationId xmlns:a16="http://schemas.microsoft.com/office/drawing/2014/main" id="{2F323120-00D0-4E3B-A405-800265CC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05175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4F8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B4F86"/>
                </a:solidFill>
                <a:latin typeface="Malgun Gothic"/>
                <a:ea typeface="Malgun Gothic"/>
                <a:cs typeface="Malgun Gothic"/>
              </a:rPr>
              <a:t>01–04</a:t>
            </a:r>
          </a:p>
        </p:txBody>
      </p:sp>
      <p:sp>
        <p:nvSpPr>
          <p:cNvPr id="35" name="task-row-label-1">
            <a:extLst xmlns:a="http://schemas.openxmlformats.org/drawingml/2006/main">
              <a:ext uri="{FF2B5EF4-FFF2-40B4-BE49-F238E27FC236}">
                <a16:creationId xmlns:a16="http://schemas.microsoft.com/office/drawing/2014/main" id="{4D43E64E-D855-488A-99FC-226F626F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1676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자료수집</a:t>
            </a:r>
          </a:p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설계·구현·수집</a:t>
            </a:r>
          </a:p>
        </p:txBody>
      </p:sp>
      <p:sp>
        <p:nvSpPr>
          <p:cNvPr id="36" name="task-row-separator-1">
            <a:extLst xmlns:a="http://schemas.openxmlformats.org/drawingml/2006/main">
              <a:ext uri="{FF2B5EF4-FFF2-40B4-BE49-F238E27FC236}">
                <a16:creationId xmlns:a16="http://schemas.microsoft.com/office/drawing/2014/main" id="{CA33FB41-CD9A-4BBE-BCEB-F6C4D20E4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324225"/>
            <a:ext cx="0" cy="838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0CC"/>
            </a:solidFill>
            <a:prstDash val="solid"/>
          </a:ln>
        </p:spPr>
      </p:sp>
      <p:sp>
        <p:nvSpPr>
          <p:cNvPr id="37" name="task-no-01">
            <a:extLst xmlns:a="http://schemas.openxmlformats.org/drawingml/2006/main">
              <a:ext uri="{FF2B5EF4-FFF2-40B4-BE49-F238E27FC236}">
                <a16:creationId xmlns:a16="http://schemas.microsoft.com/office/drawing/2014/main" id="{D5E261CD-629C-4265-9587-CA17A6C6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32422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4F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B4F86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38" name="task-tag-01">
            <a:extLst xmlns:a="http://schemas.openxmlformats.org/drawingml/2006/main">
              <a:ext uri="{FF2B5EF4-FFF2-40B4-BE49-F238E27FC236}">
                <a16:creationId xmlns:a16="http://schemas.microsoft.com/office/drawing/2014/main" id="{C2706642-2EE0-47D3-BFD0-E0E750EF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4763" y="3295650"/>
            <a:ext cx="590550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B4F8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최우선</a:t>
            </a:r>
          </a:p>
        </p:txBody>
      </p:sp>
      <p:sp>
        <p:nvSpPr>
          <p:cNvPr id="39" name="task-title-01">
            <a:extLst xmlns:a="http://schemas.openxmlformats.org/drawingml/2006/main">
              <a:ext uri="{FF2B5EF4-FFF2-40B4-BE49-F238E27FC236}">
                <a16:creationId xmlns:a16="http://schemas.microsoft.com/office/drawing/2014/main" id="{33E54375-49E9-4DAE-B1AC-6079FC05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638550"/>
            <a:ext cx="1690688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조사표·항목</a:t>
            </a:r>
          </a:p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자동 설계 보조</a:t>
            </a:r>
          </a:p>
        </p:txBody>
      </p:sp>
      <p:sp>
        <p:nvSpPr>
          <p:cNvPr id="40" name="task-separator-1-2">
            <a:extLst xmlns:a="http://schemas.openxmlformats.org/drawingml/2006/main">
              <a:ext uri="{FF2B5EF4-FFF2-40B4-BE49-F238E27FC236}">
                <a16:creationId xmlns:a16="http://schemas.microsoft.com/office/drawing/2014/main" id="{4E59835B-4BBC-48DE-B6BD-28EAF0C89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0563" y="3352800"/>
            <a:ext cx="0" cy="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41" name="task-no-02">
            <a:extLst xmlns:a="http://schemas.openxmlformats.org/drawingml/2006/main">
              <a:ext uri="{FF2B5EF4-FFF2-40B4-BE49-F238E27FC236}">
                <a16:creationId xmlns:a16="http://schemas.microsoft.com/office/drawing/2014/main" id="{96976A3B-822B-496A-BFC8-9582AB30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7713" y="332422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4F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B4F86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2" name="task-title-02">
            <a:extLst xmlns:a="http://schemas.openxmlformats.org/drawingml/2006/main">
              <a:ext uri="{FF2B5EF4-FFF2-40B4-BE49-F238E27FC236}">
                <a16:creationId xmlns:a16="http://schemas.microsoft.com/office/drawing/2014/main" id="{88D17065-162F-4661-BA57-A24CE5E30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7713" y="3638550"/>
            <a:ext cx="1690688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지침서·조사표</a:t>
            </a:r>
          </a:p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문서 검증</a:t>
            </a:r>
          </a:p>
        </p:txBody>
      </p:sp>
      <p:sp>
        <p:nvSpPr>
          <p:cNvPr id="43" name="task-separator-1-3">
            <a:extLst xmlns:a="http://schemas.openxmlformats.org/drawingml/2006/main">
              <a:ext uri="{FF2B5EF4-FFF2-40B4-BE49-F238E27FC236}">
                <a16:creationId xmlns:a16="http://schemas.microsoft.com/office/drawing/2014/main" id="{F58F34A0-BA55-4DB3-A2F3-80D04C5D9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52800"/>
            <a:ext cx="0" cy="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44" name="task-no-03">
            <a:extLst xmlns:a="http://schemas.openxmlformats.org/drawingml/2006/main">
              <a:ext uri="{FF2B5EF4-FFF2-40B4-BE49-F238E27FC236}">
                <a16:creationId xmlns:a16="http://schemas.microsoft.com/office/drawing/2014/main" id="{F989FF7B-8EA3-422C-A958-C9131905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2422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4F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B4F86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5" name="task-title-03">
            <a:extLst xmlns:a="http://schemas.openxmlformats.org/drawingml/2006/main">
              <a:ext uri="{FF2B5EF4-FFF2-40B4-BE49-F238E27FC236}">
                <a16:creationId xmlns:a16="http://schemas.microsoft.com/office/drawing/2014/main" id="{664D620A-4256-45EA-9FC7-9004CD0E1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38550"/>
            <a:ext cx="1690688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모바일 전자조사표</a:t>
            </a:r>
          </a:p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UX 자동 변환</a:t>
            </a:r>
          </a:p>
        </p:txBody>
      </p:sp>
      <p:sp>
        <p:nvSpPr>
          <p:cNvPr id="46" name="task-separator-1-4">
            <a:extLst xmlns:a="http://schemas.openxmlformats.org/drawingml/2006/main">
              <a:ext uri="{FF2B5EF4-FFF2-40B4-BE49-F238E27FC236}">
                <a16:creationId xmlns:a16="http://schemas.microsoft.com/office/drawing/2014/main" id="{C4900E0C-599A-44EA-A9A1-37DEEB1B0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6738" y="3352800"/>
            <a:ext cx="0" cy="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47" name="task-no-04">
            <a:extLst xmlns:a="http://schemas.openxmlformats.org/drawingml/2006/main">
              <a:ext uri="{FF2B5EF4-FFF2-40B4-BE49-F238E27FC236}">
                <a16:creationId xmlns:a16="http://schemas.microsoft.com/office/drawing/2014/main" id="{22CAD77C-0BF8-470C-A5D2-551057D0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3888" y="332422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4F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B4F86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8" name="task-title-04">
            <a:extLst xmlns:a="http://schemas.openxmlformats.org/drawingml/2006/main">
              <a:ext uri="{FF2B5EF4-FFF2-40B4-BE49-F238E27FC236}">
                <a16:creationId xmlns:a16="http://schemas.microsoft.com/office/drawing/2014/main" id="{7EBDFD3E-8992-4CB1-ADB3-4B3501EB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3888" y="3638550"/>
            <a:ext cx="1690688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항목이동·유효성</a:t>
            </a:r>
          </a:p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검증 룰 생성</a:t>
            </a:r>
          </a:p>
        </p:txBody>
      </p:sp>
      <p:sp>
        <p:nvSpPr>
          <p:cNvPr id="49" name="task-row-2">
            <a:extLst xmlns:a="http://schemas.openxmlformats.org/drawingml/2006/main">
              <a:ext uri="{FF2B5EF4-FFF2-40B4-BE49-F238E27FC236}">
                <a16:creationId xmlns:a16="http://schemas.microsoft.com/office/drawing/2014/main" id="{C4F75C12-756D-421A-8F24-5E88B71F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00550"/>
            <a:ext cx="96488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AF7"/>
          </a:solidFill>
          <a:ln xmlns:a="http://schemas.openxmlformats.org/drawingml/2006/main" w="9525">
            <a:solidFill>
              <a:srgbClr val="B8C0CC"/>
            </a:solidFill>
            <a:prstDash val="solid"/>
          </a:ln>
        </p:spPr>
      </p:sp>
      <p:sp>
        <p:nvSpPr>
          <p:cNvPr id="50" name="task-row-accent-2">
            <a:extLst xmlns:a="http://schemas.openxmlformats.org/drawingml/2006/main">
              <a:ext uri="{FF2B5EF4-FFF2-40B4-BE49-F238E27FC236}">
                <a16:creationId xmlns:a16="http://schemas.microsoft.com/office/drawing/2014/main" id="{7ADFDB52-4518-487D-9758-48AB25879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005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A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task-row-range-2">
            <a:extLst xmlns:a="http://schemas.openxmlformats.org/drawingml/2006/main">
              <a:ext uri="{FF2B5EF4-FFF2-40B4-BE49-F238E27FC236}">
                <a16:creationId xmlns:a16="http://schemas.microsoft.com/office/drawing/2014/main" id="{4136D240-989A-45C0-AA0A-B88E483B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24375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E7A5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E7A5C"/>
                </a:solidFill>
                <a:latin typeface="Malgun Gothic"/>
                <a:ea typeface="Malgun Gothic"/>
                <a:cs typeface="Malgun Gothic"/>
              </a:rPr>
              <a:t>05–07</a:t>
            </a:r>
          </a:p>
        </p:txBody>
      </p:sp>
      <p:sp>
        <p:nvSpPr>
          <p:cNvPr id="52" name="task-row-label-2">
            <a:extLst xmlns:a="http://schemas.openxmlformats.org/drawingml/2006/main">
              <a:ext uri="{FF2B5EF4-FFF2-40B4-BE49-F238E27FC236}">
                <a16:creationId xmlns:a16="http://schemas.microsoft.com/office/drawing/2014/main" id="{C84B5B6C-E61C-4C7F-BB88-8AE2CABE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1676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자료처리</a:t>
            </a:r>
          </a:p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에디팅 자동화</a:t>
            </a:r>
          </a:p>
        </p:txBody>
      </p:sp>
      <p:sp>
        <p:nvSpPr>
          <p:cNvPr id="53" name="task-row-separator-2">
            <a:extLst xmlns:a="http://schemas.openxmlformats.org/drawingml/2006/main">
              <a:ext uri="{FF2B5EF4-FFF2-40B4-BE49-F238E27FC236}">
                <a16:creationId xmlns:a16="http://schemas.microsoft.com/office/drawing/2014/main" id="{D515827B-E092-4F24-A9EA-5FC0728A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543425"/>
            <a:ext cx="0" cy="838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0CC"/>
            </a:solidFill>
            <a:prstDash val="solid"/>
          </a:ln>
        </p:spPr>
      </p:sp>
      <p:sp>
        <p:nvSpPr>
          <p:cNvPr id="54" name="task-no-05">
            <a:extLst xmlns:a="http://schemas.openxmlformats.org/drawingml/2006/main">
              <a:ext uri="{FF2B5EF4-FFF2-40B4-BE49-F238E27FC236}">
                <a16:creationId xmlns:a16="http://schemas.microsoft.com/office/drawing/2014/main" id="{19377A2B-621C-4020-B18D-B2AC6B11C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54342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E7A5C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E7A5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55" name="task-title-05">
            <a:extLst xmlns:a="http://schemas.openxmlformats.org/drawingml/2006/main">
              <a:ext uri="{FF2B5EF4-FFF2-40B4-BE49-F238E27FC236}">
                <a16:creationId xmlns:a16="http://schemas.microsoft.com/office/drawing/2014/main" id="{FAA6F2E8-7DFE-4242-A974-FC37B3AD5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857750"/>
            <a:ext cx="2305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에디팅 우선순위</a:t>
            </a:r>
          </a:p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추천</a:t>
            </a:r>
          </a:p>
        </p:txBody>
      </p:sp>
      <p:sp>
        <p:nvSpPr>
          <p:cNvPr id="56" name="task-separator-2-2">
            <a:extLst xmlns:a="http://schemas.openxmlformats.org/drawingml/2006/main">
              <a:ext uri="{FF2B5EF4-FFF2-40B4-BE49-F238E27FC236}">
                <a16:creationId xmlns:a16="http://schemas.microsoft.com/office/drawing/2014/main" id="{62DF70B9-4307-4C43-AA05-F7012BC18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572000"/>
            <a:ext cx="0" cy="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57" name="task-no-06">
            <a:extLst xmlns:a="http://schemas.openxmlformats.org/drawingml/2006/main">
              <a:ext uri="{FF2B5EF4-FFF2-40B4-BE49-F238E27FC236}">
                <a16:creationId xmlns:a16="http://schemas.microsoft.com/office/drawing/2014/main" id="{0E1DDA77-CB3F-47E5-9F82-B7F7C75C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454342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E7A5C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E7A5C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58" name="task-title-06">
            <a:extLst xmlns:a="http://schemas.openxmlformats.org/drawingml/2006/main">
              <a:ext uri="{FF2B5EF4-FFF2-40B4-BE49-F238E27FC236}">
                <a16:creationId xmlns:a16="http://schemas.microsoft.com/office/drawing/2014/main" id="{ED8E48F1-A795-4465-AC0F-ECA348B57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4857750"/>
            <a:ext cx="2305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자동 대체</a:t>
            </a:r>
          </a:p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(Imputation) 추천</a:t>
            </a:r>
          </a:p>
        </p:txBody>
      </p:sp>
      <p:sp>
        <p:nvSpPr>
          <p:cNvPr id="59" name="task-separator-2-3">
            <a:extLst xmlns:a="http://schemas.openxmlformats.org/drawingml/2006/main">
              <a:ext uri="{FF2B5EF4-FFF2-40B4-BE49-F238E27FC236}">
                <a16:creationId xmlns:a16="http://schemas.microsoft.com/office/drawing/2014/main" id="{5D24E616-2074-41CB-94B2-1EA3D0D2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572000"/>
            <a:ext cx="0" cy="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60" name="task-no-07">
            <a:extLst xmlns:a="http://schemas.openxmlformats.org/drawingml/2006/main">
              <a:ext uri="{FF2B5EF4-FFF2-40B4-BE49-F238E27FC236}">
                <a16:creationId xmlns:a16="http://schemas.microsoft.com/office/drawing/2014/main" id="{B96B0B9E-0C45-4032-8189-19553BBB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454342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E7A5C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E7A5C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61" name="task-title-07">
            <a:extLst xmlns:a="http://schemas.openxmlformats.org/drawingml/2006/main">
              <a:ext uri="{FF2B5EF4-FFF2-40B4-BE49-F238E27FC236}">
                <a16:creationId xmlns:a16="http://schemas.microsoft.com/office/drawing/2014/main" id="{1ACDE674-7289-4CC8-A650-C14B9525C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4857750"/>
            <a:ext cx="2305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분류코딩 자동화</a:t>
            </a:r>
          </a:p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텍스트→표준코드</a:t>
            </a:r>
          </a:p>
        </p:txBody>
      </p:sp>
      <p:sp>
        <p:nvSpPr>
          <p:cNvPr id="62" name="task-row-3">
            <a:extLst xmlns:a="http://schemas.openxmlformats.org/drawingml/2006/main">
              <a:ext uri="{FF2B5EF4-FFF2-40B4-BE49-F238E27FC236}">
                <a16:creationId xmlns:a16="http://schemas.microsoft.com/office/drawing/2014/main" id="{B6DB9B91-AECA-4B08-9AEE-A0F4C97D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96488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E"/>
          </a:solidFill>
          <a:ln xmlns:a="http://schemas.openxmlformats.org/drawingml/2006/main" w="9525">
            <a:solidFill>
              <a:srgbClr val="B8C0CC"/>
            </a:solidFill>
            <a:prstDash val="solid"/>
          </a:ln>
        </p:spPr>
      </p:sp>
      <p:sp>
        <p:nvSpPr>
          <p:cNvPr id="63" name="task-row-accent-3">
            <a:extLst xmlns:a="http://schemas.openxmlformats.org/drawingml/2006/main">
              <a:ext uri="{FF2B5EF4-FFF2-40B4-BE49-F238E27FC236}">
                <a16:creationId xmlns:a16="http://schemas.microsoft.com/office/drawing/2014/main" id="{B31F2F09-1BCD-447C-AF08-AD4C81E6C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task-row-range-3">
            <a:extLst xmlns:a="http://schemas.openxmlformats.org/drawingml/2006/main">
              <a:ext uri="{FF2B5EF4-FFF2-40B4-BE49-F238E27FC236}">
                <a16:creationId xmlns:a16="http://schemas.microsoft.com/office/drawing/2014/main" id="{12BB01CB-C654-4E10-8D6C-44D5CF41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43575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47A1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C47A13"/>
                </a:solidFill>
                <a:latin typeface="Malgun Gothic"/>
                <a:ea typeface="Malgun Gothic"/>
                <a:cs typeface="Malgun Gothic"/>
              </a:rPr>
              <a:t>08–10</a:t>
            </a:r>
          </a:p>
        </p:txBody>
      </p:sp>
      <p:sp>
        <p:nvSpPr>
          <p:cNvPr id="65" name="task-row-label-3">
            <a:extLst xmlns:a="http://schemas.openxmlformats.org/drawingml/2006/main">
              <a:ext uri="{FF2B5EF4-FFF2-40B4-BE49-F238E27FC236}">
                <a16:creationId xmlns:a16="http://schemas.microsoft.com/office/drawing/2014/main" id="{42661D58-F777-4620-AB2D-1880417D4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676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자료보관·공표</a:t>
            </a:r>
          </a:p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생성·검증·설명</a:t>
            </a:r>
          </a:p>
        </p:txBody>
      </p:sp>
      <p:sp>
        <p:nvSpPr>
          <p:cNvPr id="66" name="task-row-separator-3">
            <a:extLst xmlns:a="http://schemas.openxmlformats.org/drawingml/2006/main">
              <a:ext uri="{FF2B5EF4-FFF2-40B4-BE49-F238E27FC236}">
                <a16:creationId xmlns:a16="http://schemas.microsoft.com/office/drawing/2014/main" id="{C6AD466F-A3D1-4125-ABE7-1F1811D6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762625"/>
            <a:ext cx="0" cy="838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0CC"/>
            </a:solidFill>
            <a:prstDash val="solid"/>
          </a:ln>
        </p:spPr>
      </p:sp>
      <p:sp>
        <p:nvSpPr>
          <p:cNvPr id="67" name="task-no-08">
            <a:extLst xmlns:a="http://schemas.openxmlformats.org/drawingml/2006/main">
              <a:ext uri="{FF2B5EF4-FFF2-40B4-BE49-F238E27FC236}">
                <a16:creationId xmlns:a16="http://schemas.microsoft.com/office/drawing/2014/main" id="{2B800A0E-BB85-426A-84BF-7362602AF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76262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47A13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C47A13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68" name="task-title-08">
            <a:extLst xmlns:a="http://schemas.openxmlformats.org/drawingml/2006/main">
              <a:ext uri="{FF2B5EF4-FFF2-40B4-BE49-F238E27FC236}">
                <a16:creationId xmlns:a16="http://schemas.microsoft.com/office/drawing/2014/main" id="{147AC94D-DA16-4A98-882B-4A123D4E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6076950"/>
            <a:ext cx="2305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통계표 생성형 AI</a:t>
            </a:r>
          </a:p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명세→집계·레이아웃</a:t>
            </a:r>
          </a:p>
        </p:txBody>
      </p:sp>
      <p:sp>
        <p:nvSpPr>
          <p:cNvPr id="69" name="task-separator-3-2">
            <a:extLst xmlns:a="http://schemas.openxmlformats.org/drawingml/2006/main">
              <a:ext uri="{FF2B5EF4-FFF2-40B4-BE49-F238E27FC236}">
                <a16:creationId xmlns:a16="http://schemas.microsoft.com/office/drawing/2014/main" id="{CEB333AF-2F0C-485D-899A-79CFACCDB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5791200"/>
            <a:ext cx="0" cy="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70" name="task-no-09">
            <a:extLst xmlns:a="http://schemas.openxmlformats.org/drawingml/2006/main">
              <a:ext uri="{FF2B5EF4-FFF2-40B4-BE49-F238E27FC236}">
                <a16:creationId xmlns:a16="http://schemas.microsoft.com/office/drawing/2014/main" id="{60127D92-BC2A-4969-A941-2FB13E820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76262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47A13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C47A13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71" name="task-title-09">
            <a:extLst xmlns:a="http://schemas.openxmlformats.org/drawingml/2006/main">
              <a:ext uri="{FF2B5EF4-FFF2-40B4-BE49-F238E27FC236}">
                <a16:creationId xmlns:a16="http://schemas.microsoft.com/office/drawing/2014/main" id="{EA490342-6972-49BB-A56F-5C1DA567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6076950"/>
            <a:ext cx="2305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공표 전</a:t>
            </a:r>
          </a:p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자동 검증</a:t>
            </a:r>
          </a:p>
        </p:txBody>
      </p:sp>
      <p:sp>
        <p:nvSpPr>
          <p:cNvPr id="72" name="task-separator-3-3">
            <a:extLst xmlns:a="http://schemas.openxmlformats.org/drawingml/2006/main">
              <a:ext uri="{FF2B5EF4-FFF2-40B4-BE49-F238E27FC236}">
                <a16:creationId xmlns:a16="http://schemas.microsoft.com/office/drawing/2014/main" id="{4B575AC9-7C58-4AE0-ADB7-54DF00CE6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791200"/>
            <a:ext cx="0" cy="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73" name="task-no-10">
            <a:extLst xmlns:a="http://schemas.openxmlformats.org/drawingml/2006/main">
              <a:ext uri="{FF2B5EF4-FFF2-40B4-BE49-F238E27FC236}">
                <a16:creationId xmlns:a16="http://schemas.microsoft.com/office/drawing/2014/main" id="{F0CD7FCD-A685-4958-B11E-CBD4E96B2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576262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47A13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C47A13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74" name="task-title-10">
            <a:extLst xmlns:a="http://schemas.openxmlformats.org/drawingml/2006/main">
              <a:ext uri="{FF2B5EF4-FFF2-40B4-BE49-F238E27FC236}">
                <a16:creationId xmlns:a16="http://schemas.microsoft.com/office/drawing/2014/main" id="{FB695665-36FF-4F5F-ADB6-5A4B9194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6076950"/>
            <a:ext cx="2305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공표 설명자료</a:t>
            </a:r>
          </a:p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초안 생성</a:t>
            </a:r>
          </a:p>
        </p:txBody>
      </p:sp>
      <p:sp>
        <p:nvSpPr>
          <p:cNvPr id="75" name="priority-panel">
            <a:extLst xmlns:a="http://schemas.openxmlformats.org/drawingml/2006/main">
              <a:ext uri="{FF2B5EF4-FFF2-40B4-BE49-F238E27FC236}">
                <a16:creationId xmlns:a16="http://schemas.microsoft.com/office/drawing/2014/main" id="{44E48F1A-06C0-491B-82DD-8E83BF65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2733675"/>
            <a:ext cx="4152900" cy="401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86"/>
          </a:solidFill>
          <a:ln xmlns:a="http://schemas.openxmlformats.org/drawingml/2006/main" w="9525">
            <a:solidFill>
              <a:srgbClr val="0B4F86"/>
            </a:solidFill>
            <a:prstDash val="solid"/>
          </a:ln>
        </p:spPr>
      </p:sp>
      <p:sp>
        <p:nvSpPr>
          <p:cNvPr id="76" name="priority-kicker">
            <a:extLst xmlns:a="http://schemas.openxmlformats.org/drawingml/2006/main">
              <a:ext uri="{FF2B5EF4-FFF2-40B4-BE49-F238E27FC236}">
                <a16:creationId xmlns:a16="http://schemas.microsoft.com/office/drawing/2014/main" id="{143EE507-DE79-444C-AFC9-31935FE8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000375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BC8F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7BC8F6"/>
                </a:solidFill>
                <a:latin typeface="Malgun Gothic"/>
                <a:ea typeface="Malgun Gothic"/>
                <a:cs typeface="Malgun Gothic"/>
              </a:rPr>
              <a:t>가장 먼저 수행할 과제</a:t>
            </a:r>
          </a:p>
        </p:txBody>
      </p:sp>
      <p:sp>
        <p:nvSpPr>
          <p:cNvPr id="77" name="priority-number">
            <a:extLst xmlns:a="http://schemas.openxmlformats.org/drawingml/2006/main">
              <a:ext uri="{FF2B5EF4-FFF2-40B4-BE49-F238E27FC236}">
                <a16:creationId xmlns:a16="http://schemas.microsoft.com/office/drawing/2014/main" id="{006B02B7-B94C-4ECD-8A3A-5E1D98B5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333750"/>
            <a:ext cx="819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78" name="priority-title">
            <a:extLst xmlns:a="http://schemas.openxmlformats.org/drawingml/2006/main">
              <a:ext uri="{FF2B5EF4-FFF2-40B4-BE49-F238E27FC236}">
                <a16:creationId xmlns:a16="http://schemas.microsoft.com/office/drawing/2014/main" id="{3315DDA9-49F3-4A47-B60E-9405A82E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352800"/>
            <a:ext cx="2714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조사표·항목</a:t>
            </a:r>
          </a:p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자동 설계 보조</a:t>
            </a:r>
          </a:p>
        </p:txBody>
      </p:sp>
      <p:sp>
        <p:nvSpPr>
          <p:cNvPr id="79" name="priority-rule">
            <a:extLst xmlns:a="http://schemas.openxmlformats.org/drawingml/2006/main">
              <a:ext uri="{FF2B5EF4-FFF2-40B4-BE49-F238E27FC236}">
                <a16:creationId xmlns:a16="http://schemas.microsoft.com/office/drawing/2014/main" id="{6233166F-0D5D-41AF-819B-C2180ACC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267200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BA4CE"/>
            </a:solidFill>
            <a:prstDash val="solid"/>
          </a:ln>
        </p:spPr>
      </p:sp>
      <p:sp>
        <p:nvSpPr>
          <p:cNvPr id="80" name="priority-reason-title">
            <a:extLst xmlns:a="http://schemas.openxmlformats.org/drawingml/2006/main">
              <a:ext uri="{FF2B5EF4-FFF2-40B4-BE49-F238E27FC236}">
                <a16:creationId xmlns:a16="http://schemas.microsoft.com/office/drawing/2014/main" id="{5FF389DD-945C-4EB1-879A-84F82B18A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4386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왜 ①부터인가</a:t>
            </a:r>
          </a:p>
        </p:txBody>
      </p:sp>
      <p:sp>
        <p:nvSpPr>
          <p:cNvPr id="81" name="priority-reasons">
            <a:extLst xmlns:a="http://schemas.openxmlformats.org/drawingml/2006/main">
              <a:ext uri="{FF2B5EF4-FFF2-40B4-BE49-F238E27FC236}">
                <a16:creationId xmlns:a16="http://schemas.microsoft.com/office/drawing/2014/main" id="{F21E1421-20A8-49AD-BA2A-31B59B02F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800600"/>
            <a:ext cx="3524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42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1. 문항·변수·코드·표 셀 ID를 설계 시점에 확정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2. 오류를 수집 전에 차단해 후단 에디팅 비용 절감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3. ⑤ 에디팅·⑧ 통계표·⑩ 설명자료가 같은 메타를 재사용</a:t>
            </a:r>
          </a:p>
        </p:txBody>
      </p:sp>
      <p:sp>
        <p:nvSpPr>
          <p:cNvPr id="82" name="priority-phase-zero">
            <a:extLst xmlns:a="http://schemas.openxmlformats.org/drawingml/2006/main">
              <a:ext uri="{FF2B5EF4-FFF2-40B4-BE49-F238E27FC236}">
                <a16:creationId xmlns:a16="http://schemas.microsoft.com/office/drawing/2014/main" id="{3E764EB6-2D4D-4E2E-8700-8B9A55E8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00775"/>
            <a:ext cx="352425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57150" rIns="57150" bIns="57150" anchor="ctr">
            <a:normAutofit fontScale="7915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4F8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B4F86"/>
                </a:solidFill>
                <a:latin typeface="Malgun Gothic"/>
                <a:ea typeface="Malgun Gothic"/>
                <a:cs typeface="Malgun Gothic"/>
              </a:rPr>
              <a:t>0단계 병행  |  통계항목 메타 연결 + 지침서 Vector DB</a:t>
            </a:r>
          </a:p>
        </p:txBody>
      </p:sp>
      <p:sp>
        <p:nvSpPr>
          <p:cNvPr id="83" name="foundation-title">
            <a:extLst xmlns:a="http://schemas.openxmlformats.org/drawingml/2006/main">
              <a:ext uri="{FF2B5EF4-FFF2-40B4-BE49-F238E27FC236}">
                <a16:creationId xmlns:a16="http://schemas.microsoft.com/office/drawing/2014/main" id="{05BBFC1B-B727-4FFB-9407-4F6D75FB1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10400"/>
            <a:ext cx="14087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0단계 공통기반  |  후속 9개 과제의 정확도·재사용성·감사 가능성을 결정</a:t>
            </a:r>
          </a:p>
        </p:txBody>
      </p:sp>
      <p:sp>
        <p:nvSpPr>
          <p:cNvPr id="84" name="foundation-band">
            <a:extLst xmlns:a="http://schemas.openxmlformats.org/drawingml/2006/main">
              <a:ext uri="{FF2B5EF4-FFF2-40B4-BE49-F238E27FC236}">
                <a16:creationId xmlns:a16="http://schemas.microsoft.com/office/drawing/2014/main" id="{9AF75BA6-98D1-4710-AAD3-58B75C89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19975"/>
            <a:ext cx="1408747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B"/>
          </a:solidFill>
          <a:ln xmlns:a="http://schemas.openxmlformats.org/drawingml/2006/main" w="9525">
            <a:solidFill>
              <a:srgbClr val="B7D6E9"/>
            </a:solidFill>
            <a:prstDash val="solid"/>
          </a:ln>
        </p:spPr>
      </p:sp>
      <p:sp>
        <p:nvSpPr>
          <p:cNvPr id="85" name="foundation-no-A">
            <a:extLst xmlns:a="http://schemas.openxmlformats.org/drawingml/2006/main">
              <a:ext uri="{FF2B5EF4-FFF2-40B4-BE49-F238E27FC236}">
                <a16:creationId xmlns:a16="http://schemas.microsoft.com/office/drawing/2014/main" id="{865CE20D-3A58-47B9-96D3-24B3485FD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67625"/>
            <a:ext cx="361950" cy="36195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0B4F8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</a:t>
            </a:r>
          </a:p>
        </p:txBody>
      </p:sp>
      <p:sp>
        <p:nvSpPr>
          <p:cNvPr id="86" name="foundation-title-A">
            <a:extLst xmlns:a="http://schemas.openxmlformats.org/drawingml/2006/main">
              <a:ext uri="{FF2B5EF4-FFF2-40B4-BE49-F238E27FC236}">
                <a16:creationId xmlns:a16="http://schemas.microsoft.com/office/drawing/2014/main" id="{EB096A19-DACC-4A41-8DFE-631CBF755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629525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4F8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B4F86"/>
                </a:solidFill>
                <a:latin typeface="Malgun Gothic"/>
                <a:ea typeface="Malgun Gothic"/>
                <a:cs typeface="Malgun Gothic"/>
              </a:rPr>
              <a:t>통계항목 기반 메타데이터 연결</a:t>
            </a:r>
          </a:p>
        </p:txBody>
      </p:sp>
      <p:sp>
        <p:nvSpPr>
          <p:cNvPr id="87" name="foundation-body-A">
            <a:extLst xmlns:a="http://schemas.openxmlformats.org/drawingml/2006/main">
              <a:ext uri="{FF2B5EF4-FFF2-40B4-BE49-F238E27FC236}">
                <a16:creationId xmlns:a16="http://schemas.microsoft.com/office/drawing/2014/main" id="{49E04A71-53C0-43E4-AA98-A058D842E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0200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Question ID ↔ Variable ID ↔ Code List ID ↔ Table Cell ID</a:t>
            </a:r>
          </a:p>
        </p:txBody>
      </p:sp>
      <p:sp>
        <p:nvSpPr>
          <p:cNvPr id="88" name="foundation-separator-1">
            <a:extLst xmlns:a="http://schemas.openxmlformats.org/drawingml/2006/main">
              <a:ext uri="{FF2B5EF4-FFF2-40B4-BE49-F238E27FC236}">
                <a16:creationId xmlns:a16="http://schemas.microsoft.com/office/drawing/2014/main" id="{0137C7C8-5539-481C-A822-6DF4406E0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7629525"/>
            <a:ext cx="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D6E9"/>
            </a:solidFill>
            <a:prstDash val="solid"/>
          </a:ln>
        </p:spPr>
      </p:sp>
      <p:sp>
        <p:nvSpPr>
          <p:cNvPr id="89" name="foundation-no-B">
            <a:extLst xmlns:a="http://schemas.openxmlformats.org/drawingml/2006/main">
              <a:ext uri="{FF2B5EF4-FFF2-40B4-BE49-F238E27FC236}">
                <a16:creationId xmlns:a16="http://schemas.microsoft.com/office/drawing/2014/main" id="{E451AA30-045C-4105-9562-9678A0216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7667625"/>
            <a:ext cx="361950" cy="36195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0B4F8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</a:t>
            </a:r>
          </a:p>
        </p:txBody>
      </p:sp>
      <p:sp>
        <p:nvSpPr>
          <p:cNvPr id="90" name="foundation-title-B">
            <a:extLst xmlns:a="http://schemas.openxmlformats.org/drawingml/2006/main">
              <a:ext uri="{FF2B5EF4-FFF2-40B4-BE49-F238E27FC236}">
                <a16:creationId xmlns:a16="http://schemas.microsoft.com/office/drawing/2014/main" id="{F47F0621-2044-421E-A40E-B0BB66AA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7629525"/>
            <a:ext cx="3857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4F8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B4F86"/>
                </a:solidFill>
                <a:latin typeface="Malgun Gothic"/>
                <a:ea typeface="Malgun Gothic"/>
                <a:cs typeface="Malgun Gothic"/>
              </a:rPr>
              <a:t>지침서 문서 Vector DB + RAG</a:t>
            </a:r>
          </a:p>
        </p:txBody>
      </p:sp>
      <p:sp>
        <p:nvSpPr>
          <p:cNvPr id="91" name="foundation-body-B">
            <a:extLst xmlns:a="http://schemas.openxmlformats.org/drawingml/2006/main">
              <a:ext uri="{FF2B5EF4-FFF2-40B4-BE49-F238E27FC236}">
                <a16:creationId xmlns:a16="http://schemas.microsoft.com/office/drawing/2014/main" id="{F836D2DF-6D5D-4E3F-808A-99CEBE546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802005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작성지침·법령·심사의견·과거 해설을 검색하고 답변마다 근거 인용</a:t>
            </a:r>
          </a:p>
        </p:txBody>
      </p:sp>
      <p:sp>
        <p:nvSpPr>
          <p:cNvPr id="92" name="foundation-separator-2">
            <a:extLst xmlns:a="http://schemas.openxmlformats.org/drawingml/2006/main">
              <a:ext uri="{FF2B5EF4-FFF2-40B4-BE49-F238E27FC236}">
                <a16:creationId xmlns:a16="http://schemas.microsoft.com/office/drawing/2014/main" id="{627FE7A3-8B4B-4227-8628-49EE09B9E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7629525"/>
            <a:ext cx="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D6E9"/>
            </a:solidFill>
            <a:prstDash val="solid"/>
          </a:ln>
        </p:spPr>
      </p:sp>
      <p:sp>
        <p:nvSpPr>
          <p:cNvPr id="93" name="foundation-no-C">
            <a:extLst xmlns:a="http://schemas.openxmlformats.org/drawingml/2006/main">
              <a:ext uri="{FF2B5EF4-FFF2-40B4-BE49-F238E27FC236}">
                <a16:creationId xmlns:a16="http://schemas.microsoft.com/office/drawing/2014/main" id="{0A3E48F4-D27A-465C-8750-B335FB3E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7667625"/>
            <a:ext cx="361950" cy="36195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0B4F8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</a:t>
            </a:r>
          </a:p>
        </p:txBody>
      </p:sp>
      <p:sp>
        <p:nvSpPr>
          <p:cNvPr id="94" name="foundation-title-C">
            <a:extLst xmlns:a="http://schemas.openxmlformats.org/drawingml/2006/main">
              <a:ext uri="{FF2B5EF4-FFF2-40B4-BE49-F238E27FC236}">
                <a16:creationId xmlns:a16="http://schemas.microsoft.com/office/drawing/2014/main" id="{2F94915B-57F5-4452-A1B0-E8308AF8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762952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4F8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B4F86"/>
                </a:solidFill>
                <a:latin typeface="Malgun Gothic"/>
                <a:ea typeface="Malgun Gothic"/>
                <a:cs typeface="Malgun Gothic"/>
              </a:rPr>
              <a:t>에디팅 이력·운영 거버넌스</a:t>
            </a:r>
          </a:p>
        </p:txBody>
      </p:sp>
      <p:sp>
        <p:nvSpPr>
          <p:cNvPr id="95" name="foundation-body-C">
            <a:extLst xmlns:a="http://schemas.openxmlformats.org/drawingml/2006/main">
              <a:ext uri="{FF2B5EF4-FFF2-40B4-BE49-F238E27FC236}">
                <a16:creationId xmlns:a16="http://schemas.microsoft.com/office/drawing/2014/main" id="{4FF69A56-A7A0-46EA-9EDB-8CF78CF79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802005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수정 전/후·사유·정정 로그 + 폐쇄망 + Human-in-the-loop</a:t>
            </a:r>
          </a:p>
        </p:txBody>
      </p:sp>
      <p:sp>
        <p:nvSpPr>
          <p:cNvPr id="96" name="roadmap-title">
            <a:extLst xmlns:a="http://schemas.openxmlformats.org/drawingml/2006/main">
              <a:ext uri="{FF2B5EF4-FFF2-40B4-BE49-F238E27FC236}">
                <a16:creationId xmlns:a16="http://schemas.microsoft.com/office/drawing/2014/main" id="{2C23747C-02CC-4676-B836-00158A266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77300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중장기 로드맵</a:t>
            </a:r>
          </a:p>
        </p:txBody>
      </p:sp>
      <p:sp>
        <p:nvSpPr>
          <p:cNvPr id="97" name="roadmap-subtitle">
            <a:extLst xmlns:a="http://schemas.openxmlformats.org/drawingml/2006/main">
              <a:ext uri="{FF2B5EF4-FFF2-40B4-BE49-F238E27FC236}">
                <a16:creationId xmlns:a16="http://schemas.microsoft.com/office/drawing/2014/main" id="{A6D2B94C-2826-41F3-93AD-0C462E9A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67825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기반→업무자동화→종단확장</a:t>
            </a:r>
          </a:p>
        </p:txBody>
      </p:sp>
      <p:sp>
        <p:nvSpPr>
          <p:cNvPr id="98" name="roadmap-dot-1">
            <a:extLst xmlns:a="http://schemas.openxmlformats.org/drawingml/2006/main">
              <a:ext uri="{FF2B5EF4-FFF2-40B4-BE49-F238E27FC236}">
                <a16:creationId xmlns:a16="http://schemas.microsoft.com/office/drawing/2014/main" id="{62885F1B-D4F8-4FCB-A10F-E6ADBBCE8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97059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6"/>
          </a:solidFill>
          <a:ln xmlns:a="http://schemas.openxmlformats.org/drawingml/2006/main" w="9525">
            <a:solidFill>
              <a:srgbClr val="0B4F86"/>
            </a:solidFill>
            <a:prstDash val="solid"/>
          </a:ln>
        </p:spPr>
      </p:sp>
      <p:sp>
        <p:nvSpPr>
          <p:cNvPr id="99" name="roadmap-label-1">
            <a:extLst xmlns:a="http://schemas.openxmlformats.org/drawingml/2006/main">
              <a:ext uri="{FF2B5EF4-FFF2-40B4-BE49-F238E27FC236}">
                <a16:creationId xmlns:a16="http://schemas.microsoft.com/office/drawing/2014/main" id="{CD506589-F3FF-43DB-9D44-1AFE54CC9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886777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4F8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B4F86"/>
                </a:solidFill>
                <a:latin typeface="Malgun Gothic"/>
                <a:ea typeface="Malgun Gothic"/>
                <a:cs typeface="Malgun Gothic"/>
              </a:rPr>
              <a:t>단기  |  0–6개월</a:t>
            </a:r>
          </a:p>
        </p:txBody>
      </p:sp>
      <p:sp>
        <p:nvSpPr>
          <p:cNvPr id="100" name="roadmap-title-1">
            <a:extLst xmlns:a="http://schemas.openxmlformats.org/drawingml/2006/main">
              <a:ext uri="{FF2B5EF4-FFF2-40B4-BE49-F238E27FC236}">
                <a16:creationId xmlns:a16="http://schemas.microsoft.com/office/drawing/2014/main" id="{C315A496-337A-4157-AD59-7BF7BB391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917257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메타 기반과 설계 품질을 먼저 고정</a:t>
            </a:r>
          </a:p>
        </p:txBody>
      </p:sp>
      <p:sp>
        <p:nvSpPr>
          <p:cNvPr id="101" name="roadmap-body-1">
            <a:extLst xmlns:a="http://schemas.openxmlformats.org/drawingml/2006/main">
              <a:ext uri="{FF2B5EF4-FFF2-40B4-BE49-F238E27FC236}">
                <a16:creationId xmlns:a16="http://schemas.microsoft.com/office/drawing/2014/main" id="{3A4A10D2-67A6-4C47-9096-27155FD2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9963150"/>
            <a:ext cx="371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공통기반 A·B·C + ①②④ PoC</a:t>
            </a:r>
          </a:p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성과: 표준항목 재사용·문서/룰 오류 사전차단</a:t>
            </a:r>
          </a:p>
        </p:txBody>
      </p:sp>
      <p:sp>
        <p:nvSpPr>
          <p:cNvPr id="102" name="roadmap-dot-2">
            <a:extLst xmlns:a="http://schemas.openxmlformats.org/drawingml/2006/main">
              <a:ext uri="{FF2B5EF4-FFF2-40B4-BE49-F238E27FC236}">
                <a16:creationId xmlns:a16="http://schemas.microsoft.com/office/drawing/2014/main" id="{65E0AEBF-5C02-4E18-A05B-51035BA7A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97059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7A5C"/>
          </a:solidFill>
          <a:ln xmlns:a="http://schemas.openxmlformats.org/drawingml/2006/main" w="9525">
            <a:solidFill>
              <a:srgbClr val="1E7A5C"/>
            </a:solidFill>
            <a:prstDash val="solid"/>
          </a:ln>
        </p:spPr>
      </p:sp>
      <p:sp>
        <p:nvSpPr>
          <p:cNvPr id="103" name="roadmap-label-2">
            <a:extLst xmlns:a="http://schemas.openxmlformats.org/drawingml/2006/main">
              <a:ext uri="{FF2B5EF4-FFF2-40B4-BE49-F238E27FC236}">
                <a16:creationId xmlns:a16="http://schemas.microsoft.com/office/drawing/2014/main" id="{31553C6B-5DDC-4146-AAEF-86E8284A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886777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E7A5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E7A5C"/>
                </a:solidFill>
                <a:latin typeface="Malgun Gothic"/>
                <a:ea typeface="Malgun Gothic"/>
                <a:cs typeface="Malgun Gothic"/>
              </a:rPr>
              <a:t>중기  |  6–18개월</a:t>
            </a:r>
          </a:p>
        </p:txBody>
      </p:sp>
      <p:sp>
        <p:nvSpPr>
          <p:cNvPr id="104" name="roadmap-title-2">
            <a:extLst xmlns:a="http://schemas.openxmlformats.org/drawingml/2006/main">
              <a:ext uri="{FF2B5EF4-FFF2-40B4-BE49-F238E27FC236}">
                <a16:creationId xmlns:a16="http://schemas.microsoft.com/office/drawing/2014/main" id="{C9BC966C-D608-4EDA-922E-C87774D4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917257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수집·에디팅 자동화를 현업에 내재화</a:t>
            </a:r>
          </a:p>
        </p:txBody>
      </p:sp>
      <p:sp>
        <p:nvSpPr>
          <p:cNvPr id="105" name="roadmap-body-2">
            <a:extLst xmlns:a="http://schemas.openxmlformats.org/drawingml/2006/main">
              <a:ext uri="{FF2B5EF4-FFF2-40B4-BE49-F238E27FC236}">
                <a16:creationId xmlns:a16="http://schemas.microsoft.com/office/drawing/2014/main" id="{735B320D-4581-476F-8AC6-6D80BDED2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9963150"/>
            <a:ext cx="371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③⑤⑥⑦ 운영 + ⑧ 생성형 통계표 Pilot</a:t>
            </a:r>
          </a:p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성과: 검토량 축소·처리 일관성·정시성 향상</a:t>
            </a:r>
          </a:p>
        </p:txBody>
      </p:sp>
      <p:sp>
        <p:nvSpPr>
          <p:cNvPr id="106" name="roadmap-dot-3">
            <a:extLst xmlns:a="http://schemas.openxmlformats.org/drawingml/2006/main">
              <a:ext uri="{FF2B5EF4-FFF2-40B4-BE49-F238E27FC236}">
                <a16:creationId xmlns:a16="http://schemas.microsoft.com/office/drawing/2014/main" id="{5A588259-169C-4134-B945-5E3F7F3E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97059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13"/>
          </a:solidFill>
          <a:ln xmlns:a="http://schemas.openxmlformats.org/drawingml/2006/main" w="9525">
            <a:solidFill>
              <a:srgbClr val="C47A13"/>
            </a:solidFill>
            <a:prstDash val="solid"/>
          </a:ln>
        </p:spPr>
      </p:sp>
      <p:sp>
        <p:nvSpPr>
          <p:cNvPr id="107" name="roadmap-label-3">
            <a:extLst xmlns:a="http://schemas.openxmlformats.org/drawingml/2006/main">
              <a:ext uri="{FF2B5EF4-FFF2-40B4-BE49-F238E27FC236}">
                <a16:creationId xmlns:a16="http://schemas.microsoft.com/office/drawing/2014/main" id="{87209B03-3338-4107-8685-66FBCC81F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8867775"/>
            <a:ext cx="398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47A1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C47A13"/>
                </a:solidFill>
                <a:latin typeface="Malgun Gothic"/>
                <a:ea typeface="Malgun Gothic"/>
                <a:cs typeface="Malgun Gothic"/>
              </a:rPr>
              <a:t>장기  |  18–36개월</a:t>
            </a:r>
          </a:p>
        </p:txBody>
      </p:sp>
      <p:sp>
        <p:nvSpPr>
          <p:cNvPr id="108" name="roadmap-title-3">
            <a:extLst xmlns:a="http://schemas.openxmlformats.org/drawingml/2006/main">
              <a:ext uri="{FF2B5EF4-FFF2-40B4-BE49-F238E27FC236}">
                <a16:creationId xmlns:a16="http://schemas.microsoft.com/office/drawing/2014/main" id="{DC99C7F5-67A4-4FD2-AF5E-954F73A1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9172575"/>
            <a:ext cx="3981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공표·보관까지 종단 자동화와 확산</a:t>
            </a:r>
          </a:p>
        </p:txBody>
      </p:sp>
      <p:sp>
        <p:nvSpPr>
          <p:cNvPr id="109" name="roadmap-body-3">
            <a:extLst xmlns:a="http://schemas.openxmlformats.org/drawingml/2006/main">
              <a:ext uri="{FF2B5EF4-FFF2-40B4-BE49-F238E27FC236}">
                <a16:creationId xmlns:a16="http://schemas.microsoft.com/office/drawing/2014/main" id="{80ED9A97-2C23-4D5F-98E9-371DE85E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9963150"/>
            <a:ext cx="3981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⑧ 확산 + ⑨⑩ 운영 + 다기관 재사용</a:t>
            </a:r>
          </a:p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성과: 자동검증·근거형 설명·플랫폼 표준화</a:t>
            </a:r>
          </a:p>
        </p:txBody>
      </p:sp>
      <p:sp>
        <p:nvSpPr>
          <p:cNvPr id="110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965B8943-1CFD-48EC-B351-3A90EA53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0467975"/>
            <a:ext cx="3933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A849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7A8492"/>
                </a:solidFill>
                <a:latin typeface="Malgun Gothic"/>
                <a:ea typeface="Malgun Gothic"/>
                <a:cs typeface="Malgun Gothic"/>
              </a:rPr>
              <a:t>Source: 제공 PPT v0.5 (2026.03.01), slides 2–14 · 의사결정용 요약 재구성</a:t>
            </a:r>
          </a:p>
        </p:txBody>
      </p:sp>
    </p:spTree>
    <p:extLst>
      <p:ext uri="{BB962C8B-B14F-4D97-AF65-F5344CB8AC3E}">
        <p14:creationId xmlns:p14="http://schemas.microsoft.com/office/powerpoint/2010/main" val="2137914898"/>
      </p:ext>
    </p:extLst>
  </p:cSld>
</p:sld>
</file>

<file path=ppt/theme/theme1.xml><?xml version="1.0" encoding="utf-8"?>
<a:theme xmlns:a="http://schemas.openxmlformats.org/drawingml/2006/main" name="ChatGPT">
  <a:themeElements>
    <a:clrScheme name="KSBPM AI Strategy">
      <a:dk1>
        <a:srgbClr val="000000"/>
      </a:dk1>
      <a:lt1>
        <a:srgbClr val="FFFFFF"/>
      </a:lt1>
      <a:dk2>
        <a:srgbClr val="111827"/>
      </a:dk2>
      <a:lt2>
        <a:srgbClr val="F3F5F7"/>
      </a:lt2>
      <a:accent1>
        <a:srgbClr val="1C6AA6"/>
      </a:accent1>
      <a:accent2>
        <a:srgbClr val="0B4F86"/>
      </a:accent2>
      <a:accent3>
        <a:srgbClr val="7BC8F6"/>
      </a:accent3>
      <a:accent4>
        <a:srgbClr val="1E7A5C"/>
      </a:accent4>
      <a:accent5>
        <a:srgbClr val="C47A13"/>
      </a:accent5>
      <a:accent6>
        <a:srgbClr val="6B7280"/>
      </a:accent6>
      <a:hlink>
        <a:srgbClr val="1C6AA6"/>
      </a:hlink>
      <a:folHlink>
        <a:srgbClr val="0B4F86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KSBPM AI Strategy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2026-08-25T13:16:03.1740000Z</dcterms:created>
  <dcterms:modified xsi:type="dcterms:W3CDTF">2026-08-25T13:16:03.1740000Z</dcterms:modified>
</coreProperties>
</file>