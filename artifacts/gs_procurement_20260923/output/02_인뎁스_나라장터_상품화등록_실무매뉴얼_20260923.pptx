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28a6cdfbf904a76" /><Relationship Type="http://schemas.openxmlformats.org/officeDocument/2006/relationships/extended-properties" Target="/docProps/app.xml" Id="R373be3b4472c4b37" /><Relationship Type="http://schemas.openxmlformats.org/officeDocument/2006/relationships/officeDocument" Target="/ppt/presentation.xml" Id="R7a2e028da65a48d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a444d014fcf40ce"/>
  </p:sldMasterIdLst>
  <p:notesMasterIdLst>
    <p:notesMasterId xmlns:r="http://schemas.openxmlformats.org/officeDocument/2006/relationships" r:id="R38e5642fa8354762"/>
  </p:notesMasterIdLst>
  <p:sldIdLst>
    <p:sldId xmlns:r="http://schemas.openxmlformats.org/officeDocument/2006/relationships" id="256" r:id="R90df9ca5013b4c79"/>
    <p:sldId xmlns:r="http://schemas.openxmlformats.org/officeDocument/2006/relationships" id="257" r:id="R102213c1a680468d"/>
    <p:sldId xmlns:r="http://schemas.openxmlformats.org/officeDocument/2006/relationships" id="258" r:id="R098aec6619a749a6"/>
    <p:sldId xmlns:r="http://schemas.openxmlformats.org/officeDocument/2006/relationships" id="259" r:id="R66e630c52edb45b7"/>
    <p:sldId xmlns:r="http://schemas.openxmlformats.org/officeDocument/2006/relationships" id="260" r:id="Re384cc3d89f5487d"/>
    <p:sldId xmlns:r="http://schemas.openxmlformats.org/officeDocument/2006/relationships" id="261" r:id="R7a2a337ee50243fb"/>
    <p:sldId xmlns:r="http://schemas.openxmlformats.org/officeDocument/2006/relationships" id="262" r:id="R3d74525facbd4951"/>
    <p:sldId xmlns:r="http://schemas.openxmlformats.org/officeDocument/2006/relationships" id="263" r:id="R47b65a2df23a4f16"/>
    <p:sldId xmlns:r="http://schemas.openxmlformats.org/officeDocument/2006/relationships" id="264" r:id="Re25b5fadc3b44c27"/>
    <p:sldId xmlns:r="http://schemas.openxmlformats.org/officeDocument/2006/relationships" id="265" r:id="R573a6b3063084998"/>
    <p:sldId xmlns:r="http://schemas.openxmlformats.org/officeDocument/2006/relationships" id="266" r:id="R9937a56cf9064509"/>
    <p:sldId xmlns:r="http://schemas.openxmlformats.org/officeDocument/2006/relationships" id="267" r:id="R4b80862afe964830"/>
    <p:sldId xmlns:r="http://schemas.openxmlformats.org/officeDocument/2006/relationships" id="268" r:id="R6883300e003b4439"/>
    <p:sldId xmlns:r="http://schemas.openxmlformats.org/officeDocument/2006/relationships" id="269" r:id="Re87100f49b034d24"/>
    <p:sldId xmlns:r="http://schemas.openxmlformats.org/officeDocument/2006/relationships" id="270" r:id="R54e6b56c64f64cf8"/>
    <p:sldId xmlns:r="http://schemas.openxmlformats.org/officeDocument/2006/relationships" id="271" r:id="R0bc8159f2a56475b"/>
    <p:sldId xmlns:r="http://schemas.openxmlformats.org/officeDocument/2006/relationships" id="272" r:id="Rc56aef7c5ca948ee"/>
    <p:sldId xmlns:r="http://schemas.openxmlformats.org/officeDocument/2006/relationships" id="273" r:id="R17cf04926be948b6"/>
    <p:sldId xmlns:r="http://schemas.openxmlformats.org/officeDocument/2006/relationships" id="274" r:id="R1fa0705e27fd42b0"/>
    <p:sldId xmlns:r="http://schemas.openxmlformats.org/officeDocument/2006/relationships" id="275" r:id="Reca978055c814a71"/>
    <p:sldId xmlns:r="http://schemas.openxmlformats.org/officeDocument/2006/relationships" id="276" r:id="R378c7e9d3b214232"/>
    <p:sldId xmlns:r="http://schemas.openxmlformats.org/officeDocument/2006/relationships" id="277" r:id="Ra00f8a074aaf493f"/>
    <p:sldId xmlns:r="http://schemas.openxmlformats.org/officeDocument/2006/relationships" id="278" r:id="R70d69ee2efb54449"/>
    <p:sldId xmlns:r="http://schemas.openxmlformats.org/officeDocument/2006/relationships" id="279" r:id="Rc6f8c15088794329"/>
    <p:sldId xmlns:r="http://schemas.openxmlformats.org/officeDocument/2006/relationships" id="280" r:id="Rb1428d689d824afe"/>
    <p:sldId xmlns:r="http://schemas.openxmlformats.org/officeDocument/2006/relationships" id="281" r:id="R94bb1d0a06cd4fe0"/>
    <p:sldId xmlns:r="http://schemas.openxmlformats.org/officeDocument/2006/relationships" id="282" r:id="R7eb2474ea00647b4"/>
    <p:sldId xmlns:r="http://schemas.openxmlformats.org/officeDocument/2006/relationships" id="283" r:id="R8da9e375e9844b95"/>
    <p:sldId xmlns:r="http://schemas.openxmlformats.org/officeDocument/2006/relationships" id="284" r:id="Rad0e43529c174376"/>
    <p:sldId xmlns:r="http://schemas.openxmlformats.org/officeDocument/2006/relationships" id="285" r:id="R85ed00a4fd1a4ce4"/>
    <p:sldId xmlns:r="http://schemas.openxmlformats.org/officeDocument/2006/relationships" id="286" r:id="Rd1db00e289b04c68"/>
    <p:sldId xmlns:r="http://schemas.openxmlformats.org/officeDocument/2006/relationships" id="287" r:id="Rca12df2a4e8b4515"/>
    <p:sldId xmlns:r="http://schemas.openxmlformats.org/officeDocument/2006/relationships" id="288" r:id="R3c8850397b71456c"/>
    <p:sldId xmlns:r="http://schemas.openxmlformats.org/officeDocument/2006/relationships" id="289" r:id="R499022a175fb47ab"/>
    <p:sldId xmlns:r="http://schemas.openxmlformats.org/officeDocument/2006/relationships" id="290" r:id="R8202d98a37d342be"/>
    <p:sldId xmlns:r="http://schemas.openxmlformats.org/officeDocument/2006/relationships" id="291" r:id="Ra1af671ab81c4f16"/>
    <p:sldId xmlns:r="http://schemas.openxmlformats.org/officeDocument/2006/relationships" id="292" r:id="R5826b7c2dfcc450b"/>
    <p:sldId xmlns:r="http://schemas.openxmlformats.org/officeDocument/2006/relationships" id="293" r:id="R62cf72362d644555"/>
    <p:sldId xmlns:r="http://schemas.openxmlformats.org/officeDocument/2006/relationships" id="294" r:id="Rc8823fa2c55649cb"/>
    <p:sldId xmlns:r="http://schemas.openxmlformats.org/officeDocument/2006/relationships" id="295" r:id="R9b7523c55f934cbd"/>
    <p:sldId xmlns:r="http://schemas.openxmlformats.org/officeDocument/2006/relationships" id="296" r:id="Rcdde833cb1534936"/>
    <p:sldId xmlns:r="http://schemas.openxmlformats.org/officeDocument/2006/relationships" id="297" r:id="Rbcf613ffb3a046d4"/>
    <p:sldId xmlns:r="http://schemas.openxmlformats.org/officeDocument/2006/relationships" id="298" r:id="Racce0cbd2ce7464c"/>
    <p:sldId xmlns:r="http://schemas.openxmlformats.org/officeDocument/2006/relationships" id="299" r:id="Re3e0748b674544d8"/>
    <p:sldId xmlns:r="http://schemas.openxmlformats.org/officeDocument/2006/relationships" id="300" r:id="R7faea6d797f44581"/>
    <p:sldId xmlns:r="http://schemas.openxmlformats.org/officeDocument/2006/relationships" id="301" r:id="Rbaacc2a3bddb43cb"/>
    <p:sldId xmlns:r="http://schemas.openxmlformats.org/officeDocument/2006/relationships" id="302" r:id="Rbc90de5b4e174320"/>
    <p:sldId xmlns:r="http://schemas.openxmlformats.org/officeDocument/2006/relationships" id="303" r:id="Rb65e033106514586"/>
    <p:sldId xmlns:r="http://schemas.openxmlformats.org/officeDocument/2006/relationships" id="304" r:id="R20da68e9b8814647"/>
    <p:sldId xmlns:r="http://schemas.openxmlformats.org/officeDocument/2006/relationships" id="305" r:id="Rf77f67eb65e544f5"/>
    <p:sldId xmlns:r="http://schemas.openxmlformats.org/officeDocument/2006/relationships" id="306" r:id="R7a0ea1f21c5b4982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70f230099ea491b" /><Relationship Type="http://schemas.openxmlformats.org/officeDocument/2006/relationships/slideMaster" Target="/ppt/slideMasters/slideMaster1.xml" Id="R6a444d014fcf40ce" /><Relationship Type="http://schemas.openxmlformats.org/officeDocument/2006/relationships/notesMaster" Target="/ppt/notesMasters/notesMaster1.xml" Id="R38e5642fa8354762" /><Relationship Type="http://schemas.openxmlformats.org/officeDocument/2006/relationships/presProps" Target="/ppt/presProps.xml" Id="Re298a92aeafc472a" /><Relationship Type="http://schemas.openxmlformats.org/officeDocument/2006/relationships/tableStyles" Target="/ppt/tableStyles.xml" Id="Rb0277ebe8f584fb4" /><Relationship Type="http://schemas.openxmlformats.org/officeDocument/2006/relationships/slide" Target="/ppt/slides/slide1.xml" Id="R90df9ca5013b4c79" /><Relationship Type="http://schemas.openxmlformats.org/officeDocument/2006/relationships/slide" Target="/ppt/slides/slide2.xml" Id="R102213c1a680468d" /><Relationship Type="http://schemas.openxmlformats.org/officeDocument/2006/relationships/slide" Target="/ppt/slides/slide3.xml" Id="R098aec6619a749a6" /><Relationship Type="http://schemas.openxmlformats.org/officeDocument/2006/relationships/slide" Target="/ppt/slides/slide4.xml" Id="R66e630c52edb45b7" /><Relationship Type="http://schemas.openxmlformats.org/officeDocument/2006/relationships/slide" Target="/ppt/slides/slide5.xml" Id="Re384cc3d89f5487d" /><Relationship Type="http://schemas.openxmlformats.org/officeDocument/2006/relationships/slide" Target="/ppt/slides/slide6.xml" Id="R7a2a337ee50243fb" /><Relationship Type="http://schemas.openxmlformats.org/officeDocument/2006/relationships/slide" Target="/ppt/slides/slide7.xml" Id="R3d74525facbd4951" /><Relationship Type="http://schemas.openxmlformats.org/officeDocument/2006/relationships/slide" Target="/ppt/slides/slide8.xml" Id="R47b65a2df23a4f16" /><Relationship Type="http://schemas.openxmlformats.org/officeDocument/2006/relationships/slide" Target="/ppt/slides/slide9.xml" Id="Re25b5fadc3b44c27" /><Relationship Type="http://schemas.openxmlformats.org/officeDocument/2006/relationships/slide" Target="/ppt/slides/slide10.xml" Id="R573a6b3063084998" /><Relationship Type="http://schemas.openxmlformats.org/officeDocument/2006/relationships/slide" Target="/ppt/slides/slide11.xml" Id="R9937a56cf9064509" /><Relationship Type="http://schemas.openxmlformats.org/officeDocument/2006/relationships/slide" Target="/ppt/slides/slide12.xml" Id="R4b80862afe964830" /><Relationship Type="http://schemas.openxmlformats.org/officeDocument/2006/relationships/slide" Target="/ppt/slides/slide13.xml" Id="R6883300e003b4439" /><Relationship Type="http://schemas.openxmlformats.org/officeDocument/2006/relationships/slide" Target="/ppt/slides/slide14.xml" Id="Re87100f49b034d24" /><Relationship Type="http://schemas.openxmlformats.org/officeDocument/2006/relationships/slide" Target="/ppt/slides/slide15.xml" Id="R54e6b56c64f64cf8" /><Relationship Type="http://schemas.openxmlformats.org/officeDocument/2006/relationships/slide" Target="/ppt/slides/slide16.xml" Id="R0bc8159f2a56475b" /><Relationship Type="http://schemas.openxmlformats.org/officeDocument/2006/relationships/slide" Target="/ppt/slides/slide17.xml" Id="Rc56aef7c5ca948ee" /><Relationship Type="http://schemas.openxmlformats.org/officeDocument/2006/relationships/slide" Target="/ppt/slides/slide18.xml" Id="R17cf04926be948b6" /><Relationship Type="http://schemas.openxmlformats.org/officeDocument/2006/relationships/slide" Target="/ppt/slides/slide19.xml" Id="R1fa0705e27fd42b0" /><Relationship Type="http://schemas.openxmlformats.org/officeDocument/2006/relationships/slide" Target="/ppt/slides/slide20.xml" Id="Reca978055c814a71" /><Relationship Type="http://schemas.openxmlformats.org/officeDocument/2006/relationships/slide" Target="/ppt/slides/slide21.xml" Id="R378c7e9d3b214232" /><Relationship Type="http://schemas.openxmlformats.org/officeDocument/2006/relationships/slide" Target="/ppt/slides/slide22.xml" Id="Ra00f8a074aaf493f" /><Relationship Type="http://schemas.openxmlformats.org/officeDocument/2006/relationships/slide" Target="/ppt/slides/slide23.xml" Id="R70d69ee2efb54449" /><Relationship Type="http://schemas.openxmlformats.org/officeDocument/2006/relationships/slide" Target="/ppt/slides/slide24.xml" Id="Rc6f8c15088794329" /><Relationship Type="http://schemas.openxmlformats.org/officeDocument/2006/relationships/slide" Target="/ppt/slides/slide25.xml" Id="Rb1428d689d824afe" /><Relationship Type="http://schemas.openxmlformats.org/officeDocument/2006/relationships/slide" Target="/ppt/slides/slide26.xml" Id="R94bb1d0a06cd4fe0" /><Relationship Type="http://schemas.openxmlformats.org/officeDocument/2006/relationships/slide" Target="/ppt/slides/slide27.xml" Id="R7eb2474ea00647b4" /><Relationship Type="http://schemas.openxmlformats.org/officeDocument/2006/relationships/slide" Target="/ppt/slides/slide28.xml" Id="R8da9e375e9844b95" /><Relationship Type="http://schemas.openxmlformats.org/officeDocument/2006/relationships/slide" Target="/ppt/slides/slide29.xml" Id="Rad0e43529c174376" /><Relationship Type="http://schemas.openxmlformats.org/officeDocument/2006/relationships/slide" Target="/ppt/slides/slide30.xml" Id="R85ed00a4fd1a4ce4" /><Relationship Type="http://schemas.openxmlformats.org/officeDocument/2006/relationships/slide" Target="/ppt/slides/slide31.xml" Id="Rd1db00e289b04c68" /><Relationship Type="http://schemas.openxmlformats.org/officeDocument/2006/relationships/slide" Target="/ppt/slides/slide32.xml" Id="Rca12df2a4e8b4515" /><Relationship Type="http://schemas.openxmlformats.org/officeDocument/2006/relationships/slide" Target="/ppt/slides/slide33.xml" Id="R3c8850397b71456c" /><Relationship Type="http://schemas.openxmlformats.org/officeDocument/2006/relationships/slide" Target="/ppt/slides/slide34.xml" Id="R499022a175fb47ab" /><Relationship Type="http://schemas.openxmlformats.org/officeDocument/2006/relationships/slide" Target="/ppt/slides/slide35.xml" Id="R8202d98a37d342be" /><Relationship Type="http://schemas.openxmlformats.org/officeDocument/2006/relationships/slide" Target="/ppt/slides/slide36.xml" Id="Ra1af671ab81c4f16" /><Relationship Type="http://schemas.openxmlformats.org/officeDocument/2006/relationships/slide" Target="/ppt/slides/slide37.xml" Id="R5826b7c2dfcc450b" /><Relationship Type="http://schemas.openxmlformats.org/officeDocument/2006/relationships/slide" Target="/ppt/slides/slide38.xml" Id="R62cf72362d644555" /><Relationship Type="http://schemas.openxmlformats.org/officeDocument/2006/relationships/slide" Target="/ppt/slides/slide39.xml" Id="Rc8823fa2c55649cb" /><Relationship Type="http://schemas.openxmlformats.org/officeDocument/2006/relationships/slide" Target="/ppt/slides/slide40.xml" Id="R9b7523c55f934cbd" /><Relationship Type="http://schemas.openxmlformats.org/officeDocument/2006/relationships/slide" Target="/ppt/slides/slide41.xml" Id="Rcdde833cb1534936" /><Relationship Type="http://schemas.openxmlformats.org/officeDocument/2006/relationships/slide" Target="/ppt/slides/slide42.xml" Id="Rbcf613ffb3a046d4" /><Relationship Type="http://schemas.openxmlformats.org/officeDocument/2006/relationships/slide" Target="/ppt/slides/slide43.xml" Id="Racce0cbd2ce7464c" /><Relationship Type="http://schemas.openxmlformats.org/officeDocument/2006/relationships/slide" Target="/ppt/slides/slide44.xml" Id="Re3e0748b674544d8" /><Relationship Type="http://schemas.openxmlformats.org/officeDocument/2006/relationships/slide" Target="/ppt/slides/slide45.xml" Id="R7faea6d797f44581" /><Relationship Type="http://schemas.openxmlformats.org/officeDocument/2006/relationships/slide" Target="/ppt/slides/slide46.xml" Id="Rbaacc2a3bddb43cb" /><Relationship Type="http://schemas.openxmlformats.org/officeDocument/2006/relationships/slide" Target="/ppt/slides/slide47.xml" Id="Rbc90de5b4e174320" /><Relationship Type="http://schemas.openxmlformats.org/officeDocument/2006/relationships/slide" Target="/ppt/slides/slide48.xml" Id="Rb65e033106514586" /><Relationship Type="http://schemas.openxmlformats.org/officeDocument/2006/relationships/slide" Target="/ppt/slides/slide49.xml" Id="R20da68e9b8814647" /><Relationship Type="http://schemas.openxmlformats.org/officeDocument/2006/relationships/slide" Target="/ppt/slides/slide50.xml" Id="Rf77f67eb65e544f5" /><Relationship Type="http://schemas.openxmlformats.org/officeDocument/2006/relationships/slide" Target="/ppt/slides/slide51.xml" Id="R7a0ea1f21c5b498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1d9b7aeb24a4e3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6be4628fd2b4ec9" /><Relationship Type="http://schemas.openxmlformats.org/officeDocument/2006/relationships/notesMaster" Target="/ppt/notesMasters/notesMaster1.xml" Id="R032b593af10244e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5c8f1b4cd864aef" /><Relationship Type="http://schemas.openxmlformats.org/officeDocument/2006/relationships/notesMaster" Target="/ppt/notesMasters/notesMaster1.xml" Id="Reae3bc7d412f476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0df5f9dd4564e51" /><Relationship Type="http://schemas.openxmlformats.org/officeDocument/2006/relationships/notesMaster" Target="/ppt/notesMasters/notesMaster1.xml" Id="R25b71c3ff2ad444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2bff55819c64e7c" /><Relationship Type="http://schemas.openxmlformats.org/officeDocument/2006/relationships/notesMaster" Target="/ppt/notesMasters/notesMaster1.xml" Id="Rb75b04e5a7884ae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0026be85e3f4b6b" /><Relationship Type="http://schemas.openxmlformats.org/officeDocument/2006/relationships/notesMaster" Target="/ppt/notesMasters/notesMaster1.xml" Id="R9c3aa97f85a94ec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0986135b2314c54" /><Relationship Type="http://schemas.openxmlformats.org/officeDocument/2006/relationships/notesMaster" Target="/ppt/notesMasters/notesMaster1.xml" Id="R9a27959c3f76479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da83522adc148c7" /><Relationship Type="http://schemas.openxmlformats.org/officeDocument/2006/relationships/notesMaster" Target="/ppt/notesMasters/notesMaster1.xml" Id="R4faa03aae0e8402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a04a75181ce4ca7" /><Relationship Type="http://schemas.openxmlformats.org/officeDocument/2006/relationships/notesMaster" Target="/ppt/notesMasters/notesMaster1.xml" Id="R91604ff352b64c2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2d86fafd0b54770" /><Relationship Type="http://schemas.openxmlformats.org/officeDocument/2006/relationships/notesMaster" Target="/ppt/notesMasters/notesMaster1.xml" Id="R967c0ad3280340c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d8e7ab62af2464f" /><Relationship Type="http://schemas.openxmlformats.org/officeDocument/2006/relationships/notesMaster" Target="/ppt/notesMasters/notesMaster1.xml" Id="R8a36a61216da40d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4edfd87f3884645" /><Relationship Type="http://schemas.openxmlformats.org/officeDocument/2006/relationships/notesMaster" Target="/ppt/notesMasters/notesMaster1.xml" Id="Rc6201547839341b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69a915bf8f1438a" /><Relationship Type="http://schemas.openxmlformats.org/officeDocument/2006/relationships/notesMaster" Target="/ppt/notesMasters/notesMaster1.xml" Id="R242e25e83b874d0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a93efc000784847" /><Relationship Type="http://schemas.openxmlformats.org/officeDocument/2006/relationships/notesMaster" Target="/ppt/notesMasters/notesMaster1.xml" Id="R76a950243254401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1a720a233804440" /><Relationship Type="http://schemas.openxmlformats.org/officeDocument/2006/relationships/notesMaster" Target="/ppt/notesMasters/notesMaster1.xml" Id="R3c37fb9d22fc444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cdb5be6916f48a8" /><Relationship Type="http://schemas.openxmlformats.org/officeDocument/2006/relationships/notesMaster" Target="/ppt/notesMasters/notesMaster1.xml" Id="R35fa0fbbbcb5432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48f5c5b44474215" /><Relationship Type="http://schemas.openxmlformats.org/officeDocument/2006/relationships/notesMaster" Target="/ppt/notesMasters/notesMaster1.xml" Id="Rc623c654f84e48d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a78deec5d8564fba" /><Relationship Type="http://schemas.openxmlformats.org/officeDocument/2006/relationships/notesMaster" Target="/ppt/notesMasters/notesMaster1.xml" Id="R6d3a3b6a77f642dd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ccb4e9cd173d4cb1" /><Relationship Type="http://schemas.openxmlformats.org/officeDocument/2006/relationships/notesMaster" Target="/ppt/notesMasters/notesMaster1.xml" Id="R1f41c84a35124995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70855fb46c784bb9" /><Relationship Type="http://schemas.openxmlformats.org/officeDocument/2006/relationships/notesMaster" Target="/ppt/notesMasters/notesMaster1.xml" Id="R842453d2300445b1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c9ff413057d54b81" /><Relationship Type="http://schemas.openxmlformats.org/officeDocument/2006/relationships/notesMaster" Target="/ppt/notesMasters/notesMaster1.xml" Id="R904089eb900c4e12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fce0e01770824ea9" /><Relationship Type="http://schemas.openxmlformats.org/officeDocument/2006/relationships/notesMaster" Target="/ppt/notesMasters/notesMaster1.xml" Id="Rc214f75f4b38485b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34fe98ee7db141f6" /><Relationship Type="http://schemas.openxmlformats.org/officeDocument/2006/relationships/notesMaster" Target="/ppt/notesMasters/notesMaster1.xml" Id="Rfc54584cc41142d3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95bbf868b11c4131" /><Relationship Type="http://schemas.openxmlformats.org/officeDocument/2006/relationships/notesMaster" Target="/ppt/notesMasters/notesMaster1.xml" Id="R685498123eb34dbe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90f31344f68d4bb7" /><Relationship Type="http://schemas.openxmlformats.org/officeDocument/2006/relationships/notesMaster" Target="/ppt/notesMasters/notesMaster1.xml" Id="R16921d2fd94147de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873731eff66c404d" /><Relationship Type="http://schemas.openxmlformats.org/officeDocument/2006/relationships/notesMaster" Target="/ppt/notesMasters/notesMaster1.xml" Id="R0e76f7ba07c54c22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69d470dc5f1e4014" /><Relationship Type="http://schemas.openxmlformats.org/officeDocument/2006/relationships/notesMaster" Target="/ppt/notesMasters/notesMaster1.xml" Id="Rb94c107f20de495c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7d9aaa320b0c43bd" /><Relationship Type="http://schemas.openxmlformats.org/officeDocument/2006/relationships/notesMaster" Target="/ppt/notesMasters/notesMaster1.xml" Id="Rdb238f80181f405c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79a0d61593274de2" /><Relationship Type="http://schemas.openxmlformats.org/officeDocument/2006/relationships/notesMaster" Target="/ppt/notesMasters/notesMaster1.xml" Id="Ra6dcd4f260b34f2e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b35fa09cbaed4b98" /><Relationship Type="http://schemas.openxmlformats.org/officeDocument/2006/relationships/notesMaster" Target="/ppt/notesMasters/notesMaster1.xml" Id="R64057fca33e84336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216fc350b94e4cbf" /><Relationship Type="http://schemas.openxmlformats.org/officeDocument/2006/relationships/notesMaster" Target="/ppt/notesMasters/notesMaster1.xml" Id="Re33e999662ec48f7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8502306c6d584947" /><Relationship Type="http://schemas.openxmlformats.org/officeDocument/2006/relationships/notesMaster" Target="/ppt/notesMasters/notesMaster1.xml" Id="R8eff4b1401314653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217bb09dad4c497f" /><Relationship Type="http://schemas.openxmlformats.org/officeDocument/2006/relationships/notesMaster" Target="/ppt/notesMasters/notesMaster1.xml" Id="R0e72215516c74fe5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6e22f8aa42c44cf8" /><Relationship Type="http://schemas.openxmlformats.org/officeDocument/2006/relationships/notesMaster" Target="/ppt/notesMasters/notesMaster1.xml" Id="Rde0fd17faefe4bb3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7b453f50e039426e" /><Relationship Type="http://schemas.openxmlformats.org/officeDocument/2006/relationships/notesMaster" Target="/ppt/notesMasters/notesMaster1.xml" Id="Reb9292e71bfa41ab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941931081f5b46dd" /><Relationship Type="http://schemas.openxmlformats.org/officeDocument/2006/relationships/notesMaster" Target="/ppt/notesMasters/notesMaster1.xml" Id="R95162515ad4a4fa4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c2f12474ff33477b" /><Relationship Type="http://schemas.openxmlformats.org/officeDocument/2006/relationships/notesMaster" Target="/ppt/notesMasters/notesMaster1.xml" Id="Rfc34329cf7db4396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49a8a1e627b14252" /><Relationship Type="http://schemas.openxmlformats.org/officeDocument/2006/relationships/notesMaster" Target="/ppt/notesMasters/notesMaster1.xml" Id="Ra4b9fad65de4442c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e9f84718726446a7" /><Relationship Type="http://schemas.openxmlformats.org/officeDocument/2006/relationships/notesMaster" Target="/ppt/notesMasters/notesMaster1.xml" Id="Rda34481d79784900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d618d1c0730d4c26" /><Relationship Type="http://schemas.openxmlformats.org/officeDocument/2006/relationships/notesMaster" Target="/ppt/notesMasters/notesMaster1.xml" Id="R69f63ad9153747bd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454351efb2624133" /><Relationship Type="http://schemas.openxmlformats.org/officeDocument/2006/relationships/notesMaster" Target="/ppt/notesMasters/notesMaster1.xml" Id="R0b09c07e2cc14457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48e70db43be24fc4" /><Relationship Type="http://schemas.openxmlformats.org/officeDocument/2006/relationships/notesMaster" Target="/ppt/notesMasters/notesMaster1.xml" Id="Re5d1d48866ea430d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6a63fd58f0ae44bf" /><Relationship Type="http://schemas.openxmlformats.org/officeDocument/2006/relationships/notesMaster" Target="/ppt/notesMasters/notesMaster1.xml" Id="Refcc2d1c253a482c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b644633ab9314961" /><Relationship Type="http://schemas.openxmlformats.org/officeDocument/2006/relationships/notesMaster" Target="/ppt/notesMasters/notesMaster1.xml" Id="Refc4a57ab7c94a2d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18b1e476fdf94fad" /><Relationship Type="http://schemas.openxmlformats.org/officeDocument/2006/relationships/notesMaster" Target="/ppt/notesMasters/notesMaster1.xml" Id="R7a94541d54624c2a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09edb620e19f4bfa" /><Relationship Type="http://schemas.openxmlformats.org/officeDocument/2006/relationships/notesMaster" Target="/ppt/notesMasters/notesMaster1.xml" Id="R0a67b5cb682e45ef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74f1d06389044d10" /><Relationship Type="http://schemas.openxmlformats.org/officeDocument/2006/relationships/notesMaster" Target="/ppt/notesMasters/notesMaster1.xml" Id="R80a361dcca634dde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b639a7d8c4434d0a" /><Relationship Type="http://schemas.openxmlformats.org/officeDocument/2006/relationships/notesMaster" Target="/ppt/notesMasters/notesMaster1.xml" Id="Rdc57c2a078834489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5d29c538999549ca" /><Relationship Type="http://schemas.openxmlformats.org/officeDocument/2006/relationships/notesMaster" Target="/ppt/notesMasters/notesMaster1.xml" Id="Re67b7d63a4a94040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b6bde7d9d5164d00" /><Relationship Type="http://schemas.openxmlformats.org/officeDocument/2006/relationships/notesMaster" Target="/ppt/notesMasters/notesMaster1.xml" Id="R344aab01a84d4ff4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cf4d4b4e23944553" /><Relationship Type="http://schemas.openxmlformats.org/officeDocument/2006/relationships/notesMaster" Target="/ppt/notesMasters/notesMaster1.xml" Id="Rdd77f78e52974fb7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4b1974d73b624599" /><Relationship Type="http://schemas.openxmlformats.org/officeDocument/2006/relationships/notesMaster" Target="/ppt/notesMasters/notesMaster1.xml" Id="Raa95376cb74e4ee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사용자 요청: 첫 GS 인증과 나라장터 상품 등록을 위한 실무 지침서. 발표용이 아닌 독립적으로 읽고 실행할 문서. 회사는 30명 규모 소기업, 첫 제품 버전, 판매가격 없음. 내부망 설치형 영구 라이선스 선택. 가격·일정·지원 정책은 승인 전 제안이다. 조사일: 2026-09-23.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문서: G2B 실무매뉴얼</a:t>
            </a:r>
          </a:p>
          <a:p xmlns:a="http://schemas.openxmlformats.org/drawingml/2006/main">
            <a:r>
              <a:t>페이지 2: 사업화 전제와 문서 사용법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공식 요건은 표시된 출처를 적용한다. 별도 출처가 없는 실행·정책·시험·일정·금액은 작성자가 제안하는 내부 준비안이다. 계약 및 기관의 현행 양식과 조건을 최종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근거 자료 (조회 기준 2026-09-23)</a:t>
            </a:r>
          </a:p>
          <a:p xmlns:a="http://schemas.openxmlformats.org/drawingml/2006/main">
            <a:r>
              <a:t>P1: 상용소프트웨어 제3자단가계약 업무처리기준 (2026.01.01 시행, 지침 제45호)</a:t>
            </a:r>
          </a:p>
          <a:p xmlns:a="http://schemas.openxmlformats.org/drawingml/2006/main">
            <a:r>
              <a:t>https://www.law.go.kr/LSW/admRulLsInfoP.do?admRulSeq=2100000270214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P2: 상용소프트웨어 제3자단가계약 추가특수조건 (2026.01.01 시행, 지침 제46호)</a:t>
            </a:r>
          </a:p>
          <a:p xmlns:a="http://schemas.openxmlformats.org/drawingml/2006/main">
            <a:r>
              <a:t>https://www.law.go.kr/LSW/admRulLsInfoP.do?admRulSeq=2100000270216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문서: G2B 실무매뉴얼</a:t>
            </a:r>
          </a:p>
          <a:p xmlns:a="http://schemas.openxmlformats.org/drawingml/2006/main">
            <a:r>
              <a:t>페이지 3: 업무 순서와 담당 산출물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공식 요건은 표시된 출처를 적용한다. 별도 출처가 없는 실행·정책·시험·일정·금액은 작성자가 제안하는 내부 준비안이다. 계약 및 기관의 현행 양식과 조건을 최종 확인한다.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문서: G2B 실무매뉴얼</a:t>
            </a:r>
          </a:p>
          <a:p xmlns:a="http://schemas.openxmlformats.org/drawingml/2006/main">
            <a:r>
              <a:t>페이지 4: 조달 경로의 구분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공식 요건은 표시된 출처를 적용한다. 별도 출처가 없는 실행·정책·시험·일정·금액은 작성자가 제안하는 내부 준비안이다. 계약 및 기관의 현행 양식과 조건을 최종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근거 자료 (조회 기준 2026-09-23)</a:t>
            </a:r>
          </a:p>
          <a:p xmlns:a="http://schemas.openxmlformats.org/drawingml/2006/main">
            <a:r>
              <a:t>P1: 상용소프트웨어 제3자단가계약 업무처리기준 (2026.01.01 시행, 지침 제45호)</a:t>
            </a:r>
          </a:p>
          <a:p xmlns:a="http://schemas.openxmlformats.org/drawingml/2006/main">
            <a:r>
              <a:t>https://www.law.go.kr/LSW/admRulLsInfoP.do?admRulSeq=2100000270214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P6: 국가법령정보센터 상용SW 계약 현행 규정 목록 (2026.09.23 조회)</a:t>
            </a:r>
          </a:p>
          <a:p xmlns:a="http://schemas.openxmlformats.org/drawingml/2006/main">
            <a:r>
              <a:t>https://www.law.go.kr/admRulSc.do?menuId=5&amp;query=%EC%83%81%EC%9A%A9&amp;subMenuId=41&amp;tabMenuId=183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C1: 디지털서비스 이용지원시스템 선정 절차 (2026.09.23 조회)</a:t>
            </a:r>
          </a:p>
          <a:p xmlns:a="http://schemas.openxmlformats.org/drawingml/2006/main">
            <a:r>
              <a:t>https://www.digitalmarket.kr/web/index.do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C2: KISA 클라우드서비스 보안인증 안내 (2026.03.12 최종수정)</a:t>
            </a:r>
          </a:p>
          <a:p xmlns:a="http://schemas.openxmlformats.org/drawingml/2006/main">
            <a:r>
              <a:t>https://www.kisa.or.kr/1050603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문서: G2B 실무매뉴얼</a:t>
            </a:r>
          </a:p>
          <a:p xmlns:a="http://schemas.openxmlformats.org/drawingml/2006/main">
            <a:r>
              <a:t>페이지 5: 제3자단가계약의 선행 게이트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공식 요건은 표시된 출처를 적용한다. 별도 출처가 없는 실행·정책·시험·일정·금액은 작성자가 제안하는 내부 준비안이다. 계약 및 기관의 현행 양식과 조건을 최종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근거 자료 (조회 기준 2026-09-23)</a:t>
            </a:r>
          </a:p>
          <a:p xmlns:a="http://schemas.openxmlformats.org/drawingml/2006/main">
            <a:r>
              <a:t>P1: 상용소프트웨어 제3자단가계약 업무처리기준 (2026.01.01 시행, 지침 제45호)</a:t>
            </a:r>
          </a:p>
          <a:p xmlns:a="http://schemas.openxmlformats.org/drawingml/2006/main">
            <a:r>
              <a:t>https://www.law.go.kr/LSW/admRulLsInfoP.do?admRulSeq=2100000270214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문서: G2B 실무매뉴얼</a:t>
            </a:r>
          </a:p>
          <a:p xmlns:a="http://schemas.openxmlformats.org/drawingml/2006/main">
            <a:r>
              <a:t>페이지 6: 현재 회사에서 먼저 해결할 항목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공식 요건은 표시된 출처를 적용한다. 별도 출처가 없는 실행·정책·시험·일정·금액은 작성자가 제안하는 내부 준비안이다. 계약 및 기관의 현행 양식과 조건을 최종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근거 자료 (조회 기준 2026-09-23)</a:t>
            </a:r>
          </a:p>
          <a:p xmlns:a="http://schemas.openxmlformats.org/drawingml/2006/main">
            <a:r>
              <a:t>P1: 상용소프트웨어 제3자단가계약 업무처리기준 (2026.01.01 시행, 지침 제45호)</a:t>
            </a:r>
          </a:p>
          <a:p xmlns:a="http://schemas.openxmlformats.org/drawingml/2006/main">
            <a:r>
              <a:t>https://www.law.go.kr/LSW/admRulLsInfoP.do?admRulSeq=2100000270214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P7: SMPP 중소기업확인서 발급 안내 (2026.09.23 조회)</a:t>
            </a:r>
          </a:p>
          <a:p xmlns:a="http://schemas.openxmlformats.org/drawingml/2006/main">
            <a:r>
              <a:t>https://www.smpp.go.kr/cst/smppInf/SelectMpeJ2.do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문서: G2B 실무매뉴얼</a:t>
            </a:r>
          </a:p>
          <a:p xmlns:a="http://schemas.openxmlformats.org/drawingml/2006/main">
            <a:r>
              <a:t>페이지 7: 실적이 없을 때의 실행 경로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공식 요건은 표시된 출처를 적용한다. 별도 출처가 없는 실행·정책·시험·일정·금액은 작성자가 제안하는 내부 준비안이다. 계약 및 기관의 현행 양식과 조건을 최종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근거 자료 (조회 기준 2026-09-23)</a:t>
            </a:r>
          </a:p>
          <a:p xmlns:a="http://schemas.openxmlformats.org/drawingml/2006/main">
            <a:r>
              <a:t>P1: 상용소프트웨어 제3자단가계약 업무처리기준 (2026.01.01 시행, 지침 제45호)</a:t>
            </a:r>
          </a:p>
          <a:p xmlns:a="http://schemas.openxmlformats.org/drawingml/2006/main">
            <a:r>
              <a:t>https://www.law.go.kr/LSW/admRulLsInfoP.do?admRulSeq=2100000270214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문서: G2B 실무매뉴얼</a:t>
            </a:r>
          </a:p>
          <a:p xmlns:a="http://schemas.openxmlformats.org/drawingml/2006/main">
            <a:r>
              <a:t>페이지 8: 판매 형태 비교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공식 요건은 표시된 출처를 적용한다. 별도 출처가 없는 실행·정책·시험·일정·금액은 작성자가 제안하는 내부 준비안이다. 계약 및 기관의 현행 양식과 조건을 최종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근거 자료 (조회 기준 2026-09-23)</a:t>
            </a:r>
          </a:p>
          <a:p xmlns:a="http://schemas.openxmlformats.org/drawingml/2006/main">
            <a:r>
              <a:t>R1: 인뎁스 로컬 소스·프로젝트 지침 (2026.09.23 정적 확인, 실행검증 아님)</a:t>
            </a:r>
          </a:p>
          <a:p xmlns:a="http://schemas.openxmlformats.org/drawingml/2006/main">
            <a:r>
              <a:t>로컬: AGENTS.md, README.md, main.py, frontend/config/menu.config.js, package.json, requirements.txt, backend/tests 파일목록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C1: 디지털서비스 이용지원시스템 선정 절차 (2026.09.23 조회)</a:t>
            </a:r>
          </a:p>
          <a:p xmlns:a="http://schemas.openxmlformats.org/drawingml/2006/main">
            <a:r>
              <a:t>https://www.digitalmarket.kr/web/index.do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C2: KISA 클라우드서비스 보안인증 안내 (2026.03.12 최종수정)</a:t>
            </a:r>
          </a:p>
          <a:p xmlns:a="http://schemas.openxmlformats.org/drawingml/2006/main">
            <a:r>
              <a:t>https://www.kisa.or.kr/1050603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문서: G2B 실무매뉴얼</a:t>
            </a:r>
          </a:p>
          <a:p xmlns:a="http://schemas.openxmlformats.org/drawingml/2006/main">
            <a:r>
              <a:t>페이지 9: 최초 SKU 규격 초안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공식 요건은 표시된 출처를 적용한다. 별도 출처가 없는 실행·정책·시험·일정·금액은 작성자가 제안하는 내부 준비안이다. 계약 및 기관의 현행 양식과 조건을 최종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근거 자료 (조회 기준 2026-09-23)</a:t>
            </a:r>
          </a:p>
          <a:p xmlns:a="http://schemas.openxmlformats.org/drawingml/2006/main">
            <a:r>
              <a:t>P1: 상용소프트웨어 제3자단가계약 업무처리기준 (2026.01.01 시행, 지침 제45호)</a:t>
            </a:r>
          </a:p>
          <a:p xmlns:a="http://schemas.openxmlformats.org/drawingml/2006/main">
            <a:r>
              <a:t>https://www.law.go.kr/LSW/admRulLsInfoP.do?admRulSeq=2100000270214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R1: 인뎁스 로컬 소스·프로젝트 지침 (2026.09.23 정적 확인, 실행검증 아님)</a:t>
            </a:r>
          </a:p>
          <a:p xmlns:a="http://schemas.openxmlformats.org/drawingml/2006/main">
            <a:r>
              <a:t>로컬: AGENTS.md, README.md, main.py, frontend/config/menu.config.js, package.json, requirements.txt, backend/tests 파일목록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문서: G2B 실무매뉴얼</a:t>
            </a:r>
          </a:p>
          <a:p xmlns:a="http://schemas.openxmlformats.org/drawingml/2006/main">
            <a:r>
              <a:t>페이지 10: 설치형 제품의 책임 분담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공식 요건은 표시된 출처를 적용한다. 별도 출처가 없는 실행·정책·시험·일정·금액은 작성자가 제안하는 내부 준비안이다. 계약 및 기관의 현행 양식과 조건을 최종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근거 자료 (조회 기준 2026-09-23)</a:t>
            </a:r>
          </a:p>
          <a:p xmlns:a="http://schemas.openxmlformats.org/drawingml/2006/main">
            <a:r>
              <a:t>R1: 인뎁스 로컬 소스·프로젝트 지침 (2026.09.23 정적 확인, 실행검증 아님)</a:t>
            </a:r>
          </a:p>
          <a:p xmlns:a="http://schemas.openxmlformats.org/drawingml/2006/main">
            <a:r>
              <a:t>로컬: AGENTS.md, README.md, main.py, frontend/config/menu.config.js, package.json, requirements.txt, backend/tests 파일목록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문서: G2B 실무매뉴얼</a:t>
            </a:r>
          </a:p>
          <a:p xmlns:a="http://schemas.openxmlformats.org/drawingml/2006/main">
            <a:r>
              <a:t>페이지 11: 라이선스 측정 단위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공식 요건은 표시된 출처를 적용한다. 별도 출처가 없는 실행·정책·시험·일정·금액은 작성자가 제안하는 내부 준비안이다. 계약 및 기관의 현행 양식과 조건을 최종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근거 자료 (조회 기준 2026-09-23)</a:t>
            </a:r>
          </a:p>
          <a:p xmlns:a="http://schemas.openxmlformats.org/drawingml/2006/main">
            <a:r>
              <a:t>P1: 상용소프트웨어 제3자단가계약 업무처리기준 (2026.01.01 시행, 지침 제45호)</a:t>
            </a:r>
          </a:p>
          <a:p xmlns:a="http://schemas.openxmlformats.org/drawingml/2006/main">
            <a:r>
              <a:t>https://www.law.go.kr/LSW/admRulLsInfoP.do?admRulSeq=2100000270214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R1: 인뎁스 로컬 소스·프로젝트 지침 (2026.09.23 정적 확인, 실행검증 아님)</a:t>
            </a:r>
          </a:p>
          <a:p xmlns:a="http://schemas.openxmlformats.org/drawingml/2006/main">
            <a:r>
              <a:t>로컬: AGENTS.md, README.md, main.py, frontend/config/menu.config.js, package.json, requirements.txt, backend/tests 파일목록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문서: G2B 실무매뉴얼</a:t>
            </a:r>
          </a:p>
          <a:p xmlns:a="http://schemas.openxmlformats.org/drawingml/2006/main">
            <a:r>
              <a:t>페이지 12: EULA에 필요한 계약 조항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공식 요건은 표시된 출처를 적용한다. 별도 출처가 없는 실행·정책·시험·일정·금액은 작성자가 제안하는 내부 준비안이다. 계약 및 기관의 현행 양식과 조건을 최종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근거 자료 (조회 기준 2026-09-23)</a:t>
            </a:r>
          </a:p>
          <a:p xmlns:a="http://schemas.openxmlformats.org/drawingml/2006/main">
            <a:r>
              <a:t>P1: 상용소프트웨어 제3자단가계약 업무처리기준 (2026.01.01 시행, 지침 제45호)</a:t>
            </a:r>
          </a:p>
          <a:p xmlns:a="http://schemas.openxmlformats.org/drawingml/2006/main">
            <a:r>
              <a:t>https://www.law.go.kr/LSW/admRulLsInfoP.do?admRulSeq=2100000270214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P2: 상용소프트웨어 제3자단가계약 추가특수조건 (2026.01.01 시행, 지침 제46호)</a:t>
            </a:r>
          </a:p>
          <a:p xmlns:a="http://schemas.openxmlformats.org/drawingml/2006/main">
            <a:r>
              <a:t>https://www.law.go.kr/LSW/admRulLsInfoP.do?admRulSeq=2100000270216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문서: G2B 실무매뉴얼</a:t>
            </a:r>
          </a:p>
          <a:p xmlns:a="http://schemas.openxmlformats.org/drawingml/2006/main">
            <a:r>
              <a:t>페이지 13: 재설치·이전·DR·가상화 정책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공식 요건은 표시된 출처를 적용한다. 별도 출처가 없는 실행·정책·시험·일정·금액은 작성자가 제안하는 내부 준비안이다. 계약 및 기관의 현행 양식과 조건을 최종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모든 수량·기간은 인뎁스 운영정책 초안이며 고객 계약과 대표 승인으로 확정한다.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문서: G2B 실무매뉴얼</a:t>
            </a:r>
          </a:p>
          <a:p xmlns:a="http://schemas.openxmlformats.org/drawingml/2006/main">
            <a:r>
              <a:t>페이지 14: 오프라인 라이선스 구현 요구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공식 요건은 표시된 출처를 적용한다. 별도 출처가 없는 실행·정책·시험·일정·금액은 작성자가 제안하는 내부 준비안이다. 계약 및 기관의 현행 양식과 조건을 최종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새 라이선스 제어는 사용자 업무와 인증 흐름에 영향을 주므로 구현 전에 정책·UI·장애 동작을 설명하고 승인을 받는다.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근거 자료 (조회 기준 2026-09-23)</a:t>
            </a:r>
          </a:p>
          <a:p xmlns:a="http://schemas.openxmlformats.org/drawingml/2006/main">
            <a:r>
              <a:t>R1: 인뎁스 로컬 소스·프로젝트 지침 (2026.09.23 정적 확인, 실행검증 아님)</a:t>
            </a:r>
          </a:p>
          <a:p xmlns:a="http://schemas.openxmlformats.org/drawingml/2006/main">
            <a:r>
              <a:t>로컬: AGENTS.md, README.md, main.py, frontend/config/menu.config.js, package.json, requirements.txt, backend/tests 파일목록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문서: G2B 실무매뉴얼</a:t>
            </a:r>
          </a:p>
          <a:p xmlns:a="http://schemas.openxmlformats.org/drawingml/2006/main">
            <a:r>
              <a:t>페이지 15: 가격을 결정하기 전 수집할 정보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공식 요건은 표시된 출처를 적용한다. 별도 출처가 없는 실행·정책·시험·일정·금액은 작성자가 제안하는 내부 준비안이다. 계약 및 기관의 현행 양식과 조건을 최종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근거 자료 (조회 기준 2026-09-23)</a:t>
            </a:r>
          </a:p>
          <a:p xmlns:a="http://schemas.openxmlformats.org/drawingml/2006/main">
            <a:r>
              <a:t>P1: 상용소프트웨어 제3자단가계약 업무처리기준 (2026.01.01 시행, 지침 제45호)</a:t>
            </a:r>
          </a:p>
          <a:p xmlns:a="http://schemas.openxmlformats.org/drawingml/2006/main">
            <a:r>
              <a:t>https://www.law.go.kr/LSW/admRulLsInfoP.do?admRulSeq=2100000270214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문서: G2B 실무매뉴얼</a:t>
            </a:r>
          </a:p>
          <a:p xmlns:a="http://schemas.openxmlformats.org/drawingml/2006/main">
            <a:r>
              <a:t>페이지 16: 기본상품 원가 계산 예시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공식 요건은 표시된 출처를 적용한다. 별도 출처가 없는 실행·정책·시험·일정·금액은 작성자가 제안하는 내부 준비안이다. 계약 및 기관의 현행 양식과 조건을 최종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이 계산은 경영계획 예시다. 회계상 매출원가·판매관리비 분류 및 손익 판단은 회계 담당자가 별도로 확정한다.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문서: G2B 실무매뉴얼</a:t>
            </a:r>
          </a:p>
          <a:p xmlns:a="http://schemas.openxmlformats.org/drawingml/2006/main">
            <a:r>
              <a:t>페이지 17: 가격 민감도와 첫 가격 승인안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공식 요건은 표시된 출처를 적용한다. 별도 출처가 없는 실행·정책·시험·일정·금액은 작성자가 제안하는 내부 준비안이다. 계약 및 기관의 현행 양식과 조건을 최종 확인한다.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문서: G2B 실무매뉴얼</a:t>
            </a:r>
          </a:p>
          <a:p xmlns:a="http://schemas.openxmlformats.org/drawingml/2006/main">
            <a:r>
              <a:t>페이지 18: 첫 상품 가격표 예시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공식 요건은 표시된 출처를 적용한다. 별도 출처가 없는 실행·정책·시험·일정·금액은 작성자가 제안하는 내부 준비안이다. 계약 및 기관의 현행 양식과 조건을 최종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근거 자료 (조회 기준 2026-09-23)</a:t>
            </a:r>
          </a:p>
          <a:p xmlns:a="http://schemas.openxmlformats.org/drawingml/2006/main">
            <a:r>
              <a:t>P1: 상용소프트웨어 제3자단가계약 업무처리기준 (2026.01.01 시행, 지침 제45호)</a:t>
            </a:r>
          </a:p>
          <a:p xmlns:a="http://schemas.openxmlformats.org/drawingml/2006/main">
            <a:r>
              <a:t>https://www.law.go.kr/LSW/admRulLsInfoP.do?admRulSeq=2100000270214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문서: G2B 실무매뉴얼</a:t>
            </a:r>
          </a:p>
          <a:p xmlns:a="http://schemas.openxmlformats.org/drawingml/2006/main">
            <a:r>
              <a:t>페이지 19: 영구·구독 5년 비용 비교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공식 요건은 표시된 출처를 적용한다. 별도 출처가 없는 실행·정책·시험·일정·금액은 작성자가 제안하는 내부 준비안이다. 계약 및 기관의 현행 양식과 조건을 최종 확인한다.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문서: G2B 실무매뉴얼</a:t>
            </a:r>
          </a:p>
          <a:p xmlns:a="http://schemas.openxmlformats.org/drawingml/2006/main">
            <a:r>
              <a:t>페이지 20: 할인·채널·우대가격 관리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공식 요건은 표시된 출처를 적용한다. 별도 출처가 없는 실행·정책·시험·일정·금액은 작성자가 제안하는 내부 준비안이다. 계약 및 기관의 현행 양식과 조건을 최종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근거 자료 (조회 기준 2026-09-23)</a:t>
            </a:r>
          </a:p>
          <a:p xmlns:a="http://schemas.openxmlformats.org/drawingml/2006/main">
            <a:r>
              <a:t>P1: 상용소프트웨어 제3자단가계약 업무처리기준 (2026.01.01 시행, 지침 제45호)</a:t>
            </a:r>
          </a:p>
          <a:p xmlns:a="http://schemas.openxmlformats.org/drawingml/2006/main">
            <a:r>
              <a:t>https://www.law.go.kr/LSW/admRulLsInfoP.do?admRulSeq=2100000270214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문서: G2B 실무매뉴얼</a:t>
            </a:r>
          </a:p>
          <a:p xmlns:a="http://schemas.openxmlformats.org/drawingml/2006/main">
            <a:r>
              <a:t>페이지 21: 유상 판매실적 증빙 묶음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공식 요건은 표시된 출처를 적용한다. 별도 출처가 없는 실행·정책·시험·일정·금액은 작성자가 제안하는 내부 준비안이다. 계약 및 기관의 현행 양식과 조건을 최종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근거 자료 (조회 기준 2026-09-23)</a:t>
            </a:r>
          </a:p>
          <a:p xmlns:a="http://schemas.openxmlformats.org/drawingml/2006/main">
            <a:r>
              <a:t>P1: 상용소프트웨어 제3자단가계약 업무처리기준 (2026.01.01 시행, 지침 제45호)</a:t>
            </a:r>
          </a:p>
          <a:p xmlns:a="http://schemas.openxmlformats.org/drawingml/2006/main">
            <a:r>
              <a:t>https://www.law.go.kr/LSW/admRulLsInfoP.do?admRulSeq=2100000270214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문서: G2B 실무매뉴얼</a:t>
            </a:r>
          </a:p>
          <a:p xmlns:a="http://schemas.openxmlformats.org/drawingml/2006/main">
            <a:r>
              <a:t>페이지 22: 저작권·제조사·공급권 준비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공식 요건은 표시된 출처를 적용한다. 별도 출처가 없는 실행·정책·시험·일정·금액은 작성자가 제안하는 내부 준비안이다. 계약 및 기관의 현행 양식과 조건을 최종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근거 자료 (조회 기준 2026-09-23)</a:t>
            </a:r>
          </a:p>
          <a:p xmlns:a="http://schemas.openxmlformats.org/drawingml/2006/main">
            <a:r>
              <a:t>P1: 상용소프트웨어 제3자단가계약 업무처리기준 (2026.01.01 시행, 지침 제45호)</a:t>
            </a:r>
          </a:p>
          <a:p xmlns:a="http://schemas.openxmlformats.org/drawingml/2006/main">
            <a:r>
              <a:t>https://www.law.go.kr/LSW/admRulLsInfoP.do?admRulSeq=2100000270214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R1: 인뎁스 로컬 소스·프로젝트 지침 (2026.09.23 정적 확인, 실행검증 아님)</a:t>
            </a:r>
          </a:p>
          <a:p xmlns:a="http://schemas.openxmlformats.org/drawingml/2006/main">
            <a:r>
              <a:t>로컬: AGENTS.md, README.md, main.py, frontend/config/menu.config.js, package.json, requirements.txt, backend/tests 파일목록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문서: G2B 실무매뉴얼</a:t>
            </a:r>
          </a:p>
          <a:p xmlns:a="http://schemas.openxmlformats.org/drawingml/2006/main">
            <a:r>
              <a:t>페이지 23: 나라장터 이용자·업체 등록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공식 요건은 표시된 출처를 적용한다. 별도 출처가 없는 실행·정책·시험·일정·금액은 작성자가 제안하는 내부 준비안이다. 계약 및 기관의 현행 양식과 조건을 최종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근거 자료 (조회 기준 2026-09-23)</a:t>
            </a:r>
          </a:p>
          <a:p xmlns:a="http://schemas.openxmlformats.org/drawingml/2006/main">
            <a:r>
              <a:t>P3: 조달청 입찰참가자격등록·이용자등록 매뉴얼 (2026.07 이용자 매뉴얼 게시 확인)</a:t>
            </a:r>
          </a:p>
          <a:p xmlns:a="http://schemas.openxmlformats.org/drawingml/2006/main">
            <a:r>
              <a:t>https://www.pps.go.kr/kor/bbs/list.do?key=01334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P4: 차세대 나라장터 이용자등록 FAQ (2025.03.28 게시)</a:t>
            </a:r>
          </a:p>
          <a:p xmlns:a="http://schemas.openxmlformats.org/drawingml/2006/main">
            <a:r>
              <a:t>https://www.pps.go.kr/kor/bbs/view.do?bbsSn=2503280018&amp;key=01334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문서: G2B 실무매뉴얼</a:t>
            </a:r>
          </a:p>
          <a:p xmlns:a="http://schemas.openxmlformats.org/drawingml/2006/main">
            <a:r>
              <a:t>페이지 24: 물품 분류와 식별번호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공식 요건은 표시된 출처를 적용한다. 별도 출처가 없는 실행·정책·시험·일정·금액은 작성자가 제안하는 내부 준비안이다. 계약 및 기관의 현행 양식과 조건을 최종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근거 자료 (조회 기준 2026-09-23)</a:t>
            </a:r>
          </a:p>
          <a:p xmlns:a="http://schemas.openxmlformats.org/drawingml/2006/main">
            <a:r>
              <a:t>P1: 상용소프트웨어 제3자단가계약 업무처리기준 (2026.01.01 시행, 지침 제45호)</a:t>
            </a:r>
          </a:p>
          <a:p xmlns:a="http://schemas.openxmlformats.org/drawingml/2006/main">
            <a:r>
              <a:t>https://www.law.go.kr/LSW/admRulLsInfoP.do?admRulSeq=2100000270214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P5: 조달청 목록정보시스템 개편 안내 (2025.09.26 시행 안내)</a:t>
            </a:r>
          </a:p>
          <a:p xmlns:a="http://schemas.openxmlformats.org/drawingml/2006/main">
            <a:r>
              <a:t>https://www.pps.go.kr/kor/bbs/view.do?bbsSn=2509190007&amp;key=00634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문서: G2B 실무매뉴얼</a:t>
            </a:r>
          </a:p>
          <a:p xmlns:a="http://schemas.openxmlformats.org/drawingml/2006/main">
            <a:r>
              <a:t>페이지 25: 기본상품 계약 신청서류 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공식 요건은 표시된 출처를 적용한다. 별도 출처가 없는 실행·정책·시험·일정·금액은 작성자가 제안하는 내부 준비안이다. 계약 및 기관의 현행 양식과 조건을 최종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근거 자료 (조회 기준 2026-09-23)</a:t>
            </a:r>
          </a:p>
          <a:p xmlns:a="http://schemas.openxmlformats.org/drawingml/2006/main">
            <a:r>
              <a:t>P1: 상용소프트웨어 제3자단가계약 업무처리기준 (2026.01.01 시행, 지침 제45호)</a:t>
            </a:r>
          </a:p>
          <a:p xmlns:a="http://schemas.openxmlformats.org/drawingml/2006/main">
            <a:r>
              <a:t>https://www.law.go.kr/LSW/admRulLsInfoP.do?admRulSeq=2100000270214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문서: G2B 실무매뉴얼</a:t>
            </a:r>
          </a:p>
          <a:p xmlns:a="http://schemas.openxmlformats.org/drawingml/2006/main">
            <a:r>
              <a:t>페이지 26: 기본상품 계약 신청서류 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공식 요건은 표시된 출처를 적용한다. 별도 출처가 없는 실행·정책·시험·일정·금액은 작성자가 제안하는 내부 준비안이다. 계약 및 기관의 현행 양식과 조건을 최종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근거 자료 (조회 기준 2026-09-23)</a:t>
            </a:r>
          </a:p>
          <a:p xmlns:a="http://schemas.openxmlformats.org/drawingml/2006/main">
            <a:r>
              <a:t>P1: 상용소프트웨어 제3자단가계약 업무처리기준 (2026.01.01 시행, 지침 제45호)</a:t>
            </a:r>
          </a:p>
          <a:p xmlns:a="http://schemas.openxmlformats.org/drawingml/2006/main">
            <a:r>
              <a:t>https://www.law.go.kr/LSW/admRulLsInfoP.do?admRulSeq=2100000270214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문서: G2B 실무매뉴얼</a:t>
            </a:r>
          </a:p>
          <a:p xmlns:a="http://schemas.openxmlformats.org/drawingml/2006/main">
            <a:r>
              <a:t>페이지 27: 규격서 작성 예시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공식 요건은 표시된 출처를 적용한다. 별도 출처가 없는 실행·정책·시험·일정·금액은 작성자가 제안하는 내부 준비안이다. 계약 및 기관의 현행 양식과 조건을 최종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근거 자료 (조회 기준 2026-09-23)</a:t>
            </a:r>
          </a:p>
          <a:p xmlns:a="http://schemas.openxmlformats.org/drawingml/2006/main">
            <a:r>
              <a:t>P1: 상용소프트웨어 제3자단가계약 업무처리기준 (2026.01.01 시행, 지침 제45호)</a:t>
            </a:r>
          </a:p>
          <a:p xmlns:a="http://schemas.openxmlformats.org/drawingml/2006/main">
            <a:r>
              <a:t>https://www.law.go.kr/LSW/admRulLsInfoP.do?admRulSeq=2100000270214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문서: G2B 실무매뉴얼</a:t>
            </a:r>
          </a:p>
          <a:p xmlns:a="http://schemas.openxmlformats.org/drawingml/2006/main">
            <a:r>
              <a:t>페이지 28: 라이선스 증서 예시 필드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공식 요건은 표시된 출처를 적용한다. 별도 출처가 없는 실행·정책·시험·일정·금액은 작성자가 제안하는 내부 준비안이다. 계약 및 기관의 현행 양식과 조건을 최종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근거 자료 (조회 기준 2026-09-23)</a:t>
            </a:r>
          </a:p>
          <a:p xmlns:a="http://schemas.openxmlformats.org/drawingml/2006/main">
            <a:r>
              <a:t>P1: 상용소프트웨어 제3자단가계약 업무처리기준 (2026.01.01 시행, 지침 제45호)</a:t>
            </a:r>
          </a:p>
          <a:p xmlns:a="http://schemas.openxmlformats.org/drawingml/2006/main">
            <a:r>
              <a:t>https://www.law.go.kr/LSW/admRulLsInfoP.do?admRulSeq=2100000270214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문서: G2B 실무매뉴얼</a:t>
            </a:r>
          </a:p>
          <a:p xmlns:a="http://schemas.openxmlformats.org/drawingml/2006/main">
            <a:r>
              <a:t>페이지 29: 신청·보완·가격협상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공식 요건은 표시된 출처를 적용한다. 별도 출처가 없는 실행·정책·시험·일정·금액은 작성자가 제안하는 내부 준비안이다. 계약 및 기관의 현행 양식과 조건을 최종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근거 자료 (조회 기준 2026-09-23)</a:t>
            </a:r>
          </a:p>
          <a:p xmlns:a="http://schemas.openxmlformats.org/drawingml/2006/main">
            <a:r>
              <a:t>P1: 상용소프트웨어 제3자단가계약 업무처리기준 (2026.01.01 시행, 지침 제45호)</a:t>
            </a:r>
          </a:p>
          <a:p xmlns:a="http://schemas.openxmlformats.org/drawingml/2006/main">
            <a:r>
              <a:t>https://www.law.go.kr/LSW/admRulLsInfoP.do?admRulSeq=2100000270214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P2: 상용소프트웨어 제3자단가계약 추가특수조건 (2026.01.01 시행, 지침 제46호)</a:t>
            </a:r>
          </a:p>
          <a:p xmlns:a="http://schemas.openxmlformats.org/drawingml/2006/main">
            <a:r>
              <a:t>https://www.law.go.kr/LSW/admRulLsInfoP.do?admRulSeq=2100000270216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문서: G2B 실무매뉴얼</a:t>
            </a:r>
          </a:p>
          <a:p xmlns:a="http://schemas.openxmlformats.org/drawingml/2006/main">
            <a:r>
              <a:t>페이지 30: 전자계약과 몰 등록 확인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공식 요건은 표시된 출처를 적용한다. 별도 출처가 없는 실행·정책·시험·일정·금액은 작성자가 제안하는 내부 준비안이다. 계약 및 기관의 현행 양식과 조건을 최종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근거 자료 (조회 기준 2026-09-23)</a:t>
            </a:r>
          </a:p>
          <a:p xmlns:a="http://schemas.openxmlformats.org/drawingml/2006/main">
            <a:r>
              <a:t>P1: 상용소프트웨어 제3자단가계약 업무처리기준 (2026.01.01 시행, 지침 제45호)</a:t>
            </a:r>
          </a:p>
          <a:p xmlns:a="http://schemas.openxmlformats.org/drawingml/2006/main">
            <a:r>
              <a:t>https://www.law.go.kr/LSW/admRulLsInfoP.do?admRulSeq=2100000270214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P2: 상용소프트웨어 제3자단가계약 추가특수조건 (2026.01.01 시행, 지침 제46호)</a:t>
            </a:r>
          </a:p>
          <a:p xmlns:a="http://schemas.openxmlformats.org/drawingml/2006/main">
            <a:r>
              <a:t>https://www.law.go.kr/LSW/admRulLsInfoP.do?admRulSeq=2100000270216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문서: G2B 실무매뉴얼</a:t>
            </a:r>
          </a:p>
          <a:p xmlns:a="http://schemas.openxmlformats.org/drawingml/2006/main">
            <a:r>
              <a:t>페이지 31: 상품 상세페이지와 제안자료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공식 요건은 표시된 출처를 적용한다. 별도 출처가 없는 실행·정책·시험·일정·금액은 작성자가 제안하는 내부 준비안이다. 계약 및 기관의 현행 양식과 조건을 최종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근거 자료 (조회 기준 2026-09-23)</a:t>
            </a:r>
          </a:p>
          <a:p xmlns:a="http://schemas.openxmlformats.org/drawingml/2006/main">
            <a:r>
              <a:t>P1: 상용소프트웨어 제3자단가계약 업무처리기준 (2026.01.01 시행, 지침 제45호)</a:t>
            </a:r>
          </a:p>
          <a:p xmlns:a="http://schemas.openxmlformats.org/drawingml/2006/main">
            <a:r>
              <a:t>https://www.law.go.kr/LSW/admRulLsInfoP.do?admRulSeq=2100000270214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R1: 인뎁스 로컬 소스·프로젝트 지침 (2026.09.23 정적 확인, 실행검증 아님)</a:t>
            </a:r>
          </a:p>
          <a:p xmlns:a="http://schemas.openxmlformats.org/drawingml/2006/main">
            <a:r>
              <a:t>로컬: AGENTS.md, README.md, main.py, frontend/config/menu.config.js, package.json, requirements.txt, backend/tests 파일목록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문서: G2B 실무매뉴얼</a:t>
            </a:r>
          </a:p>
          <a:p xmlns:a="http://schemas.openxmlformats.org/drawingml/2006/main">
            <a:r>
              <a:t>페이지 32: 고객 납품요구 접수와 착수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공식 요건은 표시된 출처를 적용한다. 별도 출처가 없는 실행·정책·시험·일정·금액은 작성자가 제안하는 내부 준비안이다. 계약 및 기관의 현행 양식과 조건을 최종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근거 자료 (조회 기준 2026-09-23)</a:t>
            </a:r>
          </a:p>
          <a:p xmlns:a="http://schemas.openxmlformats.org/drawingml/2006/main">
            <a:r>
              <a:t>P1: 상용소프트웨어 제3자단가계약 업무처리기준 (2026.01.01 시행, 지침 제45호)</a:t>
            </a:r>
          </a:p>
          <a:p xmlns:a="http://schemas.openxmlformats.org/drawingml/2006/main">
            <a:r>
              <a:t>https://www.law.go.kr/LSW/admRulLsInfoP.do?admRulSeq=2100000270214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P2: 상용소프트웨어 제3자단가계약 추가특수조건 (2026.01.01 시행, 지침 제46호)</a:t>
            </a:r>
          </a:p>
          <a:p xmlns:a="http://schemas.openxmlformats.org/drawingml/2006/main">
            <a:r>
              <a:t>https://www.law.go.kr/LSW/admRulLsInfoP.do?admRulSeq=2100000270216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문서: G2B 실무매뉴얼</a:t>
            </a:r>
          </a:p>
          <a:p xmlns:a="http://schemas.openxmlformats.org/drawingml/2006/main">
            <a:r>
              <a:t>페이지 33: 설치·검사·검수 체크리스트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공식 요건은 표시된 출처를 적용한다. 별도 출처가 없는 실행·정책·시험·일정·금액은 작성자가 제안하는 내부 준비안이다. 계약 및 기관의 현행 양식과 조건을 최종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근거 자료 (조회 기준 2026-09-23)</a:t>
            </a:r>
          </a:p>
          <a:p xmlns:a="http://schemas.openxmlformats.org/drawingml/2006/main">
            <a:r>
              <a:t>R1: 인뎁스 로컬 소스·프로젝트 지침 (2026.09.23 정적 확인, 실행검증 아님)</a:t>
            </a:r>
          </a:p>
          <a:p xmlns:a="http://schemas.openxmlformats.org/drawingml/2006/main">
            <a:r>
              <a:t>로컬: AGENTS.md, README.md, main.py, frontend/config/menu.config.js, package.json, requirements.txt, backend/tests 파일목록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P2: 상용소프트웨어 제3자단가계약 추가특수조건 (2026.01.01 시행, 지침 제46호)</a:t>
            </a:r>
          </a:p>
          <a:p xmlns:a="http://schemas.openxmlformats.org/drawingml/2006/main">
            <a:r>
              <a:t>https://www.law.go.kr/LSW/admRulLsInfoP.do?admRulSeq=2100000270216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문서: G2B 실무매뉴얼</a:t>
            </a:r>
          </a:p>
          <a:p xmlns:a="http://schemas.openxmlformats.org/drawingml/2006/main">
            <a:r>
              <a:t>페이지 34: 청구·수금·납품 증빙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공식 요건은 표시된 출처를 적용한다. 별도 출처가 없는 실행·정책·시험·일정·금액은 작성자가 제안하는 내부 준비안이다. 계약 및 기관의 현행 양식과 조건을 최종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근거 자료 (조회 기준 2026-09-23)</a:t>
            </a:r>
          </a:p>
          <a:p xmlns:a="http://schemas.openxmlformats.org/drawingml/2006/main">
            <a:r>
              <a:t>P1: 상용소프트웨어 제3자단가계약 업무처리기준 (2026.01.01 시행, 지침 제45호)</a:t>
            </a:r>
          </a:p>
          <a:p xmlns:a="http://schemas.openxmlformats.org/drawingml/2006/main">
            <a:r>
              <a:t>https://www.law.go.kr/LSW/admRulLsInfoP.do?admRulSeq=2100000270214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P2: 상용소프트웨어 제3자단가계약 추가특수조건 (2026.01.01 시행, 지침 제46호)</a:t>
            </a:r>
          </a:p>
          <a:p xmlns:a="http://schemas.openxmlformats.org/drawingml/2006/main">
            <a:r>
              <a:t>https://www.law.go.kr/LSW/admRulLsInfoP.do?admRulSeq=2100000270216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문서: G2B 실무매뉴얼</a:t>
            </a:r>
          </a:p>
          <a:p xmlns:a="http://schemas.openxmlformats.org/drawingml/2006/main">
            <a:r>
              <a:t>페이지 35: 무상 하자와 유상 유지관리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공식 요건은 표시된 출처를 적용한다. 별도 출처가 없는 실행·정책·시험·일정·금액은 작성자가 제안하는 내부 준비안이다. 계약 및 기관의 현행 양식과 조건을 최종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근거 자료 (조회 기준 2026-09-23)</a:t>
            </a:r>
          </a:p>
          <a:p xmlns:a="http://schemas.openxmlformats.org/drawingml/2006/main">
            <a:r>
              <a:t>P1: 상용소프트웨어 제3자단가계약 업무처리기준 (2026.01.01 시행, 지침 제45호)</a:t>
            </a:r>
          </a:p>
          <a:p xmlns:a="http://schemas.openxmlformats.org/drawingml/2006/main">
            <a:r>
              <a:t>https://www.law.go.kr/LSW/admRulLsInfoP.do?admRulSeq=2100000270214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P2: 상용소프트웨어 제3자단가계약 추가특수조건 (2026.01.01 시행, 지침 제46호)</a:t>
            </a:r>
          </a:p>
          <a:p xmlns:a="http://schemas.openxmlformats.org/drawingml/2006/main">
            <a:r>
              <a:t>https://www.law.go.kr/LSW/admRulLsInfoP.do?admRulSeq=2100000270216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문서: G2B 실무매뉴얼</a:t>
            </a:r>
          </a:p>
          <a:p xmlns:a="http://schemas.openxmlformats.org/drawingml/2006/main">
            <a:r>
              <a:t>페이지 36: 지원 수준과 운영 체계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공식 요건은 표시된 출처를 적용한다. 별도 출처가 없는 실행·정책·시험·일정·금액은 작성자가 제안하는 내부 준비안이다. 계약 및 기관의 현행 양식과 조건을 최종 확인한다.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문서: G2B 실무매뉴얼</a:t>
            </a:r>
          </a:p>
          <a:p xmlns:a="http://schemas.openxmlformats.org/drawingml/2006/main">
            <a:r>
              <a:t>페이지 37: 유지관리·커스터마이징 상품 신청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공식 요건은 표시된 출처를 적용한다. 별도 출처가 없는 실행·정책·시험·일정·금액은 작성자가 제안하는 내부 준비안이다. 계약 및 기관의 현행 양식과 조건을 최종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근거 자료 (조회 기준 2026-09-23)</a:t>
            </a:r>
          </a:p>
          <a:p xmlns:a="http://schemas.openxmlformats.org/drawingml/2006/main">
            <a:r>
              <a:t>P1: 상용소프트웨어 제3자단가계약 업무처리기준 (2026.01.01 시행, 지침 제45호)</a:t>
            </a:r>
          </a:p>
          <a:p xmlns:a="http://schemas.openxmlformats.org/drawingml/2006/main">
            <a:r>
              <a:t>https://www.law.go.kr/LSW/admRulLsInfoP.do?admRulSeq=2100000270214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P2: 상용소프트웨어 제3자단가계약 추가특수조건 (2026.01.01 시행, 지침 제46호)</a:t>
            </a:r>
          </a:p>
          <a:p xmlns:a="http://schemas.openxmlformats.org/drawingml/2006/main">
            <a:r>
              <a:t>https://www.law.go.kr/LSW/admRulLsInfoP.do?admRulSeq=2100000270216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G3: KTC GS인증 안내·기준·재인증 점검표 자료 (2026.09.23 조회)</a:t>
            </a:r>
          </a:p>
          <a:p xmlns:a="http://schemas.openxmlformats.org/drawingml/2006/main">
            <a:r>
              <a:t>https://www.ktc.re.kr/web_united/task/task.asp?pagen=2540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문서: G2B 실무매뉴얼</a:t>
            </a:r>
          </a:p>
          <a:p xmlns:a="http://schemas.openxmlformats.org/drawingml/2006/main">
            <a:r>
              <a:t>페이지 38: 제품 변경·보안·판매 유지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공식 요건은 표시된 출처를 적용한다. 별도 출처가 없는 실행·정책·시험·일정·금액은 작성자가 제안하는 내부 준비안이다. 계약 및 기관의 현행 양식과 조건을 최종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근거 자료 (조회 기준 2026-09-23)</a:t>
            </a:r>
          </a:p>
          <a:p xmlns:a="http://schemas.openxmlformats.org/drawingml/2006/main">
            <a:r>
              <a:t>P1: 상용소프트웨어 제3자단가계약 업무처리기준 (2026.01.01 시행, 지침 제45호)</a:t>
            </a:r>
          </a:p>
          <a:p xmlns:a="http://schemas.openxmlformats.org/drawingml/2006/main">
            <a:r>
              <a:t>https://www.law.go.kr/LSW/admRulLsInfoP.do?admRulSeq=2100000270214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P2: 상용소프트웨어 제3자단가계약 추가특수조건 (2026.01.01 시행, 지침 제46호)</a:t>
            </a:r>
          </a:p>
          <a:p xmlns:a="http://schemas.openxmlformats.org/drawingml/2006/main">
            <a:r>
              <a:t>https://www.law.go.kr/LSW/admRulLsInfoP.do?admRulSeq=2100000270216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G3: KTC GS인증 안내·기준·재인증 점검표 자료 (2026.09.23 조회)</a:t>
            </a:r>
          </a:p>
          <a:p xmlns:a="http://schemas.openxmlformats.org/drawingml/2006/main">
            <a:r>
              <a:t>https://www.ktc.re.kr/web_united/task/task.asp?pagen=2540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문서: G2B 실무매뉴얼</a:t>
            </a:r>
          </a:p>
          <a:p xmlns:a="http://schemas.openxmlformats.org/drawingml/2006/main">
            <a:r>
              <a:t>페이지 39: 공공 SaaS는 후속 사업으로 분리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공식 요건은 표시된 출처를 적용한다. 별도 출처가 없는 실행·정책·시험·일정·금액은 작성자가 제안하는 내부 준비안이다. 계약 및 기관의 현행 양식과 조건을 최종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근거 자료 (조회 기준 2026-09-23)</a:t>
            </a:r>
          </a:p>
          <a:p xmlns:a="http://schemas.openxmlformats.org/drawingml/2006/main">
            <a:r>
              <a:t>C1: 디지털서비스 이용지원시스템 선정 절차 (2026.09.23 조회)</a:t>
            </a:r>
          </a:p>
          <a:p xmlns:a="http://schemas.openxmlformats.org/drawingml/2006/main">
            <a:r>
              <a:t>https://www.digitalmarket.kr/web/index.do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C2: KISA 클라우드서비스 보안인증 안내 (2026.03.12 최종수정)</a:t>
            </a:r>
          </a:p>
          <a:p xmlns:a="http://schemas.openxmlformats.org/drawingml/2006/main">
            <a:r>
              <a:t>https://www.kisa.or.kr/1050603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문서: G2B 실무매뉴얼</a:t>
            </a:r>
          </a:p>
          <a:p xmlns:a="http://schemas.openxmlformats.org/drawingml/2006/main">
            <a:r>
              <a:t>페이지 40: 인증과 조달의 통합 일정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공식 요건은 표시된 출처를 적용한다. 별도 출처가 없는 실행·정책·시험·일정·금액은 작성자가 제안하는 내부 준비안이다. 계약 및 기관의 현행 양식과 조건을 최종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근거 자료 (조회 기준 2026-09-23)</a:t>
            </a:r>
          </a:p>
          <a:p xmlns:a="http://schemas.openxmlformats.org/drawingml/2006/main">
            <a:r>
              <a:t>G2: TTA GS시험인증(1등급) 서비스·절차 (2026.09.23 조회)</a:t>
            </a:r>
          </a:p>
          <a:p xmlns:a="http://schemas.openxmlformats.org/drawingml/2006/main">
            <a:r>
              <a:t>https://cs.tta.or.kr/tta/introduce/introCont.do?tabMode=cont&amp;tnc_cls_no=T000127&amp;tnc_lab=T000003&amp;up_tnc_cls_no=T000020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P1: 상용소프트웨어 제3자단가계약 업무처리기준 (2026.01.01 시행, 지침 제45호)</a:t>
            </a:r>
          </a:p>
          <a:p xmlns:a="http://schemas.openxmlformats.org/drawingml/2006/main">
            <a:r>
              <a:t>https://www.law.go.kr/LSW/admRulLsInfoP.do?admRulSeq=2100000270214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문서: G2B 실무매뉴얼</a:t>
            </a:r>
          </a:p>
          <a:p xmlns:a="http://schemas.openxmlformats.org/drawingml/2006/main">
            <a:r>
              <a:t>페이지 41: 대표가 승인할 정책 목록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공식 요건은 표시된 출처를 적용한다. 별도 출처가 없는 실행·정책·시험·일정·금액은 작성자가 제안하는 내부 준비안이다. 계약 및 기관의 현행 양식과 조건을 최종 확인한다.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문서: G2B 실무매뉴얼</a:t>
            </a:r>
          </a:p>
          <a:p xmlns:a="http://schemas.openxmlformats.org/drawingml/2006/main">
            <a:r>
              <a:t>페이지 42: 실무 산출물 목록 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공식 요건은 표시된 출처를 적용한다. 별도 출처가 없는 실행·정책·시험·일정·금액은 작성자가 제안하는 내부 준비안이다. 계약 및 기관의 현행 양식과 조건을 최종 확인한다.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문서: G2B 실무매뉴얼</a:t>
            </a:r>
          </a:p>
          <a:p xmlns:a="http://schemas.openxmlformats.org/drawingml/2006/main">
            <a:r>
              <a:t>페이지 43: 실무 산출물 목록 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공식 요건은 표시된 출처를 적용한다. 별도 출처가 없는 실행·정책·시험·일정·금액은 작성자가 제안하는 내부 준비안이다. 계약 및 기관의 현행 양식과 조건을 최종 확인한다.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문서: G2B 실무매뉴얼</a:t>
            </a:r>
          </a:p>
          <a:p xmlns:a="http://schemas.openxmlformats.org/drawingml/2006/main">
            <a:r>
              <a:t>페이지 44: 상품화를 위한 개발 백로그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공식 요건은 표시된 출처를 적용한다. 별도 출처가 없는 실행·정책·시험·일정·금액은 작성자가 제안하는 내부 준비안이다. 계약 및 기관의 현행 양식과 조건을 최종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근거 자료 (조회 기준 2026-09-23)</a:t>
            </a:r>
          </a:p>
          <a:p xmlns:a="http://schemas.openxmlformats.org/drawingml/2006/main">
            <a:r>
              <a:t>R1: 인뎁스 로컬 소스·프로젝트 지침 (2026.09.23 정적 확인, 실행검증 아님)</a:t>
            </a:r>
          </a:p>
          <a:p xmlns:a="http://schemas.openxmlformats.org/drawingml/2006/main">
            <a:r>
              <a:t>로컬: AGENTS.md, README.md, main.py, frontend/config/menu.config.js, package.json, requirements.txt, backend/tests 파일목록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문서: G2B 실무매뉴얼</a:t>
            </a:r>
          </a:p>
          <a:p xmlns:a="http://schemas.openxmlformats.org/drawingml/2006/main">
            <a:r>
              <a:t>페이지 45: 바이브 코딩 작업 지시문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공식 요건은 표시된 출처를 적용한다. 별도 출처가 없는 실행·정책·시험·일정·금액은 작성자가 제안하는 내부 준비안이다. 계약 및 기관의 현행 양식과 조건을 최종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근거 자료 (조회 기준 2026-09-23)</a:t>
            </a:r>
          </a:p>
          <a:p xmlns:a="http://schemas.openxmlformats.org/drawingml/2006/main">
            <a:r>
              <a:t>R1: 인뎁스 로컬 소스·프로젝트 지침 (2026.09.23 정적 확인, 실행검증 아님)</a:t>
            </a:r>
          </a:p>
          <a:p xmlns:a="http://schemas.openxmlformats.org/drawingml/2006/main">
            <a:r>
              <a:t>로컬: AGENTS.md, README.md, main.py, frontend/config/menu.config.js, package.json, requirements.txt, backend/tests 파일목록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문서: G2B 실무매뉴얼</a:t>
            </a:r>
          </a:p>
          <a:p xmlns:a="http://schemas.openxmlformats.org/drawingml/2006/main">
            <a:r>
              <a:t>페이지 46: WORK 문서 작업 지시문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공식 요건은 표시된 출처를 적용한다. 별도 출처가 없는 실행·정책·시험·일정·금액은 작성자가 제안하는 내부 준비안이다. 계약 및 기관의 현행 양식과 조건을 최종 확인한다.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문서: G2B 실무매뉴얼</a:t>
            </a:r>
          </a:p>
          <a:p xmlns:a="http://schemas.openxmlformats.org/drawingml/2006/main">
            <a:r>
              <a:t>페이지 47: 기관 사전상담 질문 목록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공식 요건은 표시된 출처를 적용한다. 별도 출처가 없는 실행·정책·시험·일정·금액은 작성자가 제안하는 내부 준비안이다. 계약 및 기관의 현행 양식과 조건을 최종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근거 자료 (조회 기준 2026-09-23)</a:t>
            </a:r>
          </a:p>
          <a:p xmlns:a="http://schemas.openxmlformats.org/drawingml/2006/main">
            <a:r>
              <a:t>P1: 상용소프트웨어 제3자단가계약 업무처리기준 (2026.01.01 시행, 지침 제45호)</a:t>
            </a:r>
          </a:p>
          <a:p xmlns:a="http://schemas.openxmlformats.org/drawingml/2006/main">
            <a:r>
              <a:t>https://www.law.go.kr/LSW/admRulLsInfoP.do?admRulSeq=2100000270214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P2: 상용소프트웨어 제3자단가계약 추가특수조건 (2026.01.01 시행, 지침 제46호)</a:t>
            </a:r>
          </a:p>
          <a:p xmlns:a="http://schemas.openxmlformats.org/drawingml/2006/main">
            <a:r>
              <a:t>https://www.law.go.kr/LSW/admRulLsInfoP.do?admRulSeq=2100000270216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P3: 조달청 입찰참가자격등록·이용자등록 매뉴얼 (2026.07 이용자 매뉴얼 게시 확인)</a:t>
            </a:r>
          </a:p>
          <a:p xmlns:a="http://schemas.openxmlformats.org/drawingml/2006/main">
            <a:r>
              <a:t>https://www.pps.go.kr/kor/bbs/list.do?key=01334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문서: G2B 실무매뉴얼</a:t>
            </a:r>
          </a:p>
          <a:p xmlns:a="http://schemas.openxmlformats.org/drawingml/2006/main">
            <a:r>
              <a:t>페이지 48: 최종 등록 승인 체크리스트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공식 요건은 표시된 출처를 적용한다. 별도 출처가 없는 실행·정책·시험·일정·금액은 작성자가 제안하는 내부 준비안이다. 계약 및 기관의 현행 양식과 조건을 최종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근거 자료 (조회 기준 2026-09-23)</a:t>
            </a:r>
          </a:p>
          <a:p xmlns:a="http://schemas.openxmlformats.org/drawingml/2006/main">
            <a:r>
              <a:t>P1: 상용소프트웨어 제3자단가계약 업무처리기준 (2026.01.01 시행, 지침 제45호)</a:t>
            </a:r>
          </a:p>
          <a:p xmlns:a="http://schemas.openxmlformats.org/drawingml/2006/main">
            <a:r>
              <a:t>https://www.law.go.kr/LSW/admRulLsInfoP.do?admRulSeq=2100000270214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P2: 상용소프트웨어 제3자단가계약 추가특수조건 (2026.01.01 시행, 지침 제46호)</a:t>
            </a:r>
          </a:p>
          <a:p xmlns:a="http://schemas.openxmlformats.org/drawingml/2006/main">
            <a:r>
              <a:t>https://www.law.go.kr/LSW/admRulLsInfoP.do?admRulSeq=2100000270216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문서: G2B 실무매뉴얼</a:t>
            </a:r>
          </a:p>
          <a:p xmlns:a="http://schemas.openxmlformats.org/drawingml/2006/main">
            <a:r>
              <a:t>페이지 49: 공식 근거·자료 링크 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공식 요건은 표시된 출처를 적용한다. 별도 출처가 없는 실행·정책·시험·일정·금액은 작성자가 제안하는 내부 준비안이다. 계약 및 기관의 현행 양식과 조건을 최종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법령은 공개 정부 문서다. TTA·KTC 및 기타 사이트는 절차·기준 확인용으로 연결한다. 첨부 다운로드가 실패하거나 내용이 비어 있는 자료는 입수·검토 완료로 취급하지 않는다. KTC 예시·재인증 첨부는 공개 안내 페이지에서 존재를 확인했으며 신청 시 최신 파일을 기관에서 수령해야 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근거 자료 (조회 기준 2026-09-23)</a:t>
            </a:r>
          </a:p>
          <a:p xmlns:a="http://schemas.openxmlformats.org/drawingml/2006/main">
            <a:r>
              <a:t>P1: 상용소프트웨어 제3자단가계약 업무처리기준 (2026.01.01 시행, 지침 제45호)</a:t>
            </a:r>
          </a:p>
          <a:p xmlns:a="http://schemas.openxmlformats.org/drawingml/2006/main">
            <a:r>
              <a:t>https://www.law.go.kr/LSW/admRulLsInfoP.do?admRulSeq=2100000270214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P2: 상용소프트웨어 제3자단가계약 추가특수조건 (2026.01.01 시행, 지침 제46호)</a:t>
            </a:r>
          </a:p>
          <a:p xmlns:a="http://schemas.openxmlformats.org/drawingml/2006/main">
            <a:r>
              <a:t>https://www.law.go.kr/LSW/admRulLsInfoP.do?admRulSeq=2100000270216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P6: 국가법령정보센터 상용SW 계약 현행 규정 목록 (2026.09.23 조회)</a:t>
            </a:r>
          </a:p>
          <a:p xmlns:a="http://schemas.openxmlformats.org/drawingml/2006/main">
            <a:r>
              <a:t>https://www.law.go.kr/admRulSc.do?menuId=5&amp;query=%EC%83%81%EC%9A%A9&amp;subMenuId=41&amp;tabMenuId=183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C1: 디지털서비스 이용지원시스템 선정 절차 (2026.09.23 조회)</a:t>
            </a:r>
          </a:p>
          <a:p xmlns:a="http://schemas.openxmlformats.org/drawingml/2006/main">
            <a:r>
              <a:t>https://www.digitalmarket.kr/web/index.do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문서: G2B 실무매뉴얼</a:t>
            </a:r>
          </a:p>
          <a:p xmlns:a="http://schemas.openxmlformats.org/drawingml/2006/main">
            <a:r>
              <a:t>페이지 50: 공식 근거·자료 링크 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공식 요건은 표시된 출처를 적용한다. 별도 출처가 없는 실행·정책·시험·일정·금액은 작성자가 제안하는 내부 준비안이다. 계약 및 기관의 현행 양식과 조건을 최종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법령은 공개 정부 문서다. TTA·KTC 및 기타 사이트는 절차·기준 확인용으로 연결한다. 첨부 다운로드가 실패하거나 내용이 비어 있는 자료는 입수·검토 완료로 취급하지 않는다. KTC 예시·재인증 첨부는 공개 안내 페이지에서 존재를 확인했으며 신청 시 최신 파일을 기관에서 수령해야 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근거 자료 (조회 기준 2026-09-23)</a:t>
            </a:r>
          </a:p>
          <a:p xmlns:a="http://schemas.openxmlformats.org/drawingml/2006/main">
            <a:r>
              <a:t>C2: KISA 클라우드서비스 보안인증 안내 (2026.03.12 최종수정)</a:t>
            </a:r>
          </a:p>
          <a:p xmlns:a="http://schemas.openxmlformats.org/drawingml/2006/main">
            <a:r>
              <a:t>https://www.kisa.or.kr/1050603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P7: SMPP 중소기업확인서 발급 안내 (2026.09.23 조회)</a:t>
            </a:r>
          </a:p>
          <a:p xmlns:a="http://schemas.openxmlformats.org/drawingml/2006/main">
            <a:r>
              <a:t>https://www.smpp.go.kr/cst/smppInf/SelectMpeJ2.do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R1: 인뎁스 로컬 소스·프로젝트 지침 (2026.09.23 정적 확인, 실행검증 아님)</a:t>
            </a:r>
          </a:p>
          <a:p xmlns:a="http://schemas.openxmlformats.org/drawingml/2006/main">
            <a:r>
              <a:t>로컬: AGENTS.md, README.md, main.py, frontend/config/menu.config.js, package.json, requirements.txt, backend/tests 파일목록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P3: 조달청 입찰참가자격등록·이용자등록 매뉴얼 (2026.07 이용자 매뉴얼 게시 확인)</a:t>
            </a:r>
          </a:p>
          <a:p xmlns:a="http://schemas.openxmlformats.org/drawingml/2006/main">
            <a:r>
              <a:t>https://www.pps.go.kr/kor/bbs/list.do?key=01334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문서: G2B 실무매뉴얼</a:t>
            </a:r>
          </a:p>
          <a:p xmlns:a="http://schemas.openxmlformats.org/drawingml/2006/main">
            <a:r>
              <a:t>페이지 51: 공식 근거·자료 링크 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공식 요건은 표시된 출처를 적용한다. 별도 출처가 없는 실행·정책·시험·일정·금액은 작성자가 제안하는 내부 준비안이다. 계약 및 기관의 현행 양식과 조건을 최종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법령은 공개 정부 문서다. TTA·KTC 및 기타 사이트는 절차·기준 확인용으로 연결한다. 첨부 다운로드가 실패하거나 내용이 비어 있는 자료는 입수·검토 완료로 취급하지 않는다. KTC 예시·재인증 첨부는 공개 안내 페이지에서 존재를 확인했으며 신청 시 최신 파일을 기관에서 수령해야 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근거 자료 (조회 기준 2026-09-23)</a:t>
            </a:r>
          </a:p>
          <a:p xmlns:a="http://schemas.openxmlformats.org/drawingml/2006/main">
            <a:r>
              <a:t>P4: 차세대 나라장터 이용자등록 FAQ (2025.03.28 게시)</a:t>
            </a:r>
          </a:p>
          <a:p xmlns:a="http://schemas.openxmlformats.org/drawingml/2006/main">
            <a:r>
              <a:t>https://www.pps.go.kr/kor/bbs/view.do?bbsSn=2503280018&amp;key=01334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P5: 조달청 목록정보시스템 개편 안내 (2025.09.26 시행 안내)</a:t>
            </a:r>
          </a:p>
          <a:p xmlns:a="http://schemas.openxmlformats.org/drawingml/2006/main">
            <a:r>
              <a:t>https://www.pps.go.kr/kor/bbs/view.do?bbsSn=2509190007&amp;key=00634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G3: KTC GS인증 안내·기준·재인증 점검표 자료 (2026.09.23 조회)</a:t>
            </a:r>
          </a:p>
          <a:p xmlns:a="http://schemas.openxmlformats.org/drawingml/2006/main">
            <a:r>
              <a:t>https://www.ktc.re.kr/web_united/task/task.asp?pagen=2540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G2: TTA GS시험인증(1등급) 서비스·절차 (2026.09.23 조회)</a:t>
            </a:r>
          </a:p>
          <a:p xmlns:a="http://schemas.openxmlformats.org/drawingml/2006/main">
            <a:r>
              <a:t>https://cs.tta.or.kr/tta/introduce/introCont.do?tabMode=cont&amp;tnc_cls_no=T000127&amp;tnc_lab=T000003&amp;up_tnc_cls_no=T000020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a47b7e73644443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39d39c7a8554d17" /><Relationship Type="http://schemas.openxmlformats.org/officeDocument/2006/relationships/slideLayout" Target="/ppt/slideLayouts/slideLayout1.xml" Id="Rd74ce37a3714412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74ce37a3714412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e4586ce2ec41f6" /><Relationship Type="http://schemas.openxmlformats.org/officeDocument/2006/relationships/notesSlide" Target="/ppt/notesSlides/notesSlide1.xml" Id="R5fa7e5ca0edb4a7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68317b6f6c464e" /><Relationship Type="http://schemas.openxmlformats.org/officeDocument/2006/relationships/notesSlide" Target="/ppt/notesSlides/notesSlide2.xml" Id="Rab5133d0cd614eb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48b19336fc40c7" /><Relationship Type="http://schemas.openxmlformats.org/officeDocument/2006/relationships/notesSlide" Target="/ppt/notesSlides/notesSlide3.xml" Id="Rc6fa649b246545c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878d8a00984dc6" /><Relationship Type="http://schemas.openxmlformats.org/officeDocument/2006/relationships/notesSlide" Target="/ppt/notesSlides/notesSlide4.xml" Id="Rb04782783da04b3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8e6e51f57a4592" /><Relationship Type="http://schemas.openxmlformats.org/officeDocument/2006/relationships/notesSlide" Target="/ppt/notesSlides/notesSlide5.xml" Id="Rea164d7f9d704e9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d7652e9aab4dca" /><Relationship Type="http://schemas.openxmlformats.org/officeDocument/2006/relationships/notesSlide" Target="/ppt/notesSlides/notesSlide6.xml" Id="Rff44b209fb8840d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b8131a47f64af2" /><Relationship Type="http://schemas.openxmlformats.org/officeDocument/2006/relationships/notesSlide" Target="/ppt/notesSlides/notesSlide7.xml" Id="R77cde7e94aa343f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03aeecf0514c10" /><Relationship Type="http://schemas.openxmlformats.org/officeDocument/2006/relationships/notesSlide" Target="/ppt/notesSlides/notesSlide8.xml" Id="Rea8c962c1712499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88e2fbf4e341af" /><Relationship Type="http://schemas.openxmlformats.org/officeDocument/2006/relationships/notesSlide" Target="/ppt/notesSlides/notesSlide9.xml" Id="R4894fb62fb61479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27273d5b4f431a" /><Relationship Type="http://schemas.openxmlformats.org/officeDocument/2006/relationships/notesSlide" Target="/ppt/notesSlides/notesSlide10.xml" Id="R654d0b906f8c46d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61c911dbe04faa" /><Relationship Type="http://schemas.openxmlformats.org/officeDocument/2006/relationships/notesSlide" Target="/ppt/notesSlides/notesSlide11.xml" Id="Rfe8c14c764cf451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54ea76bc2646c7" /><Relationship Type="http://schemas.openxmlformats.org/officeDocument/2006/relationships/notesSlide" Target="/ppt/notesSlides/notesSlide12.xml" Id="Red3c497e7f584dd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927922c2fc483b" /><Relationship Type="http://schemas.openxmlformats.org/officeDocument/2006/relationships/notesSlide" Target="/ppt/notesSlides/notesSlide13.xml" Id="R04ff3cfdd7874df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ec98df0c0a43b4" /><Relationship Type="http://schemas.openxmlformats.org/officeDocument/2006/relationships/notesSlide" Target="/ppt/notesSlides/notesSlide14.xml" Id="R1d2490ba3328455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aea031acba4c2b" /><Relationship Type="http://schemas.openxmlformats.org/officeDocument/2006/relationships/notesSlide" Target="/ppt/notesSlides/notesSlide15.xml" Id="R7fd8928ae2a448c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43dc2fbed445cf" /><Relationship Type="http://schemas.openxmlformats.org/officeDocument/2006/relationships/notesSlide" Target="/ppt/notesSlides/notesSlide16.xml" Id="R41abe5325bba4ef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6f26d1d9024849" /><Relationship Type="http://schemas.openxmlformats.org/officeDocument/2006/relationships/notesSlide" Target="/ppt/notesSlides/notesSlide17.xml" Id="R690246c661814d3f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20ea672f804244" /><Relationship Type="http://schemas.openxmlformats.org/officeDocument/2006/relationships/notesSlide" Target="/ppt/notesSlides/notesSlide18.xml" Id="Ra94e6f95283443ce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aa2e6b61764f92" /><Relationship Type="http://schemas.openxmlformats.org/officeDocument/2006/relationships/notesSlide" Target="/ppt/notesSlides/notesSlide19.xml" Id="R94d3d8a8e4c548cd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c16734abfe401d" /><Relationship Type="http://schemas.openxmlformats.org/officeDocument/2006/relationships/notesSlide" Target="/ppt/notesSlides/notesSlide20.xml" Id="Rc764dd796785437e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b1df5a332f4f0d" /><Relationship Type="http://schemas.openxmlformats.org/officeDocument/2006/relationships/notesSlide" Target="/ppt/notesSlides/notesSlide21.xml" Id="R016da7cf28e64152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48fc12f4d54538" /><Relationship Type="http://schemas.openxmlformats.org/officeDocument/2006/relationships/notesSlide" Target="/ppt/notesSlides/notesSlide22.xml" Id="R9050ca3b999041d1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896388fb2b4198" /><Relationship Type="http://schemas.openxmlformats.org/officeDocument/2006/relationships/notesSlide" Target="/ppt/notesSlides/notesSlide23.xml" Id="R1c9c0d64dff64d58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676935c9d34a09" /><Relationship Type="http://schemas.openxmlformats.org/officeDocument/2006/relationships/notesSlide" Target="/ppt/notesSlides/notesSlide24.xml" Id="R9543a2d68d0c41a6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a2ee235f8042b9" /><Relationship Type="http://schemas.openxmlformats.org/officeDocument/2006/relationships/notesSlide" Target="/ppt/notesSlides/notesSlide25.xml" Id="Rde1d5d91df8a486e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d38eb8363e48d7" /><Relationship Type="http://schemas.openxmlformats.org/officeDocument/2006/relationships/notesSlide" Target="/ppt/notesSlides/notesSlide26.xml" Id="R21732c396b124ea7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a1a1846bfd48e6" /><Relationship Type="http://schemas.openxmlformats.org/officeDocument/2006/relationships/notesSlide" Target="/ppt/notesSlides/notesSlide27.xml" Id="R80373800cbfe48fd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9ca4125d994688" /><Relationship Type="http://schemas.openxmlformats.org/officeDocument/2006/relationships/notesSlide" Target="/ppt/notesSlides/notesSlide28.xml" Id="Raf9d24a436564bde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984f5e69b74658" /><Relationship Type="http://schemas.openxmlformats.org/officeDocument/2006/relationships/notesSlide" Target="/ppt/notesSlides/notesSlide29.xml" Id="R786156723a5f42cb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814de9eebc4964" /><Relationship Type="http://schemas.openxmlformats.org/officeDocument/2006/relationships/notesSlide" Target="/ppt/notesSlides/notesSlide30.xml" Id="Ra9fadba8ecbe4ffd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4d9766a37e4fc1" /><Relationship Type="http://schemas.openxmlformats.org/officeDocument/2006/relationships/notesSlide" Target="/ppt/notesSlides/notesSlide31.xml" Id="R2223741376364e80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368ebcbe194915" /><Relationship Type="http://schemas.openxmlformats.org/officeDocument/2006/relationships/notesSlide" Target="/ppt/notesSlides/notesSlide32.xml" Id="R9458ae178e5d44d7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a85889f4ba4e52" /><Relationship Type="http://schemas.openxmlformats.org/officeDocument/2006/relationships/notesSlide" Target="/ppt/notesSlides/notesSlide33.xml" Id="R89bf3e8c9ad9480e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a55038493948f6" /><Relationship Type="http://schemas.openxmlformats.org/officeDocument/2006/relationships/notesSlide" Target="/ppt/notesSlides/notesSlide34.xml" Id="Rd2cefe4500384d7d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7a74c9843145c0" /><Relationship Type="http://schemas.openxmlformats.org/officeDocument/2006/relationships/notesSlide" Target="/ppt/notesSlides/notesSlide35.xml" Id="Rea762b18b593401c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073877aa244b6f" /><Relationship Type="http://schemas.openxmlformats.org/officeDocument/2006/relationships/notesSlide" Target="/ppt/notesSlides/notesSlide36.xml" Id="R035bb6e1b0814c75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95f9daa1fd4de6" /><Relationship Type="http://schemas.openxmlformats.org/officeDocument/2006/relationships/notesSlide" Target="/ppt/notesSlides/notesSlide37.xml" Id="Re7769a05d4734ace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403fa4286046a9" /><Relationship Type="http://schemas.openxmlformats.org/officeDocument/2006/relationships/notesSlide" Target="/ppt/notesSlides/notesSlide38.xml" Id="R32b779143e7e461d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dc58f6732c4d25" /><Relationship Type="http://schemas.openxmlformats.org/officeDocument/2006/relationships/notesSlide" Target="/ppt/notesSlides/notesSlide39.xml" Id="Rf3af790bb7de4d8b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b4da49ebf449b2" /><Relationship Type="http://schemas.openxmlformats.org/officeDocument/2006/relationships/notesSlide" Target="/ppt/notesSlides/notesSlide40.xml" Id="R01ffed8f50484061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4ba5b5d1bf405d" /><Relationship Type="http://schemas.openxmlformats.org/officeDocument/2006/relationships/notesSlide" Target="/ppt/notesSlides/notesSlide41.xml" Id="Rd5fc6351af344817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1be49e140c4535" /><Relationship Type="http://schemas.openxmlformats.org/officeDocument/2006/relationships/notesSlide" Target="/ppt/notesSlides/notesSlide42.xml" Id="R696f4b2be3ee4ed2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8e7adbdaa14b16" /><Relationship Type="http://schemas.openxmlformats.org/officeDocument/2006/relationships/notesSlide" Target="/ppt/notesSlides/notesSlide43.xml" Id="R52c09e762fb2417f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d039733c474120" /><Relationship Type="http://schemas.openxmlformats.org/officeDocument/2006/relationships/notesSlide" Target="/ppt/notesSlides/notesSlide44.xml" Id="R347e1ac9e01147ff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02f9dd241d4a40" /><Relationship Type="http://schemas.openxmlformats.org/officeDocument/2006/relationships/notesSlide" Target="/ppt/notesSlides/notesSlide45.xml" Id="Ra3db77a827fb4000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202e66507a4c63" /><Relationship Type="http://schemas.openxmlformats.org/officeDocument/2006/relationships/notesSlide" Target="/ppt/notesSlides/notesSlide46.xml" Id="R47227854a4e546de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cb35fe6aad4bd3" /><Relationship Type="http://schemas.openxmlformats.org/officeDocument/2006/relationships/notesSlide" Target="/ppt/notesSlides/notesSlide47.xml" Id="R8782b02771204117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04106bab744293" /><Relationship Type="http://schemas.openxmlformats.org/officeDocument/2006/relationships/notesSlide" Target="/ppt/notesSlides/notesSlide48.xml" Id="R34450721f876409a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f0239335d54866" /><Relationship Type="http://schemas.openxmlformats.org/officeDocument/2006/relationships/notesSlide" Target="/ppt/notesSlides/notesSlide49.xml" Id="Rf9b1863074bc4881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dfdde9626e4544" /><Relationship Type="http://schemas.openxmlformats.org/officeDocument/2006/relationships/notesSlide" Target="/ppt/notesSlides/notesSlide50.xml" Id="R590678d53fc84160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48c06b230c4e24" /><Relationship Type="http://schemas.openxmlformats.org/officeDocument/2006/relationships/notesSlide" Target="/ppt/notesSlides/notesSlide51.xml" Id="R39ba58f84cc0439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B59AC5-2CAB-480B-9566-83003095B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1390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D6E75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0D6E75"/>
                </a:solidFill>
                <a:latin typeface="Malgun Gothic"/>
                <a:ea typeface="Malgun Gothic"/>
                <a:cs typeface="Malgun Gothic"/>
              </a:rPr>
              <a:t>INIT Data Editing System  인뎁스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FB9237-6621-4FF6-B12B-161CB3CE1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3906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4950" b="1">
                <a:solidFill>
                  <a:srgbClr val="152F43"/>
                </a:solidFill>
                <a:latin typeface="Malgun Gothic"/>
                <a:ea typeface="Malgun Gothic"/>
                <a:cs typeface="Malgun Gothic"/>
              </a:defRPr>
            </a:pPr>
            <a:r>
              <a:rPr sz="4950" b="1">
                <a:solidFill>
                  <a:srgbClr val="152F43"/>
                </a:solidFill>
                <a:latin typeface="Malgun Gothic"/>
                <a:ea typeface="Malgun Gothic"/>
                <a:cs typeface="Malgun Gothic"/>
              </a:rPr>
              <a:t>나라장터 상품화·등록 매뉴얼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57306D-F40F-47EA-9B13-00480D13B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14750"/>
            <a:ext cx="13811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52F43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0">
                <a:solidFill>
                  <a:srgbClr val="152F43"/>
                </a:solidFill>
                <a:latin typeface="Malgun Gothic"/>
                <a:ea typeface="Malgun Gothic"/>
                <a:cs typeface="Malgun Gothic"/>
              </a:rPr>
              <a:t>INIT Data Editing System (인뎁스)</a:t>
            </a:r>
          </a:p>
          <a:p xmlns:a="http://schemas.openxmlformats.org/drawingml/2006/main">
            <a:pPr>
              <a:defRPr sz="2400" b="0">
                <a:solidFill>
                  <a:srgbClr val="152F43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0">
                <a:solidFill>
                  <a:srgbClr val="152F43"/>
                </a:solidFill>
                <a:latin typeface="Malgun Gothic"/>
                <a:ea typeface="Malgun Gothic"/>
                <a:cs typeface="Malgun Gothic"/>
              </a:rPr>
              <a:t>서비스 형태, 가격, 라이선스, 계약·납품 실행안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FA8FF6-52CA-4312-952F-5DA532BDE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38875"/>
            <a:ext cx="13811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30명 규모 소기업 · 첫 출시 · 가격 미정</a:t>
            </a:r>
          </a:p>
          <a:p xmlns:a="http://schemas.openxmlformats.org/drawingml/2006/main">
            <a:pPr>
              <a:defRPr sz="18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내부망 설치형 영구 라이선스 · 작성 기준 2026.09.23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1FFE7D-1A24-4B73-9F6C-4A82CB502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715250"/>
            <a:ext cx="1333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0D6E75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0D6E75"/>
                </a:solidFill>
                <a:latin typeface="Malgun Gothic"/>
                <a:ea typeface="Malgun Gothic"/>
                <a:cs typeface="Malgun Gothic"/>
              </a:rPr>
              <a:t>실행 작업 · 담당 역할 · 산출물 · 완료 기준</a:t>
            </a:r>
          </a:p>
        </p:txBody>
      </p:sp>
    </p:spTree>
    <p:extLst>
      <p:ext uri="{BB962C8B-B14F-4D97-AF65-F5344CB8AC3E}">
        <p14:creationId xmlns:p14="http://schemas.microsoft.com/office/powerpoint/2010/main" val="98380641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661EFB-24B7-4242-A81C-3CE89D153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13906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2F43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52F43"/>
                </a:solidFill>
                <a:latin typeface="Malgun Gothic"/>
                <a:ea typeface="Malgun Gothic"/>
                <a:cs typeface="Malgun Gothic"/>
              </a:rPr>
              <a:t>사업화 전제와 문서 사용법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0B594D-106C-45DE-87EF-3FF671BAB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238250"/>
            <a:ext cx="1381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확정 사실과 정책 제안을 구분하여 승인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66750" y="1952625"/>
          <a:ext xmlns:a="http://schemas.openxmlformats.org/drawingml/2006/main" cx="13906500" cy="55054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667000"/>
                <a:gridCol w="7715250"/>
                <a:gridCol w="3524250"/>
              </a:tblGrid>
              <a:tr h="5524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업무·확인 항목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실행 내용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담당·산출물·완료 기준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확정 전제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30명 수준 소기업, 최초 제품 출시, 판매가격 미정. 기관 내부망 설치형 영구 라이선스를 우선 추진.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 확인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아직 확인할 사실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유효한 중소기업확인서, 제품 제조·저작권, 기업신용등급, 신청 가능한 판매실적의 존재.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경영지원·영업 확인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등록 목표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상용SW 제3자단가계약을 통한 나라장터 디지털서비스몰 판매를 우선 검토. GS와 별도 자격·계약 절차 필요.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P1 기준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가격·정책 숫자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라이선스 수량·20백만원 가격·12% 유지관리율 등은 계산·의사결정 예시. 시장가격·법정요율·승인값 아님.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대표 승인 전 대외 제시 금지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실행 원칙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상품 범위·계약·EULA·프로그램 제어·인증 범위를 일치시킨 뒤 신청. 계약 담당의 현행 안내를 최종 대조.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결정대장 + 개정관리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67A3EE-101B-4E87-9B35-2FE07E0A9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696200"/>
            <a:ext cx="1314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근거 P1 · P2  / 공식 URL은 부록·슬라이드 노트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9787EF-081C-40A3-A34A-B9D7EB7F9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115300"/>
            <a:ext cx="1200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인뎁스  G2B  ·  2026.09.23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B76279-6F2B-4E6C-AB62-781231E30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8067675"/>
            <a:ext cx="1143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02 / 51</a:t>
            </a:r>
          </a:p>
        </p:txBody>
      </p:sp>
    </p:spTree>
    <p:extLst>
      <p:ext uri="{BB962C8B-B14F-4D97-AF65-F5344CB8AC3E}">
        <p14:creationId xmlns:p14="http://schemas.microsoft.com/office/powerpoint/2010/main" val="11578632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F3A51B-35F6-4F81-B624-AB61CED1D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13906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2F43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52F43"/>
                </a:solidFill>
                <a:latin typeface="Malgun Gothic"/>
                <a:ea typeface="Malgun Gothic"/>
                <a:cs typeface="Malgun Gothic"/>
              </a:rPr>
              <a:t>업무 순서와 담당 산출물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5F58F3-36FE-49D8-A061-FDAD6E6CE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238250"/>
            <a:ext cx="1381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GS 준비와 병행할 항목부터 시작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66750" y="1952625"/>
          <a:ext xmlns:a="http://schemas.openxmlformats.org/drawingml/2006/main" cx="13906500" cy="55054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667000"/>
                <a:gridCol w="7715250"/>
                <a:gridCol w="3524250"/>
              </a:tblGrid>
              <a:tr h="5524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업무·확인 항목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실행 내용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담당·산출물·완료 기준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상품 기획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판매 형태, 인증 범위, 최초 SKU, 라이선스·지원 정책과 원가를 결정.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G2B-01~G2B-04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자격·실적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나라장터 업체등록, 중소기업·신용·저작권 확인, 실제 판매·검수·가격 증빙 확보.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G2B-05~G2B-08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신청·협상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물품 분류·식별번호, GS·규격·가격 자료 제출, 보완·가격협상·전자계약.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G2B-09~G2B-12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상품·납품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디지털서비스몰 상품정보 확인, 납품요구 접수, 설치·검사·검수·청구·지원.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G2B-13~G2B-15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운영·개선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가격 유지·변경계약·인증 범위·보안·지원·유지관리 상품을 관리.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G2B-16~G2B-18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62247B-F596-4E0F-857B-1BAF7E2F6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696200"/>
            <a:ext cx="1314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내부 실행안 · 수치와 정책 제안은 회사 승인 후 적용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CE60C5-0CE8-433E-9605-CCE031BF2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115300"/>
            <a:ext cx="1200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인뎁스  G2B  ·  2026.09.23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38BBA9-B9D2-4AA4-84B2-1024705DF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8067675"/>
            <a:ext cx="1143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03 / 51</a:t>
            </a:r>
          </a:p>
        </p:txBody>
      </p:sp>
    </p:spTree>
    <p:extLst>
      <p:ext uri="{BB962C8B-B14F-4D97-AF65-F5344CB8AC3E}">
        <p14:creationId xmlns:p14="http://schemas.microsoft.com/office/powerpoint/2010/main" val="97410945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3133C3-6D35-4708-B7AD-75D1F1890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13906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2F43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52F43"/>
                </a:solidFill>
                <a:latin typeface="Malgun Gothic"/>
                <a:ea typeface="Malgun Gothic"/>
                <a:cs typeface="Malgun Gothic"/>
              </a:rPr>
              <a:t>조달 경로의 구분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B97AB6-9DB5-4110-8C54-B68BC16BF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238250"/>
            <a:ext cx="1381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같은 나라장터라도 자격과 계약 방식이 다름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66750" y="1952625"/>
          <a:ext xmlns:a="http://schemas.openxmlformats.org/drawingml/2006/main" cx="13906500" cy="55054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667000"/>
                <a:gridCol w="7715250"/>
                <a:gridCol w="3524250"/>
              </a:tblGrid>
              <a:tr h="5524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업무·확인 항목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실행 내용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담당·산출물·완료 기준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우선안: 제3자단가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중소 제조기업의 인증 상용SW를 대상으로 요건 확인 후 수의계약 방식의 단가계약 검토.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본 문서의 주 경로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MAS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상용SW 다수공급자계약은 별도 규정·구매공고·적격성·가격 절차 적용. 제3자단가와 자동 호환 아님.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필요 시 별도 검토 / P6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기관 직접 계약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몰 등록 전에도 기관의 적법한 구매 방식에 따라 계약 검토 가능. GS가 수의계약을 자동 보장하지 않음.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발주기관 계약담당 확인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SaaS 카탈로그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디지털서비스 심사·선정과 카탈로그 계약을 검토. 설치형 영구 라이선스 등록 절차와 구분.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후속 단계 / C1·C2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우수·혁신·벤처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각각 별도 지정·자격·심사 필요. 첫 GS 취득만으로 자동 지정·등록되지 않음.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초기 필수경로에 포함 안 함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AE24E5-2436-4453-A2AB-F47CD2C96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696200"/>
            <a:ext cx="1314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근거 P1 · P6 · C1 · C2  / 공식 URL은 부록·슬라이드 노트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85354C-469D-41FA-BD29-14142C4C6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115300"/>
            <a:ext cx="1200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인뎁스  G2B  ·  2026.09.23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08D92D-F3C3-401B-8FB9-7FAEA8B70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8067675"/>
            <a:ext cx="1143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04 / 51</a:t>
            </a:r>
          </a:p>
        </p:txBody>
      </p:sp>
    </p:spTree>
    <p:extLst>
      <p:ext uri="{BB962C8B-B14F-4D97-AF65-F5344CB8AC3E}">
        <p14:creationId xmlns:p14="http://schemas.microsoft.com/office/powerpoint/2010/main" val="72770615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B1FF13-0137-4A09-811C-11A458E72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13906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2F43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52F43"/>
                </a:solidFill>
                <a:latin typeface="Malgun Gothic"/>
                <a:ea typeface="Malgun Gothic"/>
                <a:cs typeface="Malgun Gothic"/>
              </a:rPr>
              <a:t>제3자단가계약의 선행 게이트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B397AD-8E67-4F7C-A429-7910F9C8A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238250"/>
            <a:ext cx="1381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2026.01.01 시행 업무처리기준 / 신청 전 재확인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66750" y="1952625"/>
          <a:ext xmlns:a="http://schemas.openxmlformats.org/drawingml/2006/main" cx="13906500" cy="55054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667000"/>
                <a:gridCol w="7715250"/>
                <a:gridCol w="3524250"/>
              </a:tblGrid>
              <a:tr h="5524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업무·확인 항목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실행 내용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담당·산출물·완료 기준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기업·제품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중소기업이며 기본상품의 제조업체인지 확인. 제품의 GS 등 계약 대상 요건을 담당부서와 대조.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유효 확인서·권리 증빙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시중거래실적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제품별 신청서류 제출일 기준 최근 2년 이내 최소 3건 이상. 현재 보유 여부는 미확인.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P1 제5조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신용등급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유효한 신용평가등급 B- 이상. 가장 최근 평가와 동일 일자 중 가장 낮은 등급 적용 규칙 확인.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P1 제5조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가격자료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규격별 최근 1년 3건 이상 판매자료. 3건 미만이면 최대 2년 자료 제출 조건 확인.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P1 제6조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예외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세부품명이 인공지능(AI)소프트웨어인 경우 실적·판매자료 예외가 있음. AI 기능 존재만으로 적용 금지.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정확한 분류·담당 회신 필요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E4DBD1-377E-469D-964E-08619D3CB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696200"/>
            <a:ext cx="1314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근거 P1  / 공식 URL은 부록·슬라이드 노트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95C004-9C89-4908-BEE8-8D90E96A3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115300"/>
            <a:ext cx="1200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인뎁스  G2B  ·  2026.09.23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AC8B7C-0C0D-489D-9182-384477C69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8067675"/>
            <a:ext cx="1143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05 / 51</a:t>
            </a:r>
          </a:p>
        </p:txBody>
      </p:sp>
    </p:spTree>
    <p:extLst>
      <p:ext uri="{BB962C8B-B14F-4D97-AF65-F5344CB8AC3E}">
        <p14:creationId xmlns:p14="http://schemas.microsoft.com/office/powerpoint/2010/main" val="1961142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76BE4C-6DE3-42A7-9150-B66A388E4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13906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2F43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52F43"/>
                </a:solidFill>
                <a:latin typeface="Malgun Gothic"/>
                <a:ea typeface="Malgun Gothic"/>
                <a:cs typeface="Malgun Gothic"/>
              </a:rPr>
              <a:t>현재 회사에서 먼저 해결할 항목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EF3A30-E217-4A5B-A650-B13A246DD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238250"/>
            <a:ext cx="1381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30명이라는 인원만으로 조달 자격을 확정하지 않음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66750" y="1952625"/>
          <a:ext xmlns:a="http://schemas.openxmlformats.org/drawingml/2006/main" cx="13906500" cy="55054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667000"/>
                <a:gridCol w="7715250"/>
                <a:gridCol w="3524250"/>
              </a:tblGrid>
              <a:tr h="5524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업무·확인 항목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실행 내용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담당·산출물·완료 기준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중소기업 확인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SMINFO에서 현재 기업 형태에 맞는 자료·신청 절차 확인. 업종·매출·독립성·유효기간 확인서 확보.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경영지원 / P7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직접 개발·권리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직원·외주 계약, 프로그램 등록, 양수도·공동개발, OSS·타사 모듈 권리 자료 정리.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제품·경영지원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신용평가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공공기관 제출용으로 인정되는 평가기관·종류·유효기간을 확인해 신청.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경영지원 / P1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판매실적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기존 계약 중 동일 제품·버전·규격을 입증할 유상 납품 자료가 있는지 조사. 없으면 실판매부터 진행.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영업·회계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추가 증빙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직접생산확인증명서·업종 등록·보안 인증 등은 품명·구매방식별 적용 여부 확인. 일괄 필수로 가정하지 않음.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조달 담당 상담기록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7546B4-066F-44F1-B186-D97A9DD3C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696200"/>
            <a:ext cx="1314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근거 P1 · P7  / 공식 URL은 부록·슬라이드 노트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D5433A-AFFE-4B77-BED5-D5FE61AC6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115300"/>
            <a:ext cx="1200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인뎁스  G2B  ·  2026.09.23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44704B-485E-4810-A00A-052C7E2E9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8067675"/>
            <a:ext cx="1143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06 / 51</a:t>
            </a:r>
          </a:p>
        </p:txBody>
      </p:sp>
    </p:spTree>
    <p:extLst>
      <p:ext uri="{BB962C8B-B14F-4D97-AF65-F5344CB8AC3E}">
        <p14:creationId xmlns:p14="http://schemas.microsoft.com/office/powerpoint/2010/main" val="55255067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384F35-4A06-482D-9278-E2289075A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13906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2F43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52F43"/>
                </a:solidFill>
                <a:latin typeface="Malgun Gothic"/>
                <a:ea typeface="Malgun Gothic"/>
                <a:cs typeface="Malgun Gothic"/>
              </a:rPr>
              <a:t>실적이 없을 때의 실행 경로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3CC0B8-1FDD-4950-BDAD-83D5AE7A9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238250"/>
            <a:ext cx="1381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G2B-01 / 조달 등록일보다 실판매 확보가 병목이 될 수 있음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66750" y="1952625"/>
          <a:ext xmlns:a="http://schemas.openxmlformats.org/drawingml/2006/main" cx="13906500" cy="55054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667000"/>
                <a:gridCol w="7715250"/>
                <a:gridCol w="3524250"/>
              </a:tblGrid>
              <a:tr h="5524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업무·확인 항목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실행 내용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담당·산출물·완료 기준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상품을 먼저 고정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첫 SKU·기능·라이선스 단위·지원 조건을 확정하고 제품 소개·견적·계약·검수 양식 준비.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제품·영업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실제 수요 발굴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데이터 품질·편집 업무가 있는 초기 고객에게 유상 도입 제안. GS 전 판매 시 인증 진행 상태를 정확히 표시.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잠재고객·제안 기록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거래 실질 확보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계약·납품·검수·대금·라이선스 발급이 있는 실제 거래로 입증. 건수 맞추기용 쪼개기·허위 거래 금지.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실적별 증빙 묶음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인정 여부 확인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구버전·SI 포함 계약·구독·동일 고객 반복 거래가 신청 제품·규격 실적으로 인정되는지 사전 질의.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조달 회신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기한 재설정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GS 인증 완료와 3건 실적·서류 확보 중 늦은 날을 신청 가능 기준일로 잡음.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영업 파이프라인 주간 점검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09BF56-1E19-4F89-9BE1-FA0AD1CE3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696200"/>
            <a:ext cx="1314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근거 P1  / 공식 URL은 부록·슬라이드 노트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11C627-6639-45C7-B83A-C9BF4C8AE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115300"/>
            <a:ext cx="1200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인뎁스  G2B  ·  2026.09.23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3218CF-FFB3-4B7F-B6C0-7F9C1E7B9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8067675"/>
            <a:ext cx="1143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07 / 51</a:t>
            </a:r>
          </a:p>
        </p:txBody>
      </p:sp>
    </p:spTree>
    <p:extLst>
      <p:ext uri="{BB962C8B-B14F-4D97-AF65-F5344CB8AC3E}">
        <p14:creationId xmlns:p14="http://schemas.microsoft.com/office/powerpoint/2010/main" val="171796647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440FE3-E6F7-47C1-B685-DC5305E5A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13906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2F43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52F43"/>
                </a:solidFill>
                <a:latin typeface="Malgun Gothic"/>
                <a:ea typeface="Malgun Gothic"/>
                <a:cs typeface="Malgun Gothic"/>
              </a:rPr>
              <a:t>판매 형태 비교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283726-D0D8-4D67-820A-A636D60A2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238250"/>
            <a:ext cx="1381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선택: 기관 내부망 설치형 영구 라이선스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66750" y="1952625"/>
          <a:ext xmlns:a="http://schemas.openxmlformats.org/drawingml/2006/main" cx="13906500" cy="55054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667000"/>
                <a:gridCol w="7715250"/>
                <a:gridCol w="3524250"/>
              </a:tblGrid>
              <a:tr h="5524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업무·확인 항목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실행 내용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담당·산출물·완료 기준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영구 라이선스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검수 후 계약 범위 내 지속 사용. 기관이 서버·DB 운영, 초기 대금 수입이 크고 지원 갱신은 별도.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첫 상품 권장 / 선택됨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설치형 기간 구독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기관 내부망에 설치하되 1년 등 기간 사용권. 만료·갱신·데이터 반출·장기 예산 설계 필요.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후속 상품 후보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공공 SaaS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회사가 서비스 운영·보안·가용성·백업·과금 책임. 별도 보안·선정·계약 준비가 필요.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초기 일정 분리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개별 구축·SI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고객마다 개발·인터페이스를 제공. 상용 제품과 범위·원가·검수·유지관리 책임을 분리.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별도 과업·계약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결정 이유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현재 Oracle·웹 구조와 고객 내부 데이터 접근에 맞춰 운영 경계를 설명하기 쉽고 SaaS 추가 작업을 줄임.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구조에 근거한 권장 판단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9625B6-A000-496C-9579-E5FC20A96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696200"/>
            <a:ext cx="1314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근거 R1 · C1 · C2  / 공식 URL은 부록·슬라이드 노트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EA21C5-34CD-49CB-B24E-01E9A530D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115300"/>
            <a:ext cx="1200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인뎁스  G2B  ·  2026.09.23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C5966C-CA38-4139-920B-70F662B51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8067675"/>
            <a:ext cx="1143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08 / 51</a:t>
            </a:r>
          </a:p>
        </p:txBody>
      </p:sp>
    </p:spTree>
    <p:extLst>
      <p:ext uri="{BB962C8B-B14F-4D97-AF65-F5344CB8AC3E}">
        <p14:creationId xmlns:p14="http://schemas.microsoft.com/office/powerpoint/2010/main" val="53375761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30B7AB-FE0F-4598-94F1-B766E6ACE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13906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2F43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52F43"/>
                </a:solidFill>
                <a:latin typeface="Malgun Gothic"/>
                <a:ea typeface="Malgun Gothic"/>
                <a:cs typeface="Malgun Gothic"/>
              </a:rPr>
              <a:t>최초 SKU 규격 초안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290A1E-EF39-47DD-84A7-8369F31A4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238250"/>
            <a:ext cx="1381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G2B-02 / 첫 출시에는 기본상품 1개를 우선 검증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66750" y="1952625"/>
          <a:ext xmlns:a="http://schemas.openxmlformats.org/drawingml/2006/main" cx="13906500" cy="55054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667000"/>
                <a:gridCol w="7715250"/>
                <a:gridCol w="3524250"/>
              </a:tblGrid>
              <a:tr h="5524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업무·확인 항목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실행 내용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담당·산출물·완료 기준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상품 식별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인뎁스 v1.0 Standard, 내부 코드 INDEPTH-STD-PERP. 조달 공식 분류·식별번호는 별도 부여.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내부 코드 제안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 범위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1개 계약기관, 1개 운영 배포환경, 기명 사용자 10명(관리자 포함), Target DB 연결 3개.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수량은 정책 제안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포함 기능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GS 인증 대상으로 확정한 프로젝트·업로드·규칙·편집·배포·보고서·관리 기능.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인증 범위와 동일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지원 포함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기본 설치 1회, 관리자/사용자 교육 합계 4시간, 매뉴얼·합성 예제, 초기 안정화 지원.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원가 측정 후 확정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별도 준비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기관 서버·OS·Oracle 사용권·DB 운영·망 연결, 추가 연계·데이터 이관·장기 현장 상주.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견적·규격서에 명시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16F627-A736-40D9-9E23-6353AFAC2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696200"/>
            <a:ext cx="1314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근거 P1 · R1  / 공식 URL은 부록·슬라이드 노트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89F6E5-91EF-4509-AAF1-04D575AFF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115300"/>
            <a:ext cx="1200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인뎁스  G2B  ·  2026.09.23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E9F8C1-B6F0-41BA-94CC-D501B6C09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8067675"/>
            <a:ext cx="1143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09 / 51</a:t>
            </a:r>
          </a:p>
        </p:txBody>
      </p:sp>
    </p:spTree>
    <p:extLst>
      <p:ext uri="{BB962C8B-B14F-4D97-AF65-F5344CB8AC3E}">
        <p14:creationId xmlns:p14="http://schemas.microsoft.com/office/powerpoint/2010/main" val="143743829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5BBBB1-8BAF-4214-B821-A6C79ED8F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13906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2F43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52F43"/>
                </a:solidFill>
                <a:latin typeface="Malgun Gothic"/>
                <a:ea typeface="Malgun Gothic"/>
                <a:cs typeface="Malgun Gothic"/>
              </a:rPr>
              <a:t>설치형 제품의 책임 분담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6CD813-2AB8-4484-BC64-A0216FF23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238250"/>
            <a:ext cx="1381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G2B-02 / 견적 전 고객 사전점검표에 포함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66750" y="1952625"/>
          <a:ext xmlns:a="http://schemas.openxmlformats.org/drawingml/2006/main" cx="13906500" cy="55054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667000"/>
                <a:gridCol w="7715250"/>
                <a:gridCol w="3524250"/>
              </a:tblGrid>
              <a:tr h="5524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업무·확인 항목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실행 내용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담당·산출물·완료 기준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제조사 책임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납품 SW·기본 설치·설명서·라이선스 발급·제품 하자 수정·계약된 기술지원.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납품물·SLA에 기재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고객 책임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서버·DB 사용권, 망·방화벽·인증서, 계정·데이터 관리, 백업 실행·보관을 합의.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기관 책임자 지정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공동 확인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Oracle 버전·문자셋·권한·성능, 설치계정·운영계정, 시스템 DB/Target DB 분리·연결.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환경 사전점검 PASS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제3자 비용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Oracle·OS·보안제품·외부 모델/API 비용은 포함 여부·계약 주체를 명시. 자체 가격에 숨기지 않음.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별도 구매 항목표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지원 접근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폐쇄망 원격접속은 기관 정책에 따름. 반출 로그·진단파일·현장 방문과 보안서약 절차 준비.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지원 보안 절차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466E70-834E-49D7-B408-9D62FD6D2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696200"/>
            <a:ext cx="1314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근거 R1  / 공식 URL은 부록·슬라이드 노트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C4E4AD-229B-442D-83F9-335F3D0C5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115300"/>
            <a:ext cx="1200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인뎁스  G2B  ·  2026.09.23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D2079A-C923-4221-8216-2E299AF72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8067675"/>
            <a:ext cx="1143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10 / 51</a:t>
            </a:r>
          </a:p>
        </p:txBody>
      </p:sp>
    </p:spTree>
    <p:extLst>
      <p:ext uri="{BB962C8B-B14F-4D97-AF65-F5344CB8AC3E}">
        <p14:creationId xmlns:p14="http://schemas.microsoft.com/office/powerpoint/2010/main" val="202103382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46B053-4170-4E0B-A9D7-27357C40D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13906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2F43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52F43"/>
                </a:solidFill>
                <a:latin typeface="Malgun Gothic"/>
                <a:ea typeface="Malgun Gothic"/>
                <a:cs typeface="Malgun Gothic"/>
              </a:rPr>
              <a:t>라이선스 측정 단위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C5AD79-B405-4DAA-85B9-6B0DC7DDF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238250"/>
            <a:ext cx="1381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G2B-03 / 고객과 서버가 같은 수량을 계산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66750" y="1952625"/>
          <a:ext xmlns:a="http://schemas.openxmlformats.org/drawingml/2006/main" cx="13906500" cy="55054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667000"/>
                <a:gridCol w="7715250"/>
                <a:gridCol w="3524250"/>
              </a:tblGrid>
              <a:tr h="5524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업무·확인 항목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실행 내용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담당·산출물·완료 기준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기관·환경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계약기관의 정의, 소속 부서·산하기관 허용 범위와 1개 운영환경의 의미를 명시.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별도 기관 공동 사용 제한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기명 사용자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계정을 보유하고 사용 가능한 사람의 수로 정의. 비활성 계정·관리자·서비스 계정 포함 여부 규정.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제안: 관리자 포함 10명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Target 연결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DB 서버·서비스·스키마 중 어떤 단위로 연결 수를 계산할지 확정. 중복 별칭은 같은 자원으로 판정.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제안: 3개 / 정의 우선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성능 제한과 구분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라이선스 수량과 시험된 동시접속·분석 처리량을 구분. 10명 사용권이 동시 10건 분석 보장은 아님.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환경별 한도 문서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증설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사용자·연결 증설은 실제 수요 확인 후 SKU 추가. 규격별 실적·가격 증빙 부담을 사전 확인.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초기 다단계 상품 남발 방지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3781C4-4A14-441D-88CF-4663240FD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696200"/>
            <a:ext cx="1314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근거 P1 · R1  / 공식 URL은 부록·슬라이드 노트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4200CD-4C38-45A5-9E7E-98B032C67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115300"/>
            <a:ext cx="1200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인뎁스  G2B  ·  2026.09.23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FFCB30-288B-4B97-853D-C8867056F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8067675"/>
            <a:ext cx="1143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11 / 51</a:t>
            </a:r>
          </a:p>
        </p:txBody>
      </p:sp>
    </p:spTree>
    <p:extLst>
      <p:ext uri="{BB962C8B-B14F-4D97-AF65-F5344CB8AC3E}">
        <p14:creationId xmlns:p14="http://schemas.microsoft.com/office/powerpoint/2010/main" val="117229460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A5FEB6-85BD-4131-BFAB-DBCB1CD49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13906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2F43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52F43"/>
                </a:solidFill>
                <a:latin typeface="Malgun Gothic"/>
                <a:ea typeface="Malgun Gothic"/>
                <a:cs typeface="Malgun Gothic"/>
              </a:rPr>
              <a:t>EULA에 필요한 계약 조항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07896B-74F5-4ED1-886C-05026F9C5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238250"/>
            <a:ext cx="1381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G2B-03 / 법무 검토 후 계약 규격에 맞춰 확정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66750" y="1952625"/>
          <a:ext xmlns:a="http://schemas.openxmlformats.org/drawingml/2006/main" cx="13906500" cy="55054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667000"/>
                <a:gridCol w="7715250"/>
                <a:gridCol w="3524250"/>
              </a:tblGrid>
              <a:tr h="5524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업무·확인 항목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실행 내용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담당·산출물·완료 기준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권리 부여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기관·설치환경·사용자·연결 수, 사용기간, 복제·백업·이전·가상화·DR 허용 범위.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별지 라이선스 정의표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권리 귀속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제품 저작권은 회사, 고객 데이터·고객 제공 자료 권리는 고객. 제3자 OSS 권리는 해당 조건 준수.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OSS 고지와 대조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제한·검증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재판매·불법 복제 제한, 수량 확인 방법과 최소 수집 정보. 폐쇄망 고객 데이터 자동 전송 조건 금지.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기관 보안정책과 합의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지원·종료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하자·유지관리·업그레이드·EOL·계약위반 처리, 통지·시정기간·사용권 범위를 명시.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지원 종료와 사용권 분리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계약 우선순위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공공 계약서·특수조건과 EULA가 충돌하는지 검토. 임의 면책·자동중단·일방 변경을 넣지 않음.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법무·조달 검토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6990AE-CE93-474E-86D6-6BA436993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696200"/>
            <a:ext cx="1314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근거 P1 · P2  / 공식 URL은 부록·슬라이드 노트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8C7E3F-58B3-49D5-9342-69CCFB0E5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115300"/>
            <a:ext cx="1200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인뎁스  G2B  ·  2026.09.23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6B1A95-977B-47A5-91A7-1AE806CA3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8067675"/>
            <a:ext cx="1143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12 / 51</a:t>
            </a:r>
          </a:p>
        </p:txBody>
      </p:sp>
    </p:spTree>
    <p:extLst>
      <p:ext uri="{BB962C8B-B14F-4D97-AF65-F5344CB8AC3E}">
        <p14:creationId xmlns:p14="http://schemas.microsoft.com/office/powerpoint/2010/main" val="156276780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D083FF-B7D8-4BAD-8A35-D36A0F152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13906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2F43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52F43"/>
                </a:solidFill>
                <a:latin typeface="Malgun Gothic"/>
                <a:ea typeface="Malgun Gothic"/>
                <a:cs typeface="Malgun Gothic"/>
              </a:rPr>
              <a:t>재설치·이전·DR·가상화 정책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1C6141-D50F-47F1-880C-E37CE21D4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238250"/>
            <a:ext cx="1381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G2B-03 / 현장 문의를 사전에 정책으로 정의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66750" y="1952625"/>
          <a:ext xmlns:a="http://schemas.openxmlformats.org/drawingml/2006/main" cx="13906500" cy="55054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667000"/>
                <a:gridCol w="7715250"/>
                <a:gridCol w="3524250"/>
              </a:tblGrid>
              <a:tr h="5524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업무·확인 항목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실행 내용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담당·산출물·완료 기준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재설치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동일 기관·허용 환경의 장애 재설치 허용. 이전 라이선스 폐기·교체 이력 관리.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지원 요청·재발급 기록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서버 이전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HW/VM 변경 시 승인된 이전 절차로 재발급. 제안: 이전 중 동시 운영 30일 허용.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기간·중복 종료 확인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개발·시험 환경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동일 기관의 비운영 환경 1개 포함 여부 결정. 실운영·외부 서비스에 사용하지 않도록 정의.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상품 규격에 표시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DR·HA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대기 DR와 Active-Active를 구분. 제안: 비활성 DR 1개 허용, 동시 운영 HA는 별도 규격 협의.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장애전환 시 사용 조건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조직 변경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기관 명칭·통합·분할·위탁운영·사업 이관 시 사용권 승계·재발급 기준을 정함.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계약·증서 개정 절차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EDE421-DE1D-452D-959B-FE9448D43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696200"/>
            <a:ext cx="1314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내부 실행안 · 수치와 정책 제안은 회사 승인 후 적용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CA3D55-EDBF-46D9-80B8-D8C2FCA59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115300"/>
            <a:ext cx="1200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인뎁스  G2B  ·  2026.09.23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33A322-4C40-459C-A737-133A17FEF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8067675"/>
            <a:ext cx="1143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13 / 51</a:t>
            </a:r>
          </a:p>
        </p:txBody>
      </p:sp>
    </p:spTree>
    <p:extLst>
      <p:ext uri="{BB962C8B-B14F-4D97-AF65-F5344CB8AC3E}">
        <p14:creationId xmlns:p14="http://schemas.microsoft.com/office/powerpoint/2010/main" val="11207430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57B2D4-A030-4C0D-9D13-BC33A96CC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13906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2F43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52F43"/>
                </a:solidFill>
                <a:latin typeface="Malgun Gothic"/>
                <a:ea typeface="Malgun Gothic"/>
                <a:cs typeface="Malgun Gothic"/>
              </a:rPr>
              <a:t>오프라인 라이선스 구현 요구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EDF656-B2E8-47A4-AEAF-0473086F1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238250"/>
            <a:ext cx="1381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G2B-04 / 정책 승인 후 개발 티켓으로 전환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66750" y="1952625"/>
          <a:ext xmlns:a="http://schemas.openxmlformats.org/drawingml/2006/main" cx="13906500" cy="55054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667000"/>
                <a:gridCol w="7715250"/>
                <a:gridCol w="3524250"/>
              </a:tblGrid>
              <a:tr h="5524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업무·확인 항목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실행 내용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담당·산출물·완료 기준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발급 구조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서명된 라이선스 파일에 제품·기관·환경·수량·기능·발급번호를 기록. 검증은 서버에서 수행.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LIC-01 / 서명 검증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비밀 관리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개인 서명키는 발급 시스템에만 보관. 고객 설치본에는 검증키만 포함, 하드코딩 공용 비밀 금지.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LIC-02 / 키 회전 절차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활성화·재발급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폐쇄망 요청 파일과 승인된 파일 반입으로 처리. 최소 환경정보만 수집, 발급·취소 이력 감사.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LIC-03 / 오프라인 시험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영구 사용권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유지관리 만료로 기존 사용권을 자동 정지하지 않음. 업데이트·지원 권한과 실행 권한을 분리.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LIC-04 / 만료 회귀시험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장애 대응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검증 오류 때 데이터 삭제·강제 rollback을 하지 않음. 기동·작업 동작, 통지·복구·긴급 재발급을 계약화.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LIC-05 / 복구 시험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0E89B0-41E6-4F79-A50C-33B8D93A6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696200"/>
            <a:ext cx="1314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근거 R1  / 공식 URL은 부록·슬라이드 노트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FB2895-9E27-45B4-99D4-A6635DD75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115300"/>
            <a:ext cx="1200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인뎁스  G2B  ·  2026.09.23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C0A7E2-025F-49AD-8F01-37E1897BC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8067675"/>
            <a:ext cx="1143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14 / 51</a:t>
            </a:r>
          </a:p>
        </p:txBody>
      </p:sp>
    </p:spTree>
    <p:extLst>
      <p:ext uri="{BB962C8B-B14F-4D97-AF65-F5344CB8AC3E}">
        <p14:creationId xmlns:p14="http://schemas.microsoft.com/office/powerpoint/2010/main" val="161612709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DE8778-8034-4A65-8A21-C176C1B2C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13906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2F43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52F43"/>
                </a:solidFill>
                <a:latin typeface="Malgun Gothic"/>
                <a:ea typeface="Malgun Gothic"/>
                <a:cs typeface="Malgun Gothic"/>
              </a:rPr>
              <a:t>가격을 결정하기 전 수집할 정보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E5B03A-1476-47AD-9D08-F8328D9EA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238250"/>
            <a:ext cx="1381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G2B-04 / 현재 시장가격을 확인한 문서가 아님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66750" y="1952625"/>
          <a:ext xmlns:a="http://schemas.openxmlformats.org/drawingml/2006/main" cx="13906500" cy="55054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667000"/>
                <a:gridCol w="7715250"/>
                <a:gridCol w="3524250"/>
              </a:tblGrid>
              <a:tr h="5524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업무·확인 항목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실행 내용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담당·산출물·완료 기준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원가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설치·교육·지원 실투입, 채널 수수료, 인증·개발비 배분, 보증·출장·장애 위험 비용을 계산.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원가표 / 회계 검토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고객 가치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현재 수작업 시간·오류 비용·도입 예산·구매단위를 고객 인터뷰로 확인.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동일 업무 고객 5곳 목표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비교제품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공식 상품정보의 기능·라이선스·지원·VAT를 정규화해 비교. 가격만 단순 비교하지 않음.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비교표 + 조회일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가격 정책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정가·최저 승인 가격·판매수수료·할인권한·유상 지원 시작일을 의결.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대표 승인 가격표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조달 적합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실제 판매가격을 증빙할 수 있고 우대가격 의무를 관리 가능한지 검토.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민간·조달 가격대장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638031-C5C8-4561-83E2-A488679F2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696200"/>
            <a:ext cx="1314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근거 P1  / 공식 URL은 부록·슬라이드 노트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481B66-5EDB-4D2A-AE27-A99C84605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115300"/>
            <a:ext cx="1200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인뎁스  G2B  ·  2026.09.23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E65882-497F-4C9E-875A-68408D164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8067675"/>
            <a:ext cx="1143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15 / 51</a:t>
            </a:r>
          </a:p>
        </p:txBody>
      </p:sp>
    </p:spTree>
    <p:extLst>
      <p:ext uri="{BB962C8B-B14F-4D97-AF65-F5344CB8AC3E}">
        <p14:creationId xmlns:p14="http://schemas.microsoft.com/office/powerpoint/2010/main" val="192242691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476D97-8782-4C8B-AE73-FE511D5C0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13906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2F43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52F43"/>
                </a:solidFill>
                <a:latin typeface="Malgun Gothic"/>
                <a:ea typeface="Malgun Gothic"/>
                <a:cs typeface="Malgun Gothic"/>
              </a:rPr>
              <a:t>기본상품 원가 계산 예시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F0A3BC-2700-4481-8736-16E070E9E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238250"/>
            <a:ext cx="1381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예시 단위: 백만원 / VAT 별도 / 실원가로 교체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66750" y="1952625"/>
          <a:ext xmlns:a="http://schemas.openxmlformats.org/drawingml/2006/main" cx="13906500" cy="55054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667000"/>
                <a:gridCol w="7715250"/>
                <a:gridCol w="3524250"/>
              </a:tblGrid>
              <a:tr h="5524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원가 항목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산정 근거와 가정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건당 금액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개발·인증비 배분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회수대상 120 ÷ 계획 판매 20건 = 건당 6.0. 실제 예산과 판매계획으로 다시 계산.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6.0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납품 직접비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설치·교육·환경 점검 인건비·출장·매체 등 건당 비용 가정.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1.6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초기 지원 충당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첫 12개월 약정 지원·하자 대응에 필요한 평균 인건비·도구 비용 가정.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1.0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위험 충당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추가 현장 방문·보증·미수·부대비용 등 잔여 비용 가정. 채널 수수료는 별도 반영.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0.4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원가와 가격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총원가 9.0. 목표 원가차감 마진 55%이면 9.0 ÷ (1−0.55) = 판매가 20.0.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매출총이익 예시 11.0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45D508-B7F9-44D3-92A5-54D0885A6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696200"/>
            <a:ext cx="1314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내부 실행안 · 수치와 정책 제안은 회사 승인 후 적용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5CC380-72BF-45D0-9E7F-7529E559F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115300"/>
            <a:ext cx="1200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인뎁스  G2B  ·  2026.09.23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2BD22B-89D3-4204-AD63-D055CA529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8067675"/>
            <a:ext cx="1143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16 / 51</a:t>
            </a:r>
          </a:p>
        </p:txBody>
      </p:sp>
    </p:spTree>
    <p:extLst>
      <p:ext uri="{BB962C8B-B14F-4D97-AF65-F5344CB8AC3E}">
        <p14:creationId xmlns:p14="http://schemas.microsoft.com/office/powerpoint/2010/main" val="109770947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8144B1-B9B7-4B66-9F94-212E33683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13906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2F43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52F43"/>
                </a:solidFill>
                <a:latin typeface="Malgun Gothic"/>
                <a:ea typeface="Malgun Gothic"/>
                <a:cs typeface="Malgun Gothic"/>
              </a:rPr>
              <a:t>가격 민감도와 첫 가격 승인안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318AD6-80E2-44B0-A0CF-D9285AA94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238250"/>
            <a:ext cx="1381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고정 원가 9백만원 가정 / VAT 별도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66750" y="1952625"/>
          <a:ext xmlns:a="http://schemas.openxmlformats.org/drawingml/2006/main" cx="13906500" cy="55054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667000"/>
                <a:gridCol w="7715250"/>
                <a:gridCol w="3524250"/>
              </a:tblGrid>
              <a:tr h="5524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가격 후보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계산·판단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확인사항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15백만원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원가차감 이익 6백만원, 마진 40%. 할인·리셀러·현장 지원을 추가하면 감소.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이익률 6 ÷ 15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20백만원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원가차감 이익 11백만원, 마진 55%. 초기 검토의 기준값으로만 사용.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승인 전 가격 예시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25백만원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원가차감 이익 16백만원, 마진 64%. 고객 가치·비교 규격으로 수용성 검증 필요.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가격 근거 미확정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판매량 위험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120백만원 회수계획이 20건에서 10건이면 배분원가가 6에서 12로 증가. 총원가 15로 재평가.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계획 판매량 월별 점검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승인 산출물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원가표, 비교제품표, 고객 인터뷰, 가격·할인 규정, 견적 유효기간을 함께 승인.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G2B-PRICE v1.0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4C1804-2F04-404E-A8FE-0766C35DD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696200"/>
            <a:ext cx="1314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내부 실행안 · 수치와 정책 제안은 회사 승인 후 적용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04DA90-B141-4770-96EA-D0022EDC9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115300"/>
            <a:ext cx="1200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인뎁스  G2B  ·  2026.09.23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67E98B-89D1-4EF9-ADA8-C93010BC8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8067675"/>
            <a:ext cx="1143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17 / 51</a:t>
            </a:r>
          </a:p>
        </p:txBody>
      </p:sp>
    </p:spTree>
    <p:extLst>
      <p:ext uri="{BB962C8B-B14F-4D97-AF65-F5344CB8AC3E}">
        <p14:creationId xmlns:p14="http://schemas.microsoft.com/office/powerpoint/2010/main" val="118793725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429395-C3B9-4B61-821E-70CFE5B7E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13906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2F43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52F43"/>
                </a:solidFill>
                <a:latin typeface="Malgun Gothic"/>
                <a:ea typeface="Malgun Gothic"/>
                <a:cs typeface="Malgun Gothic"/>
              </a:rPr>
              <a:t>첫 상품 가격표 예시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3316AF-D25E-4807-9975-94B8BC7A5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238250"/>
            <a:ext cx="1381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정가·유지관리율 모두 미승인 예시 / VAT 별도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66750" y="1952625"/>
          <a:ext xmlns:a="http://schemas.openxmlformats.org/drawingml/2006/main" cx="13906500" cy="55054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667000"/>
                <a:gridCol w="7715250"/>
                <a:gridCol w="3524250"/>
              </a:tblGrid>
              <a:tr h="5524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업무·확인 항목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실행 내용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담당·산출물·완료 기준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기본상품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INDEPTH-STD-PERP 1식, 영구 사용권. 정책 초안의 10명·3연결·1운영환경 및 기본 설치·교육 포함.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20,000,000원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VAT·합계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과세 거래 예시: 공급가 20,000,000원 + VAT 2,000,000원. 실제 계약 표시 기준으로 대조.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합계 22,000,000원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유상 유지관리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첫 12개월 약정기간 종료 후 연간 기준 라이선스 금액의 12% 가정. 범위·기준금액·기간을 별도 계약.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연 2,400,000원 예시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추가 서비스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추가 설치·데이터 이관·연계 개발·상주·야간지원은 과업·인일·검수기준을 별도로 산정.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금액 별도 / 분리 명시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계약 상품화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유지관리·커스터마이징 상품은 기본상품 단가계약 이후 동일 계약상대자가 별도 신청하는 구조.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P1 제5조·제6조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FB9F22-6B44-40E8-BD05-D0B9F570E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696200"/>
            <a:ext cx="1314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근거 P1  / 공식 URL은 부록·슬라이드 노트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5D1B23-0119-4453-BC16-02DF65F4C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115300"/>
            <a:ext cx="1200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인뎁스  G2B  ·  2026.09.23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B47081-1112-486E-A1E0-9D50532B5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8067675"/>
            <a:ext cx="1143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18 / 51</a:t>
            </a:r>
          </a:p>
        </p:txBody>
      </p:sp>
    </p:spTree>
    <p:extLst>
      <p:ext uri="{BB962C8B-B14F-4D97-AF65-F5344CB8AC3E}">
        <p14:creationId xmlns:p14="http://schemas.microsoft.com/office/powerpoint/2010/main" val="143207133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47364E-F7EE-445E-B0F8-328C85B11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13906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2F43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52F43"/>
                </a:solidFill>
                <a:latin typeface="Malgun Gothic"/>
                <a:ea typeface="Malgun Gothic"/>
                <a:cs typeface="Malgun Gothic"/>
              </a:rPr>
              <a:t>영구·구독 5년 비용 비교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5E95A1-3BAE-43D4-BC02-9F8F8A9BE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238250"/>
            <a:ext cx="1381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가격정책 계산 예시 / 제품별 실제 견적 비교가 아님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66750" y="1952625"/>
          <a:ext xmlns:a="http://schemas.openxmlformats.org/drawingml/2006/main" cx="13906500" cy="55054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667000"/>
                <a:gridCol w="7715250"/>
                <a:gridCol w="3524250"/>
              </a:tblGrid>
              <a:tr h="5524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모델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5년 계산과 가정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결과·주의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영구 라이선스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1년차 20.0 + 2~5년차 유지관리 2.4 × 4 = 29.6백만원.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VAT 포함 32.56백만원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기간 구독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연 8.0 × 5년 = 40.0백만원. 구독료에 동일 수준의 지원이 포함된다고 가정.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VAT 포함 44.0백만원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차이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예시 조건에서 영구형이 5년 공급가 기준 10.4백만원 낮음. 실제 상품 우열을 뜻하지 않음.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원가·조건으로 재산정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공통 제외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서버·Oracle·운영 인력·망·백업·추가 연계·대규모 업그레이드 비용은 위 비교에서 제외.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총소유비용 산정 시 추가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영구 사용권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유지관리 미갱신 시 기존 허용 범위 사용은 지속. 지원·신규 패치 제공 범위는 약관으로 별도 정의.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강제 구독 전환 금지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566A0D-9155-41F1-A591-329B9CAF6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696200"/>
            <a:ext cx="1314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내부 실행안 · 수치와 정책 제안은 회사 승인 후 적용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D601A1-17B7-45EE-9A63-BB548E02C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115300"/>
            <a:ext cx="1200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인뎁스  G2B  ·  2026.09.23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C7C3A6-6968-41DC-9F97-C176D9329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8067675"/>
            <a:ext cx="1143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19 / 51</a:t>
            </a:r>
          </a:p>
        </p:txBody>
      </p:sp>
    </p:spTree>
    <p:extLst>
      <p:ext uri="{BB962C8B-B14F-4D97-AF65-F5344CB8AC3E}">
        <p14:creationId xmlns:p14="http://schemas.microsoft.com/office/powerpoint/2010/main" val="117401642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8E8C98-BB0D-4D0C-9647-22BED4371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13906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2F43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52F43"/>
                </a:solidFill>
                <a:latin typeface="Malgun Gothic"/>
                <a:ea typeface="Malgun Gothic"/>
                <a:cs typeface="Malgun Gothic"/>
              </a:rPr>
              <a:t>할인·채널·우대가격 관리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FCD860-3AC7-4E5B-826E-9D3180973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238250"/>
            <a:ext cx="1381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G2B-04 / 조달계약 후 동일 규격 가격의 추적 필요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66750" y="1952625"/>
          <a:ext xmlns:a="http://schemas.openxmlformats.org/drawingml/2006/main" cx="13906500" cy="55054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667000"/>
                <a:gridCol w="7715250"/>
                <a:gridCol w="3524250"/>
              </a:tblGrid>
              <a:tr h="5524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업무·확인 항목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실행 내용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담당·산출물·완료 기준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가격 원칙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조달 계약가격을 시장 공급가격보다 동일하거나 낮게 유지하는 의무와 예외를 확인.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P1 제23조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대상 관리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직접 판매, 통제 가능한 총판·직영대리점 가격, 홈페이지·카탈로그 가격 등을 관리.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가격대장 + 월별 검토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할인 승인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견적 발행 전 SKU·수량·조건·할인 사유·최저가 영향 검토. 영업 담당의 임의 특가 금지.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영업 책임자·대표 승인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예시 상황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조달 20백만원인데 동일 조건 민간 18백만원 제안 시 계약의무·예외·가격 조정 필요성을 먼저 확인.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사전 검토 후 제시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분리 금지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동일 제품 가격 차이를 숨기기 위한 허위 서비스 묶음·형식적 SKU 변경 금지. 실질 조건 차이는 문서화.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근거자료 보관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EAA4E2-A663-4137-81ED-E659CE6AC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696200"/>
            <a:ext cx="1314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근거 P1  / 공식 URL은 부록·슬라이드 노트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808874-1019-4FF0-863C-0C62096CC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115300"/>
            <a:ext cx="1200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인뎁스  G2B  ·  2026.09.23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E84D0B-6F43-4A00-8673-17A255299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8067675"/>
            <a:ext cx="1143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20 / 51</a:t>
            </a:r>
          </a:p>
        </p:txBody>
      </p:sp>
    </p:spTree>
    <p:extLst>
      <p:ext uri="{BB962C8B-B14F-4D97-AF65-F5344CB8AC3E}">
        <p14:creationId xmlns:p14="http://schemas.microsoft.com/office/powerpoint/2010/main" val="896772427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D12570-A352-44C7-953C-50D158FBF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13906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2F43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52F43"/>
                </a:solidFill>
                <a:latin typeface="Malgun Gothic"/>
                <a:ea typeface="Malgun Gothic"/>
                <a:cs typeface="Malgun Gothic"/>
              </a:rPr>
              <a:t>유상 판매실적 증빙 묶음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AD5A29-6639-445C-9FBF-997241669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238250"/>
            <a:ext cx="1381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G2B-05 / 제품별 실적과 규격별 가격자료를 함께 관리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66750" y="1952625"/>
          <a:ext xmlns:a="http://schemas.openxmlformats.org/drawingml/2006/main" cx="13906500" cy="55054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667000"/>
                <a:gridCol w="7715250"/>
                <a:gridCol w="3524250"/>
              </a:tblGrid>
              <a:tr h="5524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업무·확인 항목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실행 내용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담당·산출물·완료 기준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계약·견적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고객·사업자번호, 제품명·버전·SKU·수량·단가·VAT·라이선스·지원범위 표시.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거래 ID 부여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납품·검수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납품확인서·검수서, 설치확인·라이선스 증서, 거래명세와 실제 제공 범위 일치.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고객 확인 원본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회계 자료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전자세금계산서, 매출장, 입금증빙 등 거래 실재성과 가격을 연결하는 자료 보관.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회계 대사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가격 정규화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할인·옵션·서비스·기간·단위를 분리. 여러 구성품 거래는 해당 SW 가격의 근거 확보.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규격별 가격 비교표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신청 직전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최근 1년 또는 적용 가능한 2년의 인정 범위, 규격 일치·실적 건수와 양식을 담당자에게 대조.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P1 기준 / 제출목록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178343-0B1A-4B7C-9E8F-86ED99DA4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696200"/>
            <a:ext cx="1314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근거 P1  / 공식 URL은 부록·슬라이드 노트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A6F517-3EC0-4F5C-A6AB-F0206C287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115300"/>
            <a:ext cx="1200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인뎁스  G2B  ·  2026.09.23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D7522B-7FB2-42A6-AF70-E0DBED3B2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8067675"/>
            <a:ext cx="1143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21 / 51</a:t>
            </a:r>
          </a:p>
        </p:txBody>
      </p:sp>
    </p:spTree>
    <p:extLst>
      <p:ext uri="{BB962C8B-B14F-4D97-AF65-F5344CB8AC3E}">
        <p14:creationId xmlns:p14="http://schemas.microsoft.com/office/powerpoint/2010/main" val="1883884800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2A16A0-B484-43B4-B330-1A9DC6577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13906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2F43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52F43"/>
                </a:solidFill>
                <a:latin typeface="Malgun Gothic"/>
                <a:ea typeface="Malgun Gothic"/>
                <a:cs typeface="Malgun Gothic"/>
              </a:rPr>
              <a:t>저작권·제조사·공급권 준비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3C3A9F-D7E3-4228-BAE2-6350B2815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238250"/>
            <a:ext cx="1381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G2B-06 / 제품명과 권리자가 같아야 자료 연결이 쉬움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66750" y="1952625"/>
          <a:ext xmlns:a="http://schemas.openxmlformats.org/drawingml/2006/main" cx="13906500" cy="55054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667000"/>
                <a:gridCol w="7715250"/>
                <a:gridCol w="3524250"/>
              </a:tblGrid>
              <a:tr h="5524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업무·확인 항목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실행 내용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담당·산출물·완료 기준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권리 조사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업무상 저작물·외주개발·양도·공동소유·타사 포함 권리를 확인. 계약·소스 이력 정리.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권리관계표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프로그램 등록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한국저작권위원회의 현행 컴퓨터프로그램 등록 안내로 신청·복제물·증빙·수수료 확인.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등록증·등록정보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등록부 제출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조달 신청에는 신청일 기준 3개월 이내 발급한 프로그램등록부를 준비. 단순 등록증과 구분.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P1 제6조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제품명 변경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GS 인증명·프로그램 제호·라이선스·상품규격의 차이를 해소하고 변경 이력 증명.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제품 식별 대조표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라이선스 점검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package.json의 ISC 표기 및 실제 배포·공개 이력을 검토. 타사·Oracle 구성요소의 재배포 권한 확인.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EULA + NOTICE 승인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EAC873-792D-4178-A5FE-FD1672383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696200"/>
            <a:ext cx="1314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근거 P1 · R1  / 공식 URL은 부록·슬라이드 노트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7EDB09-F2D7-40F7-835E-AB3B2D7A0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115300"/>
            <a:ext cx="1200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인뎁스  G2B  ·  2026.09.23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A85C52-278C-4C7F-8D51-0D487F056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8067675"/>
            <a:ext cx="1143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22 / 51</a:t>
            </a:r>
          </a:p>
        </p:txBody>
      </p:sp>
    </p:spTree>
    <p:extLst>
      <p:ext uri="{BB962C8B-B14F-4D97-AF65-F5344CB8AC3E}">
        <p14:creationId xmlns:p14="http://schemas.microsoft.com/office/powerpoint/2010/main" val="1144675329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781D1C-8BBD-4F6E-937D-208766D3F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13906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2F43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52F43"/>
                </a:solidFill>
                <a:latin typeface="Malgun Gothic"/>
                <a:ea typeface="Malgun Gothic"/>
                <a:cs typeface="Malgun Gothic"/>
              </a:rPr>
              <a:t>나라장터 이용자·업체 등록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5D3A46-BAA1-4392-9CCF-F9DA9E75C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238250"/>
            <a:ext cx="1381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G2B-07 / 최신 이용자등록 매뉴얼 기준으로 실행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66750" y="1952625"/>
          <a:ext xmlns:a="http://schemas.openxmlformats.org/drawingml/2006/main" cx="13906500" cy="55054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667000"/>
                <a:gridCol w="7715250"/>
                <a:gridCol w="3524250"/>
              </a:tblGrid>
              <a:tr h="5524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업무·확인 항목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실행 내용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담당·산출물·완료 기준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개인·조직 계정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대표/관리자/입찰대리인 역할과 가입·소속 승인 절차 확인. 퇴사자·공용 계정 통제.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P3·P4 / 경영지원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인증 수단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업무별 개인용·사업자용 인증 수단과 전자서명 권한 확인. 인증서 만료·백업 담당 지정.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서명 가능 여부 확인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입찰참가자격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사업자·법인·대표·사업장·업종·제조/공급 물품 정보를 현행 신청 양식에 입력·증빙 제출.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신청·보완 이력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승인 확인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등록 완료 상태와 경쟁입찰참가자격등록증 기재내용 확인. 회원가입만으로 완료 처리하지 않음.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등록증·등록정보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최신 화면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2026.07 이용자 매뉴얼과 차세대 FAQ 활용. 화면이 다르면 메뉴 검색·1588-0800 문의.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접수번호·문의 회신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312D27-D569-438F-B427-DB11BF94A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696200"/>
            <a:ext cx="1314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근거 P3 · P4  / 공식 URL은 부록·슬라이드 노트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EE3E95-EF5F-4D40-AB55-A505EC1EC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115300"/>
            <a:ext cx="1200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인뎁스  G2B  ·  2026.09.23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D9284E-BDC9-4215-B78F-32697598B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8067675"/>
            <a:ext cx="1143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23 / 51</a:t>
            </a:r>
          </a:p>
        </p:txBody>
      </p:sp>
    </p:spTree>
    <p:extLst>
      <p:ext uri="{BB962C8B-B14F-4D97-AF65-F5344CB8AC3E}">
        <p14:creationId xmlns:p14="http://schemas.microsoft.com/office/powerpoint/2010/main" val="1002102047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201FE4-D801-4D9E-9446-5AB6BD089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13906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2F43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52F43"/>
                </a:solidFill>
                <a:latin typeface="Malgun Gothic"/>
                <a:ea typeface="Malgun Gothic"/>
                <a:cs typeface="Malgun Gothic"/>
              </a:rPr>
              <a:t>물품 분류와 식별번호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3C5E6A-87C1-4B51-9D41-A9FD6BBA8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238250"/>
            <a:ext cx="1381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G2B-08 / 분류코드를 추측해 신청하지 않음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66750" y="1952625"/>
          <a:ext xmlns:a="http://schemas.openxmlformats.org/drawingml/2006/main" cx="13906500" cy="55054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667000"/>
                <a:gridCol w="7715250"/>
                <a:gridCol w="3524250"/>
              </a:tblGrid>
              <a:tr h="5524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업무·확인 항목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실행 내용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담당·산출물·완료 기준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분류 사전확인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데이터 관리·분석·편집이라는 주 기능과 GS 범위를 설명하고 적합한 품명·세부품명을 확인.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분류 상담기록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AI 예외 검토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혼합형 XAI·규칙 발굴 기능만으로 AI소프트웨어 실적 예외를 선택하지 않음. 공식 분류 근거 확보.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P1 / 담당 회신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기존 품목 검색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회사·제품·모델·버전·규격으로 중복을 검색. 세부품명번호와 물품식별번호를 구분.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검색 결과 보관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목록화 신청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현행 목록정보시스템에서 규격·단위·제조사·이미지·속성 자료로 신청, 보완·승인 확인.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물품식별번호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주의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2025.09 개편 이후 매뉴얼 적용. 식별번호 발급은 상품 계약·몰 판매 승인과 별개.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P5 / 상품등록은 후속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CC7022-2BC1-47F0-8640-E23CB2A5F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696200"/>
            <a:ext cx="1314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근거 P1 · P5  / 공식 URL은 부록·슬라이드 노트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50252E-B331-4FC4-9F00-2340F044C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115300"/>
            <a:ext cx="1200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인뎁스  G2B  ·  2026.09.23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F33471-4D18-4878-A5CA-13B473E6B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8067675"/>
            <a:ext cx="1143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24 / 51</a:t>
            </a:r>
          </a:p>
        </p:txBody>
      </p:sp>
    </p:spTree>
    <p:extLst>
      <p:ext uri="{BB962C8B-B14F-4D97-AF65-F5344CB8AC3E}">
        <p14:creationId xmlns:p14="http://schemas.microsoft.com/office/powerpoint/2010/main" val="1567006021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5FAB82-7991-4767-B9AA-EB5852441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13906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2F43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52F43"/>
                </a:solidFill>
                <a:latin typeface="Malgun Gothic"/>
                <a:ea typeface="Malgun Gothic"/>
                <a:cs typeface="Malgun Gothic"/>
              </a:rPr>
              <a:t>기본상품 계약 신청서류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8EBCE8-2ACE-460F-95CC-56BDB741E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238250"/>
            <a:ext cx="1381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G2B-09 / 현행 P1 제6조와 별지 서식 사용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66750" y="1952625"/>
          <a:ext xmlns:a="http://schemas.openxmlformats.org/drawingml/2006/main" cx="13906500" cy="55054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667000"/>
                <a:gridCol w="7715250"/>
                <a:gridCol w="3524250"/>
              </a:tblGrid>
              <a:tr h="5524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업무·확인 항목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실행 내용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담당·산출물·완료 기준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요청서·규격서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제3자단가계약 요청서(별지 1), 기본상품 규격서(별지 2). 물품식별번호·단위·납기·조건 기재.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조달 담당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GS·시험자료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적용되는 인증서 사본, 발급 당시 시험성적서와 세부내역. 제품명·버전·범위 대조.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GS PM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권리·사용권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최근 3개월 내 프로그램등록부, 소프트웨어 라이선스 증서 사본 준비.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경영지원·제품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기업 확인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유효한 중소기업확인서, B- 이상 신용평가등급 등 자격 판단 자료 준비.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경영지원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해당 제품별 추가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국가계약법상 적용 근거, 보안제품 사전인증 등 대상에 해당하는 자료를 별도 확인.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계약 담당 서면 확인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470481-FDD3-4606-B3C1-C653A937B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696200"/>
            <a:ext cx="1314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근거 P1  / 공식 URL은 부록·슬라이드 노트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F5D6B4-2A56-4B91-90AA-D454966ED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115300"/>
            <a:ext cx="1200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인뎁스  G2B  ·  2026.09.23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38CF58-9428-41CC-A4C2-00E9CC58D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8067675"/>
            <a:ext cx="1143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25 / 51</a:t>
            </a:r>
          </a:p>
        </p:txBody>
      </p:sp>
    </p:spTree>
    <p:extLst>
      <p:ext uri="{BB962C8B-B14F-4D97-AF65-F5344CB8AC3E}">
        <p14:creationId xmlns:p14="http://schemas.microsoft.com/office/powerpoint/2010/main" val="366968293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C32890-4005-49CA-8850-5A504F7EB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13906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2F43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52F43"/>
                </a:solidFill>
                <a:latin typeface="Malgun Gothic"/>
                <a:ea typeface="Malgun Gothic"/>
                <a:cs typeface="Malgun Gothic"/>
              </a:rPr>
              <a:t>기본상품 계약 신청서류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F8AB56-74D6-4DE7-8AAD-F92A483E5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238250"/>
            <a:ext cx="1381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G2B-09 / 가격자료는 동일 규격 단위로 구성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66750" y="1952625"/>
          <a:ext xmlns:a="http://schemas.openxmlformats.org/drawingml/2006/main" cx="13906500" cy="55054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667000"/>
                <a:gridCol w="7715250"/>
                <a:gridCol w="3524250"/>
              </a:tblGrid>
              <a:tr h="5524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업무·확인 항목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실행 내용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담당·산출물·완료 기준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가격자료 제출서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별지 4 가격자료 제출서와 별지 5 기본상품 견적서. 공급가·VAT·단위·유효기간 표시.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가격 책임자 승인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거래내역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별지 6 규격별 거래내역, 전자세금계산서·매출장 관련 서식은 현행본으로 작성.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거래 ID로 대사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원거래 증빙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판매·납품 실적증명원(별지 7), 세금계산서·매출장 등 요구 증빙을 빠짐없이 연결.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누락·중복 점검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설명자료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할인·옵션·SI 포함·기간·수량 차이를 설명. 거래실적 예외는 담당 회신 근거 첨부.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가격 비교 가능성 확보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행정 추가자료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등록증·보증·납세·인감·위임 등은 단계별 실제 요청목록에 맞춰 제출하고 만료일 관리.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일괄 법정필수로 오인 금지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994929-5DEA-45F5-BE84-1665B37FC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696200"/>
            <a:ext cx="1314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근거 P1  / 공식 URL은 부록·슬라이드 노트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B13D3C-DD8A-461D-9A14-48F8DFA4C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115300"/>
            <a:ext cx="1200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인뎁스  G2B  ·  2026.09.23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835563-701F-4CDF-9D7F-241B5B772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8067675"/>
            <a:ext cx="1143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26 / 51</a:t>
            </a:r>
          </a:p>
        </p:txBody>
      </p:sp>
    </p:spTree>
    <p:extLst>
      <p:ext uri="{BB962C8B-B14F-4D97-AF65-F5344CB8AC3E}">
        <p14:creationId xmlns:p14="http://schemas.microsoft.com/office/powerpoint/2010/main" val="165853314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924508-A7C3-4DA5-B879-BD0E8081D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13906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2F43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52F43"/>
                </a:solidFill>
                <a:latin typeface="Malgun Gothic"/>
                <a:ea typeface="Malgun Gothic"/>
                <a:cs typeface="Malgun Gothic"/>
              </a:rPr>
              <a:t>규격서 작성 예시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79B160-7F0D-4BF9-8F92-C8834A335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238250"/>
            <a:ext cx="1381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G2B-10 / GS 범위와 라이선스 정의를 그대로 사용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66750" y="1952625"/>
          <a:ext xmlns:a="http://schemas.openxmlformats.org/drawingml/2006/main" cx="13906500" cy="55054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667000"/>
                <a:gridCol w="7715250"/>
                <a:gridCol w="3524250"/>
              </a:tblGrid>
              <a:tr h="5524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업무·확인 항목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실행 내용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담당·산출물·완료 기준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일반사항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제품·모델·버전·제조사·물품식별번호·인증번호·구매 단위·영구 사용권 표시.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식별정보 대조표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기능·성능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인증 범위 내 기능과 측정된 성능·제약. 미검증 기능이나 개발 예정 기능은 계약 성능에서 제외.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GS-PD와 동일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 환경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서버·Oracle·브라우저·망·필수 런타임, 지원 최소사양·검증사양·타사 준비사항.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GS-ENV와 동일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납품·검수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설치·초기 설정·교육·문서·라이선스·시험데이터의 수량·방법, 검사 시나리오와 완료조건.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납품물 목록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지원·제외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무상 하자·초기 지원, 유상 유지관리, 추가 개발·현장 방문·이관·업그레이드의 범위.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EULA·가격표와 동일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A1E6EF-44F4-4A2F-9F4A-4229DFE96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696200"/>
            <a:ext cx="1314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근거 P1  / 공식 URL은 부록·슬라이드 노트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E24C47-C97A-44E6-BB22-06758271B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115300"/>
            <a:ext cx="1200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인뎁스  G2B  ·  2026.09.23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54D2AE-E602-4322-80D0-635566C8F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8067675"/>
            <a:ext cx="1143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27 / 51</a:t>
            </a:r>
          </a:p>
        </p:txBody>
      </p:sp>
    </p:spTree>
    <p:extLst>
      <p:ext uri="{BB962C8B-B14F-4D97-AF65-F5344CB8AC3E}">
        <p14:creationId xmlns:p14="http://schemas.microsoft.com/office/powerpoint/2010/main" val="1935036637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82B74E-4F41-49E2-AB48-4C83396BF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13906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2F43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52F43"/>
                </a:solidFill>
                <a:latin typeface="Malgun Gothic"/>
                <a:ea typeface="Malgun Gothic"/>
                <a:cs typeface="Malgun Gothic"/>
              </a:rPr>
              <a:t>라이선스 증서 예시 필드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43BBA3-D880-4E56-85A2-29368FEDE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238250"/>
            <a:ext cx="1381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G2B-10 / 계약과 실제 설치본을 연결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66750" y="1952625"/>
          <a:ext xmlns:a="http://schemas.openxmlformats.org/drawingml/2006/main" cx="13906500" cy="55054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667000"/>
                <a:gridCol w="7715250"/>
                <a:gridCol w="3524250"/>
              </a:tblGrid>
              <a:tr h="5524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업무·확인 항목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실행 내용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담당·산출물·완료 기준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고객 식별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고객기관 공식명, 사업자/기관 식별정보, 계약·납품요구 번호, 납품 담당자.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개인정보 최소화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제품 식별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제품명·버전·SKU·물품식별번호·GS 인증번호, 발급번호·발급일·발급자.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제품·조달 일치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사용권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영구 여부, 허용 기관·운영환경·기명 사용자·Target 연결 수, 시험/DR 허용 조건.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수량·단위 명시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지원기간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검수일 또는 계약상 기산일, 무상 하자 기간, 유지관리 만료일·서비스 수준 별도 표기.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사용권과 구분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검증·변경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라이선스 파일 해시/참조 ID, 재발급·이전·문의 절차, EULA 버전. 비밀키·DB 암호는 기재하지 않음.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발급대장 연결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FA9F77-80FD-434E-AEAB-F74A590DA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696200"/>
            <a:ext cx="1314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근거 P1  / 공식 URL은 부록·슬라이드 노트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A958B4-55FE-42BA-AB62-9472C91A5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115300"/>
            <a:ext cx="1200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인뎁스  G2B  ·  2026.09.23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E1B9A5-46A3-4BFB-8444-F81DEA12D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8067675"/>
            <a:ext cx="1143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28 / 51</a:t>
            </a:r>
          </a:p>
        </p:txBody>
      </p:sp>
    </p:spTree>
    <p:extLst>
      <p:ext uri="{BB962C8B-B14F-4D97-AF65-F5344CB8AC3E}">
        <p14:creationId xmlns:p14="http://schemas.microsoft.com/office/powerpoint/2010/main" val="1323695720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AD4925-9107-40F1-B173-4AE790FA5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13906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2F43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52F43"/>
                </a:solidFill>
                <a:latin typeface="Malgun Gothic"/>
                <a:ea typeface="Malgun Gothic"/>
                <a:cs typeface="Malgun Gothic"/>
              </a:rPr>
              <a:t>신청·보완·가격협상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A3ABE5-63C4-4F6C-AE64-3EB1746B4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238250"/>
            <a:ext cx="1381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G2B-11 / 담당자 회신과 전자문서 이력을 보관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66750" y="1952625"/>
          <a:ext xmlns:a="http://schemas.openxmlformats.org/drawingml/2006/main" cx="13906500" cy="55054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667000"/>
                <a:gridCol w="7715250"/>
                <a:gridCol w="3524250"/>
              </a:tblGrid>
              <a:tr h="5524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업무·확인 항목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실행 내용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담당·산출물·완료 기준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상담·접수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적용 경로·자격·실적·품명·제출 창구를 확인한 뒤 현행 서식으로 신청.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접수번호·제출대장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보완 대응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자료별 보완 요청과 책임자·기한·수정본을 관리. 제품명·가격·규격 차이를 먼저 해소.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보완대장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가격 검토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규격별 거래자료·원가·가격 근거 설명. 예시 정가를 조달 계약단가로 단정하지 않음.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협상자료 + 승인 하한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수의시담·협상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안내한 일정·방식으로 참여. 단가·할인·단위·납기·설치·보증·지원 조건을 함께 확인.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협상 결과 승인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계약 전 검토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회사 대표가 납품 가능성과 조건·보증·의무를 검토하고 전자서명 담당 권한을 확인.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계약 검토 체크리스트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67A504-2B5F-499D-BAC9-4EF5660C3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696200"/>
            <a:ext cx="1314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근거 P1 · P2  / 공식 URL은 부록·슬라이드 노트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0001A8-8C5E-42F6-A2B9-0E468EB40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115300"/>
            <a:ext cx="1200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인뎁스  G2B  ·  2026.09.23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5466C2-5550-49A3-B9F5-94B3E8E8E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8067675"/>
            <a:ext cx="1143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29 / 51</a:t>
            </a:r>
          </a:p>
        </p:txBody>
      </p:sp>
    </p:spTree>
    <p:extLst>
      <p:ext uri="{BB962C8B-B14F-4D97-AF65-F5344CB8AC3E}">
        <p14:creationId xmlns:p14="http://schemas.microsoft.com/office/powerpoint/2010/main" val="234135648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A5BABC-02DA-4ABE-9D92-9A1F37447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13906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2F43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52F43"/>
                </a:solidFill>
                <a:latin typeface="Malgun Gothic"/>
                <a:ea typeface="Malgun Gothic"/>
                <a:cs typeface="Malgun Gothic"/>
              </a:rPr>
              <a:t>전자계약과 몰 등록 확인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303F6C-9CEA-41AE-BA25-CD2495F55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238250"/>
            <a:ext cx="1381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G2B-12 / 계약 완료와 공개된 상품을 각각 검증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66750" y="1952625"/>
          <a:ext xmlns:a="http://schemas.openxmlformats.org/drawingml/2006/main" cx="13906500" cy="55054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667000"/>
                <a:gridCol w="7715250"/>
                <a:gridCol w="3524250"/>
              </a:tblGrid>
              <a:tr h="5524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업무·확인 항목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실행 내용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담당·산출물·완료 기준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계약 조건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계약기간, 단가·VAT·단위, 예상수량, 1회 납품한도·할인·납기 등 계약서 조건 확인.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서명본 보관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보증·회계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계약상 보증금·보증보험·인지 등 적용 항목과 금액·기간 확인. 비율을 임의 고정하지 않음.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경영지원 확인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상품정보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인증서·규격서·이미지·설명·가격·라이선스·지원·담당 연락처를 승인된 내용으로 등록.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상품정보 초안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등록 검수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디지털서비스몰에서 검색·상세페이지·가격·구매단위·인증·첨부파일·연락처를 대조.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상품 URL·화면 기록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판매 가능 상태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등록·판매중지 여부, 계약 유효성·정정 사항 확인. 수정 전후 캡처·승인 이력 유지.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등록 완료 보고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3293A4-096C-469D-BF85-6F5F444AE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696200"/>
            <a:ext cx="1314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근거 P1 · P2  / 공식 URL은 부록·슬라이드 노트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097540-40E4-41A8-8188-C318B94CF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115300"/>
            <a:ext cx="1200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인뎁스  G2B  ·  2026.09.23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FE3D74-EF2E-4746-8837-F6AF22EF0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8067675"/>
            <a:ext cx="1143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30 / 51</a:t>
            </a:r>
          </a:p>
        </p:txBody>
      </p:sp>
    </p:spTree>
    <p:extLst>
      <p:ext uri="{BB962C8B-B14F-4D97-AF65-F5344CB8AC3E}">
        <p14:creationId xmlns:p14="http://schemas.microsoft.com/office/powerpoint/2010/main" val="1313763354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370B6C-EBD9-4E03-9CD7-1F64744EF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13906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2F43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52F43"/>
                </a:solidFill>
                <a:latin typeface="Malgun Gothic"/>
                <a:ea typeface="Malgun Gothic"/>
                <a:cs typeface="Malgun Gothic"/>
              </a:rPr>
              <a:t>상품 상세페이지와 제안자료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6FA8CD-E606-4316-935E-51EB1A122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238250"/>
            <a:ext cx="1381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G2B-13 / 구매자가 범위·예산·설치 조건을 확인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66750" y="1952625"/>
          <a:ext xmlns:a="http://schemas.openxmlformats.org/drawingml/2006/main" cx="13906500" cy="55054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667000"/>
                <a:gridCol w="7715250"/>
                <a:gridCol w="3524250"/>
              </a:tblGrid>
              <a:tr h="5524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업무·확인 항목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실행 내용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담당·산출물·완료 기준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한 문장 설명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“Oracle 기반 데이터의 규칙 발굴·오류 탐지·수정 업무를 지원하는 내부망 설치형 소프트웨어.”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실제 제공 범위로 조정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기능과 대상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인증 범위의 대표 업무·역할·입출력 예시. 실행 화면은 고객정보 없는 합성 데이터 사용.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기능표·화면 4~6개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가격과 단위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1식의 의미, 사용자·Target 연결·환경·설치·교육·지원 포함량과 별도 비용.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구매 오해 방지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인증·근거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정확한 인증명·등급·버전·번호, 실제 검증환경·성능·지원 범위만 표시.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인증서·시험자료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다운로드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제품설명서·환경 체크리스트·라이선스·지원정책·도입 문의 양식을 버전 관리.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 간 일치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937761-B944-4546-B76C-4F9BDC5EE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696200"/>
            <a:ext cx="1314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근거 P1 · R1  / 공식 URL은 부록·슬라이드 노트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1224C0-27AB-4E9A-A687-0874BF2F9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115300"/>
            <a:ext cx="1200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인뎁스  G2B  ·  2026.09.23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90B8F4-E657-4DFC-89DC-643C63CD1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8067675"/>
            <a:ext cx="1143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31 / 51</a:t>
            </a:r>
          </a:p>
        </p:txBody>
      </p:sp>
    </p:spTree>
    <p:extLst>
      <p:ext uri="{BB962C8B-B14F-4D97-AF65-F5344CB8AC3E}">
        <p14:creationId xmlns:p14="http://schemas.microsoft.com/office/powerpoint/2010/main" val="1106693380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6F1F2D-C7CA-4EC3-843F-0634E4B6C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13906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2F43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52F43"/>
                </a:solidFill>
                <a:latin typeface="Malgun Gothic"/>
                <a:ea typeface="Malgun Gothic"/>
                <a:cs typeface="Malgun Gothic"/>
              </a:rPr>
              <a:t>고객 납품요구 접수와 착수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468A6F-36E0-41E0-A686-FE11FB263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238250"/>
            <a:ext cx="1381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G2B-14 / 계약상품 외 과업을 먼저 구분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66750" y="1952625"/>
          <a:ext xmlns:a="http://schemas.openxmlformats.org/drawingml/2006/main" cx="13906500" cy="55054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667000"/>
                <a:gridCol w="7715250"/>
                <a:gridCol w="3524250"/>
              </a:tblGrid>
              <a:tr h="5524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업무·확인 항목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실행 내용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담당·산출물·완료 기준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주문 확인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납품요구번호·계약번호·SKU·수량·가격·기한·장소·수요기관·검수 담당 확인.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영업 → 납품 PM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환경 점검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서버·Oracle·접속권한·망·보안반입·TLS·백업·설치 일정 체크리스트 회신받음.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환경 준비 완료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범위 확인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기본 설치·교육에 포함되지 않는 이관·연계·추가 개발·상주 요구를 별도 과업으로 협의.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계약 범위 일치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납품계획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일정·담당·설치 절차·DB 백업·변경 승인·장애 복귀·검사 항목을 고객과 합의.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납품계획서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지연 관리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기관 환경 미준비 또는 제품 문제를 구분해 기록하고 계약상 납기 변경 절차로 처리.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구두 연장에 의존 금지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0F3A58-9146-43C3-89BB-3B36F1B85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696200"/>
            <a:ext cx="1314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근거 P1 · P2  / 공식 URL은 부록·슬라이드 노트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DD42AF-4EDE-4F53-A2FC-B29F29065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115300"/>
            <a:ext cx="1200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인뎁스  G2B  ·  2026.09.23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EAC10C-A558-4574-BA50-3F5756EE0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8067675"/>
            <a:ext cx="1143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32 / 51</a:t>
            </a:r>
          </a:p>
        </p:txBody>
      </p:sp>
    </p:spTree>
    <p:extLst>
      <p:ext uri="{BB962C8B-B14F-4D97-AF65-F5344CB8AC3E}">
        <p14:creationId xmlns:p14="http://schemas.microsoft.com/office/powerpoint/2010/main" val="1655448793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A2E1D6-5D40-4E45-B492-A6ABB3650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13906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2F43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52F43"/>
                </a:solidFill>
                <a:latin typeface="Malgun Gothic"/>
                <a:ea typeface="Malgun Gothic"/>
                <a:cs typeface="Malgun Gothic"/>
              </a:rPr>
              <a:t>설치·검사·검수 체크리스트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997F90-F74E-40D8-9D8F-6EE37BB68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238250"/>
            <a:ext cx="1381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G2B-15 / 수요기관이 확인할 기준을 사전에 합의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66750" y="1952625"/>
          <a:ext xmlns:a="http://schemas.openxmlformats.org/drawingml/2006/main" cx="13906500" cy="55054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667000"/>
                <a:gridCol w="7715250"/>
                <a:gridCol w="3524250"/>
              </a:tblGrid>
              <a:tr h="5524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업무·확인 항목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실행 내용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담당·산출물·완료 기준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동일 제품 확인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인증·계약 제품과 버전·기능·해시·라이선스 수량이 일치. 권한·초기 설정 점검.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설치확인서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핵심 업무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합성 데이터 업로드, 대상 선택, 규칙·탐지, 편집·취소/확정, 배포·보고서 시나리오 실행.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검사 시험결과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운영 인수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재시작·로그·백업/복원·업데이트·지원 연락처·계정 인수. 비밀정보는 승인된 경로로 전달.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운영 인수인계서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교육·제공물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라이선스 증서·설치매체·매뉴얼·교육자료·교육 참석·납품목록 확인.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고객 확인 증빙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검수·잔여 이슈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기관의 검사/검수 절차 완료, 잔여 이슈·조치기한 합의. 완료일과 보증·지원 기산일 기록.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검수확인·지원대장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DCDC12-F2C2-4A50-98F5-67BCD7C5B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696200"/>
            <a:ext cx="1314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근거 R1 · P2  / 공식 URL은 부록·슬라이드 노트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9F7E44-4FF0-4830-8E71-073B4CC10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115300"/>
            <a:ext cx="1200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인뎁스  G2B  ·  2026.09.23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FD6733-4F6D-4E50-806B-D4D2A3AED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8067675"/>
            <a:ext cx="1143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33 / 51</a:t>
            </a:r>
          </a:p>
        </p:txBody>
      </p:sp>
    </p:spTree>
    <p:extLst>
      <p:ext uri="{BB962C8B-B14F-4D97-AF65-F5344CB8AC3E}">
        <p14:creationId xmlns:p14="http://schemas.microsoft.com/office/powerpoint/2010/main" val="362328314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D36ECB-6B18-4DF3-81C9-5033FB0EE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13906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2F43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52F43"/>
                </a:solidFill>
                <a:latin typeface="Malgun Gothic"/>
                <a:ea typeface="Malgun Gothic"/>
                <a:cs typeface="Malgun Gothic"/>
              </a:rPr>
              <a:t>청구·수금·납품 증빙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6CDC0D-40E3-42F5-83C3-E90F8CF7D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238250"/>
            <a:ext cx="1381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G2B-15 / 회계와 기술지원 정보까지 연결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66750" y="1952625"/>
          <a:ext xmlns:a="http://schemas.openxmlformats.org/drawingml/2006/main" cx="13906500" cy="55054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667000"/>
                <a:gridCol w="7715250"/>
                <a:gridCol w="3524250"/>
              </a:tblGrid>
              <a:tr h="5524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업무·확인 항목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실행 내용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담당·산출물·완료 기준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청구 조건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검수 완료 여부, 계약상 대금청구 조건과 기관 요청서류 확인.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검수·청구 담당 대조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증빙 제출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세금계산서, 청구서, 계좌, 납세·보증 관련 자료 등 실제 요구 서류 제출.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현행 전자 절차 적용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대사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계약단가·할인·수량·VAT·지체/공제 항목을 납품요구서·계산서와 맞춤.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회계 승인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수금 확인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입금일·금액·미수·보류 사유 기록. 납품·검수·라이선스 자료와 같은 거래 ID 사용.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매출장·입금 증빙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지원 전환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기산일·하자기간·지원 연락처·환경·라이선스를 지원 시스템에 등록, 고객 확인.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지원 등록 완료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4BE979-ED98-41F0-B925-D37285DFA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696200"/>
            <a:ext cx="1314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근거 P1 · P2  / 공식 URL은 부록·슬라이드 노트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AB4D73-DAD9-48F5-A6E8-E9ACC40D0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115300"/>
            <a:ext cx="1200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인뎁스  G2B  ·  2026.09.23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ECEB24-D3EE-4503-9D7B-C5D4D2D85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8067675"/>
            <a:ext cx="1143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34 / 51</a:t>
            </a:r>
          </a:p>
        </p:txBody>
      </p:sp>
    </p:spTree>
    <p:extLst>
      <p:ext uri="{BB962C8B-B14F-4D97-AF65-F5344CB8AC3E}">
        <p14:creationId xmlns:p14="http://schemas.microsoft.com/office/powerpoint/2010/main" val="1417456742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E7A38C-BE86-4993-A70F-D24B643E3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13906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2F43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52F43"/>
                </a:solidFill>
                <a:latin typeface="Malgun Gothic"/>
                <a:ea typeface="Malgun Gothic"/>
                <a:cs typeface="Malgun Gothic"/>
              </a:rPr>
              <a:t>무상 하자와 유상 유지관리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26A151-6858-44BD-AC87-7FF6811C8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238250"/>
            <a:ext cx="1381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G2B-16 / 의무 하자보수와 선택 서비스를 구분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66750" y="1952625"/>
          <a:ext xmlns:a="http://schemas.openxmlformats.org/drawingml/2006/main" cx="13906500" cy="55054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667000"/>
                <a:gridCol w="7715250"/>
                <a:gridCol w="3524250"/>
              </a:tblGrid>
              <a:tr h="5524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업무·확인 항목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실행 내용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담당·산출물·완료 기준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무상 하자보수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계약한 기능·성능과 다른 제품 결함을 약정 기간 내 수정. 법령·계약상 의무를 EULA로 축소하지 않음.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기간·범위는 계약 확정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초기 지원 제안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검수 기산 12개월의 약정 하자·기본 지원을 기본가격에 반영하는 초안. 법정기간 단정 아님.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기간·교육·방문 횟수 확정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유상 유지관리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기간 종료 후 상담·장애 대응·점검·허용 업데이트 등 서비스를 별도 정의하고 연간 계약.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12%는 가격 예시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추가 개발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신규 기능·연계·대량 이관·업무 컨설팅은 별도 과업과 검수기준. 제품 결함을 추가 개발로 전가하지 않음.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변경요청·견적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갱신하지 않을 때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기존 영구 사용권과 고객 데이터 접근은 유지. 지원 종료·업데이트 권한·EOL 정보를 안내.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라이선스 서버 시험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583118-B2AC-4408-A527-E5250419A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696200"/>
            <a:ext cx="1314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근거 P1 · P2  / 공식 URL은 부록·슬라이드 노트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6677FE-EB3D-4413-BA35-A03445144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115300"/>
            <a:ext cx="1200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인뎁스  G2B  ·  2026.09.23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107060-D6FD-419E-89C1-EBB23B248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8067675"/>
            <a:ext cx="1143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35 / 51</a:t>
            </a:r>
          </a:p>
        </p:txBody>
      </p:sp>
    </p:spTree>
    <p:extLst>
      <p:ext uri="{BB962C8B-B14F-4D97-AF65-F5344CB8AC3E}">
        <p14:creationId xmlns:p14="http://schemas.microsoft.com/office/powerpoint/2010/main" val="604818123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284FBD-41B7-401A-B435-771FEE350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13906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2F43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52F43"/>
                </a:solidFill>
                <a:latin typeface="Malgun Gothic"/>
                <a:ea typeface="Malgun Gothic"/>
                <a:cs typeface="Malgun Gothic"/>
              </a:rPr>
              <a:t>지원 수준과 운영 체계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E5F333-E834-4F5D-A3ED-64AE7F197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238250"/>
            <a:ext cx="1381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G2B-16 / 아래 응답시간은 회사 운영안, 계약 전 검증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66750" y="1952625"/>
          <a:ext xmlns:a="http://schemas.openxmlformats.org/drawingml/2006/main" cx="13906500" cy="55054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667000"/>
                <a:gridCol w="7715250"/>
                <a:gridCol w="3524250"/>
              </a:tblGrid>
              <a:tr h="5524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업무·확인 항목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실행 내용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담당·산출물·완료 기준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지원창구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평일 09~18시, 공휴일 제외. 티켓·전화·메일 접수, 기관·제품·버전·영향·로그를 기록.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기본지원 초안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긴급 장애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 전체 중단·데이터 위험: 업무시간 내 2시간 최초 응답, 우회·복구계획은 상황 확인 후 합의.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해결시간 보장과 구분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일반 장애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일부 기능 장애: 4업무시간 응답. 문의·개선 요청: 1영업일 응답.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처리 목표·우선순위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야간·휴일·현장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기본요금 포함 여부를 명시. 24×365 또는 현장 도착 보장은 인력·거리·보안 승인을 따로 산정.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추가 서비스 계약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지표·보고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접수→응답→우회→해결 시간, 미해결·반복 장애, 고객 확인·재발방지와 월별 실적을 관리.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지원대장 + 보고서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8A5734-4F81-4176-A763-35F3B12BC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696200"/>
            <a:ext cx="1314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내부 실행안 · 수치와 정책 제안은 회사 승인 후 적용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354BD0-6F86-46F0-8D73-FA24E7DF0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115300"/>
            <a:ext cx="1200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인뎁스  G2B  ·  2026.09.23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19CF35-22E3-4E32-AFDA-45D5BF028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8067675"/>
            <a:ext cx="1143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36 / 51</a:t>
            </a:r>
          </a:p>
        </p:txBody>
      </p:sp>
    </p:spTree>
    <p:extLst>
      <p:ext uri="{BB962C8B-B14F-4D97-AF65-F5344CB8AC3E}">
        <p14:creationId xmlns:p14="http://schemas.microsoft.com/office/powerpoint/2010/main" val="427972563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A929F1-BDE3-42DB-A9C7-0B107FC84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13906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2F43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52F43"/>
                </a:solidFill>
                <a:latin typeface="Malgun Gothic"/>
                <a:ea typeface="Malgun Gothic"/>
                <a:cs typeface="Malgun Gothic"/>
              </a:rPr>
              <a:t>유지관리·커스터마이징 상품 신청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334DD4-098E-449F-A1FD-5E34C14CA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238250"/>
            <a:ext cx="1381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G2B-17 / 기본상품 계약 이후 순서로 준비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66750" y="1952625"/>
          <a:ext xmlns:a="http://schemas.openxmlformats.org/drawingml/2006/main" cx="13906500" cy="55054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667000"/>
                <a:gridCol w="7715250"/>
                <a:gridCol w="3524250"/>
              </a:tblGrid>
              <a:tr h="5524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업무·확인 항목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실행 내용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담당·산출물·완료 기준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선행 조건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기본상품의 제3자단가계약 후 동일 계약상대자가 신청. 실제 제공 가능한 범위를 정함.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P1 제5조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유지관리 서식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별지 8 요청서, 별지 9 규격서, 별지 10 견적서와 기본상품 인증·계약 자료 등 요구자료 대조.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현행 제6조 확인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유지관리 규격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대상 기본상품·수량·서비스 기간·지원시간·포함/제외·산정기준·완료 보고를 명시.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가격·SLA 정합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커스터마이징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요청서·규격서·견적 관련 현행 서식 확인. 요구분석·설계·개발·시험·산출물·단위 정의.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과업·검수 기준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인증 변경 검토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수정이 GS 범위·버전·기능을 바꾸면 인증기관·계약 담당에 변경·재인증·계약수정 여부 확인.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영업 임의 약속 금지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191716-F548-4A34-8D73-CD38A10FE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696200"/>
            <a:ext cx="1314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근거 P1 · P2 · G3  / 공식 URL은 부록·슬라이드 노트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9BB7F3-A268-42C9-9652-12DD023D5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115300"/>
            <a:ext cx="1200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인뎁스  G2B  ·  2026.09.23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7EA84B-5219-45F5-B4F0-D7C2BE115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8067675"/>
            <a:ext cx="1143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37 / 51</a:t>
            </a:r>
          </a:p>
        </p:txBody>
      </p:sp>
    </p:spTree>
    <p:extLst>
      <p:ext uri="{BB962C8B-B14F-4D97-AF65-F5344CB8AC3E}">
        <p14:creationId xmlns:p14="http://schemas.microsoft.com/office/powerpoint/2010/main" val="1902764184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26B89D-3898-4D8D-89FB-8A24B96C9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13906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2F43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52F43"/>
                </a:solidFill>
                <a:latin typeface="Malgun Gothic"/>
                <a:ea typeface="Malgun Gothic"/>
                <a:cs typeface="Malgun Gothic"/>
              </a:rPr>
              <a:t>제품 변경·보안·판매 유지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DAFDBC-F769-49CE-82BF-A12BA6AC0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238250"/>
            <a:ext cx="1381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G2B-18 / 등록 후에도 지속 관리할 의무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66750" y="1952625"/>
          <a:ext xmlns:a="http://schemas.openxmlformats.org/drawingml/2006/main" cx="13906500" cy="55054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667000"/>
                <a:gridCol w="7715250"/>
                <a:gridCol w="3524250"/>
              </a:tblGrid>
              <a:tr h="5524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업무·확인 항목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실행 내용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담당·산출물·완료 기준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변경관리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마이너·메이저 업데이트, 규격·권리자·상품명·가격 변경 시 해당 인증·계약 절차 확인.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변경대장·회신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공급망·보안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취약점 접수, SBOM·의존성 변경, 패치·기관 통지·영향·복구 절차를 운영.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보안 대응 runbook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판매 상태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계약·인증 유효성, 조달 등록·판매중지·해제 조건, 보안 관련 요청에 대한 대응 책임 지정.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월별 상태 점검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지원 종료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EOL 공지·기존 고객 지원·이관·마지막 패치·재발급 정책을 계약 의무와 대조.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일방 서비스 중단 금지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현행 조건 확인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계약 직전 추가특수조건 전문을 내려받아 보안·보고·하자·제재 조항을 체크. 본 문서는 원문을 대체하지 않음.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법무·조달 체크리스트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C54873-C891-4245-95CC-80328FF6D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696200"/>
            <a:ext cx="1314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근거 P1 · P2 · G3  / 공식 URL은 부록·슬라이드 노트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A02B30-021A-4A48-A846-4D9097AB7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115300"/>
            <a:ext cx="1200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인뎁스  G2B  ·  2026.09.23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91D117-41CD-44EC-A50F-FFE72837E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8067675"/>
            <a:ext cx="1143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38 / 51</a:t>
            </a:r>
          </a:p>
        </p:txBody>
      </p:sp>
    </p:spTree>
    <p:extLst>
      <p:ext uri="{BB962C8B-B14F-4D97-AF65-F5344CB8AC3E}">
        <p14:creationId xmlns:p14="http://schemas.microsoft.com/office/powerpoint/2010/main" val="18767315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6C3B21-C8AA-4045-B879-AF2945839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13906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2F43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52F43"/>
                </a:solidFill>
                <a:latin typeface="Malgun Gothic"/>
                <a:ea typeface="Malgun Gothic"/>
                <a:cs typeface="Malgun Gothic"/>
              </a:rPr>
              <a:t>공공 SaaS는 후속 사업으로 분리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C7A2C0-9BC5-4DA3-9439-7E959542A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238250"/>
            <a:ext cx="1381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확장 시 검토할 작업 / 이번 최초 상품 범위 밖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66750" y="1952625"/>
          <a:ext xmlns:a="http://schemas.openxmlformats.org/drawingml/2006/main" cx="13906500" cy="55054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667000"/>
                <a:gridCol w="7715250"/>
                <a:gridCol w="3524250"/>
              </a:tblGrid>
              <a:tr h="5524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업무·확인 항목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실행 내용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담당·산출물·완료 기준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제품 추가 작업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테넌트 격리, 운영 자동화, 측정·과금, 가용성·백업·복구·데이터 반출·삭제·고객지원 구현.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별도 개발비 산정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보안·운영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고객 업무·데이터·서비스 유형에 맞는 CSAP 적용·범위·평가기준을 KISA와 확인.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GS 취득으로 대체 안 됨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 선정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디지털서비스 이용지원시스템에서 제공자 등록, 심사신청·역량 자료, 심사·선정·공개 절차 진행.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C1 / 현행 가이드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조달 계약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선정 후 적용 카탈로그 계약·서비스 규격·가격·SLA를 확인. 선정과 조달계약 완료를 구분.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별도 계약 담당 협의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사업 승인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운영 인력·CSAP·클라우드·장애 대응 비용, 고객 수·회수기간을 계산한 뒤 착수.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2단계 사업계획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5E50CA-BC1A-4994-9FB8-1AA6D975F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696200"/>
            <a:ext cx="1314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근거 C1 · C2  / 공식 URL은 부록·슬라이드 노트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B0519F-6A18-43A6-AC27-D1FCFE346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115300"/>
            <a:ext cx="1200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인뎁스  G2B  ·  2026.09.23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20D77E-2A7B-43B0-AB10-212C069FC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8067675"/>
            <a:ext cx="1143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39 / 51</a:t>
            </a:r>
          </a:p>
        </p:txBody>
      </p:sp>
    </p:spTree>
    <p:extLst>
      <p:ext uri="{BB962C8B-B14F-4D97-AF65-F5344CB8AC3E}">
        <p14:creationId xmlns:p14="http://schemas.microsoft.com/office/powerpoint/2010/main" val="2043932434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9767C8-1BB4-4936-9E90-44B41FFCE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13906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2F43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52F43"/>
                </a:solidFill>
                <a:latin typeface="Malgun Gothic"/>
                <a:ea typeface="Malgun Gothic"/>
                <a:cs typeface="Malgun Gothic"/>
              </a:rPr>
              <a:t>인증과 조달의 통합 일정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3A0A8D-873C-458D-81FF-FAB34F3F6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238250"/>
            <a:ext cx="1381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착수일을 W1로 두는 내부 목표 / 실적 확보 기간은 미정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66750" y="1952625"/>
          <a:ext xmlns:a="http://schemas.openxmlformats.org/drawingml/2006/main" cx="13906500" cy="55054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667000"/>
                <a:gridCol w="7715250"/>
                <a:gridCol w="3524250"/>
              </a:tblGrid>
              <a:tr h="5524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업무·확인 항목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실행 내용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담당·산출물·완료 기준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W1~W2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상품·버전·범위·라이선스·원가 초안, GS 상담. 자격·저작권·신용·업체등록 착수.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PM·제품·경영지원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W3~W4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GS 자체 시험·매뉴얼·배포본 완료 목표. 초기 고객 제안·실제 판매·증빙 확보 진행.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개발·QA·영업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기관 시험 기간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공식 결함 보완과 동시에 품명·목록화·규격·가격·판매실적 자료 준비.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GS PM·조달 담당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신청 가능 시점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GS 결과 수령 + 기업/신용/권리 요건 + 인정 실적·가격자료 + 식별·규격 준비를 모두 충족.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달력 날짜 확약 금지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계약·첫 납품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심사·보완·협상·계약·몰 등록 기간은 담당 일정에 맞춤. 납품팀의 첫 설치 리허설 병행.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등록 후 납품요구 수주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4F0E3E-69FB-4679-9425-C032C5744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696200"/>
            <a:ext cx="1314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근거 G2 · P1  / 공식 URL은 부록·슬라이드 노트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223B49-6CF2-45A4-B3B6-51D5BB03F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115300"/>
            <a:ext cx="1200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인뎁스  G2B  ·  2026.09.23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B564FB-334C-4395-B435-9FE756521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8067675"/>
            <a:ext cx="1143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40 / 51</a:t>
            </a:r>
          </a:p>
        </p:txBody>
      </p:sp>
    </p:spTree>
    <p:extLst>
      <p:ext uri="{BB962C8B-B14F-4D97-AF65-F5344CB8AC3E}">
        <p14:creationId xmlns:p14="http://schemas.microsoft.com/office/powerpoint/2010/main" val="514959820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B57709-4875-4C8D-AE1E-223057726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13906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2F43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52F43"/>
                </a:solidFill>
                <a:latin typeface="Malgun Gothic"/>
                <a:ea typeface="Malgun Gothic"/>
                <a:cs typeface="Malgun Gothic"/>
              </a:rPr>
              <a:t>대표가 승인할 정책 목록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BE4A9E-3685-4CB7-8D7E-DA2F05AFB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238250"/>
            <a:ext cx="1381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문서 집필과 코드 구현의 입력값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66750" y="1952625"/>
          <a:ext xmlns:a="http://schemas.openxmlformats.org/drawingml/2006/main" cx="13906500" cy="55054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667000"/>
                <a:gridCol w="7715250"/>
                <a:gridCol w="3524250"/>
              </a:tblGrid>
              <a:tr h="5524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업무·확인 항목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실행 내용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담당·산출물·완료 기준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상품·범위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공식명·v1.0·출시 기능·운영환경·첫 SKU·기관 범위·사용자/연결 단위.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G2B-SPEC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가격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원가·판매량 가정·정가·승인 하한·할인·채널 수수료·VAT 표시·견적 유효기간.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G2B-PRICE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라이선스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영구권, 사용자 수·운영/시험/DR, 이전·재발급·검증 오류 시 동작·EULA.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G2B-LIC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지원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하자기간·지원창구·시간·초기 설치/교육·유상 유지관리·EOL·추가 서비스.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G2B-SLA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추진조건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실적 확보 계획·예산·담당자, 계약 진행 기준, GS 변경 통제·정기 점검 책임.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G2B-PLAN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EA2884-165C-4665-B522-343F82413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696200"/>
            <a:ext cx="1314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내부 실행안 · 수치와 정책 제안은 회사 승인 후 적용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168405-4DB3-4584-8B4F-0F067B8DB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115300"/>
            <a:ext cx="1200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인뎁스  G2B  ·  2026.09.23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58E105-71FB-4EAA-9EC0-5CEFB998C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8067675"/>
            <a:ext cx="1143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41 / 51</a:t>
            </a:r>
          </a:p>
        </p:txBody>
      </p:sp>
    </p:spTree>
    <p:extLst>
      <p:ext uri="{BB962C8B-B14F-4D97-AF65-F5344CB8AC3E}">
        <p14:creationId xmlns:p14="http://schemas.microsoft.com/office/powerpoint/2010/main" val="1626756878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63C48D-578E-41B4-8A19-864761748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13906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2F43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52F43"/>
                </a:solidFill>
                <a:latin typeface="Malgun Gothic"/>
                <a:ea typeface="Malgun Gothic"/>
                <a:cs typeface="Malgun Gothic"/>
              </a:rPr>
              <a:t>실무 산출물 목록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CB3764-9F70-4EE6-BA7E-91DF56CA8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238250"/>
            <a:ext cx="1381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상품·계약의 공통 기준 파일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66750" y="1952625"/>
          <a:ext xmlns:a="http://schemas.openxmlformats.org/drawingml/2006/main" cx="13906500" cy="55054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667000"/>
                <a:gridCol w="7715250"/>
                <a:gridCol w="3524250"/>
              </a:tblGrid>
              <a:tr h="5524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업무·확인 항목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실행 내용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담당·산출물·완료 기준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G2B-SPEC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제품 정의·SKU·라이선스 단위·포함/제외·환경·검수 기준. GS-SCOPE·PD 연결.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제품 책임자 승인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G2B-PRICE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원가·손익·비교제품·가격표·할인·VAT·견적서·가격 승인 이력.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대표·회계 승인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G2B-LIC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EULA, 라이선스 증서, 발급/이전/재발급/DR 정책, 프로그램 제어 요구서.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법무·개발 검토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G2B-SLA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무상·유상 서비스, 응답시간·지원시간·현장 범위·보안·EOL·장애 보고 양식.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운영 책임자 승인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G2B-SALES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상품소개·데모·환경 사전점검·견적·계약·납품·검수·실적증명 양식.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영업·조달 대조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8F3F7F-5A3E-4F82-BA71-43100F8CF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696200"/>
            <a:ext cx="1314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내부 실행안 · 수치와 정책 제안은 회사 승인 후 적용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3EFEA0-3F1E-4668-9667-1463BE81F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115300"/>
            <a:ext cx="1200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인뎁스  G2B  ·  2026.09.23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226A25-6EFD-47E7-B7E9-A59FF503E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8067675"/>
            <a:ext cx="1143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42 / 51</a:t>
            </a:r>
          </a:p>
        </p:txBody>
      </p:sp>
    </p:spTree>
    <p:extLst>
      <p:ext uri="{BB962C8B-B14F-4D97-AF65-F5344CB8AC3E}">
        <p14:creationId xmlns:p14="http://schemas.microsoft.com/office/powerpoint/2010/main" val="2053951495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E2A187-292A-43D8-A286-CD8B86E89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13906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2F43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52F43"/>
                </a:solidFill>
                <a:latin typeface="Malgun Gothic"/>
                <a:ea typeface="Malgun Gothic"/>
                <a:cs typeface="Malgun Gothic"/>
              </a:rPr>
              <a:t>실무 산출물 목록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9FA84B-F3FA-46BC-9CA2-445195052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238250"/>
            <a:ext cx="1381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행정·등록·납품 증빙 묶음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66750" y="1952625"/>
          <a:ext xmlns:a="http://schemas.openxmlformats.org/drawingml/2006/main" cx="13906500" cy="55054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667000"/>
                <a:gridCol w="7715250"/>
                <a:gridCol w="3524250"/>
              </a:tblGrid>
              <a:tr h="5524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업무·확인 항목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실행 내용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담당·산출물·완료 기준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G2B-COMPANY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업체등록·중소기업확인·신용·프로그램등록부·제조/권리·위임·증빙 만료일표.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경영지원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G2B-DEALS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거래별 계약·납품·검수·라이선스·세금계산서·매출장·입금·가격 정규화표.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영업·회계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G2B-APPLICATION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별지 서식·규격·인증·시험성적서·가격자료·질의회신·제출/보완대장.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조달 담당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G2B-DELIVERY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납품계획·환경점검·설치/시험·교육·검수·라이선스·인수·청구·지원 등록.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납품 PM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G2B-LIFECYCLE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가격·변경계약·상품정보·인증·취약점·고객 지원·EOL·재발급 이력.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제품·조달·지원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8A48B3-485C-40F2-AF0D-DF09CC6F3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696200"/>
            <a:ext cx="1314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내부 실행안 · 수치와 정책 제안은 회사 승인 후 적용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35EBE7-361D-4B3C-973B-13B3547D6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115300"/>
            <a:ext cx="1200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인뎁스  G2B  ·  2026.09.23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B78B7B-D1EC-48BE-94B2-0BF076FC5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8067675"/>
            <a:ext cx="1143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43 / 51</a:t>
            </a:r>
          </a:p>
        </p:txBody>
      </p:sp>
    </p:spTree>
    <p:extLst>
      <p:ext uri="{BB962C8B-B14F-4D97-AF65-F5344CB8AC3E}">
        <p14:creationId xmlns:p14="http://schemas.microsoft.com/office/powerpoint/2010/main" val="1869240043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97FAA0-3917-4696-BAC0-972364200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13906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2F43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52F43"/>
                </a:solidFill>
                <a:latin typeface="Malgun Gothic"/>
                <a:ea typeface="Malgun Gothic"/>
                <a:cs typeface="Malgun Gothic"/>
              </a:rPr>
              <a:t>상품화를 위한 개발 백로그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0B470C-4449-4DD0-B0F7-D27A844BF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238250"/>
            <a:ext cx="1381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정책 승인 후 실제 차이를 점검해 구현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66750" y="1952625"/>
          <a:ext xmlns:a="http://schemas.openxmlformats.org/drawingml/2006/main" cx="13906500" cy="55054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667000"/>
                <a:gridCol w="7715250"/>
                <a:gridCol w="3524250"/>
              </a:tblGrid>
              <a:tr h="5524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업무·확인 항목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실행 내용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담당·산출물·완료 기준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LIC-01~05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서버 라이선스 검증, 오프라인 발급, 수량 정의, 이전·DR·만료·재발급 시험.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EULA와 1:1 연결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PKG-01~03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고객 환경 사전 점검, 폐쇄망 설치, 서비스 실행·업데이트·rollback·제거와 해시 검증.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신규 서버 독립 설치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OPS-01~03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버전·진단정보, 감사·작업 로그, 지원용 마스킹 패키지, 백업·복원과 키 복구.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고객 데이터 반출 최소화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DOC-01~03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About/라이선스/도움말의 버전·SKU·수량·지원기간·문서 링크를 일치.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메뉴 변경은 사전 승인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TEST-01~03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설치·라이선스·권한·편집·FLOW·분석·PDF·업데이트·만료 회귀시험 자동/수동 연결.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GS 제출·납품에 재사용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1A60BC-62ED-4567-B279-70244238B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696200"/>
            <a:ext cx="1314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근거 R1  / 공식 URL은 부록·슬라이드 노트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8BE10B-205C-4196-9E3D-1FED34072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115300"/>
            <a:ext cx="1200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인뎁스  G2B  ·  2026.09.23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BA2825-C6B1-480D-9E7C-7E3F2F4EA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8067675"/>
            <a:ext cx="1143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44 / 51</a:t>
            </a:r>
          </a:p>
        </p:txBody>
      </p:sp>
    </p:spTree>
    <p:extLst>
      <p:ext uri="{BB962C8B-B14F-4D97-AF65-F5344CB8AC3E}">
        <p14:creationId xmlns:p14="http://schemas.microsoft.com/office/powerpoint/2010/main" val="80090403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F8D9C5-BF67-4B02-9411-C861904B2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13906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2F43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52F43"/>
                </a:solidFill>
                <a:latin typeface="Malgun Gothic"/>
                <a:ea typeface="Malgun Gothic"/>
                <a:cs typeface="Malgun Gothic"/>
              </a:rPr>
              <a:t>바이브 코딩 작업 지시문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526980-88C0-4194-8517-1D62E3577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238250"/>
            <a:ext cx="1381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예: 오프라인 영구 라이선스 구현 전에 사용할 요청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66750" y="1952625"/>
          <a:ext xmlns:a="http://schemas.openxmlformats.org/drawingml/2006/main" cx="13906500" cy="55054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667000"/>
                <a:gridCol w="7715250"/>
                <a:gridCol w="3524250"/>
              </a:tblGrid>
              <a:tr h="5524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업무·확인 항목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실행 내용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담당·산출물·완료 기준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범위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“승인된 G2B-LIC·SPEC을 기준으로 LIC-01~05 설계를 작성하라. 기존 소스와 권한 경계를 먼저 분석하라.”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입력: 승인 정책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정책 보호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“영구 사용권과 유지관리 종료를 분리하고 고객 데이터 삭제·원격 차단·비밀키 배포를 하지 말라.”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데이터·계약 보호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구현 전 확인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“수량 계산·DR·이전·검증 오류 시 화면과 실행 동작을 설명하고 승인 후 구현하라.”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 변경 승인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검증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“정상·변조·수량 초과·서버 이전·오프라인·지원 만료·재발급·기존 사용자 회귀를 시험하라.”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TC·증빙·실패 복구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결과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“수정 파일, API·SQL·설정 변경, 설치·발급 절차, EULA와의 대응, 미확정 사항을 보고하라.”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코드 + 운영 설명서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44E4C6-3567-46E5-A454-7062BBF13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696200"/>
            <a:ext cx="1314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근거 R1  / 공식 URL은 부록·슬라이드 노트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305ED6-BD37-4137-A476-B7CA6CFA6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115300"/>
            <a:ext cx="1200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인뎁스  G2B  ·  2026.09.23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91C190-DA72-4518-A1E4-3242AB091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8067675"/>
            <a:ext cx="1143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45 / 51</a:t>
            </a:r>
          </a:p>
        </p:txBody>
      </p:sp>
    </p:spTree>
    <p:extLst>
      <p:ext uri="{BB962C8B-B14F-4D97-AF65-F5344CB8AC3E}">
        <p14:creationId xmlns:p14="http://schemas.microsoft.com/office/powerpoint/2010/main" val="680834694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4A132E-2212-41CB-8144-9E794FC84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13906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2F43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52F43"/>
                </a:solidFill>
                <a:latin typeface="Malgun Gothic"/>
                <a:ea typeface="Malgun Gothic"/>
                <a:cs typeface="Malgun Gothic"/>
              </a:rPr>
              <a:t>WORK 문서 작업 지시문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555039-F039-4410-83D9-D39599ACB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238250"/>
            <a:ext cx="1381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대표 승인 자료와 공식 양식을 근거로 문서 생성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66750" y="1952625"/>
          <a:ext xmlns:a="http://schemas.openxmlformats.org/drawingml/2006/main" cx="13906500" cy="55054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667000"/>
                <a:gridCol w="7715250"/>
                <a:gridCol w="3524250"/>
              </a:tblGrid>
              <a:tr h="5524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업무·확인 항목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실행 내용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담당·산출물·완료 기준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가격·사업성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“G2B-PRICE를 실제 원가·판매량·지원 기록으로 작성하고 가격·마진·VAT·5년 비용을 계산하라.”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XLSX + 가정표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라이선스·지원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“승인된 사용권·지원 정책으로 EULA·증서·SLA 초안을 작성하고 계약 충돌 검토 항목을 분리하라.”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DOCX 초안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조달 신청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“현행 P1 별지 서식으로 요청서·규격·가격자료를 작성하라. 인증·실적·등록정보의 미확정을 표시하라.”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제출 초안 + 누락표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납품 패키지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“계약 규격에 맞는 환경점검·설치·검사·검수·교육·인수·청구 체크리스트를 생성하라.”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기관별 납품 문서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상호 대조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“GS 문서·상품정보·가격표·EULA·라이선스 제어·납품서의 명칭·버전·수량·기간을 대조하라.”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불일치·담당·조치표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607D44-1177-4A61-8F84-F808089D8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696200"/>
            <a:ext cx="1314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내부 실행안 · 수치와 정책 제안은 회사 승인 후 적용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1772F1-AD5D-4C06-9351-0329D3D3D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115300"/>
            <a:ext cx="1200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인뎁스  G2B  ·  2026.09.23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2C4986-F91F-4409-945B-38630AFDE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8067675"/>
            <a:ext cx="1143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46 / 51</a:t>
            </a:r>
          </a:p>
        </p:txBody>
      </p:sp>
    </p:spTree>
    <p:extLst>
      <p:ext uri="{BB962C8B-B14F-4D97-AF65-F5344CB8AC3E}">
        <p14:creationId xmlns:p14="http://schemas.microsoft.com/office/powerpoint/2010/main" val="910261043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FA099D-5337-455E-9EFE-5594DDEC6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13906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2F43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52F43"/>
                </a:solidFill>
                <a:latin typeface="Malgun Gothic"/>
                <a:ea typeface="Malgun Gothic"/>
                <a:cs typeface="Malgun Gothic"/>
              </a:rPr>
              <a:t>기관 사전상담 질문 목록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D14619-CE76-4C49-9386-5BB5E11BD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238250"/>
            <a:ext cx="1381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G2B-01 / 답변을 실행계획과 신청서에 반영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66750" y="1952625"/>
          <a:ext xmlns:a="http://schemas.openxmlformats.org/drawingml/2006/main" cx="13906500" cy="55054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667000"/>
                <a:gridCol w="7715250"/>
                <a:gridCol w="3524250"/>
              </a:tblGrid>
              <a:tr h="5524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업무·확인 항목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실행 내용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담당·산출물·완료 기준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신청 자격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회사의 제조·권리 구조와 중소기업/신용 요건 충족 자료, 해당 제품 GS 등급·범위 인정은?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자격 체크리스트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상품 분류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주기능·모델 구조에 맞는 세부품명은? AI 실적 예외 해당 여부와 입증자료는?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분류 근거·회신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실적·가격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동일 제품/버전/규격 판단, SI 포함·기존 거래 인정, 제품별 실적과 규격별 가격자료 요건은?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샘플 증빙 사전검토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계약·지원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신청 창구·서식, 납품 단위·보증·하자·유지관리·할인·업데이트·보안 의무의 현행 조건은?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계약 검토표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소요일·다음 단계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자료 완비 후 담당 배정·보완·협상·계약·몰 등록 순서와 예상 대기, 문의 창구는?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예상 일정·접수번호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E8F0FB-EE1D-48E4-B6A9-C196C35F5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696200"/>
            <a:ext cx="1314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근거 P1 · P2 · P3  / 공식 URL은 부록·슬라이드 노트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B8D1E9-B579-4B6A-ABB9-2A4902363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115300"/>
            <a:ext cx="1200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인뎁스  G2B  ·  2026.09.23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4D73A3-2385-4ABB-AA61-3FDEB76E6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8067675"/>
            <a:ext cx="1143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47 / 51</a:t>
            </a:r>
          </a:p>
        </p:txBody>
      </p:sp>
    </p:spTree>
    <p:extLst>
      <p:ext uri="{BB962C8B-B14F-4D97-AF65-F5344CB8AC3E}">
        <p14:creationId xmlns:p14="http://schemas.microsoft.com/office/powerpoint/2010/main" val="1983420112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76F96D-438D-4684-86E1-31E69CA2D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13906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2F43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52F43"/>
                </a:solidFill>
                <a:latin typeface="Malgun Gothic"/>
                <a:ea typeface="Malgun Gothic"/>
                <a:cs typeface="Malgun Gothic"/>
              </a:rPr>
              <a:t>최종 등록 승인 체크리스트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2B462B-2509-4C5B-A356-60423899B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238250"/>
            <a:ext cx="1381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전부 확인한 뒤 회사가 신청·서명·공개 승인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66750" y="1952625"/>
          <a:ext xmlns:a="http://schemas.openxmlformats.org/drawingml/2006/main" cx="13906500" cy="55054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667000"/>
                <a:gridCol w="7715250"/>
                <a:gridCol w="3524250"/>
              </a:tblGrid>
              <a:tr h="5524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업무·확인 항목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실행 내용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담당·산출물·완료 기준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자격·실적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중소 제조·신용·권리·인증·실적·가격자료·업체등록·식별번호가 일치하고 유효한가?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경영지원·조달 서명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상품·가격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기능·라이선스·설치·타사비용·지원·VAT·할인·원가와 협상 권한이 확정됐는가?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대표·영업 서명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제품·문서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인증본과 납품본의 차이, 라이선스·설치·검수·복구가 검증됐는가?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개발·QA 서명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계약·운영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보증·하자·가격 유지·보안·변경·제재 조건을 검토하고 담당과 예산을 확보했는가?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법무·운영 서명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</a:tr>
              <a:tr h="990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공개·납품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상품 URL·가격·규격·문서·담당 연락처 확인, 첫 주문의 설치·검수 담당 준비 완료인가?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등록 완료 보고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DCB0F5-BE51-4394-B0CD-487829639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696200"/>
            <a:ext cx="1314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근거 P1 · P2  / 공식 URL은 부록·슬라이드 노트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EE3CBB-13F7-42D4-BA9F-8CBEFB70D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115300"/>
            <a:ext cx="1200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인뎁스  G2B  ·  2026.09.23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F28C63-72D5-4524-9ED6-16311F31E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8067675"/>
            <a:ext cx="1143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48 / 51</a:t>
            </a:r>
          </a:p>
        </p:txBody>
      </p:sp>
    </p:spTree>
    <p:extLst>
      <p:ext uri="{BB962C8B-B14F-4D97-AF65-F5344CB8AC3E}">
        <p14:creationId xmlns:p14="http://schemas.microsoft.com/office/powerpoint/2010/main" val="112882829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D3DAE4-BCB0-4210-A3ED-92708D70F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13906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2F43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52F43"/>
                </a:solidFill>
                <a:latin typeface="Malgun Gothic"/>
                <a:ea typeface="Malgun Gothic"/>
                <a:cs typeface="Malgun Gothic"/>
              </a:rPr>
              <a:t>공식 근거·자료 링크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C9AA0A-2578-44C6-BFD8-927370EA7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238250"/>
            <a:ext cx="1381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조회 기준 2026.09.23 / 시행일·문서명으로 현행본 확인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66750" y="1952625"/>
          <a:ext xmlns:a="http://schemas.openxmlformats.org/drawingml/2006/main" cx="13906500" cy="56197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5905500"/>
                <a:gridCol w="8001000"/>
              </a:tblGrid>
              <a:tr h="5524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자료 ID · 문서·기준일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원문 위치와 확인할 내용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</a:tr>
              <a:tr h="12668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P1  상용소프트웨어 제3자단가계약 업무처리기준</a:t>
                      </a:r>
                    </a:p>
                    <a:p>
                      <a:r>
                        <a:rPr sz="1575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2026.01.01 시행, 지침 제45호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https://www.law.go.kr/LSW/admRulLsInfoP.do?admRulSeq=2100000270214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  <a:tr h="12668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P2  상용소프트웨어 제3자단가계약 추가특수조건</a:t>
                      </a:r>
                    </a:p>
                    <a:p>
                      <a:r>
                        <a:rPr sz="1575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2026.01.01 시행, 지침 제46호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https://www.law.go.kr/LSW/admRulLsInfoP.do?admRulSeq=2100000270216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</a:tr>
              <a:tr h="12668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P6  국가법령정보센터 상용SW 계약 현행 규정 목록</a:t>
                      </a:r>
                    </a:p>
                    <a:p>
                      <a:r>
                        <a:rPr sz="1575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2026.09.23 조회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https://www.law.go.kr/admRulSc.do?menuId=5&amp;query=%EC%83%81%EC%9A%A9&amp;subMenuId=41&amp;tabMenuId=183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  <a:tr h="12668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C1  디지털서비스 이용지원시스템 선정 절차</a:t>
                      </a:r>
                    </a:p>
                    <a:p>
                      <a:r>
                        <a:rPr sz="1575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2026.09.23 조회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https://www.digitalmarket.kr/web/index.do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61F39D-734E-4B2E-AAF9-722FF6CAD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696200"/>
            <a:ext cx="1314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근거 P1 · P2 · P6 · C1  / 공식 URL은 부록·슬라이드 노트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86EC6A-D972-42AA-B02C-A7B6ECB44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115300"/>
            <a:ext cx="1200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인뎁스  G2B  ·  2026.09.23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50D7A8-176E-4C9F-9BCC-3CF670973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8067675"/>
            <a:ext cx="1143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49 / 51</a:t>
            </a:r>
          </a:p>
        </p:txBody>
      </p:sp>
    </p:spTree>
    <p:extLst>
      <p:ext uri="{BB962C8B-B14F-4D97-AF65-F5344CB8AC3E}">
        <p14:creationId xmlns:p14="http://schemas.microsoft.com/office/powerpoint/2010/main" val="53165799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282784-916A-43F4-AF97-0BF43DABF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13906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2F43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52F43"/>
                </a:solidFill>
                <a:latin typeface="Malgun Gothic"/>
                <a:ea typeface="Malgun Gothic"/>
                <a:cs typeface="Malgun Gothic"/>
              </a:rPr>
              <a:t>공식 근거·자료 링크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5C7580-3816-46BF-9811-AA6D4A3C7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238250"/>
            <a:ext cx="1381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조회 기준 2026.09.23 / 시행일·문서명으로 현행본 확인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66750" y="1952625"/>
          <a:ext xmlns:a="http://schemas.openxmlformats.org/drawingml/2006/main" cx="13906500" cy="56197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5905500"/>
                <a:gridCol w="8001000"/>
              </a:tblGrid>
              <a:tr h="5524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자료 ID · 문서·기준일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원문 위치와 확인할 내용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</a:tr>
              <a:tr h="12668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C2  KISA 클라우드서비스 보안인증 안내</a:t>
                      </a:r>
                    </a:p>
                    <a:p>
                      <a:r>
                        <a:rPr sz="1575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2026.03.12 최종수정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https://www.kisa.or.kr/1050603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  <a:tr h="12668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P7  SMPP 중소기업확인서 발급 안내</a:t>
                      </a:r>
                    </a:p>
                    <a:p>
                      <a:r>
                        <a:rPr sz="1575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2026.09.23 조회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https://www.smpp.go.kr/cst/smppInf/SelectMpeJ2.do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</a:tr>
              <a:tr h="12668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R1  인뎁스 로컬 소스·프로젝트 지침</a:t>
                      </a:r>
                    </a:p>
                    <a:p>
                      <a:r>
                        <a:rPr sz="1575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2026.09.23 정적 확인, 실행검증 아님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로컬: AGENTS.md, README.md, main.py, frontend/config/menu.config.js, package.json, requirements.txt, backend/tests 파일목록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  <a:tr h="12668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P3  조달청 입찰참가자격등록·이용자등록 매뉴얼</a:t>
                      </a:r>
                    </a:p>
                    <a:p>
                      <a:r>
                        <a:rPr sz="1575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2026.07 이용자 매뉴얼 게시 확인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https://www.pps.go.kr/kor/bbs/list.do?key=01334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B82080-1DB3-4F91-AB03-00826A0D6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696200"/>
            <a:ext cx="1314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근거 C2 · P7 · R1 · P3  / 공식 URL은 부록·슬라이드 노트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AB6412-E43F-46D6-A7E4-8CAA0E7C4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115300"/>
            <a:ext cx="1200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인뎁스  G2B  ·  2026.09.23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AD8C16-3B8E-4D90-B839-7A08DB673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8067675"/>
            <a:ext cx="1143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50 / 51</a:t>
            </a:r>
          </a:p>
        </p:txBody>
      </p:sp>
    </p:spTree>
    <p:extLst>
      <p:ext uri="{BB962C8B-B14F-4D97-AF65-F5344CB8AC3E}">
        <p14:creationId xmlns:p14="http://schemas.microsoft.com/office/powerpoint/2010/main" val="882006625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CE8252-6061-4DF6-BE79-325AD21EC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13906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52F43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52F43"/>
                </a:solidFill>
                <a:latin typeface="Malgun Gothic"/>
                <a:ea typeface="Malgun Gothic"/>
                <a:cs typeface="Malgun Gothic"/>
              </a:rPr>
              <a:t>공식 근거·자료 링크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9CDE78-94FA-47B1-AA4C-12B0FD199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238250"/>
            <a:ext cx="1381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조회 기준 2026.09.23 / 시행일·문서명으로 현행본 확인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66750" y="1952625"/>
          <a:ext xmlns:a="http://schemas.openxmlformats.org/drawingml/2006/main" cx="13906500" cy="56197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5905500"/>
                <a:gridCol w="8001000"/>
              </a:tblGrid>
              <a:tr h="5524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자료 ID · 문서·기준일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원문 위치와 확인할 내용</a:t>
                      </a:r>
                    </a:p>
                  </a:txBody>
                  <a:tcPr marL="152400" marR="152400" marT="114300" marB="95250" anchor="ctr">
                    <a:solidFill>
                      <a:srgbClr val="152F43"/>
                    </a:solidFill>
                  </a:tcPr>
                </a:tc>
              </a:tr>
              <a:tr h="12668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P4  차세대 나라장터 이용자등록 FAQ</a:t>
                      </a:r>
                    </a:p>
                    <a:p>
                      <a:r>
                        <a:rPr sz="1575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2025.03.28 게시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https://www.pps.go.kr/kor/bbs/view.do?bbsSn=2503280018&amp;key=01334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  <a:tr h="12668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P5  조달청 목록정보시스템 개편 안내</a:t>
                      </a:r>
                    </a:p>
                    <a:p>
                      <a:r>
                        <a:rPr sz="1575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2025.09.26 시행 안내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https://www.pps.go.kr/kor/bbs/view.do?bbsSn=2509190007&amp;key=00634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</a:tr>
              <a:tr h="12668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G3  KTC GS인증 안내·기준·재인증 점검표 자료</a:t>
                      </a:r>
                    </a:p>
                    <a:p>
                      <a:r>
                        <a:rPr sz="1575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2026.09.23 조회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https://www.ktc.re.kr/web_united/task/task.asp?pagen=2540</a:t>
                      </a:r>
                    </a:p>
                  </a:txBody>
                  <a:tcPr marL="152400" marR="152400" marT="114300" marB="95250" anchor="ctr">
                    <a:solidFill>
                      <a:srgbClr val="FFFFFF"/>
                    </a:solidFill>
                  </a:tcPr>
                </a:tc>
              </a:tr>
              <a:tr h="12668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G2  TTA GS시험인증(1등급) 서비스·절차</a:t>
                      </a:r>
                    </a:p>
                    <a:p>
                      <a:r>
                        <a:rPr sz="1575" b="1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2026.09.23 조회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52F4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https://cs.tta.or.kr/tta/introduce/introCont.do?tabMode=cont&amp;tnc_cls_no=T000127&amp;tnc_lab=T000003&amp;up_tnc_cls_no=T000020</a:t>
                      </a:r>
                    </a:p>
                  </a:txBody>
                  <a:tcPr marL="152400" marR="152400" marT="114300" marB="95250" anchor="ctr">
                    <a:solidFill>
                      <a:srgbClr val="F3F6F8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1E7D1E-A8DD-4602-A4A0-31EE8CC21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696200"/>
            <a:ext cx="1314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근거 P4 · P5 · G3 · G2  / 공식 URL은 부록·슬라이드 노트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67C27E-1185-4417-BC70-6AC5DACA2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115300"/>
            <a:ext cx="1200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인뎁스  G2B  ·  2026.09.23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9F547A-E72A-4B56-A7DD-9FE839CCD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8067675"/>
            <a:ext cx="1143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26676"/>
                </a:solidFill>
                <a:latin typeface="Malgun Gothic"/>
                <a:ea typeface="Malgun Gothic"/>
                <a:cs typeface="Malgun Gothic"/>
              </a:rPr>
              <a:t>51 / 51</a:t>
            </a:r>
          </a:p>
        </p:txBody>
      </p:sp>
    </p:spTree>
    <p:extLst>
      <p:ext uri="{BB962C8B-B14F-4D97-AF65-F5344CB8AC3E}">
        <p14:creationId xmlns:p14="http://schemas.microsoft.com/office/powerpoint/2010/main" val="106723508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2026-09-23T05:07:05.0750000Z</dcterms:created>
  <dcterms:modified xsi:type="dcterms:W3CDTF">2026-09-23T05:07:05.0750000Z</dcterms:modified>
</coreProperties>
</file>