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71ba384a364908" /><Relationship Type="http://schemas.openxmlformats.org/officeDocument/2006/relationships/extended-properties" Target="/docProps/app.xml" Id="R0365582725ae46c7" /><Relationship Type="http://schemas.openxmlformats.org/officeDocument/2006/relationships/officeDocument" Target="/ppt/presentation.xml" Id="R796f43183f1d40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4059c8e1074e7d"/>
  </p:sldMasterIdLst>
  <p:notesMasterIdLst>
    <p:notesMasterId xmlns:r="http://schemas.openxmlformats.org/officeDocument/2006/relationships" r:id="R3942b46f55934da0"/>
  </p:notesMasterIdLst>
  <p:sldIdLst>
    <p:sldId xmlns:r="http://schemas.openxmlformats.org/officeDocument/2006/relationships" id="256" r:id="Rc376cab9e1ab42ab"/>
    <p:sldId xmlns:r="http://schemas.openxmlformats.org/officeDocument/2006/relationships" id="257" r:id="Ra9ea79389ee74475"/>
    <p:sldId xmlns:r="http://schemas.openxmlformats.org/officeDocument/2006/relationships" id="258" r:id="R7d01540167734516"/>
    <p:sldId xmlns:r="http://schemas.openxmlformats.org/officeDocument/2006/relationships" id="259" r:id="Re9adc83f20c64515"/>
    <p:sldId xmlns:r="http://schemas.openxmlformats.org/officeDocument/2006/relationships" id="260" r:id="Rfa924737251f45fb"/>
    <p:sldId xmlns:r="http://schemas.openxmlformats.org/officeDocument/2006/relationships" id="261" r:id="Rd1dcade5d7e54993"/>
    <p:sldId xmlns:r="http://schemas.openxmlformats.org/officeDocument/2006/relationships" id="262" r:id="R30500e1e578146c6"/>
    <p:sldId xmlns:r="http://schemas.openxmlformats.org/officeDocument/2006/relationships" id="263" r:id="R1bfb48fd91234762"/>
    <p:sldId xmlns:r="http://schemas.openxmlformats.org/officeDocument/2006/relationships" id="264" r:id="R06a637d51d1a4b77"/>
    <p:sldId xmlns:r="http://schemas.openxmlformats.org/officeDocument/2006/relationships" id="265" r:id="Rfe386423a1274257"/>
    <p:sldId xmlns:r="http://schemas.openxmlformats.org/officeDocument/2006/relationships" id="266" r:id="Rb8e4c9f2193b436f"/>
    <p:sldId xmlns:r="http://schemas.openxmlformats.org/officeDocument/2006/relationships" id="267" r:id="Rb4fefc04f92f4a07"/>
    <p:sldId xmlns:r="http://schemas.openxmlformats.org/officeDocument/2006/relationships" id="268" r:id="R7948dae914044ec3"/>
    <p:sldId xmlns:r="http://schemas.openxmlformats.org/officeDocument/2006/relationships" id="269" r:id="R5dc490aba8134328"/>
    <p:sldId xmlns:r="http://schemas.openxmlformats.org/officeDocument/2006/relationships" id="270" r:id="R5a3bf54dc3c644d6"/>
    <p:sldId xmlns:r="http://schemas.openxmlformats.org/officeDocument/2006/relationships" id="271" r:id="R78a14592b35c4950"/>
    <p:sldId xmlns:r="http://schemas.openxmlformats.org/officeDocument/2006/relationships" id="272" r:id="R4d791883fc834dd5"/>
    <p:sldId xmlns:r="http://schemas.openxmlformats.org/officeDocument/2006/relationships" id="273" r:id="R3d2acc64220645fb"/>
    <p:sldId xmlns:r="http://schemas.openxmlformats.org/officeDocument/2006/relationships" id="274" r:id="R45c7079c9e514f9d"/>
    <p:sldId xmlns:r="http://schemas.openxmlformats.org/officeDocument/2006/relationships" id="275" r:id="R4d41889caf5d4207"/>
    <p:sldId xmlns:r="http://schemas.openxmlformats.org/officeDocument/2006/relationships" id="276" r:id="Rc96e7c852c7742ce"/>
    <p:sldId xmlns:r="http://schemas.openxmlformats.org/officeDocument/2006/relationships" id="277" r:id="Rbfed050e16d845a2"/>
    <p:sldId xmlns:r="http://schemas.openxmlformats.org/officeDocument/2006/relationships" id="278" r:id="Rb2836a8245104822"/>
    <p:sldId xmlns:r="http://schemas.openxmlformats.org/officeDocument/2006/relationships" id="279" r:id="R39d7c82b90db4fd3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e35342e4ef44b4" /><Relationship Type="http://schemas.openxmlformats.org/officeDocument/2006/relationships/slideMaster" Target="/ppt/slideMasters/slideMaster1.xml" Id="Rfc4059c8e1074e7d" /><Relationship Type="http://schemas.openxmlformats.org/officeDocument/2006/relationships/notesMaster" Target="/ppt/notesMasters/notesMaster1.xml" Id="R3942b46f55934da0" /><Relationship Type="http://schemas.openxmlformats.org/officeDocument/2006/relationships/presProps" Target="/ppt/presProps.xml" Id="Rc5e73126a5c049c8" /><Relationship Type="http://schemas.openxmlformats.org/officeDocument/2006/relationships/tableStyles" Target="/ppt/tableStyles.xml" Id="Rd7402e4c5a964ccd" /><Relationship Type="http://schemas.openxmlformats.org/officeDocument/2006/relationships/slide" Target="/ppt/slides/slide1.xml" Id="Rc376cab9e1ab42ab" /><Relationship Type="http://schemas.openxmlformats.org/officeDocument/2006/relationships/slide" Target="/ppt/slides/slide2.xml" Id="Ra9ea79389ee74475" /><Relationship Type="http://schemas.openxmlformats.org/officeDocument/2006/relationships/slide" Target="/ppt/slides/slide3.xml" Id="R7d01540167734516" /><Relationship Type="http://schemas.openxmlformats.org/officeDocument/2006/relationships/slide" Target="/ppt/slides/slide4.xml" Id="Re9adc83f20c64515" /><Relationship Type="http://schemas.openxmlformats.org/officeDocument/2006/relationships/slide" Target="/ppt/slides/slide5.xml" Id="Rfa924737251f45fb" /><Relationship Type="http://schemas.openxmlformats.org/officeDocument/2006/relationships/slide" Target="/ppt/slides/slide6.xml" Id="Rd1dcade5d7e54993" /><Relationship Type="http://schemas.openxmlformats.org/officeDocument/2006/relationships/slide" Target="/ppt/slides/slide7.xml" Id="R30500e1e578146c6" /><Relationship Type="http://schemas.openxmlformats.org/officeDocument/2006/relationships/slide" Target="/ppt/slides/slide8.xml" Id="R1bfb48fd91234762" /><Relationship Type="http://schemas.openxmlformats.org/officeDocument/2006/relationships/slide" Target="/ppt/slides/slide9.xml" Id="R06a637d51d1a4b77" /><Relationship Type="http://schemas.openxmlformats.org/officeDocument/2006/relationships/slide" Target="/ppt/slides/slide10.xml" Id="Rfe386423a1274257" /><Relationship Type="http://schemas.openxmlformats.org/officeDocument/2006/relationships/slide" Target="/ppt/slides/slide11.xml" Id="Rb8e4c9f2193b436f" /><Relationship Type="http://schemas.openxmlformats.org/officeDocument/2006/relationships/slide" Target="/ppt/slides/slide12.xml" Id="Rb4fefc04f92f4a07" /><Relationship Type="http://schemas.openxmlformats.org/officeDocument/2006/relationships/slide" Target="/ppt/slides/slide13.xml" Id="R7948dae914044ec3" /><Relationship Type="http://schemas.openxmlformats.org/officeDocument/2006/relationships/slide" Target="/ppt/slides/slide14.xml" Id="R5dc490aba8134328" /><Relationship Type="http://schemas.openxmlformats.org/officeDocument/2006/relationships/slide" Target="/ppt/slides/slide15.xml" Id="R5a3bf54dc3c644d6" /><Relationship Type="http://schemas.openxmlformats.org/officeDocument/2006/relationships/slide" Target="/ppt/slides/slide16.xml" Id="R78a14592b35c4950" /><Relationship Type="http://schemas.openxmlformats.org/officeDocument/2006/relationships/slide" Target="/ppt/slides/slide17.xml" Id="R4d791883fc834dd5" /><Relationship Type="http://schemas.openxmlformats.org/officeDocument/2006/relationships/slide" Target="/ppt/slides/slide18.xml" Id="R3d2acc64220645fb" /><Relationship Type="http://schemas.openxmlformats.org/officeDocument/2006/relationships/slide" Target="/ppt/slides/slide19.xml" Id="R45c7079c9e514f9d" /><Relationship Type="http://schemas.openxmlformats.org/officeDocument/2006/relationships/slide" Target="/ppt/slides/slide20.xml" Id="R4d41889caf5d4207" /><Relationship Type="http://schemas.openxmlformats.org/officeDocument/2006/relationships/slide" Target="/ppt/slides/slide21.xml" Id="Rc96e7c852c7742ce" /><Relationship Type="http://schemas.openxmlformats.org/officeDocument/2006/relationships/slide" Target="/ppt/slides/slide22.xml" Id="Rbfed050e16d845a2" /><Relationship Type="http://schemas.openxmlformats.org/officeDocument/2006/relationships/slide" Target="/ppt/slides/slide23.xml" Id="Rb2836a8245104822" /><Relationship Type="http://schemas.openxmlformats.org/officeDocument/2006/relationships/slide" Target="/ppt/slides/slide24.xml" Id="R39d7c82b90db4f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f2ed6d417e42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63ab6a76834603" /><Relationship Type="http://schemas.openxmlformats.org/officeDocument/2006/relationships/notesMaster" Target="/ppt/notesMasters/notesMaster1.xml" Id="Rbb373551cd1145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dc137e695d40bf" /><Relationship Type="http://schemas.openxmlformats.org/officeDocument/2006/relationships/notesMaster" Target="/ppt/notesMasters/notesMaster1.xml" Id="Rd7406bdcff3e41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ea8bac86d54992" /><Relationship Type="http://schemas.openxmlformats.org/officeDocument/2006/relationships/notesMaster" Target="/ppt/notesMasters/notesMaster1.xml" Id="R2df617ed450f42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3cc6320df8437b" /><Relationship Type="http://schemas.openxmlformats.org/officeDocument/2006/relationships/notesMaster" Target="/ppt/notesMasters/notesMaster1.xml" Id="Rd2e3d72c43cb49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845bad80b5457d" /><Relationship Type="http://schemas.openxmlformats.org/officeDocument/2006/relationships/notesMaster" Target="/ppt/notesMasters/notesMaster1.xml" Id="R031f73a0883341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117b22fecf4fbd" /><Relationship Type="http://schemas.openxmlformats.org/officeDocument/2006/relationships/notesMaster" Target="/ppt/notesMasters/notesMaster1.xml" Id="R4c16b1403d9f43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9a5f5092bf4d9f" /><Relationship Type="http://schemas.openxmlformats.org/officeDocument/2006/relationships/notesMaster" Target="/ppt/notesMasters/notesMaster1.xml" Id="R08d3b733c9b843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f6efce6d52494a" /><Relationship Type="http://schemas.openxmlformats.org/officeDocument/2006/relationships/notesMaster" Target="/ppt/notesMasters/notesMaster1.xml" Id="R2caf90da32fa42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c3092a728d477c" /><Relationship Type="http://schemas.openxmlformats.org/officeDocument/2006/relationships/notesMaster" Target="/ppt/notesMasters/notesMaster1.xml" Id="R2311bac73e3947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fffece035c4da6" /><Relationship Type="http://schemas.openxmlformats.org/officeDocument/2006/relationships/notesMaster" Target="/ppt/notesMasters/notesMaster1.xml" Id="Rc61b550c81a042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6c7ee4201a490f" /><Relationship Type="http://schemas.openxmlformats.org/officeDocument/2006/relationships/notesMaster" Target="/ppt/notesMasters/notesMaster1.xml" Id="Re1bf326bf27348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9318c7ae7643dc" /><Relationship Type="http://schemas.openxmlformats.org/officeDocument/2006/relationships/notesMaster" Target="/ppt/notesMasters/notesMaster1.xml" Id="R4efc1b684dd24a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efe12ed1f14197" /><Relationship Type="http://schemas.openxmlformats.org/officeDocument/2006/relationships/notesMaster" Target="/ppt/notesMasters/notesMaster1.xml" Id="R39aa1def30854a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30d0d87a24419c" /><Relationship Type="http://schemas.openxmlformats.org/officeDocument/2006/relationships/notesMaster" Target="/ppt/notesMasters/notesMaster1.xml" Id="R87be06cab62d44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bbff2e157f4632" /><Relationship Type="http://schemas.openxmlformats.org/officeDocument/2006/relationships/notesMaster" Target="/ppt/notesMasters/notesMaster1.xml" Id="R3ad71dd0ed3f497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e6a6d8fa7d422a" /><Relationship Type="http://schemas.openxmlformats.org/officeDocument/2006/relationships/notesMaster" Target="/ppt/notesMasters/notesMaster1.xml" Id="Rf5cce8f4864442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351c6cfa87b49a5" /><Relationship Type="http://schemas.openxmlformats.org/officeDocument/2006/relationships/notesMaster" Target="/ppt/notesMasters/notesMaster1.xml" Id="R665d483ee69641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d95c197cd7c40ea" /><Relationship Type="http://schemas.openxmlformats.org/officeDocument/2006/relationships/notesMaster" Target="/ppt/notesMasters/notesMaster1.xml" Id="Rf2290d85fd9d430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e132baf3a04fe2" /><Relationship Type="http://schemas.openxmlformats.org/officeDocument/2006/relationships/notesMaster" Target="/ppt/notesMasters/notesMaster1.xml" Id="R938a8bd97a6c46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50a25a351d74f5c" /><Relationship Type="http://schemas.openxmlformats.org/officeDocument/2006/relationships/notesMaster" Target="/ppt/notesMasters/notesMaster1.xml" Id="Rb9df4c9009e342a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7f63403089044a7" /><Relationship Type="http://schemas.openxmlformats.org/officeDocument/2006/relationships/notesMaster" Target="/ppt/notesMasters/notesMaster1.xml" Id="R07aec4aaa8a344e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4f33c8cdb354b7d" /><Relationship Type="http://schemas.openxmlformats.org/officeDocument/2006/relationships/notesMaster" Target="/ppt/notesMasters/notesMaster1.xml" Id="R2b54e3f2527e420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9a2287e66d641fa" /><Relationship Type="http://schemas.openxmlformats.org/officeDocument/2006/relationships/notesMaster" Target="/ppt/notesMasters/notesMaster1.xml" Id="R2f18f13203d54f6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705d1ff434d4f00" /><Relationship Type="http://schemas.openxmlformats.org/officeDocument/2006/relationships/notesMaster" Target="/ppt/notesMasters/notesMaster1.xml" Id="Rd072e1cdfa924b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  <a:p xmlns:a="http://schemas.openxmlformats.org/drawingml/2006/main">
            <a:r>
              <a:t>- D:/work/data-editing-system/frontend/config/menu.config.js (menu structure,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  <a:p xmlns:a="http://schemas.openxmlformats.org/drawingml/2006/main">
            <a:r>
              <a:t>- D:/work/data-editing-system/frontend/config/menu.config.js (active menu structure,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  <a:p xmlns:a="http://schemas.openxmlformats.org/drawingml/2006/main">
            <a:r>
              <a:t>- D:/work/data-editing-system/frontend/config/menu.config.js (menu codes and labels,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  <a:p xmlns:a="http://schemas.openxmlformats.org/drawingml/2006/main">
            <a:r>
              <a:t>- D:/work/data-editing-system/frontend/config/menu.config.js (menu codes and labels,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  <a:p xmlns:a="http://schemas.openxmlformats.org/drawingml/2006/main">
            <a:r>
              <a:t>- D:/work/data-editing-system/frontend/config/menu.config.js (menu codes and labels,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a8e84f6024e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5de75f4d9d418a" /><Relationship Type="http://schemas.openxmlformats.org/officeDocument/2006/relationships/slideLayout" Target="/ppt/slideLayouts/slideLayout1.xml" Id="R8d893ca295174d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893ca295174d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90670b2b248e1" /><Relationship Type="http://schemas.openxmlformats.org/officeDocument/2006/relationships/image" Target="/ppt/media/image.png" Id="Rabc9b0ea129644bb" /><Relationship Type="http://schemas.openxmlformats.org/officeDocument/2006/relationships/image" Target="/ppt/media/image2.png" Id="R82b5064ce50941be" /><Relationship Type="http://schemas.openxmlformats.org/officeDocument/2006/relationships/notesSlide" Target="/ppt/notesSlides/notesSlide1.xml" Id="R7a31f543f3c741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d04e2de244bcc" /><Relationship Type="http://schemas.openxmlformats.org/officeDocument/2006/relationships/notesSlide" Target="/ppt/notesSlides/notesSlide2.xml" Id="R26393500422143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548097e9f45bf" /><Relationship Type="http://schemas.openxmlformats.org/officeDocument/2006/relationships/notesSlide" Target="/ppt/notesSlides/notesSlide3.xml" Id="Ra8d70cb852a74d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1e84480844273" /><Relationship Type="http://schemas.openxmlformats.org/officeDocument/2006/relationships/notesSlide" Target="/ppt/notesSlides/notesSlide4.xml" Id="Ra9ab66a4a4614a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7298f38f34bef" /><Relationship Type="http://schemas.openxmlformats.org/officeDocument/2006/relationships/notesSlide" Target="/ppt/notesSlides/notesSlide5.xml" Id="R8f8279e843034b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dc68ba4194bab" /><Relationship Type="http://schemas.openxmlformats.org/officeDocument/2006/relationships/notesSlide" Target="/ppt/notesSlides/notesSlide6.xml" Id="R77dce657970e45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8f92ec4f34789" /><Relationship Type="http://schemas.openxmlformats.org/officeDocument/2006/relationships/notesSlide" Target="/ppt/notesSlides/notesSlide7.xml" Id="Rb8fb5da4fcae4c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c8860ffd04270" /><Relationship Type="http://schemas.openxmlformats.org/officeDocument/2006/relationships/notesSlide" Target="/ppt/notesSlides/notesSlide8.xml" Id="R7593929e968940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cdf00ba7c475d" /><Relationship Type="http://schemas.openxmlformats.org/officeDocument/2006/relationships/notesSlide" Target="/ppt/notesSlides/notesSlide9.xml" Id="R1c4240de723b4e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2cc67a23041c6" /><Relationship Type="http://schemas.openxmlformats.org/officeDocument/2006/relationships/notesSlide" Target="/ppt/notesSlides/notesSlide10.xml" Id="R91b892b6bf6f4a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e733806a84b38" /><Relationship Type="http://schemas.openxmlformats.org/officeDocument/2006/relationships/notesSlide" Target="/ppt/notesSlides/notesSlide11.xml" Id="R1aba1856dbe846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19062c5854a98" /><Relationship Type="http://schemas.openxmlformats.org/officeDocument/2006/relationships/notesSlide" Target="/ppt/notesSlides/notesSlide12.xml" Id="R93e02d815a404a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aba1dd16b4290" /><Relationship Type="http://schemas.openxmlformats.org/officeDocument/2006/relationships/notesSlide" Target="/ppt/notesSlides/notesSlide13.xml" Id="R5af9682d16604d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9dae8bc584512" /><Relationship Type="http://schemas.openxmlformats.org/officeDocument/2006/relationships/notesSlide" Target="/ppt/notesSlides/notesSlide14.xml" Id="Rd040d551061341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c2a4edf694d86" /><Relationship Type="http://schemas.openxmlformats.org/officeDocument/2006/relationships/notesSlide" Target="/ppt/notesSlides/notesSlide15.xml" Id="Raf415cde7ad64b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16793b4054455" /><Relationship Type="http://schemas.openxmlformats.org/officeDocument/2006/relationships/notesSlide" Target="/ppt/notesSlides/notesSlide16.xml" Id="R0e943930f10247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0bf62ef4b44a0" /><Relationship Type="http://schemas.openxmlformats.org/officeDocument/2006/relationships/notesSlide" Target="/ppt/notesSlides/notesSlide17.xml" Id="R60be1eb8a8fe4ee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b6e0d559b4321" /><Relationship Type="http://schemas.openxmlformats.org/officeDocument/2006/relationships/notesSlide" Target="/ppt/notesSlides/notesSlide18.xml" Id="R3d283da7b01b48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ec2ddabf147db" /><Relationship Type="http://schemas.openxmlformats.org/officeDocument/2006/relationships/notesSlide" Target="/ppt/notesSlides/notesSlide19.xml" Id="R7cf92e92f02b422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460485fea471d" /><Relationship Type="http://schemas.openxmlformats.org/officeDocument/2006/relationships/notesSlide" Target="/ppt/notesSlides/notesSlide20.xml" Id="Rdd744c9427ac472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8b764c398416d" /><Relationship Type="http://schemas.openxmlformats.org/officeDocument/2006/relationships/notesSlide" Target="/ppt/notesSlides/notesSlide21.xml" Id="R530549f924bb4c3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cf74902674ecf" /><Relationship Type="http://schemas.openxmlformats.org/officeDocument/2006/relationships/notesSlide" Target="/ppt/notesSlides/notesSlide22.xml" Id="R454ac2164aa14e2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9077c537e4deb" /><Relationship Type="http://schemas.openxmlformats.org/officeDocument/2006/relationships/notesSlide" Target="/ppt/notesSlides/notesSlide23.xml" Id="R5eb476621d42457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c2c05da7441bd" /><Relationship Type="http://schemas.openxmlformats.org/officeDocument/2006/relationships/image" Target="/ppt/media/image3.png" Id="R2bff7d82cda4411a" /><Relationship Type="http://schemas.openxmlformats.org/officeDocument/2006/relationships/image" Target="/ppt/media/image4.png" Id="R44c4752784db454b" /><Relationship Type="http://schemas.openxmlformats.org/officeDocument/2006/relationships/notesSlide" Target="/ppt/notesSlides/notesSlide24.xml" Id="R6fa88488bd4d4d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top">
            <a:extLst xmlns:a="http://schemas.openxmlformats.org/drawingml/2006/main">
              <a:ext uri="{FF2B5EF4-FFF2-40B4-BE49-F238E27FC236}">
                <a16:creationId xmlns:a16="http://schemas.microsoft.com/office/drawing/2014/main" id="{8B9F83B1-2E81-4FA7-A4C7-02376268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5A"/>
          </a:solidFill>
          <a:ln xmlns:a="http://schemas.openxmlformats.org/drawingml/2006/main" w="0">
            <a:solidFill>
              <a:srgbClr val="15255A"/>
            </a:solidFill>
            <a:prstDash val="solid"/>
          </a:ln>
        </p:spPr>
      </p:sp>
      <p:sp>
        <p:nvSpPr>
          <p:cNvPr id="2" name="cover-right">
            <a:extLst xmlns:a="http://schemas.openxmlformats.org/drawingml/2006/main">
              <a:ext uri="{FF2B5EF4-FFF2-40B4-BE49-F238E27FC236}">
                <a16:creationId xmlns:a16="http://schemas.microsoft.com/office/drawing/2014/main" id="{5DCF78F7-ADFE-4B80-A7E3-F5FA5C69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118110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3" name="cover-right-accent">
            <a:extLst xmlns:a="http://schemas.openxmlformats.org/drawingml/2006/main">
              <a:ext uri="{FF2B5EF4-FFF2-40B4-BE49-F238E27FC236}">
                <a16:creationId xmlns:a16="http://schemas.microsoft.com/office/drawing/2014/main" id="{ECA4E9C5-2441-4A86-AEE6-80D9D403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76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9b0ea129644bb"/>
          <a:stretch xmlns:a="http://schemas.openxmlformats.org/drawingml/2006/main"/>
        </p:blipFill>
        <p:spPr>
          <a:xfrm xmlns:a="http://schemas.openxmlformats.org/drawingml/2006/main">
            <a:off x="591776" y="742950"/>
            <a:ext cx="5331549" cy="1666875"/>
          </a:xfrm>
          <a:prstGeom xmlns:a="http://schemas.openxmlformats.org/drawingml/2006/main" prst="rect">
            <a:avLst/>
          </a:prstGeom>
        </p:spPr>
      </p:pic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EA02065-7480-4299-A15E-18A72CD0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718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SYSTEM INTRODUCTION · PRINT EDITION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D5902FE-96B2-4871-AFED-218857B0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5476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인아이티 데이터 에디팅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플랫폼 시스템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92F07B6-D5FD-4E11-B275-639E4AE9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91175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데이터 선정부터 규칙 발굴, 검토·수정, 운영 반영까지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하나의 추적 가능한 흐름으로 연결하는 IN-DEPS 시스템 소개서</a:t>
            </a:r>
          </a:p>
        </p:txBody>
      </p:sp>
      <p:sp>
        <p:nvSpPr>
          <p:cNvPr id="8" name="cover-statement-line">
            <a:extLst xmlns:a="http://schemas.openxmlformats.org/drawingml/2006/main">
              <a:ext uri="{FF2B5EF4-FFF2-40B4-BE49-F238E27FC236}">
                <a16:creationId xmlns:a16="http://schemas.microsoft.com/office/drawing/2014/main" id="{39941108-E9A9-4B36-8419-B3F64D1D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675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9" name="cover-statement">
            <a:extLst xmlns:a="http://schemas.openxmlformats.org/drawingml/2006/main">
              <a:ext uri="{FF2B5EF4-FFF2-40B4-BE49-F238E27FC236}">
                <a16:creationId xmlns:a16="http://schemas.microsoft.com/office/drawing/2014/main" id="{46AFC39A-8367-4BF5-946F-3B689911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rPr>
              <a:t>근거를 만들고, 사람이 결정하며,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rPr>
              <a:t>모든 변경을 Run과 감사 이력으로 추적합니다.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5064ce50941be"/>
          <a:stretch xmlns:a="http://schemas.openxmlformats.org/drawingml/2006/main"/>
        </p:blipFill>
        <p:spPr>
          <a:xfrm xmlns:a="http://schemas.openxmlformats.org/drawingml/2006/main">
            <a:off x="590550" y="9375619"/>
            <a:ext cx="1866900" cy="527363"/>
          </a:xfrm>
          <a:prstGeom xmlns:a="http://schemas.openxmlformats.org/drawingml/2006/main" prst="rect">
            <a:avLst/>
          </a:prstGeom>
        </p:spPr>
      </p:pic>
      <p:sp>
        <p:nvSpPr>
          <p:cNvPr id="11" name="cover-edition">
            <a:extLst xmlns:a="http://schemas.openxmlformats.org/drawingml/2006/main">
              <a:ext uri="{FF2B5EF4-FFF2-40B4-BE49-F238E27FC236}">
                <a16:creationId xmlns:a16="http://schemas.microsoft.com/office/drawing/2014/main" id="{51B6620D-71D3-45B6-BAAF-D84CF708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544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A4 PORTRAIT · EDITABLE POWERPOINT + PRINT PDF</a:t>
            </a:r>
          </a:p>
        </p:txBody>
      </p:sp>
    </p:spTree>
    <p:extLst>
      <p:ext uri="{BB962C8B-B14F-4D97-AF65-F5344CB8AC3E}">
        <p14:creationId xmlns:p14="http://schemas.microsoft.com/office/powerpoint/2010/main" val="1391132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age-2-rail">
            <a:extLst xmlns:a="http://schemas.openxmlformats.org/drawingml/2006/main">
              <a:ext uri="{FF2B5EF4-FFF2-40B4-BE49-F238E27FC236}">
                <a16:creationId xmlns:a16="http://schemas.microsoft.com/office/drawing/2014/main" id="{AC79B073-2329-4E13-B3E8-4692E60E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2" name="page-2-chapter">
            <a:extLst xmlns:a="http://schemas.openxmlformats.org/drawingml/2006/main">
              <a:ext uri="{FF2B5EF4-FFF2-40B4-BE49-F238E27FC236}">
                <a16:creationId xmlns:a16="http://schemas.microsoft.com/office/drawing/2014/main" id="{66394D07-2ABC-4927-9E9C-D1F3C498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INTRODUCTION</a:t>
            </a:r>
          </a:p>
        </p:txBody>
      </p:sp>
      <p:sp>
        <p:nvSpPr>
          <p:cNvPr id="3" name="page-2-title">
            <a:extLst xmlns:a="http://schemas.openxmlformats.org/drawingml/2006/main">
              <a:ext uri="{FF2B5EF4-FFF2-40B4-BE49-F238E27FC236}">
                <a16:creationId xmlns:a16="http://schemas.microsoft.com/office/drawing/2014/main" id="{CC4562A5-44CA-41B4-84CB-E1EE03FB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하나의 흐름으로 데이터 품질을 관리합니다</a:t>
            </a:r>
          </a:p>
        </p:txBody>
      </p:sp>
      <p:sp>
        <p:nvSpPr>
          <p:cNvPr id="4" name="page-2-subtitle">
            <a:extLst xmlns:a="http://schemas.openxmlformats.org/drawingml/2006/main">
              <a:ext uri="{FF2B5EF4-FFF2-40B4-BE49-F238E27FC236}">
                <a16:creationId xmlns:a16="http://schemas.microsoft.com/office/drawing/2014/main" id="{742422FC-3B7C-419A-88A1-96B7E893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IN-DEPS는 분석 모델만 제공하는 도구가 아니라, 데이터 품질 판단의 근거와 사람이 승인한 변경 과정을 함께 관리하는 데이터 에디팅 플랫폼입니다.</a:t>
            </a:r>
          </a:p>
        </p:txBody>
      </p:sp>
      <p:sp>
        <p:nvSpPr>
          <p:cNvPr id="5" name="page-2-top-rule">
            <a:extLst xmlns:a="http://schemas.openxmlformats.org/drawingml/2006/main">
              <a:ext uri="{FF2B5EF4-FFF2-40B4-BE49-F238E27FC236}">
                <a16:creationId xmlns:a16="http://schemas.microsoft.com/office/drawing/2014/main" id="{A98A30F0-B847-4476-B04A-4F23AF38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2-footer-rule">
            <a:extLst xmlns:a="http://schemas.openxmlformats.org/drawingml/2006/main">
              <a:ext uri="{FF2B5EF4-FFF2-40B4-BE49-F238E27FC236}">
                <a16:creationId xmlns:a16="http://schemas.microsoft.com/office/drawing/2014/main" id="{DFC85992-0440-448C-81F1-27A72922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2-footer-name">
            <a:extLst xmlns:a="http://schemas.openxmlformats.org/drawingml/2006/main">
              <a:ext uri="{FF2B5EF4-FFF2-40B4-BE49-F238E27FC236}">
                <a16:creationId xmlns:a16="http://schemas.microsoft.com/office/drawing/2014/main" id="{4ED570D9-C1D7-4CEB-B877-A80303E5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2-footer-number">
            <a:extLst xmlns:a="http://schemas.openxmlformats.org/drawingml/2006/main">
              <a:ext uri="{FF2B5EF4-FFF2-40B4-BE49-F238E27FC236}">
                <a16:creationId xmlns:a16="http://schemas.microsoft.com/office/drawing/2014/main" id="{2A020B0D-606C-4C7D-9E1B-94C3BBD8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p2-big-statement">
            <a:extLst xmlns:a="http://schemas.openxmlformats.org/drawingml/2006/main">
              <a:ext uri="{FF2B5EF4-FFF2-40B4-BE49-F238E27FC236}">
                <a16:creationId xmlns:a16="http://schemas.microsoft.com/office/drawing/2014/main" id="{54285BBB-CFA8-40BA-8997-45DAB1D4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rPr>
              <a:t>발견 → 검토 → 수정 → 검증 → 반영</a:t>
            </a:r>
          </a:p>
        </p:txBody>
      </p:sp>
      <p:sp>
        <p:nvSpPr>
          <p:cNvPr id="10" name="p2-big-caption">
            <a:extLst xmlns:a="http://schemas.openxmlformats.org/drawingml/2006/main">
              <a:ext uri="{FF2B5EF4-FFF2-40B4-BE49-F238E27FC236}">
                <a16:creationId xmlns:a16="http://schemas.microsoft.com/office/drawing/2014/main" id="{72C544D3-1314-41F1-B063-91972066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5695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각 단계는 독립된 책임을 가지며, 모든 실행은 프로젝트·시나리오·Target DB·Flow Run 컨텍스트 안에서 연결됩니다.</a:t>
            </a:r>
          </a:p>
        </p:txBody>
      </p:sp>
      <p:sp>
        <p:nvSpPr>
          <p:cNvPr id="11" name="p2-trace-fill">
            <a:extLst xmlns:a="http://schemas.openxmlformats.org/drawingml/2006/main">
              <a:ext uri="{FF2B5EF4-FFF2-40B4-BE49-F238E27FC236}">
                <a16:creationId xmlns:a16="http://schemas.microsoft.com/office/drawing/2014/main" id="{46D2479B-541B-4CA7-8996-D3BDB7A4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638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2" name="p2-trace-accent">
            <a:extLst xmlns:a="http://schemas.openxmlformats.org/drawingml/2006/main">
              <a:ext uri="{FF2B5EF4-FFF2-40B4-BE49-F238E27FC236}">
                <a16:creationId xmlns:a16="http://schemas.microsoft.com/office/drawing/2014/main" id="{F250D917-0C17-4ACB-8601-FC8AC997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3" name="p2-trace-kicker">
            <a:extLst xmlns:a="http://schemas.openxmlformats.org/drawingml/2006/main">
              <a:ext uri="{FF2B5EF4-FFF2-40B4-BE49-F238E27FC236}">
                <a16:creationId xmlns:a16="http://schemas.microsoft.com/office/drawing/2014/main" id="{BE10C95C-6E2C-4961-A12F-CB166493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TRACEABILITY</a:t>
            </a:r>
          </a:p>
        </p:txBody>
      </p:sp>
      <p:sp>
        <p:nvSpPr>
          <p:cNvPr id="14" name="p2-trace-title">
            <a:extLst xmlns:a="http://schemas.openxmlformats.org/drawingml/2006/main">
              <a:ext uri="{FF2B5EF4-FFF2-40B4-BE49-F238E27FC236}">
                <a16:creationId xmlns:a16="http://schemas.microsoft.com/office/drawing/2014/main" id="{50EA0690-F6C6-4C77-AFCB-80EE24E1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근거가 남는 분석</a:t>
            </a:r>
          </a:p>
        </p:txBody>
      </p:sp>
      <p:sp>
        <p:nvSpPr>
          <p:cNvPr id="15" name="p2-trace-body">
            <a:extLst xmlns:a="http://schemas.openxmlformats.org/drawingml/2006/main">
              <a:ext uri="{FF2B5EF4-FFF2-40B4-BE49-F238E27FC236}">
                <a16:creationId xmlns:a16="http://schemas.microsoft.com/office/drawing/2014/main" id="{EC66951B-5E87-4DFF-B1D4-64B696F1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00550"/>
            <a:ext cx="331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컬럼 프로파일, 관계 지표, 규칙 품질, 위반 상세와 실제 Run 파라미터를 함께 보존합니다.</a:t>
            </a:r>
          </a:p>
        </p:txBody>
      </p:sp>
      <p:sp>
        <p:nvSpPr>
          <p:cNvPr id="16" name="p2-human-fill">
            <a:extLst xmlns:a="http://schemas.openxmlformats.org/drawingml/2006/main">
              <a:ext uri="{FF2B5EF4-FFF2-40B4-BE49-F238E27FC236}">
                <a16:creationId xmlns:a16="http://schemas.microsoft.com/office/drawing/2014/main" id="{AEC36A41-07B4-498A-AC50-98616D0B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638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0">
            <a:solidFill>
              <a:srgbClr val="E9F5F4"/>
            </a:solidFill>
            <a:prstDash val="solid"/>
          </a:ln>
        </p:spPr>
      </p:sp>
      <p:sp>
        <p:nvSpPr>
          <p:cNvPr id="17" name="p2-human-accent">
            <a:extLst xmlns:a="http://schemas.openxmlformats.org/drawingml/2006/main">
              <a:ext uri="{FF2B5EF4-FFF2-40B4-BE49-F238E27FC236}">
                <a16:creationId xmlns:a16="http://schemas.microsoft.com/office/drawing/2014/main" id="{64307583-B92B-44CE-8D9E-F2D92A7D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18" name="p2-human-kicker">
            <a:extLst xmlns:a="http://schemas.openxmlformats.org/drawingml/2006/main">
              <a:ext uri="{FF2B5EF4-FFF2-40B4-BE49-F238E27FC236}">
                <a16:creationId xmlns:a16="http://schemas.microsoft.com/office/drawing/2014/main" id="{7877740B-1CD6-4816-92DC-1A6D7C01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912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HUMAN REVIEW</a:t>
            </a:r>
          </a:p>
        </p:txBody>
      </p:sp>
      <p:sp>
        <p:nvSpPr>
          <p:cNvPr id="19" name="p2-human-title">
            <a:extLst xmlns:a="http://schemas.openxmlformats.org/drawingml/2006/main">
              <a:ext uri="{FF2B5EF4-FFF2-40B4-BE49-F238E27FC236}">
                <a16:creationId xmlns:a16="http://schemas.microsoft.com/office/drawing/2014/main" id="{2CF149EF-C02E-45FB-8D53-E723A2DA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388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사람이 내리는 결정</a:t>
            </a:r>
          </a:p>
        </p:txBody>
      </p:sp>
      <p:sp>
        <p:nvSpPr>
          <p:cNvPr id="20" name="p2-human-body">
            <a:extLst xmlns:a="http://schemas.openxmlformats.org/drawingml/2006/main">
              <a:ext uri="{FF2B5EF4-FFF2-40B4-BE49-F238E27FC236}">
                <a16:creationId xmlns:a16="http://schemas.microsoft.com/office/drawing/2014/main" id="{6E467935-04FF-4D85-955B-0FEE3566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829300"/>
            <a:ext cx="331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모델과 Rule 결과는 후보를 만들고, 최종 규칙 선정과 데이터 수정·운영 반영은 검토와 권한을 통과합니다.</a:t>
            </a:r>
          </a:p>
        </p:txBody>
      </p:sp>
      <p:sp>
        <p:nvSpPr>
          <p:cNvPr id="21" name="p2-control-fill">
            <a:extLst xmlns:a="http://schemas.openxmlformats.org/drawingml/2006/main">
              <a:ext uri="{FF2B5EF4-FFF2-40B4-BE49-F238E27FC236}">
                <a16:creationId xmlns:a16="http://schemas.microsoft.com/office/drawing/2014/main" id="{2C48DBDB-E033-4C32-892B-7AC30065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48500"/>
            <a:ext cx="638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0">
            <a:solidFill>
              <a:srgbClr val="ECF5EF"/>
            </a:solidFill>
            <a:prstDash val="solid"/>
          </a:ln>
        </p:spPr>
      </p:sp>
      <p:sp>
        <p:nvSpPr>
          <p:cNvPr id="22" name="p2-control-accent">
            <a:extLst xmlns:a="http://schemas.openxmlformats.org/drawingml/2006/main">
              <a:ext uri="{FF2B5EF4-FFF2-40B4-BE49-F238E27FC236}">
                <a16:creationId xmlns:a16="http://schemas.microsoft.com/office/drawing/2014/main" id="{BB9C1589-5E30-4B0B-AB4C-889178D9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485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23" name="p2-control-kicker">
            <a:extLst xmlns:a="http://schemas.openxmlformats.org/drawingml/2006/main">
              <a:ext uri="{FF2B5EF4-FFF2-40B4-BE49-F238E27FC236}">
                <a16:creationId xmlns:a16="http://schemas.microsoft.com/office/drawing/2014/main" id="{3323CBEB-3A08-4E98-8D0F-3C9828CF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199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rPr>
              <a:t>CONTROLLED CHANGE</a:t>
            </a:r>
          </a:p>
        </p:txBody>
      </p:sp>
      <p:sp>
        <p:nvSpPr>
          <p:cNvPr id="24" name="p2-control-title">
            <a:extLst xmlns:a="http://schemas.openxmlformats.org/drawingml/2006/main">
              <a:ext uri="{FF2B5EF4-FFF2-40B4-BE49-F238E27FC236}">
                <a16:creationId xmlns:a16="http://schemas.microsoft.com/office/drawing/2014/main" id="{4A4672D0-87EA-4A8A-B568-AC8B2B3D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676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통제되는 운영 반영</a:t>
            </a:r>
          </a:p>
        </p:txBody>
      </p:sp>
      <p:sp>
        <p:nvSpPr>
          <p:cNvPr id="25" name="p2-control-body">
            <a:extLst xmlns:a="http://schemas.openxmlformats.org/drawingml/2006/main">
              <a:ext uri="{FF2B5EF4-FFF2-40B4-BE49-F238E27FC236}">
                <a16:creationId xmlns:a16="http://schemas.microsoft.com/office/drawing/2014/main" id="{9E65A64F-0A9E-45E5-A948-CA0DC6D7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7258050"/>
            <a:ext cx="331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원본 기준본, 편집본, 효과 검증과 버전 DML을 분리해 자동 탐지가 원본 변경으로 직결되지 않도록 설계합니다.</a:t>
            </a:r>
          </a:p>
        </p:txBody>
      </p:sp>
      <p:sp>
        <p:nvSpPr>
          <p:cNvPr id="26" name="p2-callout-fill">
            <a:extLst xmlns:a="http://schemas.openxmlformats.org/drawingml/2006/main">
              <a:ext uri="{FF2B5EF4-FFF2-40B4-BE49-F238E27FC236}">
                <a16:creationId xmlns:a16="http://schemas.microsoft.com/office/drawing/2014/main" id="{01FE88E6-9876-4449-8652-CFE065B8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629650"/>
            <a:ext cx="638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27" name="p2-callout-accent">
            <a:extLst xmlns:a="http://schemas.openxmlformats.org/drawingml/2006/main">
              <a:ext uri="{FF2B5EF4-FFF2-40B4-BE49-F238E27FC236}">
                <a16:creationId xmlns:a16="http://schemas.microsoft.com/office/drawing/2014/main" id="{5D6616BE-E053-4CFC-B929-DF54AF11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6296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8" name="p2-callout-text">
            <a:extLst xmlns:a="http://schemas.openxmlformats.org/drawingml/2006/main">
              <a:ext uri="{FF2B5EF4-FFF2-40B4-BE49-F238E27FC236}">
                <a16:creationId xmlns:a16="http://schemas.microsoft.com/office/drawing/2014/main" id="{7E61DD78-C8E3-4682-A365-7E431D10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801100"/>
            <a:ext cx="598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핵심 원칙 · 좋은 결과는 실행 성공 여부가 아니라, 설명 가능한 근거와 검토 가능한 변경 과정으로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27790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age-3-rail">
            <a:extLst xmlns:a="http://schemas.openxmlformats.org/drawingml/2006/main">
              <a:ext uri="{FF2B5EF4-FFF2-40B4-BE49-F238E27FC236}">
                <a16:creationId xmlns:a16="http://schemas.microsoft.com/office/drawing/2014/main" id="{C57C9E5A-FB60-4F5E-B7CB-85840A24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" name="page-3-chapter">
            <a:extLst xmlns:a="http://schemas.openxmlformats.org/drawingml/2006/main">
              <a:ext uri="{FF2B5EF4-FFF2-40B4-BE49-F238E27FC236}">
                <a16:creationId xmlns:a16="http://schemas.microsoft.com/office/drawing/2014/main" id="{5BCF2B38-A40F-4498-AA1A-898E19F8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GUIDE MAP</a:t>
            </a:r>
          </a:p>
        </p:txBody>
      </p:sp>
      <p:sp>
        <p:nvSpPr>
          <p:cNvPr id="3" name="page-3-title">
            <a:extLst xmlns:a="http://schemas.openxmlformats.org/drawingml/2006/main">
              <a:ext uri="{FF2B5EF4-FFF2-40B4-BE49-F238E27FC236}">
                <a16:creationId xmlns:a16="http://schemas.microsoft.com/office/drawing/2014/main" id="{81421354-4D41-4B4F-B9F6-D9A897C2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이 소개서는 업무 흐름을 따라 읽도록 구성했습니다</a:t>
            </a:r>
          </a:p>
        </p:txBody>
      </p:sp>
      <p:sp>
        <p:nvSpPr>
          <p:cNvPr id="4" name="page-3-subtitle">
            <a:extLst xmlns:a="http://schemas.openxmlformats.org/drawingml/2006/main">
              <a:ext uri="{FF2B5EF4-FFF2-40B4-BE49-F238E27FC236}">
                <a16:creationId xmlns:a16="http://schemas.microsoft.com/office/drawing/2014/main" id="{95CB85E2-171C-4E4C-9B95-7B5E2D4B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웹 페이지의 섹션 순서를 그대로 인쇄하지 않고, 하나의 질문에 한 페이지가 답하도록 내용을 다시 묶었습니다.</a:t>
            </a:r>
          </a:p>
        </p:txBody>
      </p:sp>
      <p:sp>
        <p:nvSpPr>
          <p:cNvPr id="5" name="page-3-top-rule">
            <a:extLst xmlns:a="http://schemas.openxmlformats.org/drawingml/2006/main">
              <a:ext uri="{FF2B5EF4-FFF2-40B4-BE49-F238E27FC236}">
                <a16:creationId xmlns:a16="http://schemas.microsoft.com/office/drawing/2014/main" id="{EA710BDF-A432-403C-9FCD-075DE11B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3-footer-rule">
            <a:extLst xmlns:a="http://schemas.openxmlformats.org/drawingml/2006/main">
              <a:ext uri="{FF2B5EF4-FFF2-40B4-BE49-F238E27FC236}">
                <a16:creationId xmlns:a16="http://schemas.microsoft.com/office/drawing/2014/main" id="{B599D7AE-0628-432A-B1AD-3734F5E8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3-footer-name">
            <a:extLst xmlns:a="http://schemas.openxmlformats.org/drawingml/2006/main">
              <a:ext uri="{FF2B5EF4-FFF2-40B4-BE49-F238E27FC236}">
                <a16:creationId xmlns:a16="http://schemas.microsoft.com/office/drawing/2014/main" id="{35901FC8-0C94-440C-8558-0A719DBD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3-footer-number">
            <a:extLst xmlns:a="http://schemas.openxmlformats.org/drawingml/2006/main">
              <a:ext uri="{FF2B5EF4-FFF2-40B4-BE49-F238E27FC236}">
                <a16:creationId xmlns:a16="http://schemas.microsoft.com/office/drawing/2014/main" id="{0BA6FCC4-6B79-4757-A7A4-D99B4686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p3-num-01-circle">
            <a:extLst xmlns:a="http://schemas.openxmlformats.org/drawingml/2006/main">
              <a:ext uri="{FF2B5EF4-FFF2-40B4-BE49-F238E27FC236}">
                <a16:creationId xmlns:a16="http://schemas.microsoft.com/office/drawing/2014/main" id="{79AB2BB0-7D51-443A-B86F-9F4E57B5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0" name="p3-num-01-number">
            <a:extLst xmlns:a="http://schemas.openxmlformats.org/drawingml/2006/main">
              <a:ext uri="{FF2B5EF4-FFF2-40B4-BE49-F238E27FC236}">
                <a16:creationId xmlns:a16="http://schemas.microsoft.com/office/drawing/2014/main" id="{730A333F-3879-46C5-9920-68048CAE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p3-title-01">
            <a:extLst xmlns:a="http://schemas.openxmlformats.org/drawingml/2006/main">
              <a:ext uri="{FF2B5EF4-FFF2-40B4-BE49-F238E27FC236}">
                <a16:creationId xmlns:a16="http://schemas.microsoft.com/office/drawing/2014/main" id="{A90C5CB7-2A86-4288-BAAC-8F682B1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193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업무 흐름과 시스템 구조</a:t>
            </a:r>
          </a:p>
        </p:txBody>
      </p:sp>
      <p:sp>
        <p:nvSpPr>
          <p:cNvPr id="12" name="p3-desc-01">
            <a:extLst xmlns:a="http://schemas.openxmlformats.org/drawingml/2006/main">
              <a:ext uri="{FF2B5EF4-FFF2-40B4-BE49-F238E27FC236}">
                <a16:creationId xmlns:a16="http://schemas.microsoft.com/office/drawing/2014/main" id="{80DBE902-99C8-4AED-9763-371C9780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전체 프로세스, 아키텍처, 운영 원칙</a:t>
            </a:r>
          </a:p>
        </p:txBody>
      </p:sp>
      <p:sp>
        <p:nvSpPr>
          <p:cNvPr id="13" name="p3-pages-01">
            <a:extLst xmlns:a="http://schemas.openxmlformats.org/drawingml/2006/main">
              <a:ext uri="{FF2B5EF4-FFF2-40B4-BE49-F238E27FC236}">
                <a16:creationId xmlns:a16="http://schemas.microsoft.com/office/drawing/2014/main" id="{F32D2019-9005-465C-95BF-173DC2AE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43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04–06</a:t>
            </a:r>
          </a:p>
        </p:txBody>
      </p:sp>
      <p:sp>
        <p:nvSpPr>
          <p:cNvPr id="14" name="p3-line-0">
            <a:extLst xmlns:a="http://schemas.openxmlformats.org/drawingml/2006/main">
              <a:ext uri="{FF2B5EF4-FFF2-40B4-BE49-F238E27FC236}">
                <a16:creationId xmlns:a16="http://schemas.microsoft.com/office/drawing/2014/main" id="{AD57D3C6-1DFF-432C-B5DE-F8317079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5" name="p3-num-02-circle">
            <a:extLst xmlns:a="http://schemas.openxmlformats.org/drawingml/2006/main">
              <a:ext uri="{FF2B5EF4-FFF2-40B4-BE49-F238E27FC236}">
                <a16:creationId xmlns:a16="http://schemas.microsoft.com/office/drawing/2014/main" id="{FA0C0BDC-2114-48DE-94C0-B0877CDD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6" name="p3-num-02-number">
            <a:extLst xmlns:a="http://schemas.openxmlformats.org/drawingml/2006/main">
              <a:ext uri="{FF2B5EF4-FFF2-40B4-BE49-F238E27FC236}">
                <a16:creationId xmlns:a16="http://schemas.microsoft.com/office/drawing/2014/main" id="{0BE60CEC-6DCD-445A-A6F2-52C6C485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7" name="p3-title-02">
            <a:extLst xmlns:a="http://schemas.openxmlformats.org/drawingml/2006/main">
              <a:ext uri="{FF2B5EF4-FFF2-40B4-BE49-F238E27FC236}">
                <a16:creationId xmlns:a16="http://schemas.microsoft.com/office/drawing/2014/main" id="{389A37F0-9141-415B-BFDA-55C20EFD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242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에디팅 규칙 발굴 4단계</a:t>
            </a:r>
          </a:p>
        </p:txBody>
      </p:sp>
      <p:sp>
        <p:nvSpPr>
          <p:cNvPr id="18" name="p3-desc-02">
            <a:extLst xmlns:a="http://schemas.openxmlformats.org/drawingml/2006/main">
              <a:ext uri="{FF2B5EF4-FFF2-40B4-BE49-F238E27FC236}">
                <a16:creationId xmlns:a16="http://schemas.microsoft.com/office/drawing/2014/main" id="{7497012A-3A2C-4D95-860C-1104B650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컬럼 유형, 관계, 규칙, 위반, SAME_RUN</a:t>
            </a:r>
          </a:p>
        </p:txBody>
      </p:sp>
      <p:sp>
        <p:nvSpPr>
          <p:cNvPr id="19" name="p3-pages-02">
            <a:extLst xmlns:a="http://schemas.openxmlformats.org/drawingml/2006/main">
              <a:ext uri="{FF2B5EF4-FFF2-40B4-BE49-F238E27FC236}">
                <a16:creationId xmlns:a16="http://schemas.microsoft.com/office/drawing/2014/main" id="{B5C17524-345D-4881-9667-70E2CEAE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481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07–11</a:t>
            </a:r>
          </a:p>
        </p:txBody>
      </p:sp>
      <p:sp>
        <p:nvSpPr>
          <p:cNvPr id="20" name="p3-line-1">
            <a:extLst xmlns:a="http://schemas.openxmlformats.org/drawingml/2006/main">
              <a:ext uri="{FF2B5EF4-FFF2-40B4-BE49-F238E27FC236}">
                <a16:creationId xmlns:a16="http://schemas.microsoft.com/office/drawing/2014/main" id="{C63C8DB8-8539-40D2-A2ED-FC26B971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1" name="p3-num-03-circle">
            <a:extLst xmlns:a="http://schemas.openxmlformats.org/drawingml/2006/main">
              <a:ext uri="{FF2B5EF4-FFF2-40B4-BE49-F238E27FC236}">
                <a16:creationId xmlns:a16="http://schemas.microsoft.com/office/drawing/2014/main" id="{D64317E2-020B-4F52-8325-AE10FF41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2" name="p3-num-03-number">
            <a:extLst xmlns:a="http://schemas.openxmlformats.org/drawingml/2006/main">
              <a:ext uri="{FF2B5EF4-FFF2-40B4-BE49-F238E27FC236}">
                <a16:creationId xmlns:a16="http://schemas.microsoft.com/office/drawing/2014/main" id="{ABB9158C-51F7-4F58-8744-ACCE4F3C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p3-title-03">
            <a:extLst xmlns:a="http://schemas.openxmlformats.org/drawingml/2006/main">
              <a:ext uri="{FF2B5EF4-FFF2-40B4-BE49-F238E27FC236}">
                <a16:creationId xmlns:a16="http://schemas.microsoft.com/office/drawing/2014/main" id="{273CE4E8-062E-4340-B4F1-05DBB6C7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291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Flow 실행과 결과 해석</a:t>
            </a:r>
          </a:p>
        </p:txBody>
      </p:sp>
      <p:sp>
        <p:nvSpPr>
          <p:cNvPr id="24" name="p3-desc-03">
            <a:extLst xmlns:a="http://schemas.openxmlformats.org/drawingml/2006/main">
              <a:ext uri="{FF2B5EF4-FFF2-40B4-BE49-F238E27FC236}">
                <a16:creationId xmlns:a16="http://schemas.microsoft.com/office/drawing/2014/main" id="{55B1177E-1D28-4783-8953-FD09EBE0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DAG 검증, 실행 경로, 상태 해석</a:t>
            </a:r>
          </a:p>
        </p:txBody>
      </p:sp>
      <p:sp>
        <p:nvSpPr>
          <p:cNvPr id="25" name="p3-pages-03">
            <a:extLst xmlns:a="http://schemas.openxmlformats.org/drawingml/2006/main">
              <a:ext uri="{FF2B5EF4-FFF2-40B4-BE49-F238E27FC236}">
                <a16:creationId xmlns:a16="http://schemas.microsoft.com/office/drawing/2014/main" id="{1DBC3191-B284-4961-B0BB-6B7F341D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12–14</a:t>
            </a:r>
          </a:p>
        </p:txBody>
      </p:sp>
      <p:sp>
        <p:nvSpPr>
          <p:cNvPr id="26" name="p3-line-2">
            <a:extLst xmlns:a="http://schemas.openxmlformats.org/drawingml/2006/main">
              <a:ext uri="{FF2B5EF4-FFF2-40B4-BE49-F238E27FC236}">
                <a16:creationId xmlns:a16="http://schemas.microsoft.com/office/drawing/2014/main" id="{4FCB446B-E9AD-4F76-81DE-D61048B1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7" name="p3-num-04-circle">
            <a:extLst xmlns:a="http://schemas.openxmlformats.org/drawingml/2006/main">
              <a:ext uri="{FF2B5EF4-FFF2-40B4-BE49-F238E27FC236}">
                <a16:creationId xmlns:a16="http://schemas.microsoft.com/office/drawing/2014/main" id="{463F373A-0C46-45F9-A6AE-280D6925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3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8" name="p3-num-04-number">
            <a:extLst xmlns:a="http://schemas.openxmlformats.org/drawingml/2006/main">
              <a:ext uri="{FF2B5EF4-FFF2-40B4-BE49-F238E27FC236}">
                <a16:creationId xmlns:a16="http://schemas.microsoft.com/office/drawing/2014/main" id="{A620E580-0C21-4DD5-B0D2-759E6E99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9" name="p3-title-04">
            <a:extLst xmlns:a="http://schemas.openxmlformats.org/drawingml/2006/main">
              <a:ext uri="{FF2B5EF4-FFF2-40B4-BE49-F238E27FC236}">
                <a16:creationId xmlns:a16="http://schemas.microsoft.com/office/drawing/2014/main" id="{E8FD3DFE-D5AA-48C0-BC04-8424B2A3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340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결정·수정·운영 반영</a:t>
            </a:r>
          </a:p>
        </p:txBody>
      </p:sp>
      <p:sp>
        <p:nvSpPr>
          <p:cNvPr id="30" name="p3-desc-04">
            <a:extLst xmlns:a="http://schemas.openxmlformats.org/drawingml/2006/main">
              <a:ext uri="{FF2B5EF4-FFF2-40B4-BE49-F238E27FC236}">
                <a16:creationId xmlns:a16="http://schemas.microsoft.com/office/drawing/2014/main" id="{27A6C730-2083-4BC7-9FB6-97073EAB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24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규칙 결정, 편집본, 효과 검증, DML</a:t>
            </a:r>
          </a:p>
        </p:txBody>
      </p:sp>
      <p:sp>
        <p:nvSpPr>
          <p:cNvPr id="31" name="p3-pages-04">
            <a:extLst xmlns:a="http://schemas.openxmlformats.org/drawingml/2006/main">
              <a:ext uri="{FF2B5EF4-FFF2-40B4-BE49-F238E27FC236}">
                <a16:creationId xmlns:a16="http://schemas.microsoft.com/office/drawing/2014/main" id="{0391AB68-1336-4DC5-BF97-670A4B6B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057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15–16</a:t>
            </a:r>
          </a:p>
        </p:txBody>
      </p:sp>
      <p:sp>
        <p:nvSpPr>
          <p:cNvPr id="32" name="p3-line-3">
            <a:extLst xmlns:a="http://schemas.openxmlformats.org/drawingml/2006/main">
              <a:ext uri="{FF2B5EF4-FFF2-40B4-BE49-F238E27FC236}">
                <a16:creationId xmlns:a16="http://schemas.microsoft.com/office/drawing/2014/main" id="{0FBDA496-0AA1-4F8C-82A6-2BE30AB0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7437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33" name="p3-num-05-circle">
            <a:extLst xmlns:a="http://schemas.openxmlformats.org/drawingml/2006/main">
              <a:ext uri="{FF2B5EF4-FFF2-40B4-BE49-F238E27FC236}">
                <a16:creationId xmlns:a16="http://schemas.microsoft.com/office/drawing/2014/main" id="{B7EA427F-90BE-4668-A774-9953E9A3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43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34" name="p3-num-05-number">
            <a:extLst xmlns:a="http://schemas.openxmlformats.org/drawingml/2006/main">
              <a:ext uri="{FF2B5EF4-FFF2-40B4-BE49-F238E27FC236}">
                <a16:creationId xmlns:a16="http://schemas.microsoft.com/office/drawing/2014/main" id="{BF73EB25-1389-48DA-BDF2-00E98D8F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628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5" name="p3-title-05">
            <a:extLst xmlns:a="http://schemas.openxmlformats.org/drawingml/2006/main">
              <a:ext uri="{FF2B5EF4-FFF2-40B4-BE49-F238E27FC236}">
                <a16:creationId xmlns:a16="http://schemas.microsoft.com/office/drawing/2014/main" id="{55348F47-9866-476E-8F9A-A38CC5F8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389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전체 업무 메뉴</a:t>
            </a:r>
          </a:p>
        </p:txBody>
      </p:sp>
      <p:sp>
        <p:nvSpPr>
          <p:cNvPr id="36" name="p3-desc-05">
            <a:extLst xmlns:a="http://schemas.openxmlformats.org/drawingml/2006/main">
              <a:ext uri="{FF2B5EF4-FFF2-40B4-BE49-F238E27FC236}">
                <a16:creationId xmlns:a16="http://schemas.microsoft.com/office/drawing/2014/main" id="{08B3D6C6-BAD9-4762-B9A6-15D0F91C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429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24개 활성 업무 화면과 역할</a:t>
            </a:r>
          </a:p>
        </p:txBody>
      </p:sp>
      <p:sp>
        <p:nvSpPr>
          <p:cNvPr id="37" name="p3-pages-05">
            <a:extLst xmlns:a="http://schemas.openxmlformats.org/drawingml/2006/main">
              <a:ext uri="{FF2B5EF4-FFF2-40B4-BE49-F238E27FC236}">
                <a16:creationId xmlns:a16="http://schemas.microsoft.com/office/drawing/2014/main" id="{FB330BD1-F566-4F67-8A33-176CA0F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7162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17–20</a:t>
            </a:r>
          </a:p>
        </p:txBody>
      </p:sp>
      <p:sp>
        <p:nvSpPr>
          <p:cNvPr id="38" name="p3-line-4">
            <a:extLst xmlns:a="http://schemas.openxmlformats.org/drawingml/2006/main">
              <a:ext uri="{FF2B5EF4-FFF2-40B4-BE49-F238E27FC236}">
                <a16:creationId xmlns:a16="http://schemas.microsoft.com/office/drawing/2014/main" id="{9BDA73A8-9935-4E57-95D7-F081847A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486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39" name="p3-num-06-circle">
            <a:extLst xmlns:a="http://schemas.openxmlformats.org/drawingml/2006/main">
              <a:ext uri="{FF2B5EF4-FFF2-40B4-BE49-F238E27FC236}">
                <a16:creationId xmlns:a16="http://schemas.microsoft.com/office/drawing/2014/main" id="{98B6180F-9D5E-4369-B626-16D9BCB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48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40" name="p3-num-06-number">
            <a:extLst xmlns:a="http://schemas.openxmlformats.org/drawingml/2006/main">
              <a:ext uri="{FF2B5EF4-FFF2-40B4-BE49-F238E27FC236}">
                <a16:creationId xmlns:a16="http://schemas.microsoft.com/office/drawing/2014/main" id="{F3514F4F-F43F-4D13-9FA6-CEF88F65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677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1" name="p3-title-06">
            <a:extLst xmlns:a="http://schemas.openxmlformats.org/drawingml/2006/main">
              <a:ext uri="{FF2B5EF4-FFF2-40B4-BE49-F238E27FC236}">
                <a16:creationId xmlns:a16="http://schemas.microsoft.com/office/drawing/2014/main" id="{DC0408DF-3B0A-45B0-9E04-C289A67B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438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운영·보안·용어</a:t>
            </a:r>
          </a:p>
        </p:txBody>
      </p:sp>
      <p:sp>
        <p:nvSpPr>
          <p:cNvPr id="42" name="p3-desc-06">
            <a:extLst xmlns:a="http://schemas.openxmlformats.org/drawingml/2006/main">
              <a:ext uri="{FF2B5EF4-FFF2-40B4-BE49-F238E27FC236}">
                <a16:creationId xmlns:a16="http://schemas.microsoft.com/office/drawing/2014/main" id="{5106FB35-ED0D-49D7-BAB9-BEDF5B29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34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실행 체크, 보안 경계, 핵심 용어</a:t>
            </a:r>
          </a:p>
        </p:txBody>
      </p:sp>
      <p:sp>
        <p:nvSpPr>
          <p:cNvPr id="43" name="p3-pages-06">
            <a:extLst xmlns:a="http://schemas.openxmlformats.org/drawingml/2006/main">
              <a:ext uri="{FF2B5EF4-FFF2-40B4-BE49-F238E27FC236}">
                <a16:creationId xmlns:a16="http://schemas.microsoft.com/office/drawing/2014/main" id="{A5B91719-8710-4B6A-921C-E97F0723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8267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21–24</a:t>
            </a:r>
          </a:p>
        </p:txBody>
      </p:sp>
    </p:spTree>
    <p:extLst>
      <p:ext uri="{BB962C8B-B14F-4D97-AF65-F5344CB8AC3E}">
        <p14:creationId xmlns:p14="http://schemas.microsoft.com/office/powerpoint/2010/main" val="1403527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page-4-rail">
            <a:extLst xmlns:a="http://schemas.openxmlformats.org/drawingml/2006/main">
              <a:ext uri="{FF2B5EF4-FFF2-40B4-BE49-F238E27FC236}">
                <a16:creationId xmlns:a16="http://schemas.microsoft.com/office/drawing/2014/main" id="{A9C62F5B-3737-4131-806F-D8745BBD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2" name="page-4-chapter">
            <a:extLst xmlns:a="http://schemas.openxmlformats.org/drawingml/2006/main">
              <a:ext uri="{FF2B5EF4-FFF2-40B4-BE49-F238E27FC236}">
                <a16:creationId xmlns:a16="http://schemas.microsoft.com/office/drawing/2014/main" id="{2E151172-42E2-4C1E-B3B4-0B49500A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01 · END-TO-END JOURNEY</a:t>
            </a:r>
          </a:p>
        </p:txBody>
      </p:sp>
      <p:sp>
        <p:nvSpPr>
          <p:cNvPr id="3" name="page-4-title">
            <a:extLst xmlns:a="http://schemas.openxmlformats.org/drawingml/2006/main">
              <a:ext uri="{FF2B5EF4-FFF2-40B4-BE49-F238E27FC236}">
                <a16:creationId xmlns:a16="http://schemas.microsoft.com/office/drawing/2014/main" id="{2B2C8B3F-07A8-49E7-9672-36EA6285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여섯 단계가 하나의 추적 가능한 업무를 만듭니다</a:t>
            </a:r>
          </a:p>
        </p:txBody>
      </p:sp>
      <p:sp>
        <p:nvSpPr>
          <p:cNvPr id="4" name="page-4-subtitle">
            <a:extLst xmlns:a="http://schemas.openxmlformats.org/drawingml/2006/main">
              <a:ext uri="{FF2B5EF4-FFF2-40B4-BE49-F238E27FC236}">
                <a16:creationId xmlns:a16="http://schemas.microsoft.com/office/drawing/2014/main" id="{5C012993-A7A8-4EE4-8C83-D9CF4855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메뉴는 개별 기능의 모음이 아니라, 업무 범위를 정의하고 분석 근거를 만든 뒤 안전한 변경과 보고로 이어지는 연속 프로세스입니다.</a:t>
            </a:r>
          </a:p>
        </p:txBody>
      </p:sp>
      <p:sp>
        <p:nvSpPr>
          <p:cNvPr id="5" name="page-4-top-rule">
            <a:extLst xmlns:a="http://schemas.openxmlformats.org/drawingml/2006/main">
              <a:ext uri="{FF2B5EF4-FFF2-40B4-BE49-F238E27FC236}">
                <a16:creationId xmlns:a16="http://schemas.microsoft.com/office/drawing/2014/main" id="{4A4DDE27-C697-4579-8343-1F858AB1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4-footer-rule">
            <a:extLst xmlns:a="http://schemas.openxmlformats.org/drawingml/2006/main">
              <a:ext uri="{FF2B5EF4-FFF2-40B4-BE49-F238E27FC236}">
                <a16:creationId xmlns:a16="http://schemas.microsoft.com/office/drawing/2014/main" id="{00AF0FC3-600D-4976-98A3-09B7B73D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4-footer-name">
            <a:extLst xmlns:a="http://schemas.openxmlformats.org/drawingml/2006/main">
              <a:ext uri="{FF2B5EF4-FFF2-40B4-BE49-F238E27FC236}">
                <a16:creationId xmlns:a16="http://schemas.microsoft.com/office/drawing/2014/main" id="{8695C039-ACE7-4C75-9CD1-205CF70A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4-footer-number">
            <a:extLst xmlns:a="http://schemas.openxmlformats.org/drawingml/2006/main">
              <a:ext uri="{FF2B5EF4-FFF2-40B4-BE49-F238E27FC236}">
                <a16:creationId xmlns:a16="http://schemas.microsoft.com/office/drawing/2014/main" id="{09C9E301-C91F-4311-86FF-25DEF582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9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06E426D9-AEBA-4B7D-A6CA-2B21BA7E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63817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F6FB5"/>
            </a:solidFill>
            <a:prstDash val="solid"/>
          </a:ln>
        </p:spPr>
      </p:sp>
      <p:sp>
        <p:nvSpPr>
          <p:cNvPr id="10" name="journey-num-1-circle">
            <a:extLst xmlns:a="http://schemas.openxmlformats.org/drawingml/2006/main">
              <a:ext uri="{FF2B5EF4-FFF2-40B4-BE49-F238E27FC236}">
                <a16:creationId xmlns:a16="http://schemas.microsoft.com/office/drawing/2014/main" id="{3EB223EA-E901-42E1-B043-C6F396F4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journey-num-1-number">
            <a:extLst xmlns:a="http://schemas.openxmlformats.org/drawingml/2006/main">
              <a:ext uri="{FF2B5EF4-FFF2-40B4-BE49-F238E27FC236}">
                <a16:creationId xmlns:a16="http://schemas.microsoft.com/office/drawing/2014/main" id="{CE214DDD-26DC-4393-83C9-C757BAE8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journey-title-1">
            <a:extLst xmlns:a="http://schemas.openxmlformats.org/drawingml/2006/main">
              <a:ext uri="{FF2B5EF4-FFF2-40B4-BE49-F238E27FC236}">
                <a16:creationId xmlns:a16="http://schemas.microsoft.com/office/drawing/2014/main" id="{2C599E0E-E78F-4056-8900-3D90538E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574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업무 범위 정의</a:t>
            </a:r>
          </a:p>
        </p:txBody>
      </p:sp>
      <p:sp>
        <p:nvSpPr>
          <p:cNvPr id="13" name="journey-kicker-1">
            <a:extLst xmlns:a="http://schemas.openxmlformats.org/drawingml/2006/main">
              <a:ext uri="{FF2B5EF4-FFF2-40B4-BE49-F238E27FC236}">
                <a16:creationId xmlns:a16="http://schemas.microsoft.com/office/drawing/2014/main" id="{13DF968E-CA25-4913-AF43-A385EA2B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M01001 · M01002</a:t>
            </a:r>
          </a:p>
        </p:txBody>
      </p:sp>
      <p:sp>
        <p:nvSpPr>
          <p:cNvPr id="14" name="journey-body-1">
            <a:extLst xmlns:a="http://schemas.openxmlformats.org/drawingml/2006/main">
              <a:ext uri="{FF2B5EF4-FFF2-40B4-BE49-F238E27FC236}">
                <a16:creationId xmlns:a16="http://schemas.microsoft.com/office/drawing/2014/main" id="{C50BD332-AF72-40B9-8200-314BFADE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3219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프로젝트와 시나리오로 모든 실행의 상위 업무 맥락을 정합니다.</a:t>
            </a:r>
          </a:p>
        </p:txBody>
      </p:sp>
      <p:sp>
        <p:nvSpPr>
          <p:cNvPr id="15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31A12A51-5BDD-456D-B164-461C4AC4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63817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5E92CE"/>
            </a:solidFill>
            <a:prstDash val="solid"/>
          </a:ln>
        </p:spPr>
      </p:sp>
      <p:sp>
        <p:nvSpPr>
          <p:cNvPr id="16" name="journey-num-2-circle">
            <a:extLst xmlns:a="http://schemas.openxmlformats.org/drawingml/2006/main">
              <a:ext uri="{FF2B5EF4-FFF2-40B4-BE49-F238E27FC236}">
                <a16:creationId xmlns:a16="http://schemas.microsoft.com/office/drawing/2014/main" id="{58D0A586-DF64-43E8-B425-9EEAB0D7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92CE"/>
          </a:solidFill>
          <a:ln xmlns:a="http://schemas.openxmlformats.org/drawingml/2006/main" w="0">
            <a:solidFill>
              <a:srgbClr val="5E92CE"/>
            </a:solidFill>
            <a:prstDash val="solid"/>
          </a:ln>
        </p:spPr>
      </p:sp>
      <p:sp>
        <p:nvSpPr>
          <p:cNvPr id="17" name="journey-num-2-number">
            <a:extLst xmlns:a="http://schemas.openxmlformats.org/drawingml/2006/main">
              <a:ext uri="{FF2B5EF4-FFF2-40B4-BE49-F238E27FC236}">
                <a16:creationId xmlns:a16="http://schemas.microsoft.com/office/drawing/2014/main" id="{EE372800-A39A-4D38-8A4A-4A1825B0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journey-title-2">
            <a:extLst xmlns:a="http://schemas.openxmlformats.org/drawingml/2006/main">
              <a:ext uri="{FF2B5EF4-FFF2-40B4-BE49-F238E27FC236}">
                <a16:creationId xmlns:a16="http://schemas.microsoft.com/office/drawing/2014/main" id="{49188000-DDAD-4D30-83A2-473F3EB6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814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대상 데이터 준비</a:t>
            </a:r>
          </a:p>
        </p:txBody>
      </p:sp>
      <p:sp>
        <p:nvSpPr>
          <p:cNvPr id="19" name="journey-kicker-2">
            <a:extLst xmlns:a="http://schemas.openxmlformats.org/drawingml/2006/main">
              <a:ext uri="{FF2B5EF4-FFF2-40B4-BE49-F238E27FC236}">
                <a16:creationId xmlns:a16="http://schemas.microsoft.com/office/drawing/2014/main" id="{17A60D8A-205F-4DCD-8E75-6D5EAA32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43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5E92C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E92CE"/>
                </a:solidFill>
                <a:latin typeface="Consolas"/>
                <a:ea typeface="Consolas"/>
                <a:cs typeface="Consolas"/>
              </a:rPr>
              <a:t>M02001 · M02002</a:t>
            </a:r>
          </a:p>
        </p:txBody>
      </p:sp>
      <p:sp>
        <p:nvSpPr>
          <p:cNvPr id="20" name="journey-body-2">
            <a:extLst xmlns:a="http://schemas.openxmlformats.org/drawingml/2006/main">
              <a:ext uri="{FF2B5EF4-FFF2-40B4-BE49-F238E27FC236}">
                <a16:creationId xmlns:a16="http://schemas.microsoft.com/office/drawing/2014/main" id="{FCAF414D-6F4D-411A-B1DA-0F0F2E67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71900"/>
            <a:ext cx="3219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파일을 적재하거나 Target DB 테이블을 관리 대상으로 연결합니다.</a:t>
            </a:r>
          </a:p>
        </p:txBody>
      </p:sp>
      <p:sp>
        <p:nvSpPr>
          <p:cNvPr id="21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C63B15D9-017F-4670-9C8C-619500CC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63817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158D91"/>
            </a:solidFill>
            <a:prstDash val="solid"/>
          </a:ln>
        </p:spPr>
      </p:sp>
      <p:sp>
        <p:nvSpPr>
          <p:cNvPr id="22" name="journey-num-3-circle">
            <a:extLst xmlns:a="http://schemas.openxmlformats.org/drawingml/2006/main">
              <a:ext uri="{FF2B5EF4-FFF2-40B4-BE49-F238E27FC236}">
                <a16:creationId xmlns:a16="http://schemas.microsoft.com/office/drawing/2014/main" id="{00740F7D-4560-4709-A3C1-4E03ED55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3" name="journey-num-3-number">
            <a:extLst xmlns:a="http://schemas.openxmlformats.org/drawingml/2006/main">
              <a:ext uri="{FF2B5EF4-FFF2-40B4-BE49-F238E27FC236}">
                <a16:creationId xmlns:a16="http://schemas.microsoft.com/office/drawing/2014/main" id="{41115650-21BE-4D89-A5C6-7C8D70A0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journey-title-3">
            <a:extLst xmlns:a="http://schemas.openxmlformats.org/drawingml/2006/main">
              <a:ext uri="{FF2B5EF4-FFF2-40B4-BE49-F238E27FC236}">
                <a16:creationId xmlns:a16="http://schemas.microsoft.com/office/drawing/2014/main" id="{11B3FA7D-B04B-48D0-908A-BC5421AE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053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4단계 모델 작업</a:t>
            </a:r>
          </a:p>
        </p:txBody>
      </p:sp>
      <p:sp>
        <p:nvSpPr>
          <p:cNvPr id="25" name="journey-kicker-3">
            <a:extLst xmlns:a="http://schemas.openxmlformats.org/drawingml/2006/main">
              <a:ext uri="{FF2B5EF4-FFF2-40B4-BE49-F238E27FC236}">
                <a16:creationId xmlns:a16="http://schemas.microsoft.com/office/drawing/2014/main" id="{10BBEC2F-8C64-4D4F-BCF2-96CA0111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673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M03001–M03004</a:t>
            </a:r>
          </a:p>
        </p:txBody>
      </p:sp>
      <p:sp>
        <p:nvSpPr>
          <p:cNvPr id="26" name="journey-body-3">
            <a:extLst xmlns:a="http://schemas.openxmlformats.org/drawingml/2006/main">
              <a:ext uri="{FF2B5EF4-FFF2-40B4-BE49-F238E27FC236}">
                <a16:creationId xmlns:a16="http://schemas.microsoft.com/office/drawing/2014/main" id="{8425CFB8-D019-495E-BD37-632F5A83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95850"/>
            <a:ext cx="3219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컬럼 유형, 관계, 규칙, 위반 탐지 Job을 저장하고 개별 검증합니다.</a:t>
            </a:r>
          </a:p>
        </p:txBody>
      </p:sp>
      <p:sp>
        <p:nvSpPr>
          <p:cNvPr id="27" name="journey-node-4">
            <a:extLst xmlns:a="http://schemas.openxmlformats.org/drawingml/2006/main">
              <a:ext uri="{FF2B5EF4-FFF2-40B4-BE49-F238E27FC236}">
                <a16:creationId xmlns:a16="http://schemas.microsoft.com/office/drawing/2014/main" id="{47B25873-F34A-49C7-8329-4A93B4CB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8350"/>
            <a:ext cx="63817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28" name="journey-num-4-circle">
            <a:extLst xmlns:a="http://schemas.openxmlformats.org/drawingml/2006/main">
              <a:ext uri="{FF2B5EF4-FFF2-40B4-BE49-F238E27FC236}">
                <a16:creationId xmlns:a16="http://schemas.microsoft.com/office/drawing/2014/main" id="{CA37DAF9-5912-4C1B-83BB-364335AB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9" name="journey-num-4-number">
            <a:extLst xmlns:a="http://schemas.openxmlformats.org/drawingml/2006/main">
              <a:ext uri="{FF2B5EF4-FFF2-40B4-BE49-F238E27FC236}">
                <a16:creationId xmlns:a16="http://schemas.microsoft.com/office/drawing/2014/main" id="{19EE4DED-C069-45F1-A107-982A9DEA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journey-title-4">
            <a:extLst xmlns:a="http://schemas.openxmlformats.org/drawingml/2006/main">
              <a:ext uri="{FF2B5EF4-FFF2-40B4-BE49-F238E27FC236}">
                <a16:creationId xmlns:a16="http://schemas.microsoft.com/office/drawing/2014/main" id="{03DBB532-79E8-45B9-8C91-4BF7D7A5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29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통합 Flow 실행</a:t>
            </a:r>
          </a:p>
        </p:txBody>
      </p:sp>
      <p:sp>
        <p:nvSpPr>
          <p:cNvPr id="31" name="journey-kicker-4">
            <a:extLst xmlns:a="http://schemas.openxmlformats.org/drawingml/2006/main">
              <a:ext uri="{FF2B5EF4-FFF2-40B4-BE49-F238E27FC236}">
                <a16:creationId xmlns:a16="http://schemas.microsoft.com/office/drawing/2014/main" id="{1CEC2AD8-2ACF-430E-892E-D5637017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912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M04001 · M04002</a:t>
            </a:r>
          </a:p>
        </p:txBody>
      </p:sp>
      <p:sp>
        <p:nvSpPr>
          <p:cNvPr id="32" name="journey-body-4">
            <a:extLst xmlns:a="http://schemas.openxmlformats.org/drawingml/2006/main">
              <a:ext uri="{FF2B5EF4-FFF2-40B4-BE49-F238E27FC236}">
                <a16:creationId xmlns:a16="http://schemas.microsoft.com/office/drawing/2014/main" id="{A460BEB9-2B19-494A-92B0-19EDAD99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019800"/>
            <a:ext cx="3219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Job을 DAG로 연결하고 같은 Flow Run에서 실행·분석합니다.</a:t>
            </a:r>
          </a:p>
        </p:txBody>
      </p:sp>
      <p:sp>
        <p:nvSpPr>
          <p:cNvPr id="33" name="journey-node-5">
            <a:extLst xmlns:a="http://schemas.openxmlformats.org/drawingml/2006/main">
              <a:ext uri="{FF2B5EF4-FFF2-40B4-BE49-F238E27FC236}">
                <a16:creationId xmlns:a16="http://schemas.microsoft.com/office/drawing/2014/main" id="{04E3CFAF-B274-4E50-A92C-0AC7910C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972300"/>
            <a:ext cx="63817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B97316"/>
            </a:solidFill>
            <a:prstDash val="solid"/>
          </a:ln>
        </p:spPr>
      </p:sp>
      <p:sp>
        <p:nvSpPr>
          <p:cNvPr id="34" name="journey-num-5-circle">
            <a:extLst xmlns:a="http://schemas.openxmlformats.org/drawingml/2006/main">
              <a:ext uri="{FF2B5EF4-FFF2-40B4-BE49-F238E27FC236}">
                <a16:creationId xmlns:a16="http://schemas.microsoft.com/office/drawing/2014/main" id="{15DE73F3-F091-4EA3-94E1-3B423D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35" name="journey-num-5-number">
            <a:extLst xmlns:a="http://schemas.openxmlformats.org/drawingml/2006/main">
              <a:ext uri="{FF2B5EF4-FFF2-40B4-BE49-F238E27FC236}">
                <a16:creationId xmlns:a16="http://schemas.microsoft.com/office/drawing/2014/main" id="{D4FF32F3-F202-493A-AB04-A2EA43C7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6" name="journey-title-5">
            <a:extLst xmlns:a="http://schemas.openxmlformats.org/drawingml/2006/main">
              <a:ext uri="{FF2B5EF4-FFF2-40B4-BE49-F238E27FC236}">
                <a16:creationId xmlns:a16="http://schemas.microsoft.com/office/drawing/2014/main" id="{303D780B-A4CA-44B9-AB9E-177783B1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1532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결정·수정·반영</a:t>
            </a:r>
          </a:p>
        </p:txBody>
      </p:sp>
      <p:sp>
        <p:nvSpPr>
          <p:cNvPr id="37" name="journey-kicker-5">
            <a:extLst xmlns:a="http://schemas.openxmlformats.org/drawingml/2006/main">
              <a:ext uri="{FF2B5EF4-FFF2-40B4-BE49-F238E27FC236}">
                <a16:creationId xmlns:a16="http://schemas.microsoft.com/office/drawing/2014/main" id="{34842837-F288-4627-ACE7-07774131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5152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B9731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97316"/>
                </a:solidFill>
                <a:latin typeface="Consolas"/>
                <a:ea typeface="Consolas"/>
                <a:cs typeface="Consolas"/>
              </a:rPr>
              <a:t>M05001–M05003</a:t>
            </a:r>
          </a:p>
        </p:txBody>
      </p:sp>
      <p:sp>
        <p:nvSpPr>
          <p:cNvPr id="38" name="journey-body-5">
            <a:extLst xmlns:a="http://schemas.openxmlformats.org/drawingml/2006/main">
              <a:ext uri="{FF2B5EF4-FFF2-40B4-BE49-F238E27FC236}">
                <a16:creationId xmlns:a16="http://schemas.microsoft.com/office/drawing/2014/main" id="{29764110-7A68-4AC6-B0D1-B7B11AA3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143750"/>
            <a:ext cx="3219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규칙 확정, 오류 수정, 효과 검증과 운영 DML을 서로 분리합니다.</a:t>
            </a:r>
          </a:p>
        </p:txBody>
      </p:sp>
      <p:sp>
        <p:nvSpPr>
          <p:cNvPr id="39" name="journey-node-6">
            <a:extLst xmlns:a="http://schemas.openxmlformats.org/drawingml/2006/main">
              <a:ext uri="{FF2B5EF4-FFF2-40B4-BE49-F238E27FC236}">
                <a16:creationId xmlns:a16="http://schemas.microsoft.com/office/drawing/2014/main" id="{CCD830AA-87D0-4B02-8DCF-9EB0F625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96250"/>
            <a:ext cx="63817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9525">
            <a:solidFill>
              <a:srgbClr val="3E8D65"/>
            </a:solidFill>
            <a:prstDash val="solid"/>
          </a:ln>
        </p:spPr>
      </p:sp>
      <p:sp>
        <p:nvSpPr>
          <p:cNvPr id="40" name="journey-num-6-circle">
            <a:extLst xmlns:a="http://schemas.openxmlformats.org/drawingml/2006/main">
              <a:ext uri="{FF2B5EF4-FFF2-40B4-BE49-F238E27FC236}">
                <a16:creationId xmlns:a16="http://schemas.microsoft.com/office/drawing/2014/main" id="{78E9B9B6-6112-4306-8BF8-E7D6314A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43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41" name="journey-num-6-number">
            <a:extLst xmlns:a="http://schemas.openxmlformats.org/drawingml/2006/main">
              <a:ext uri="{FF2B5EF4-FFF2-40B4-BE49-F238E27FC236}">
                <a16:creationId xmlns:a16="http://schemas.microsoft.com/office/drawing/2014/main" id="{6E2FB209-8BEF-43F6-8A50-B6CE20FD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629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2" name="journey-title-6">
            <a:extLst xmlns:a="http://schemas.openxmlformats.org/drawingml/2006/main">
              <a:ext uri="{FF2B5EF4-FFF2-40B4-BE49-F238E27FC236}">
                <a16:creationId xmlns:a16="http://schemas.microsoft.com/office/drawing/2014/main" id="{584728EC-26AC-4BD7-89F2-93E27608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2772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결과 보고·운영</a:t>
            </a:r>
          </a:p>
        </p:txBody>
      </p:sp>
      <p:sp>
        <p:nvSpPr>
          <p:cNvPr id="43" name="journey-kicker-6">
            <a:extLst xmlns:a="http://schemas.openxmlformats.org/drawingml/2006/main">
              <a:ext uri="{FF2B5EF4-FFF2-40B4-BE49-F238E27FC236}">
                <a16:creationId xmlns:a16="http://schemas.microsoft.com/office/drawing/2014/main" id="{32B466B9-76A3-46BC-9463-E82B6B01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39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E8D6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E8D65"/>
                </a:solidFill>
                <a:latin typeface="Consolas"/>
                <a:ea typeface="Consolas"/>
                <a:cs typeface="Consolas"/>
              </a:rPr>
              <a:t>M06001– · M90001–</a:t>
            </a:r>
          </a:p>
        </p:txBody>
      </p:sp>
      <p:sp>
        <p:nvSpPr>
          <p:cNvPr id="44" name="journey-body-6">
            <a:extLst xmlns:a="http://schemas.openxmlformats.org/drawingml/2006/main">
              <a:ext uri="{FF2B5EF4-FFF2-40B4-BE49-F238E27FC236}">
                <a16:creationId xmlns:a16="http://schemas.microsoft.com/office/drawing/2014/main" id="{062F5D12-1E98-4EAF-8925-51522680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267700"/>
            <a:ext cx="3219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보고서와 모델·사용자·시스템 리소스를 운영합니다.</a:t>
            </a:r>
          </a:p>
        </p:txBody>
      </p:sp>
      <p:cxnSp>
        <p:nvCxnSpPr>
          <p:cNvPr id="94" name=""/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781425" y="34575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95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781425" y="45815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96" name="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781425" y="57054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97" name=""/>
          <p:cNvCxnSpPr>
            <a:stCxn xmlns:a="http://schemas.openxmlformats.org/drawingml/2006/main" id="27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781425" y="68294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98" name=""/>
          <p:cNvCxnSpPr>
            <a:stCxn xmlns:a="http://schemas.openxmlformats.org/drawingml/2006/main" id="33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3781425" y="79533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4507755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age-5-rail">
            <a:extLst xmlns:a="http://schemas.openxmlformats.org/drawingml/2006/main">
              <a:ext uri="{FF2B5EF4-FFF2-40B4-BE49-F238E27FC236}">
                <a16:creationId xmlns:a16="http://schemas.microsoft.com/office/drawing/2014/main" id="{0B420780-505D-4528-BD27-7DE05A09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" name="page-5-chapter">
            <a:extLst xmlns:a="http://schemas.openxmlformats.org/drawingml/2006/main">
              <a:ext uri="{FF2B5EF4-FFF2-40B4-BE49-F238E27FC236}">
                <a16:creationId xmlns:a16="http://schemas.microsoft.com/office/drawing/2014/main" id="{0817EEAA-43DA-457F-B19E-892A1FEA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01 · SYSTEM ARCHITECTURE</a:t>
            </a:r>
          </a:p>
        </p:txBody>
      </p:sp>
      <p:sp>
        <p:nvSpPr>
          <p:cNvPr id="3" name="page-5-title">
            <a:extLst xmlns:a="http://schemas.openxmlformats.org/drawingml/2006/main">
              <a:ext uri="{FF2B5EF4-FFF2-40B4-BE49-F238E27FC236}">
                <a16:creationId xmlns:a16="http://schemas.microsoft.com/office/drawing/2014/main" id="{D544F2DE-8EB4-4CDB-B089-6A4DE0AF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업무 컨텍스트와 실행 계약이 시스템을 잇습니다</a:t>
            </a:r>
          </a:p>
        </p:txBody>
      </p:sp>
      <p:sp>
        <p:nvSpPr>
          <p:cNvPr id="4" name="page-5-subtitle">
            <a:extLst xmlns:a="http://schemas.openxmlformats.org/drawingml/2006/main">
              <a:ext uri="{FF2B5EF4-FFF2-40B4-BE49-F238E27FC236}">
                <a16:creationId xmlns:a16="http://schemas.microsoft.com/office/drawing/2014/main" id="{8D17938C-468C-4D0A-9A24-A7E2673B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사용자 채널에서 결과 아티팩트까지 모든 단계가 세션·권한·Target DB와 Flow Run을 공통 기준으로 사용합니다.</a:t>
            </a:r>
          </a:p>
        </p:txBody>
      </p:sp>
      <p:sp>
        <p:nvSpPr>
          <p:cNvPr id="5" name="page-5-top-rule">
            <a:extLst xmlns:a="http://schemas.openxmlformats.org/drawingml/2006/main">
              <a:ext uri="{FF2B5EF4-FFF2-40B4-BE49-F238E27FC236}">
                <a16:creationId xmlns:a16="http://schemas.microsoft.com/office/drawing/2014/main" id="{2F2596D2-4605-4F3E-83DE-76A7A1D6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5-footer-rule">
            <a:extLst xmlns:a="http://schemas.openxmlformats.org/drawingml/2006/main">
              <a:ext uri="{FF2B5EF4-FFF2-40B4-BE49-F238E27FC236}">
                <a16:creationId xmlns:a16="http://schemas.microsoft.com/office/drawing/2014/main" id="{0767607C-1A60-4051-B7DE-4152AA64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5-footer-name">
            <a:extLst xmlns:a="http://schemas.openxmlformats.org/drawingml/2006/main">
              <a:ext uri="{FF2B5EF4-FFF2-40B4-BE49-F238E27FC236}">
                <a16:creationId xmlns:a16="http://schemas.microsoft.com/office/drawing/2014/main" id="{59102F66-84EC-4964-8433-A5178FF6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5-footer-number">
            <a:extLst xmlns:a="http://schemas.openxmlformats.org/drawingml/2006/main">
              <a:ext uri="{FF2B5EF4-FFF2-40B4-BE49-F238E27FC236}">
                <a16:creationId xmlns:a16="http://schemas.microsoft.com/office/drawing/2014/main" id="{FC719599-01D4-40F8-92B2-A8ACD102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9" name="p5-layer-0">
            <a:extLst xmlns:a="http://schemas.openxmlformats.org/drawingml/2006/main">
              <a:ext uri="{FF2B5EF4-FFF2-40B4-BE49-F238E27FC236}">
                <a16:creationId xmlns:a16="http://schemas.microsoft.com/office/drawing/2014/main" id="{7A28A35B-3C05-47B5-B0C4-44DF50A7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14600"/>
            <a:ext cx="5695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F6FB5"/>
            </a:solidFill>
            <a:prstDash val="solid"/>
          </a:ln>
        </p:spPr>
      </p:sp>
      <p:sp>
        <p:nvSpPr>
          <p:cNvPr id="10" name="p5-label-0">
            <a:extLst xmlns:a="http://schemas.openxmlformats.org/drawingml/2006/main">
              <a:ext uri="{FF2B5EF4-FFF2-40B4-BE49-F238E27FC236}">
                <a16:creationId xmlns:a16="http://schemas.microsoft.com/office/drawing/2014/main" id="{05514941-0137-417D-92E6-8D85E3EE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사용자 채널</a:t>
            </a:r>
          </a:p>
        </p:txBody>
      </p:sp>
      <p:sp>
        <p:nvSpPr>
          <p:cNvPr id="11" name="p5-title-0">
            <a:extLst xmlns:a="http://schemas.openxmlformats.org/drawingml/2006/main">
              <a:ext uri="{FF2B5EF4-FFF2-40B4-BE49-F238E27FC236}">
                <a16:creationId xmlns:a16="http://schemas.microsoft.com/office/drawing/2014/main" id="{52DF0A5F-8E68-42C4-A7B8-409F5C49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67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웹 작업공간</a:t>
            </a:r>
          </a:p>
        </p:txBody>
      </p:sp>
      <p:sp>
        <p:nvSpPr>
          <p:cNvPr id="12" name="p5-body-0">
            <a:extLst xmlns:a="http://schemas.openxmlformats.org/drawingml/2006/main">
              <a:ext uri="{FF2B5EF4-FFF2-40B4-BE49-F238E27FC236}">
                <a16:creationId xmlns:a16="http://schemas.microsoft.com/office/drawing/2014/main" id="{2272B003-6BDD-454E-A352-5ABB33AB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1942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메뉴, 데이터 작업, Flow 캔버스, 분석과 보고서를 하나의 로그인 세션에서 조작</a:t>
            </a:r>
          </a:p>
        </p:txBody>
      </p:sp>
      <p:sp>
        <p:nvSpPr>
          <p:cNvPr id="13" name="p5-layer-1">
            <a:extLst xmlns:a="http://schemas.openxmlformats.org/drawingml/2006/main">
              <a:ext uri="{FF2B5EF4-FFF2-40B4-BE49-F238E27FC236}">
                <a16:creationId xmlns:a16="http://schemas.microsoft.com/office/drawing/2014/main" id="{7B7E3778-0BA2-4C8D-8190-A66DD64C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29050"/>
            <a:ext cx="5695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15255A"/>
            </a:solidFill>
            <a:prstDash val="solid"/>
          </a:ln>
        </p:spPr>
      </p:sp>
      <p:sp>
        <p:nvSpPr>
          <p:cNvPr id="14" name="p5-label-1">
            <a:extLst xmlns:a="http://schemas.openxmlformats.org/drawingml/2006/main">
              <a:ext uri="{FF2B5EF4-FFF2-40B4-BE49-F238E27FC236}">
                <a16:creationId xmlns:a16="http://schemas.microsoft.com/office/drawing/2014/main" id="{54F7CB5D-76DE-409A-86FD-592FC055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rPr>
              <a:t>보안 경계</a:t>
            </a:r>
          </a:p>
        </p:txBody>
      </p:sp>
      <p:sp>
        <p:nvSpPr>
          <p:cNvPr id="15" name="p5-title-1">
            <a:extLst xmlns:a="http://schemas.openxmlformats.org/drawingml/2006/main">
              <a:ext uri="{FF2B5EF4-FFF2-40B4-BE49-F238E27FC236}">
                <a16:creationId xmlns:a16="http://schemas.microsoft.com/office/drawing/2014/main" id="{9FB611AC-58C0-448D-A3E8-92C7D046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세션·API 게이트웨이</a:t>
            </a:r>
          </a:p>
        </p:txBody>
      </p:sp>
      <p:sp>
        <p:nvSpPr>
          <p:cNvPr id="16" name="p5-body-1">
            <a:extLst xmlns:a="http://schemas.openxmlformats.org/drawingml/2006/main">
              <a:ext uri="{FF2B5EF4-FFF2-40B4-BE49-F238E27FC236}">
                <a16:creationId xmlns:a16="http://schemas.microsoft.com/office/drawing/2014/main" id="{53C6AEC5-1164-4BD3-A5CD-C9EB7882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서버 세션, 사용자 역할과 시스템 DB 권한을 확인한 뒤 업무 API 연결</a:t>
            </a:r>
          </a:p>
        </p:txBody>
      </p:sp>
      <p:sp>
        <p:nvSpPr>
          <p:cNvPr id="17" name="p5-layer-2">
            <a:extLst xmlns:a="http://schemas.openxmlformats.org/drawingml/2006/main">
              <a:ext uri="{FF2B5EF4-FFF2-40B4-BE49-F238E27FC236}">
                <a16:creationId xmlns:a16="http://schemas.microsoft.com/office/drawing/2014/main" id="{887531C2-0FB6-46CF-AA86-503CD8F0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43500"/>
            <a:ext cx="5695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158D91"/>
            </a:solidFill>
            <a:prstDash val="solid"/>
          </a:ln>
        </p:spPr>
      </p:sp>
      <p:sp>
        <p:nvSpPr>
          <p:cNvPr id="18" name="p5-label-2">
            <a:extLst xmlns:a="http://schemas.openxmlformats.org/drawingml/2006/main">
              <a:ext uri="{FF2B5EF4-FFF2-40B4-BE49-F238E27FC236}">
                <a16:creationId xmlns:a16="http://schemas.microsoft.com/office/drawing/2014/main" id="{F8C17B82-F2CB-45CB-AB88-8F6B2AFB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업무 기준</a:t>
            </a:r>
          </a:p>
        </p:txBody>
      </p:sp>
      <p:sp>
        <p:nvSpPr>
          <p:cNvPr id="19" name="p5-title-2">
            <a:extLst xmlns:a="http://schemas.openxmlformats.org/drawingml/2006/main">
              <a:ext uri="{FF2B5EF4-FFF2-40B4-BE49-F238E27FC236}">
                <a16:creationId xmlns:a16="http://schemas.microsoft.com/office/drawing/2014/main" id="{A675E6B1-FE4F-42F6-AA5E-30B78C61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95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프로젝트·시나리오·Target DB</a:t>
            </a:r>
          </a:p>
        </p:txBody>
      </p:sp>
      <p:sp>
        <p:nvSpPr>
          <p:cNvPr id="20" name="p5-body-2">
            <a:extLst xmlns:a="http://schemas.openxmlformats.org/drawingml/2006/main">
              <a:ext uri="{FF2B5EF4-FFF2-40B4-BE49-F238E27FC236}">
                <a16:creationId xmlns:a16="http://schemas.microsoft.com/office/drawing/2014/main" id="{624748B3-D62C-4607-9009-281F78D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4832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대상 데이터, 실행 Job과 결과가 같은 업무 범위 안에서 움직이도록 컨텍스트 고정</a:t>
            </a:r>
          </a:p>
        </p:txBody>
      </p:sp>
      <p:sp>
        <p:nvSpPr>
          <p:cNvPr id="21" name="p5-layer-3">
            <a:extLst xmlns:a="http://schemas.openxmlformats.org/drawingml/2006/main">
              <a:ext uri="{FF2B5EF4-FFF2-40B4-BE49-F238E27FC236}">
                <a16:creationId xmlns:a16="http://schemas.microsoft.com/office/drawing/2014/main" id="{9E34E2B0-4000-431B-B814-757C246F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457950"/>
            <a:ext cx="5695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22" name="p5-label-3">
            <a:extLst xmlns:a="http://schemas.openxmlformats.org/drawingml/2006/main">
              <a:ext uri="{FF2B5EF4-FFF2-40B4-BE49-F238E27FC236}">
                <a16:creationId xmlns:a16="http://schemas.microsoft.com/office/drawing/2014/main" id="{498D6A1C-6827-495D-92A4-3D65CA3E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294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실행 제어</a:t>
            </a:r>
          </a:p>
        </p:txBody>
      </p:sp>
      <p:sp>
        <p:nvSpPr>
          <p:cNvPr id="23" name="p5-title-3">
            <a:extLst xmlns:a="http://schemas.openxmlformats.org/drawingml/2006/main">
              <a:ext uri="{FF2B5EF4-FFF2-40B4-BE49-F238E27FC236}">
                <a16:creationId xmlns:a16="http://schemas.microsoft.com/office/drawing/2014/main" id="{8F16398C-1002-450A-A643-21510A38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610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Flow·Job·실행 리소스</a:t>
            </a:r>
          </a:p>
        </p:txBody>
      </p:sp>
      <p:sp>
        <p:nvSpPr>
          <p:cNvPr id="24" name="p5-body-3">
            <a:extLst xmlns:a="http://schemas.openxmlformats.org/drawingml/2006/main">
              <a:ext uri="{FF2B5EF4-FFF2-40B4-BE49-F238E27FC236}">
                <a16:creationId xmlns:a16="http://schemas.microsoft.com/office/drawing/2014/main" id="{F5371702-8EE9-48CA-8AA1-E061FBD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96277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DAG 검증 후 DB_OBJECT, OML_PYTHON, INTERNAL/EXTERNAL API 중 한 경로 선택</a:t>
            </a:r>
          </a:p>
        </p:txBody>
      </p:sp>
      <p:sp>
        <p:nvSpPr>
          <p:cNvPr id="25" name="p5-layer-4">
            <a:extLst xmlns:a="http://schemas.openxmlformats.org/drawingml/2006/main">
              <a:ext uri="{FF2B5EF4-FFF2-40B4-BE49-F238E27FC236}">
                <a16:creationId xmlns:a16="http://schemas.microsoft.com/office/drawing/2014/main" id="{426B6439-4BDF-4FBC-A6C3-9C205823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772400"/>
            <a:ext cx="5695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9525">
            <a:solidFill>
              <a:srgbClr val="3E8D65"/>
            </a:solidFill>
            <a:prstDash val="solid"/>
          </a:ln>
        </p:spPr>
      </p:sp>
      <p:sp>
        <p:nvSpPr>
          <p:cNvPr id="26" name="p5-label-4">
            <a:extLst xmlns:a="http://schemas.openxmlformats.org/drawingml/2006/main">
              <a:ext uri="{FF2B5EF4-FFF2-40B4-BE49-F238E27FC236}">
                <a16:creationId xmlns:a16="http://schemas.microsoft.com/office/drawing/2014/main" id="{B986CA63-4CC8-49C1-81BA-370A0C89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43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rPr>
              <a:t>결과·운영</a:t>
            </a:r>
          </a:p>
        </p:txBody>
      </p:sp>
      <p:sp>
        <p:nvSpPr>
          <p:cNvPr id="27" name="p5-title-4">
            <a:extLst xmlns:a="http://schemas.openxmlformats.org/drawingml/2006/main">
              <a:ext uri="{FF2B5EF4-FFF2-40B4-BE49-F238E27FC236}">
                <a16:creationId xmlns:a16="http://schemas.microsoft.com/office/drawing/2014/main" id="{E8EF64CF-53F0-4125-B82A-940A0F55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24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Run 아티팩트·분석·편집·보고</a:t>
            </a:r>
          </a:p>
        </p:txBody>
      </p:sp>
      <p:sp>
        <p:nvSpPr>
          <p:cNvPr id="28" name="p5-body-4">
            <a:extLst xmlns:a="http://schemas.openxmlformats.org/drawingml/2006/main">
              <a:ext uri="{FF2B5EF4-FFF2-40B4-BE49-F238E27FC236}">
                <a16:creationId xmlns:a16="http://schemas.microsoft.com/office/drawing/2014/main" id="{714B8FFD-C067-4350-A2F1-473599DB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27722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Node 결과와 실제 파라미터를 보존하고 규칙 결정, 수정, 반영, 보고로 연결</a:t>
            </a:r>
          </a:p>
        </p:txBody>
      </p:sp>
      <p:cxnSp>
        <p:nvCxnSpPr>
          <p:cNvPr id="61" name=""/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4124325" y="35814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13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124325" y="48958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1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4124325" y="62103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64" name=""/>
          <p:cNvCxnSpPr>
            <a:stCxn xmlns:a="http://schemas.openxmlformats.org/drawingml/2006/main" id="21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4124325" y="75247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6581868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6-rail">
            <a:extLst xmlns:a="http://schemas.openxmlformats.org/drawingml/2006/main">
              <a:ext uri="{FF2B5EF4-FFF2-40B4-BE49-F238E27FC236}">
                <a16:creationId xmlns:a16="http://schemas.microsoft.com/office/drawing/2014/main" id="{3F8CFCC0-CB11-4453-9F72-1AF99713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" name="page-6-chapter">
            <a:extLst xmlns:a="http://schemas.openxmlformats.org/drawingml/2006/main">
              <a:ext uri="{FF2B5EF4-FFF2-40B4-BE49-F238E27FC236}">
                <a16:creationId xmlns:a16="http://schemas.microsoft.com/office/drawing/2014/main" id="{88299255-E10E-4947-9606-3788900E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01 · OPERATING PRINCIPLES</a:t>
            </a:r>
          </a:p>
        </p:txBody>
      </p:sp>
      <p:sp>
        <p:nvSpPr>
          <p:cNvPr id="3" name="page-6-title">
            <a:extLst xmlns:a="http://schemas.openxmlformats.org/drawingml/2006/main">
              <a:ext uri="{FF2B5EF4-FFF2-40B4-BE49-F238E27FC236}">
                <a16:creationId xmlns:a16="http://schemas.microsoft.com/office/drawing/2014/main" id="{EEAF6810-3CF1-478F-8ECD-68C8B88C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탐지와 수정은 의도적으로 분리됩니다</a:t>
            </a:r>
          </a:p>
        </p:txBody>
      </p:sp>
      <p:sp>
        <p:nvSpPr>
          <p:cNvPr id="4" name="page-6-subtitle">
            <a:extLst xmlns:a="http://schemas.openxmlformats.org/drawingml/2006/main">
              <a:ext uri="{FF2B5EF4-FFF2-40B4-BE49-F238E27FC236}">
                <a16:creationId xmlns:a16="http://schemas.microsoft.com/office/drawing/2014/main" id="{9944A0E8-439A-42B3-BB77-03458D43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자동 분석은 검토 가능한 근거를 만들고, 사람이 승인한 결과만 별도 편집본과 통제된 운영 반영 단계로 이동합니다.</a:t>
            </a:r>
          </a:p>
        </p:txBody>
      </p:sp>
      <p:sp>
        <p:nvSpPr>
          <p:cNvPr id="5" name="page-6-top-rule">
            <a:extLst xmlns:a="http://schemas.openxmlformats.org/drawingml/2006/main">
              <a:ext uri="{FF2B5EF4-FFF2-40B4-BE49-F238E27FC236}">
                <a16:creationId xmlns:a16="http://schemas.microsoft.com/office/drawing/2014/main" id="{7F46E022-30B7-4535-B339-1A283595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6-footer-rule">
            <a:extLst xmlns:a="http://schemas.openxmlformats.org/drawingml/2006/main">
              <a:ext uri="{FF2B5EF4-FFF2-40B4-BE49-F238E27FC236}">
                <a16:creationId xmlns:a16="http://schemas.microsoft.com/office/drawing/2014/main" id="{0E5300DD-F1F3-4905-B614-0B72539D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6-footer-name">
            <a:extLst xmlns:a="http://schemas.openxmlformats.org/drawingml/2006/main">
              <a:ext uri="{FF2B5EF4-FFF2-40B4-BE49-F238E27FC236}">
                <a16:creationId xmlns:a16="http://schemas.microsoft.com/office/drawing/2014/main" id="{484CDB69-7441-4445-BDAD-2886B3D8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6-footer-number">
            <a:extLst xmlns:a="http://schemas.openxmlformats.org/drawingml/2006/main">
              <a:ext uri="{FF2B5EF4-FFF2-40B4-BE49-F238E27FC236}">
                <a16:creationId xmlns:a16="http://schemas.microsoft.com/office/drawing/2014/main" id="{D753B114-6854-4463-97E2-B67C417B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9" name="p6-center">
            <a:extLst xmlns:a="http://schemas.openxmlformats.org/drawingml/2006/main">
              <a:ext uri="{FF2B5EF4-FFF2-40B4-BE49-F238E27FC236}">
                <a16:creationId xmlns:a16="http://schemas.microsoft.com/office/drawing/2014/main" id="{EBF0D868-3874-4831-8702-88402BEE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241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rPr>
              <a:t>자동화는 후보를 만들고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rPr>
              <a:t>운영 변경은 통제를 통과합니다</a:t>
            </a:r>
          </a:p>
        </p:txBody>
      </p:sp>
      <p:sp>
        <p:nvSpPr>
          <p:cNvPr id="10" name="p6-card-0">
            <a:extLst xmlns:a="http://schemas.openxmlformats.org/drawingml/2006/main">
              <a:ext uri="{FF2B5EF4-FFF2-40B4-BE49-F238E27FC236}">
                <a16:creationId xmlns:a16="http://schemas.microsoft.com/office/drawing/2014/main" id="{44364BD6-2C58-444B-849A-5A880F44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6381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1" name="p6-num-0-circle">
            <a:extLst xmlns:a="http://schemas.openxmlformats.org/drawingml/2006/main">
              <a:ext uri="{FF2B5EF4-FFF2-40B4-BE49-F238E27FC236}">
                <a16:creationId xmlns:a16="http://schemas.microsoft.com/office/drawing/2014/main" id="{174055DC-603C-4847-8B08-3C02CAEA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2" name="p6-num-0-number">
            <a:extLst xmlns:a="http://schemas.openxmlformats.org/drawingml/2006/main">
              <a:ext uri="{FF2B5EF4-FFF2-40B4-BE49-F238E27FC236}">
                <a16:creationId xmlns:a16="http://schemas.microsoft.com/office/drawing/2014/main" id="{B0FC64AC-17BE-4379-BC44-29DA229E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p6-title-0">
            <a:extLst xmlns:a="http://schemas.openxmlformats.org/drawingml/2006/main">
              <a:ext uri="{FF2B5EF4-FFF2-40B4-BE49-F238E27FC236}">
                <a16:creationId xmlns:a16="http://schemas.microsoft.com/office/drawing/2014/main" id="{390D2F34-E0E8-4081-B63D-27814174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148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Run 기반 추적</a:t>
            </a:r>
          </a:p>
        </p:txBody>
      </p:sp>
      <p:sp>
        <p:nvSpPr>
          <p:cNvPr id="14" name="p6-body-0">
            <a:extLst xmlns:a="http://schemas.openxmlformats.org/drawingml/2006/main">
              <a:ext uri="{FF2B5EF4-FFF2-40B4-BE49-F238E27FC236}">
                <a16:creationId xmlns:a16="http://schemas.microsoft.com/office/drawing/2014/main" id="{B8A73C89-0098-455A-9731-B1DE5A1F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720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실제 파라미터, 노드 상태, 결과 아티팩트를 Flow Run과 Node Run 단위로 연결합니다.</a:t>
            </a:r>
          </a:p>
        </p:txBody>
      </p:sp>
      <p:sp>
        <p:nvSpPr>
          <p:cNvPr id="15" name="p6-card-1">
            <a:extLst xmlns:a="http://schemas.openxmlformats.org/drawingml/2006/main">
              <a:ext uri="{FF2B5EF4-FFF2-40B4-BE49-F238E27FC236}">
                <a16:creationId xmlns:a16="http://schemas.microsoft.com/office/drawing/2014/main" id="{8919ED90-7687-45CE-865A-8F6D8E6F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6381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0">
            <a:solidFill>
              <a:srgbClr val="E9F5F4"/>
            </a:solidFill>
            <a:prstDash val="solid"/>
          </a:ln>
        </p:spPr>
      </p:sp>
      <p:sp>
        <p:nvSpPr>
          <p:cNvPr id="16" name="p6-num-1-circle">
            <a:extLst xmlns:a="http://schemas.openxmlformats.org/drawingml/2006/main">
              <a:ext uri="{FF2B5EF4-FFF2-40B4-BE49-F238E27FC236}">
                <a16:creationId xmlns:a16="http://schemas.microsoft.com/office/drawing/2014/main" id="{2F7F3DA6-52E2-46CA-872A-EFF45FC4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4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17" name="p6-num-1-number">
            <a:extLst xmlns:a="http://schemas.openxmlformats.org/drawingml/2006/main">
              <a:ext uri="{FF2B5EF4-FFF2-40B4-BE49-F238E27FC236}">
                <a16:creationId xmlns:a16="http://schemas.microsoft.com/office/drawing/2014/main" id="{82852ED4-6B9C-4924-B708-060D9878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674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8" name="p6-title-1">
            <a:extLst xmlns:a="http://schemas.openxmlformats.org/drawingml/2006/main">
              <a:ext uri="{FF2B5EF4-FFF2-40B4-BE49-F238E27FC236}">
                <a16:creationId xmlns:a16="http://schemas.microsoft.com/office/drawing/2014/main" id="{61F9EA6F-6245-4EEA-B5FB-E0E151BC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67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탐지와 수정 분리</a:t>
            </a:r>
          </a:p>
        </p:txBody>
      </p:sp>
      <p:sp>
        <p:nvSpPr>
          <p:cNvPr id="19" name="p6-body-1">
            <a:extLst xmlns:a="http://schemas.openxmlformats.org/drawingml/2006/main">
              <a:ext uri="{FF2B5EF4-FFF2-40B4-BE49-F238E27FC236}">
                <a16:creationId xmlns:a16="http://schemas.microsoft.com/office/drawing/2014/main" id="{57A2ACA1-1449-4C3F-A604-24ECCCEA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7246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규칙 위반 탐지는 검토 자료를 만들 뿐 원본 데이터를 자동으로 수정하지 않습니다.</a:t>
            </a:r>
          </a:p>
        </p:txBody>
      </p:sp>
      <p:sp>
        <p:nvSpPr>
          <p:cNvPr id="20" name="p6-card-2">
            <a:extLst xmlns:a="http://schemas.openxmlformats.org/drawingml/2006/main">
              <a:ext uri="{FF2B5EF4-FFF2-40B4-BE49-F238E27FC236}">
                <a16:creationId xmlns:a16="http://schemas.microsoft.com/office/drawing/2014/main" id="{41A465B9-493C-4356-AC22-E9ABD469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6381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0">
            <a:solidFill>
              <a:srgbClr val="ECF5EF"/>
            </a:solidFill>
            <a:prstDash val="solid"/>
          </a:ln>
        </p:spPr>
      </p:sp>
      <p:sp>
        <p:nvSpPr>
          <p:cNvPr id="21" name="p6-num-2-circle">
            <a:extLst xmlns:a="http://schemas.openxmlformats.org/drawingml/2006/main">
              <a:ext uri="{FF2B5EF4-FFF2-40B4-BE49-F238E27FC236}">
                <a16:creationId xmlns:a16="http://schemas.microsoft.com/office/drawing/2014/main" id="{FFD97A42-A214-4742-BEF1-A4EFB608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201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22" name="p6-num-2-number">
            <a:extLst xmlns:a="http://schemas.openxmlformats.org/drawingml/2006/main">
              <a:ext uri="{FF2B5EF4-FFF2-40B4-BE49-F238E27FC236}">
                <a16:creationId xmlns:a16="http://schemas.microsoft.com/office/drawing/2014/main" id="{E32E16A8-631F-46C3-B4A2-4CE240EA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2200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p6-title-2">
            <a:extLst xmlns:a="http://schemas.openxmlformats.org/drawingml/2006/main">
              <a:ext uri="{FF2B5EF4-FFF2-40B4-BE49-F238E27FC236}">
                <a16:creationId xmlns:a16="http://schemas.microsoft.com/office/drawing/2014/main" id="{DC03617C-0BED-48F1-8450-0C997ECF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0200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운영 반영 통제</a:t>
            </a:r>
          </a:p>
        </p:txBody>
      </p:sp>
      <p:sp>
        <p:nvSpPr>
          <p:cNvPr id="24" name="p6-body-2">
            <a:extLst xmlns:a="http://schemas.openxmlformats.org/drawingml/2006/main">
              <a:ext uri="{FF2B5EF4-FFF2-40B4-BE49-F238E27FC236}">
                <a16:creationId xmlns:a16="http://schemas.microsoft.com/office/drawing/2014/main" id="{8B61A527-8107-4E0B-A001-F9E6BA48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4772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수정본 효과 검증, DML 검증, 실행 전 확인과 감사 이력을 순서대로 통과합니다.</a:t>
            </a:r>
          </a:p>
        </p:txBody>
      </p:sp>
      <p:sp>
        <p:nvSpPr>
          <p:cNvPr id="25" name="p6-callout-fill">
            <a:extLst xmlns:a="http://schemas.openxmlformats.org/drawingml/2006/main">
              <a:ext uri="{FF2B5EF4-FFF2-40B4-BE49-F238E27FC236}">
                <a16:creationId xmlns:a16="http://schemas.microsoft.com/office/drawing/2014/main" id="{B18B4FFE-EFE0-48C4-A6A2-DA95E272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6381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B97316"/>
            </a:solidFill>
            <a:prstDash val="solid"/>
          </a:ln>
        </p:spPr>
      </p:sp>
      <p:sp>
        <p:nvSpPr>
          <p:cNvPr id="26" name="p6-callout-accent">
            <a:extLst xmlns:a="http://schemas.openxmlformats.org/drawingml/2006/main">
              <a:ext uri="{FF2B5EF4-FFF2-40B4-BE49-F238E27FC236}">
                <a16:creationId xmlns:a16="http://schemas.microsoft.com/office/drawing/2014/main" id="{C86FF158-774D-439B-90B9-9C7A1723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7" name="p6-callout-text">
            <a:extLst xmlns:a="http://schemas.openxmlformats.org/drawingml/2006/main">
              <a:ext uri="{FF2B5EF4-FFF2-40B4-BE49-F238E27FC236}">
                <a16:creationId xmlns:a16="http://schemas.microsoft.com/office/drawing/2014/main" id="{D79DAF9F-850E-4DC3-B95C-767611B1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0"/>
            <a:ext cx="5981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SUCCESS는 실행이 끝났다는 뜻입니다. 규칙의 품질과 데이터 변경의 적절성은 별도의 지표와 사람의 검토로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307824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7-rail">
            <a:extLst xmlns:a="http://schemas.openxmlformats.org/drawingml/2006/main">
              <a:ext uri="{FF2B5EF4-FFF2-40B4-BE49-F238E27FC236}">
                <a16:creationId xmlns:a16="http://schemas.microsoft.com/office/drawing/2014/main" id="{E1FB2DC5-EEA0-448E-B850-C9913533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2" name="page-7-chapter">
            <a:extLst xmlns:a="http://schemas.openxmlformats.org/drawingml/2006/main">
              <a:ext uri="{FF2B5EF4-FFF2-40B4-BE49-F238E27FC236}">
                <a16:creationId xmlns:a16="http://schemas.microsoft.com/office/drawing/2014/main" id="{34B115FB-F9CE-483E-A388-8E912434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02 · FOUR-STAGE DISCOVERY · STEP 1</a:t>
            </a:r>
          </a:p>
        </p:txBody>
      </p:sp>
      <p:sp>
        <p:nvSpPr>
          <p:cNvPr id="3" name="page-7-title">
            <a:extLst xmlns:a="http://schemas.openxmlformats.org/drawingml/2006/main">
              <a:ext uri="{FF2B5EF4-FFF2-40B4-BE49-F238E27FC236}">
                <a16:creationId xmlns:a16="http://schemas.microsoft.com/office/drawing/2014/main" id="{918C8ACF-D7E0-4F58-A848-D9AA5194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컬럼 유형은 프로파일·Rule·Model을 함께 봅니다</a:t>
            </a:r>
          </a:p>
        </p:txBody>
      </p:sp>
      <p:sp>
        <p:nvSpPr>
          <p:cNvPr id="4" name="page-7-subtitle">
            <a:extLst xmlns:a="http://schemas.openxmlformats.org/drawingml/2006/main">
              <a:ext uri="{FF2B5EF4-FFF2-40B4-BE49-F238E27FC236}">
                <a16:creationId xmlns:a16="http://schemas.microsoft.com/office/drawing/2014/main" id="{5A484ACB-F02D-4FC1-A364-973215C4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데이터 타입만으로 연속형을 단정하지 않고, 분포와 컬럼명 의미를 포함한 Rule 결과와 활성 모델 판단을 호환성 가드에서 결합합니다.</a:t>
            </a:r>
          </a:p>
        </p:txBody>
      </p:sp>
      <p:sp>
        <p:nvSpPr>
          <p:cNvPr id="5" name="page-7-top-rule">
            <a:extLst xmlns:a="http://schemas.openxmlformats.org/drawingml/2006/main">
              <a:ext uri="{FF2B5EF4-FFF2-40B4-BE49-F238E27FC236}">
                <a16:creationId xmlns:a16="http://schemas.microsoft.com/office/drawing/2014/main" id="{05131F98-16E0-4C05-B74D-BDBDB1B9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7-footer-rule">
            <a:extLst xmlns:a="http://schemas.openxmlformats.org/drawingml/2006/main">
              <a:ext uri="{FF2B5EF4-FFF2-40B4-BE49-F238E27FC236}">
                <a16:creationId xmlns:a16="http://schemas.microsoft.com/office/drawing/2014/main" id="{0524CEFF-205A-41D2-9108-C0DD9F12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7-footer-name">
            <a:extLst xmlns:a="http://schemas.openxmlformats.org/drawingml/2006/main">
              <a:ext uri="{FF2B5EF4-FFF2-40B4-BE49-F238E27FC236}">
                <a16:creationId xmlns:a16="http://schemas.microsoft.com/office/drawing/2014/main" id="{580B75BB-4466-4F56-877C-AD2822D8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7-footer-number">
            <a:extLst xmlns:a="http://schemas.openxmlformats.org/drawingml/2006/main">
              <a:ext uri="{FF2B5EF4-FFF2-40B4-BE49-F238E27FC236}">
                <a16:creationId xmlns:a16="http://schemas.microsoft.com/office/drawing/2014/main" id="{9DA74349-A065-4220-8486-0034D7CF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9" name="step1-node-1">
            <a:extLst xmlns:a="http://schemas.openxmlformats.org/drawingml/2006/main">
              <a:ext uri="{FF2B5EF4-FFF2-40B4-BE49-F238E27FC236}">
                <a16:creationId xmlns:a16="http://schemas.microsoft.com/office/drawing/2014/main" id="{C6212BE5-6148-4C8C-985E-EA82C326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638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F6FB5"/>
            </a:solidFill>
            <a:prstDash val="solid"/>
          </a:ln>
        </p:spPr>
      </p:sp>
      <p:sp>
        <p:nvSpPr>
          <p:cNvPr id="10" name="step1-num-1-circle">
            <a:extLst xmlns:a="http://schemas.openxmlformats.org/drawingml/2006/main">
              <a:ext uri="{FF2B5EF4-FFF2-40B4-BE49-F238E27FC236}">
                <a16:creationId xmlns:a16="http://schemas.microsoft.com/office/drawing/2014/main" id="{340E1F7E-1CCA-4A0F-BBC3-BF75B41B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step1-num-1-number">
            <a:extLst xmlns:a="http://schemas.openxmlformats.org/drawingml/2006/main">
              <a:ext uri="{FF2B5EF4-FFF2-40B4-BE49-F238E27FC236}">
                <a16:creationId xmlns:a16="http://schemas.microsoft.com/office/drawing/2014/main" id="{2ABBBE8C-9535-44DB-A5F8-99C3C906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step1-title-1">
            <a:extLst xmlns:a="http://schemas.openxmlformats.org/drawingml/2006/main">
              <a:ext uri="{FF2B5EF4-FFF2-40B4-BE49-F238E27FC236}">
                <a16:creationId xmlns:a16="http://schemas.microsoft.com/office/drawing/2014/main" id="{E63C9185-3DA0-431C-A883-D228CCAA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955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컬럼 프로파일</a:t>
            </a:r>
          </a:p>
        </p:txBody>
      </p:sp>
      <p:sp>
        <p:nvSpPr>
          <p:cNvPr id="13" name="step1-kicker-1">
            <a:extLst xmlns:a="http://schemas.openxmlformats.org/drawingml/2006/main">
              <a:ext uri="{FF2B5EF4-FFF2-40B4-BE49-F238E27FC236}">
                <a16:creationId xmlns:a16="http://schemas.microsoft.com/office/drawing/2014/main" id="{642B0497-E68D-4D7A-9F31-0071A99C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575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INPUT</a:t>
            </a:r>
          </a:p>
        </p:txBody>
      </p:sp>
      <p:sp>
        <p:nvSpPr>
          <p:cNvPr id="14" name="step1-body-1">
            <a:extLst xmlns:a="http://schemas.openxmlformats.org/drawingml/2006/main">
              <a:ext uri="{FF2B5EF4-FFF2-40B4-BE49-F238E27FC236}">
                <a16:creationId xmlns:a16="http://schemas.microsoft.com/office/drawing/2014/main" id="{35D14593-F7C2-472A-A765-2954D5DB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3219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NULL·DISTINCT·비율, 최소·최대, 길이, 소수·정수 비율, 엔트로피·분포와 컬럼명 힌트를 수집합니다.</a:t>
            </a:r>
          </a:p>
        </p:txBody>
      </p:sp>
      <p:sp>
        <p:nvSpPr>
          <p:cNvPr id="15" name="step1-node-2">
            <a:extLst xmlns:a="http://schemas.openxmlformats.org/drawingml/2006/main">
              <a:ext uri="{FF2B5EF4-FFF2-40B4-BE49-F238E27FC236}">
                <a16:creationId xmlns:a16="http://schemas.microsoft.com/office/drawing/2014/main" id="{DA2FE4B6-C57C-4640-A62B-82D35B74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638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16" name="step1-num-2-circle">
            <a:extLst xmlns:a="http://schemas.openxmlformats.org/drawingml/2006/main">
              <a:ext uri="{FF2B5EF4-FFF2-40B4-BE49-F238E27FC236}">
                <a16:creationId xmlns:a16="http://schemas.microsoft.com/office/drawing/2014/main" id="{EADB8F70-C735-4C6C-A23E-33B1995C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17" name="step1-num-2-number">
            <a:extLst xmlns:a="http://schemas.openxmlformats.org/drawingml/2006/main">
              <a:ext uri="{FF2B5EF4-FFF2-40B4-BE49-F238E27FC236}">
                <a16:creationId xmlns:a16="http://schemas.microsoft.com/office/drawing/2014/main" id="{E71F6977-87AC-4D57-A745-7B6F5CFE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step1-title-2">
            <a:extLst xmlns:a="http://schemas.openxmlformats.org/drawingml/2006/main">
              <a:ext uri="{FF2B5EF4-FFF2-40B4-BE49-F238E27FC236}">
                <a16:creationId xmlns:a16="http://schemas.microsoft.com/office/drawing/2014/main" id="{0D92D7A9-4894-4EF8-88A3-A44CC59C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624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Rule·Model 판정</a:t>
            </a:r>
          </a:p>
        </p:txBody>
      </p:sp>
      <p:sp>
        <p:nvSpPr>
          <p:cNvPr id="19" name="step1-kicker-2">
            <a:extLst xmlns:a="http://schemas.openxmlformats.org/drawingml/2006/main">
              <a:ext uri="{FF2B5EF4-FFF2-40B4-BE49-F238E27FC236}">
                <a16:creationId xmlns:a16="http://schemas.microsoft.com/office/drawing/2014/main" id="{51C3DEA1-8CB0-4314-A65A-D8BEF9E8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PARALLEL EVIDENCE</a:t>
            </a:r>
          </a:p>
        </p:txBody>
      </p:sp>
      <p:sp>
        <p:nvSpPr>
          <p:cNvPr id="20" name="step1-body-2">
            <a:extLst xmlns:a="http://schemas.openxmlformats.org/drawingml/2006/main">
              <a:ext uri="{FF2B5EF4-FFF2-40B4-BE49-F238E27FC236}">
                <a16:creationId xmlns:a16="http://schemas.microsoft.com/office/drawing/2014/main" id="{8F789E5A-1481-4462-A428-FDE4DFC1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52900"/>
            <a:ext cx="3219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V3 Rule 함수가 세부 유형과 근거를 만들고, 활성 OML 모델은 기존 계약과 파라미터를 유지한 채 독립적으로 판단합니다.</a:t>
            </a:r>
          </a:p>
        </p:txBody>
      </p:sp>
      <p:sp>
        <p:nvSpPr>
          <p:cNvPr id="21" name="step1-node-3">
            <a:extLst xmlns:a="http://schemas.openxmlformats.org/drawingml/2006/main">
              <a:ext uri="{FF2B5EF4-FFF2-40B4-BE49-F238E27FC236}">
                <a16:creationId xmlns:a16="http://schemas.microsoft.com/office/drawing/2014/main" id="{85947AB2-81EF-473E-882C-E2DF4FD8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638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158D91"/>
            </a:solidFill>
            <a:prstDash val="solid"/>
          </a:ln>
        </p:spPr>
      </p:sp>
      <p:sp>
        <p:nvSpPr>
          <p:cNvPr id="22" name="step1-num-3-circle">
            <a:extLst xmlns:a="http://schemas.openxmlformats.org/drawingml/2006/main">
              <a:ext uri="{FF2B5EF4-FFF2-40B4-BE49-F238E27FC236}">
                <a16:creationId xmlns:a16="http://schemas.microsoft.com/office/drawing/2014/main" id="{D2C9C67F-8FFB-4F75-9B0F-38F2676E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3" name="step1-num-3-number">
            <a:extLst xmlns:a="http://schemas.openxmlformats.org/drawingml/2006/main">
              <a:ext uri="{FF2B5EF4-FFF2-40B4-BE49-F238E27FC236}">
                <a16:creationId xmlns:a16="http://schemas.microsoft.com/office/drawing/2014/main" id="{33123335-0A11-4B11-9423-459FAF3D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step1-title-3">
            <a:extLst xmlns:a="http://schemas.openxmlformats.org/drawingml/2006/main">
              <a:ext uri="{FF2B5EF4-FFF2-40B4-BE49-F238E27FC236}">
                <a16:creationId xmlns:a16="http://schemas.microsoft.com/office/drawing/2014/main" id="{6F8A4041-26E9-4167-98F8-74EA100D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292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최종 호환성 가드</a:t>
            </a:r>
          </a:p>
        </p:txBody>
      </p:sp>
      <p:sp>
        <p:nvSpPr>
          <p:cNvPr id="25" name="step1-kicker-3">
            <a:extLst xmlns:a="http://schemas.openxmlformats.org/drawingml/2006/main">
              <a:ext uri="{FF2B5EF4-FFF2-40B4-BE49-F238E27FC236}">
                <a16:creationId xmlns:a16="http://schemas.microsoft.com/office/drawing/2014/main" id="{1935AC36-0988-4B0F-AFBF-F22888BB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912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FINAL SELECTION</a:t>
            </a:r>
          </a:p>
        </p:txBody>
      </p:sp>
      <p:sp>
        <p:nvSpPr>
          <p:cNvPr id="26" name="step1-body-3">
            <a:extLst xmlns:a="http://schemas.openxmlformats.org/drawingml/2006/main">
              <a:ext uri="{FF2B5EF4-FFF2-40B4-BE49-F238E27FC236}">
                <a16:creationId xmlns:a16="http://schemas.microsoft.com/office/drawing/2014/main" id="{39610F38-2129-44D9-BAE0-C0F71365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619750"/>
            <a:ext cx="3219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일치·누락·신뢰도·그룹 호환성을 평가하고 연속형→범주형 오분류를 차단하며 식별자·자유 텍스트를 보호합니다.</a:t>
            </a:r>
          </a:p>
        </p:txBody>
      </p:sp>
      <p:sp>
        <p:nvSpPr>
          <p:cNvPr id="27" name="step1-node-4">
            <a:extLst xmlns:a="http://schemas.openxmlformats.org/drawingml/2006/main">
              <a:ext uri="{FF2B5EF4-FFF2-40B4-BE49-F238E27FC236}">
                <a16:creationId xmlns:a16="http://schemas.microsoft.com/office/drawing/2014/main" id="{9D407E0C-B576-4492-A13E-31EA10C5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915150"/>
            <a:ext cx="638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9525">
            <a:solidFill>
              <a:srgbClr val="3E8D65"/>
            </a:solidFill>
            <a:prstDash val="solid"/>
          </a:ln>
        </p:spPr>
      </p:sp>
      <p:sp>
        <p:nvSpPr>
          <p:cNvPr id="28" name="step1-num-4-circle">
            <a:extLst xmlns:a="http://schemas.openxmlformats.org/drawingml/2006/main">
              <a:ext uri="{FF2B5EF4-FFF2-40B4-BE49-F238E27FC236}">
                <a16:creationId xmlns:a16="http://schemas.microsoft.com/office/drawing/2014/main" id="{3C36F3D1-DBBB-4E2E-B0C9-7668F692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29" name="step1-num-4-number">
            <a:extLst xmlns:a="http://schemas.openxmlformats.org/drawingml/2006/main">
              <a:ext uri="{FF2B5EF4-FFF2-40B4-BE49-F238E27FC236}">
                <a16:creationId xmlns:a16="http://schemas.microsoft.com/office/drawing/2014/main" id="{4039DE77-9218-4138-8E2A-65486408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step1-title-4">
            <a:extLst xmlns:a="http://schemas.openxmlformats.org/drawingml/2006/main">
              <a:ext uri="{FF2B5EF4-FFF2-40B4-BE49-F238E27FC236}">
                <a16:creationId xmlns:a16="http://schemas.microsoft.com/office/drawing/2014/main" id="{02931C00-0B2A-4A7E-AA7B-4C3BBDF3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9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Run·최종 유형</a:t>
            </a:r>
          </a:p>
        </p:txBody>
      </p:sp>
      <p:sp>
        <p:nvSpPr>
          <p:cNvPr id="31" name="step1-kicker-4">
            <a:extLst xmlns:a="http://schemas.openxmlformats.org/drawingml/2006/main">
              <a:ext uri="{FF2B5EF4-FFF2-40B4-BE49-F238E27FC236}">
                <a16:creationId xmlns:a16="http://schemas.microsoft.com/office/drawing/2014/main" id="{617060D3-6493-4A74-9229-55FA7A7D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4580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E8D6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E8D65"/>
                </a:solidFill>
                <a:latin typeface="Consolas"/>
                <a:ea typeface="Consolas"/>
                <a:cs typeface="Consolas"/>
              </a:rPr>
              <a:t>OUTPUT</a:t>
            </a:r>
          </a:p>
        </p:txBody>
      </p:sp>
      <p:sp>
        <p:nvSpPr>
          <p:cNvPr id="32" name="step1-body-4">
            <a:extLst xmlns:a="http://schemas.openxmlformats.org/drawingml/2006/main">
              <a:ext uri="{FF2B5EF4-FFF2-40B4-BE49-F238E27FC236}">
                <a16:creationId xmlns:a16="http://schemas.microsoft.com/office/drawing/2014/main" id="{B9941A3A-4C3B-4BFA-A4E4-B36D193D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086600"/>
            <a:ext cx="3219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RULE·MODEL·FINAL 유형과 근거를 저장하고 사용자 확정값을 보존한 최신 최종 유형을 M03002에 제공합니다.</a:t>
            </a:r>
          </a:p>
        </p:txBody>
      </p:sp>
      <p:cxnSp>
        <p:nvCxnSpPr>
          <p:cNvPr id="72" name=""/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781425" y="37719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781425" y="52387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781425" y="67056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sp>
        <p:nvSpPr>
          <p:cNvPr id="36" name="p7-functions-fill">
            <a:extLst xmlns:a="http://schemas.openxmlformats.org/drawingml/2006/main">
              <a:ext uri="{FF2B5EF4-FFF2-40B4-BE49-F238E27FC236}">
                <a16:creationId xmlns:a16="http://schemas.microsoft.com/office/drawing/2014/main" id="{A46EAE3F-D876-4E8A-93B7-BC9545A7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0"/>
            <a:ext cx="6381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15255A"/>
            </a:solidFill>
            <a:prstDash val="solid"/>
          </a:ln>
        </p:spPr>
      </p:sp>
      <p:sp>
        <p:nvSpPr>
          <p:cNvPr id="37" name="p7-functions-accent">
            <a:extLst xmlns:a="http://schemas.openxmlformats.org/drawingml/2006/main">
              <a:ext uri="{FF2B5EF4-FFF2-40B4-BE49-F238E27FC236}">
                <a16:creationId xmlns:a16="http://schemas.microsoft.com/office/drawing/2014/main" id="{EBB40DF9-1EF4-4DBF-88AB-26F890DD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5A"/>
          </a:solidFill>
          <a:ln xmlns:a="http://schemas.openxmlformats.org/drawingml/2006/main" w="0">
            <a:solidFill>
              <a:srgbClr val="15255A"/>
            </a:solidFill>
            <a:prstDash val="solid"/>
          </a:ln>
        </p:spPr>
      </p:sp>
      <p:sp>
        <p:nvSpPr>
          <p:cNvPr id="38" name="p7-functions-text">
            <a:extLst xmlns:a="http://schemas.openxmlformats.org/drawingml/2006/main">
              <a:ext uri="{FF2B5EF4-FFF2-40B4-BE49-F238E27FC236}">
                <a16:creationId xmlns:a16="http://schemas.microsoft.com/office/drawing/2014/main" id="{BF64C87D-508C-47DA-A46B-2BE3C1FB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43950"/>
            <a:ext cx="598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Rule 근거 · INIT$_FN_PREDICT_BASE_TYPE_V3 / INIT$_FN_PREDICT_BASE_REASON_V3</a:t>
            </a:r>
          </a:p>
        </p:txBody>
      </p:sp>
      <p:sp>
        <p:nvSpPr>
          <p:cNvPr id="39" name="p7-note">
            <a:extLst xmlns:a="http://schemas.openxmlformats.org/drawingml/2006/main">
              <a:ext uri="{FF2B5EF4-FFF2-40B4-BE49-F238E27FC236}">
                <a16:creationId xmlns:a16="http://schemas.microsoft.com/office/drawing/2014/main" id="{35A8ECC5-E023-40AE-814A-13AB14FD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603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모델 판단 로직 자체는 변경하지 않습니다. 개선은 Rule의 설명력과 최종 선택의 호환성 검증에 집중합니다.</a:t>
            </a:r>
          </a:p>
        </p:txBody>
      </p:sp>
    </p:spTree>
    <p:extLst>
      <p:ext uri="{BB962C8B-B14F-4D97-AF65-F5344CB8AC3E}">
        <p14:creationId xmlns:p14="http://schemas.microsoft.com/office/powerpoint/2010/main" val="9940023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age-8-rail">
            <a:extLst xmlns:a="http://schemas.openxmlformats.org/drawingml/2006/main">
              <a:ext uri="{FF2B5EF4-FFF2-40B4-BE49-F238E27FC236}">
                <a16:creationId xmlns:a16="http://schemas.microsoft.com/office/drawing/2014/main" id="{902C63B4-88EB-497A-8E92-543AFA7C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" name="page-8-chapter">
            <a:extLst xmlns:a="http://schemas.openxmlformats.org/drawingml/2006/main">
              <a:ext uri="{FF2B5EF4-FFF2-40B4-BE49-F238E27FC236}">
                <a16:creationId xmlns:a16="http://schemas.microsoft.com/office/drawing/2014/main" id="{B64D2A79-CECC-4B4C-9774-A6C2FA59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02 · FOUR-STAGE DISCOVERY · STEP 2</a:t>
            </a:r>
          </a:p>
        </p:txBody>
      </p:sp>
      <p:sp>
        <p:nvSpPr>
          <p:cNvPr id="3" name="page-8-title">
            <a:extLst xmlns:a="http://schemas.openxmlformats.org/drawingml/2006/main">
              <a:ext uri="{FF2B5EF4-FFF2-40B4-BE49-F238E27FC236}">
                <a16:creationId xmlns:a16="http://schemas.microsoft.com/office/drawing/2014/main" id="{16C4CCFA-ACBC-49B3-93DC-B9BADC0B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관계 지표는 컬럼 유형 조합에 따라 달라집니다</a:t>
            </a:r>
          </a:p>
        </p:txBody>
      </p:sp>
      <p:sp>
        <p:nvSpPr>
          <p:cNvPr id="4" name="page-8-subtitle">
            <a:extLst xmlns:a="http://schemas.openxmlformats.org/drawingml/2006/main">
              <a:ext uri="{FF2B5EF4-FFF2-40B4-BE49-F238E27FC236}">
                <a16:creationId xmlns:a16="http://schemas.microsoft.com/office/drawing/2014/main" id="{243BAA74-1E05-4C51-A765-BECD4C90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1단계의 최신 확정 유형을 기준으로 적합한 지표를 계산하고, 통과 관계를 네트워크·군집으로 확장합니다.</a:t>
            </a:r>
          </a:p>
        </p:txBody>
      </p:sp>
      <p:sp>
        <p:nvSpPr>
          <p:cNvPr id="5" name="page-8-top-rule">
            <a:extLst xmlns:a="http://schemas.openxmlformats.org/drawingml/2006/main">
              <a:ext uri="{FF2B5EF4-FFF2-40B4-BE49-F238E27FC236}">
                <a16:creationId xmlns:a16="http://schemas.microsoft.com/office/drawing/2014/main" id="{A138C38C-7F5F-4E11-9C71-F19D7843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8-footer-rule">
            <a:extLst xmlns:a="http://schemas.openxmlformats.org/drawingml/2006/main">
              <a:ext uri="{FF2B5EF4-FFF2-40B4-BE49-F238E27FC236}">
                <a16:creationId xmlns:a16="http://schemas.microsoft.com/office/drawing/2014/main" id="{081575E4-C8A2-4241-8CDB-4AF2DF07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8-footer-name">
            <a:extLst xmlns:a="http://schemas.openxmlformats.org/drawingml/2006/main">
              <a:ext uri="{FF2B5EF4-FFF2-40B4-BE49-F238E27FC236}">
                <a16:creationId xmlns:a16="http://schemas.microsoft.com/office/drawing/2014/main" id="{8E7B685D-CD0D-43A9-8CDA-BB662931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8-footer-number">
            <a:extLst xmlns:a="http://schemas.openxmlformats.org/drawingml/2006/main">
              <a:ext uri="{FF2B5EF4-FFF2-40B4-BE49-F238E27FC236}">
                <a16:creationId xmlns:a16="http://schemas.microsoft.com/office/drawing/2014/main" id="{2DE07FF1-65C4-4EA8-8613-9A770E7C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9" name="p8-metric-0">
            <a:extLst xmlns:a="http://schemas.openxmlformats.org/drawingml/2006/main">
              <a:ext uri="{FF2B5EF4-FFF2-40B4-BE49-F238E27FC236}">
                <a16:creationId xmlns:a16="http://schemas.microsoft.com/office/drawing/2014/main" id="{D4024C64-249A-4409-8855-F468B5DC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6381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0" name="p8-pair-0">
            <a:extLst xmlns:a="http://schemas.openxmlformats.org/drawingml/2006/main">
              <a:ext uri="{FF2B5EF4-FFF2-40B4-BE49-F238E27FC236}">
                <a16:creationId xmlns:a16="http://schemas.microsoft.com/office/drawing/2014/main" id="{C4EAE0DD-C2DF-4864-9BCB-7309AEA8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범주형 × 범주형</a:t>
            </a:r>
          </a:p>
        </p:txBody>
      </p:sp>
      <p:sp>
        <p:nvSpPr>
          <p:cNvPr id="11" name="p8-metric-name-0">
            <a:extLst xmlns:a="http://schemas.openxmlformats.org/drawingml/2006/main">
              <a:ext uri="{FF2B5EF4-FFF2-40B4-BE49-F238E27FC236}">
                <a16:creationId xmlns:a16="http://schemas.microsoft.com/office/drawing/2014/main" id="{1766FE4B-D637-4680-BCBB-7511D568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4233C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14233C"/>
                </a:solidFill>
                <a:latin typeface="Consolas"/>
                <a:ea typeface="Consolas"/>
                <a:cs typeface="Consolas"/>
              </a:rPr>
              <a:t>Cramér's V</a:t>
            </a:r>
          </a:p>
        </p:txBody>
      </p:sp>
      <p:sp>
        <p:nvSpPr>
          <p:cNvPr id="12" name="p8-desc-0">
            <a:extLst xmlns:a="http://schemas.openxmlformats.org/drawingml/2006/main">
              <a:ext uri="{FF2B5EF4-FFF2-40B4-BE49-F238E27FC236}">
                <a16:creationId xmlns:a16="http://schemas.microsoft.com/office/drawing/2014/main" id="{DEAD57D5-BC69-47AB-A1B3-5B029F97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0512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범주 간 결합 강도와 p-value</a:t>
            </a:r>
          </a:p>
        </p:txBody>
      </p:sp>
      <p:sp>
        <p:nvSpPr>
          <p:cNvPr id="13" name="p8-metric-1">
            <a:extLst xmlns:a="http://schemas.openxmlformats.org/drawingml/2006/main">
              <a:ext uri="{FF2B5EF4-FFF2-40B4-BE49-F238E27FC236}">
                <a16:creationId xmlns:a16="http://schemas.microsoft.com/office/drawing/2014/main" id="{5496653B-85FC-4D59-A872-91461937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6381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0">
            <a:solidFill>
              <a:srgbClr val="E9F5F4"/>
            </a:solidFill>
            <a:prstDash val="solid"/>
          </a:ln>
        </p:spPr>
      </p:sp>
      <p:sp>
        <p:nvSpPr>
          <p:cNvPr id="14" name="p8-pair-1">
            <a:extLst xmlns:a="http://schemas.openxmlformats.org/drawingml/2006/main">
              <a:ext uri="{FF2B5EF4-FFF2-40B4-BE49-F238E27FC236}">
                <a16:creationId xmlns:a16="http://schemas.microsoft.com/office/drawing/2014/main" id="{96E24BE3-36D6-4FD2-921D-227668D5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연속형 × 연속형</a:t>
            </a:r>
          </a:p>
        </p:txBody>
      </p:sp>
      <p:sp>
        <p:nvSpPr>
          <p:cNvPr id="15" name="p8-metric-name-1">
            <a:extLst xmlns:a="http://schemas.openxmlformats.org/drawingml/2006/main">
              <a:ext uri="{FF2B5EF4-FFF2-40B4-BE49-F238E27FC236}">
                <a16:creationId xmlns:a16="http://schemas.microsoft.com/office/drawing/2014/main" id="{65C90B94-60B8-400D-BA9A-B3FD63E4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4233C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14233C"/>
                </a:solidFill>
                <a:latin typeface="Consolas"/>
                <a:ea typeface="Consolas"/>
                <a:cs typeface="Consolas"/>
              </a:rPr>
              <a:t>Pearson / Spearman</a:t>
            </a:r>
          </a:p>
        </p:txBody>
      </p:sp>
      <p:sp>
        <p:nvSpPr>
          <p:cNvPr id="16" name="p8-desc-1">
            <a:extLst xmlns:a="http://schemas.openxmlformats.org/drawingml/2006/main">
              <a:ext uri="{FF2B5EF4-FFF2-40B4-BE49-F238E27FC236}">
                <a16:creationId xmlns:a16="http://schemas.microsoft.com/office/drawing/2014/main" id="{B18E407B-50B6-40D1-96C4-931A0BF4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1482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선형 또는 순위 관계와 p-value</a:t>
            </a:r>
          </a:p>
        </p:txBody>
      </p:sp>
      <p:sp>
        <p:nvSpPr>
          <p:cNvPr id="17" name="p8-metric-2">
            <a:extLst xmlns:a="http://schemas.openxmlformats.org/drawingml/2006/main">
              <a:ext uri="{FF2B5EF4-FFF2-40B4-BE49-F238E27FC236}">
                <a16:creationId xmlns:a16="http://schemas.microsoft.com/office/drawing/2014/main" id="{016C5A06-EA1E-4A38-AAE4-1DEB8D74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6381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0">
            <a:solidFill>
              <a:srgbClr val="F1EFF8"/>
            </a:solidFill>
            <a:prstDash val="solid"/>
          </a:ln>
        </p:spPr>
      </p:sp>
      <p:sp>
        <p:nvSpPr>
          <p:cNvPr id="18" name="p8-pair-2">
            <a:extLst xmlns:a="http://schemas.openxmlformats.org/drawingml/2006/main">
              <a:ext uri="{FF2B5EF4-FFF2-40B4-BE49-F238E27FC236}">
                <a16:creationId xmlns:a16="http://schemas.microsoft.com/office/drawing/2014/main" id="{2E8AE67E-6928-4162-84EB-A222F83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범주형 × 연속형</a:t>
            </a:r>
          </a:p>
        </p:txBody>
      </p:sp>
      <p:sp>
        <p:nvSpPr>
          <p:cNvPr id="19" name="p8-metric-name-2">
            <a:extLst xmlns:a="http://schemas.openxmlformats.org/drawingml/2006/main">
              <a:ext uri="{FF2B5EF4-FFF2-40B4-BE49-F238E27FC236}">
                <a16:creationId xmlns:a16="http://schemas.microsoft.com/office/drawing/2014/main" id="{F2C02778-ED98-435F-B7B6-0A7548EC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4233C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14233C"/>
                </a:solidFill>
                <a:latin typeface="Consolas"/>
                <a:ea typeface="Consolas"/>
                <a:cs typeface="Consolas"/>
              </a:rPr>
              <a:t>Eta Squared</a:t>
            </a:r>
          </a:p>
        </p:txBody>
      </p:sp>
      <p:sp>
        <p:nvSpPr>
          <p:cNvPr id="20" name="p8-desc-2">
            <a:extLst xmlns:a="http://schemas.openxmlformats.org/drawingml/2006/main">
              <a:ext uri="{FF2B5EF4-FFF2-40B4-BE49-F238E27FC236}">
                <a16:creationId xmlns:a16="http://schemas.microsoft.com/office/drawing/2014/main" id="{6735E093-BFB3-4E75-AED4-BABB1F53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2452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집단이 연속값 변동을 설명하는 정도</a:t>
            </a:r>
          </a:p>
        </p:txBody>
      </p:sp>
      <p:sp>
        <p:nvSpPr>
          <p:cNvPr id="21" name="p8-network-label-bar">
            <a:extLst xmlns:a="http://schemas.openxmlformats.org/drawingml/2006/main">
              <a:ext uri="{FF2B5EF4-FFF2-40B4-BE49-F238E27FC236}">
                <a16:creationId xmlns:a16="http://schemas.microsoft.com/office/drawing/2014/main" id="{61D39C9E-0B82-4198-B3F3-041479DC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1040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22" name="p8-network-label">
            <a:extLst xmlns:a="http://schemas.openxmlformats.org/drawingml/2006/main">
              <a:ext uri="{FF2B5EF4-FFF2-40B4-BE49-F238E27FC236}">
                <a16:creationId xmlns:a16="http://schemas.microsoft.com/office/drawing/2014/main" id="{6964EADB-83AD-4E29-87DF-609AC46C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22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rPr>
              <a:t>통과 관계를 네트워크와 군집으로 재구성</a:t>
            </a:r>
          </a:p>
        </p:txBody>
      </p:sp>
      <p:sp>
        <p:nvSpPr>
          <p:cNvPr id="23" name="p8-network-bullets">
            <a:extLst xmlns:a="http://schemas.openxmlformats.org/drawingml/2006/main">
              <a:ext uri="{FF2B5EF4-FFF2-40B4-BE49-F238E27FC236}">
                <a16:creationId xmlns:a16="http://schemas.microsoft.com/office/drawing/2014/main" id="{FD2B0034-9C53-4C26-8CE4-F43AA099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10450"/>
            <a:ext cx="62293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실제 Run 임계값으로 PASS 여부를 저장하고 강한 관계를 weighted edge로 선택합니다.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결정적 community, degree, centrality를 계산해 3단계 규칙 발굴의 선택적 보조 입력으로 사용합니다.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LATEST_MASTER 유형과 Target 테이블·유의수준·강도·샘플·edge 제한을 함께 기록합니다.</a:t>
            </a:r>
          </a:p>
        </p:txBody>
      </p:sp>
      <p:sp>
        <p:nvSpPr>
          <p:cNvPr id="24" name="p8-warning-fill">
            <a:extLst xmlns:a="http://schemas.openxmlformats.org/drawingml/2006/main">
              <a:ext uri="{FF2B5EF4-FFF2-40B4-BE49-F238E27FC236}">
                <a16:creationId xmlns:a16="http://schemas.microsoft.com/office/drawing/2014/main" id="{0B063DB2-03D4-447B-BDE3-26B12AC4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0"/>
            <a:ext cx="638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B97316"/>
            </a:solidFill>
            <a:prstDash val="solid"/>
          </a:ln>
        </p:spPr>
      </p:sp>
      <p:sp>
        <p:nvSpPr>
          <p:cNvPr id="25" name="p8-warning-accent">
            <a:extLst xmlns:a="http://schemas.openxmlformats.org/drawingml/2006/main">
              <a:ext uri="{FF2B5EF4-FFF2-40B4-BE49-F238E27FC236}">
                <a16:creationId xmlns:a16="http://schemas.microsoft.com/office/drawing/2014/main" id="{165A3989-F433-4922-BC57-D0864531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6" name="p8-warning-text">
            <a:extLst xmlns:a="http://schemas.openxmlformats.org/drawingml/2006/main">
              <a:ext uri="{FF2B5EF4-FFF2-40B4-BE49-F238E27FC236}">
                <a16:creationId xmlns:a16="http://schemas.microsoft.com/office/drawing/2014/main" id="{B57977FC-1951-4409-ABF7-64C7AAE7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05950"/>
            <a:ext cx="598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해석 주의 · 관계 통과는 인과관계나 최종 업무 규칙을 뜻하지 않습니다. 기준 미달 관계도 다변량 수식 후보에 필요할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188717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age-9-rail">
            <a:extLst xmlns:a="http://schemas.openxmlformats.org/drawingml/2006/main">
              <a:ext uri="{FF2B5EF4-FFF2-40B4-BE49-F238E27FC236}">
                <a16:creationId xmlns:a16="http://schemas.microsoft.com/office/drawing/2014/main" id="{38E459C1-91F6-4BCB-AFC2-47914F5E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" name="page-9-chapter">
            <a:extLst xmlns:a="http://schemas.openxmlformats.org/drawingml/2006/main">
              <a:ext uri="{FF2B5EF4-FFF2-40B4-BE49-F238E27FC236}">
                <a16:creationId xmlns:a16="http://schemas.microsoft.com/office/drawing/2014/main" id="{7093D3E8-D61F-4C54-85DE-85DDA4F7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02 · FOUR-STAGE DISCOVERY · STEP 3</a:t>
            </a:r>
          </a:p>
        </p:txBody>
      </p:sp>
      <p:sp>
        <p:nvSpPr>
          <p:cNvPr id="3" name="page-9-title">
            <a:extLst xmlns:a="http://schemas.openxmlformats.org/drawingml/2006/main">
              <a:ext uri="{FF2B5EF4-FFF2-40B4-BE49-F238E27FC236}">
                <a16:creationId xmlns:a16="http://schemas.microsoft.com/office/drawing/2014/main" id="{87B3A16B-78A5-4952-A022-10D9EF18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범주형과 연속형 규칙을 독립적으로 발굴합니다</a:t>
            </a:r>
          </a:p>
        </p:txBody>
      </p:sp>
      <p:sp>
        <p:nvSpPr>
          <p:cNvPr id="4" name="page-9-subtitle">
            <a:extLst xmlns:a="http://schemas.openxmlformats.org/drawingml/2006/main">
              <a:ext uri="{FF2B5EF4-FFF2-40B4-BE49-F238E27FC236}">
                <a16:creationId xmlns:a16="http://schemas.microsoft.com/office/drawing/2014/main" id="{B06802AE-5E5A-488D-8FD1-22C70921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통합 실행은 두 분석 경로를 함께 호출하지만, 결과는 자동 확정이 아니라 사람이 검토할 규칙 후보입니다.</a:t>
            </a:r>
          </a:p>
        </p:txBody>
      </p:sp>
      <p:sp>
        <p:nvSpPr>
          <p:cNvPr id="5" name="page-9-top-rule">
            <a:extLst xmlns:a="http://schemas.openxmlformats.org/drawingml/2006/main">
              <a:ext uri="{FF2B5EF4-FFF2-40B4-BE49-F238E27FC236}">
                <a16:creationId xmlns:a16="http://schemas.microsoft.com/office/drawing/2014/main" id="{C6395E79-EBB3-48D0-9B59-09F9AD35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9-footer-rule">
            <a:extLst xmlns:a="http://schemas.openxmlformats.org/drawingml/2006/main">
              <a:ext uri="{FF2B5EF4-FFF2-40B4-BE49-F238E27FC236}">
                <a16:creationId xmlns:a16="http://schemas.microsoft.com/office/drawing/2014/main" id="{F00E6C04-3827-47CF-8B49-37398D04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9-footer-name">
            <a:extLst xmlns:a="http://schemas.openxmlformats.org/drawingml/2006/main">
              <a:ext uri="{FF2B5EF4-FFF2-40B4-BE49-F238E27FC236}">
                <a16:creationId xmlns:a16="http://schemas.microsoft.com/office/drawing/2014/main" id="{420DF10B-C0CB-417D-95A9-76618496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9-footer-number">
            <a:extLst xmlns:a="http://schemas.openxmlformats.org/drawingml/2006/main">
              <a:ext uri="{FF2B5EF4-FFF2-40B4-BE49-F238E27FC236}">
                <a16:creationId xmlns:a16="http://schemas.microsoft.com/office/drawing/2014/main" id="{B4782478-3C42-465C-964B-2120713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9" name="p9-left">
            <a:extLst xmlns:a="http://schemas.openxmlformats.org/drawingml/2006/main">
              <a:ext uri="{FF2B5EF4-FFF2-40B4-BE49-F238E27FC236}">
                <a16:creationId xmlns:a16="http://schemas.microsoft.com/office/drawing/2014/main" id="{00FDC294-A243-4711-A957-B632B60D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3076575" cy="4572000"/>
          </a:xfrm>
          <a:prstGeom xmlns:a="http://schemas.openxmlformats.org/drawingml/2006/main" prst="roundRect">
            <a:avLst>
              <a:gd name="adj" fmla="val 371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0" name="p9-left-kicker">
            <a:extLst xmlns:a="http://schemas.openxmlformats.org/drawingml/2006/main">
              <a:ext uri="{FF2B5EF4-FFF2-40B4-BE49-F238E27FC236}">
                <a16:creationId xmlns:a16="http://schemas.microsoft.com/office/drawing/2014/main" id="{BC9F0349-B8CA-4AF9-881A-11BC31A4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CATEGORICAL</a:t>
            </a:r>
          </a:p>
        </p:txBody>
      </p:sp>
      <p:sp>
        <p:nvSpPr>
          <p:cNvPr id="11" name="p9-left-title">
            <a:extLst xmlns:a="http://schemas.openxmlformats.org/drawingml/2006/main">
              <a:ext uri="{FF2B5EF4-FFF2-40B4-BE49-F238E27FC236}">
                <a16:creationId xmlns:a16="http://schemas.microsoft.com/office/drawing/2014/main" id="{8CDB76A5-9A05-478F-B145-12841A83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Apriori 연관 규칙</a:t>
            </a:r>
          </a:p>
        </p:txBody>
      </p:sp>
      <p:sp>
        <p:nvSpPr>
          <p:cNvPr id="12" name="p9-left-desc">
            <a:extLst xmlns:a="http://schemas.openxmlformats.org/drawingml/2006/main">
              <a:ext uri="{FF2B5EF4-FFF2-40B4-BE49-F238E27FC236}">
                <a16:creationId xmlns:a16="http://schemas.microsoft.com/office/drawing/2014/main" id="{06017143-536E-4553-BFCD-9F19D918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조건–결과 형태의 사람이 읽을 수 있는 IF/THEN 후보를 만듭니다.</a:t>
            </a:r>
          </a:p>
        </p:txBody>
      </p:sp>
      <p:sp>
        <p:nvSpPr>
          <p:cNvPr id="13" name="p9-left-bullets">
            <a:extLst xmlns:a="http://schemas.openxmlformats.org/drawingml/2006/main">
              <a:ext uri="{FF2B5EF4-FFF2-40B4-BE49-F238E27FC236}">
                <a16:creationId xmlns:a16="http://schemas.microsoft.com/office/drawing/2014/main" id="{83724A6C-D561-49D6-837B-D62672CB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619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최소 support·confidence 적용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규칙 길이와 조합 예산 제한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Oracle ML 모델과 요약 동시 생성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lift와 표본 건수 함께 저장</a:t>
            </a:r>
          </a:p>
        </p:txBody>
      </p:sp>
      <p:sp>
        <p:nvSpPr>
          <p:cNvPr id="14" name="p9-right">
            <a:extLst xmlns:a="http://schemas.openxmlformats.org/drawingml/2006/main">
              <a:ext uri="{FF2B5EF4-FFF2-40B4-BE49-F238E27FC236}">
                <a16:creationId xmlns:a16="http://schemas.microsoft.com/office/drawing/2014/main" id="{CB4FE576-C85C-4E44-A9A2-90E669C1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90800"/>
            <a:ext cx="3076575" cy="4572000"/>
          </a:xfrm>
          <a:prstGeom xmlns:a="http://schemas.openxmlformats.org/drawingml/2006/main" prst="roundRect">
            <a:avLst>
              <a:gd name="adj" fmla="val 37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0">
            <a:solidFill>
              <a:srgbClr val="E9F5F4"/>
            </a:solidFill>
            <a:prstDash val="solid"/>
          </a:ln>
        </p:spPr>
      </p:sp>
      <p:sp>
        <p:nvSpPr>
          <p:cNvPr id="15" name="p9-right-kicker">
            <a:extLst xmlns:a="http://schemas.openxmlformats.org/drawingml/2006/main">
              <a:ext uri="{FF2B5EF4-FFF2-40B4-BE49-F238E27FC236}">
                <a16:creationId xmlns:a16="http://schemas.microsoft.com/office/drawing/2014/main" id="{B7283307-F56B-47CE-B043-72262B01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838450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CONTINUOUS</a:t>
            </a:r>
          </a:p>
        </p:txBody>
      </p:sp>
      <p:sp>
        <p:nvSpPr>
          <p:cNvPr id="16" name="p9-right-title">
            <a:extLst xmlns:a="http://schemas.openxmlformats.org/drawingml/2006/main">
              <a:ext uri="{FF2B5EF4-FFF2-40B4-BE49-F238E27FC236}">
                <a16:creationId xmlns:a16="http://schemas.microsoft.com/office/drawing/2014/main" id="{E8521814-E100-47B7-8C13-421AF45C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19087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LASSO + Symbolic</a:t>
            </a:r>
          </a:p>
        </p:txBody>
      </p:sp>
      <p:sp>
        <p:nvSpPr>
          <p:cNvPr id="17" name="p9-right-desc">
            <a:extLst xmlns:a="http://schemas.openxmlformats.org/drawingml/2006/main">
              <a:ext uri="{FF2B5EF4-FFF2-40B4-BE49-F238E27FC236}">
                <a16:creationId xmlns:a16="http://schemas.microsoft.com/office/drawing/2014/main" id="{C6DAC2FF-91F7-459E-B79D-D81CBA41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6957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중요변수를 압축하고 설명 가능한 f(x)=y 수식 후보를 비교합니다.</a:t>
            </a:r>
          </a:p>
        </p:txBody>
      </p:sp>
      <p:sp>
        <p:nvSpPr>
          <p:cNvPr id="18" name="p9-right-bullets">
            <a:extLst xmlns:a="http://schemas.openxmlformats.org/drawingml/2006/main">
              <a:ext uri="{FF2B5EF4-FFF2-40B4-BE49-F238E27FC236}">
                <a16:creationId xmlns:a16="http://schemas.microsoft.com/office/drawing/2014/main" id="{B0F57778-72A8-490E-A971-E69F77AA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629150"/>
            <a:ext cx="2619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결측 중앙값 보정과 표준화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교차검증 또는 계수로 변수 선택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선형·강건·비율·다항·PySR 비교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Oracle-safe 수식과 R² 저장</a:t>
            </a:r>
          </a:p>
        </p:txBody>
      </p:sp>
      <p:sp>
        <p:nvSpPr>
          <p:cNvPr id="19" name="p9-partial-label-bar">
            <a:extLst xmlns:a="http://schemas.openxmlformats.org/drawingml/2006/main">
              <a:ext uri="{FF2B5EF4-FFF2-40B4-BE49-F238E27FC236}">
                <a16:creationId xmlns:a16="http://schemas.microsoft.com/office/drawing/2014/main" id="{323A8AE0-2EE4-4FFB-AFE9-0344BF78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58190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0" name="p9-partial-label">
            <a:extLst xmlns:a="http://schemas.openxmlformats.org/drawingml/2006/main">
              <a:ext uri="{FF2B5EF4-FFF2-40B4-BE49-F238E27FC236}">
                <a16:creationId xmlns:a16="http://schemas.microsoft.com/office/drawing/2014/main" id="{A8D5C6DD-CFFC-456F-9D81-774F2C08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43800"/>
            <a:ext cx="622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부분 완료도 검토 가능한 결과로 남깁니다</a:t>
            </a:r>
          </a:p>
        </p:txBody>
      </p:sp>
      <p:sp>
        <p:nvSpPr>
          <p:cNvPr id="21" name="p9-partial">
            <a:extLst xmlns:a="http://schemas.openxmlformats.org/drawingml/2006/main">
              <a:ext uri="{FF2B5EF4-FFF2-40B4-BE49-F238E27FC236}">
                <a16:creationId xmlns:a16="http://schemas.microsoft.com/office/drawing/2014/main" id="{3C4B3B3E-A1DC-458B-9B67-4048B443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81950"/>
            <a:ext cx="6229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범주형·연속형 하위 작업의 성공과 실패를 독립적으로 확인합니다.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일부만 완료되면 성공 결과와 실패 메시지를 함께 반환합니다.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Flow Node는 FAILED로 기록될 수 있으므로 메시지와 생성된 결과를 함께 읽습니다.</a:t>
            </a:r>
          </a:p>
        </p:txBody>
      </p:sp>
      <p:sp>
        <p:nvSpPr>
          <p:cNvPr id="22" name="p9-callout-fill">
            <a:extLst xmlns:a="http://schemas.openxmlformats.org/drawingml/2006/main">
              <a:ext uri="{FF2B5EF4-FFF2-40B4-BE49-F238E27FC236}">
                <a16:creationId xmlns:a16="http://schemas.microsoft.com/office/drawing/2014/main" id="{F1FBD0BB-308B-4A9E-B1B1-DFDEABCE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658350"/>
            <a:ext cx="6381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23" name="p9-callout-accent">
            <a:extLst xmlns:a="http://schemas.openxmlformats.org/drawingml/2006/main">
              <a:ext uri="{FF2B5EF4-FFF2-40B4-BE49-F238E27FC236}">
                <a16:creationId xmlns:a16="http://schemas.microsoft.com/office/drawing/2014/main" id="{7D093B2B-E073-497B-9724-27ADB956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6583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4" name="p9-callout-text">
            <a:extLst xmlns:a="http://schemas.openxmlformats.org/drawingml/2006/main">
              <a:ext uri="{FF2B5EF4-FFF2-40B4-BE49-F238E27FC236}">
                <a16:creationId xmlns:a16="http://schemas.microsoft.com/office/drawing/2014/main" id="{82729193-FE8D-4B7E-B909-F24E5B72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29800"/>
            <a:ext cx="598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중요변수 결과와 최종 수식 채택 결과는 서로 다른 판단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3338954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age-10-rail">
            <a:extLst xmlns:a="http://schemas.openxmlformats.org/drawingml/2006/main">
              <a:ext uri="{FF2B5EF4-FFF2-40B4-BE49-F238E27FC236}">
                <a16:creationId xmlns:a16="http://schemas.microsoft.com/office/drawing/2014/main" id="{C118C9A2-6879-4780-A699-BB063745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2" name="page-10-chapter">
            <a:extLst xmlns:a="http://schemas.openxmlformats.org/drawingml/2006/main">
              <a:ext uri="{FF2B5EF4-FFF2-40B4-BE49-F238E27FC236}">
                <a16:creationId xmlns:a16="http://schemas.microsoft.com/office/drawing/2014/main" id="{750EEF79-5F11-4F88-8DA2-D2757135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02 · FOUR-STAGE DISCOVERY · STEP 4</a:t>
            </a:r>
          </a:p>
        </p:txBody>
      </p:sp>
      <p:sp>
        <p:nvSpPr>
          <p:cNvPr id="3" name="page-10-title">
            <a:extLst xmlns:a="http://schemas.openxmlformats.org/drawingml/2006/main">
              <a:ext uri="{FF2B5EF4-FFF2-40B4-BE49-F238E27FC236}">
                <a16:creationId xmlns:a16="http://schemas.microsoft.com/office/drawing/2014/main" id="{467A30BC-EFDC-4689-9730-0C9D9058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위반 탐지는 같은 Run의 규칙만 적용합니다</a:t>
            </a:r>
          </a:p>
        </p:txBody>
      </p:sp>
      <p:sp>
        <p:nvSpPr>
          <p:cNvPr id="4" name="page-10-subtitle">
            <a:extLst xmlns:a="http://schemas.openxmlformats.org/drawingml/2006/main">
              <a:ext uri="{FF2B5EF4-FFF2-40B4-BE49-F238E27FC236}">
                <a16:creationId xmlns:a16="http://schemas.microsoft.com/office/drawing/2014/main" id="{BDB646E7-71E0-4722-988D-F21D0FAC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범주형 연관 규칙과 연속형 Symbolic 수식을 SAME_RUN 계약으로 받아 위반 후보와 상세 행을 저장합니다.</a:t>
            </a:r>
          </a:p>
        </p:txBody>
      </p:sp>
      <p:sp>
        <p:nvSpPr>
          <p:cNvPr id="5" name="page-10-top-rule">
            <a:extLst xmlns:a="http://schemas.openxmlformats.org/drawingml/2006/main">
              <a:ext uri="{FF2B5EF4-FFF2-40B4-BE49-F238E27FC236}">
                <a16:creationId xmlns:a16="http://schemas.microsoft.com/office/drawing/2014/main" id="{D1D3A0FB-E18E-46C8-9FA4-87676F1B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0-footer-rule">
            <a:extLst xmlns:a="http://schemas.openxmlformats.org/drawingml/2006/main">
              <a:ext uri="{FF2B5EF4-FFF2-40B4-BE49-F238E27FC236}">
                <a16:creationId xmlns:a16="http://schemas.microsoft.com/office/drawing/2014/main" id="{5C4FDCD7-E4FF-4BC3-8593-4659F93F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0-footer-name">
            <a:extLst xmlns:a="http://schemas.openxmlformats.org/drawingml/2006/main">
              <a:ext uri="{FF2B5EF4-FFF2-40B4-BE49-F238E27FC236}">
                <a16:creationId xmlns:a16="http://schemas.microsoft.com/office/drawing/2014/main" id="{4F416CF2-2B9D-467F-A697-0070A802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0-footer-number">
            <a:extLst xmlns:a="http://schemas.openxmlformats.org/drawingml/2006/main">
              <a:ext uri="{FF2B5EF4-FFF2-40B4-BE49-F238E27FC236}">
                <a16:creationId xmlns:a16="http://schemas.microsoft.com/office/drawing/2014/main" id="{EE7962B8-9B78-4DC4-8105-794C1A2A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9" name="p10-input-fill">
            <a:extLst xmlns:a="http://schemas.openxmlformats.org/drawingml/2006/main">
              <a:ext uri="{FF2B5EF4-FFF2-40B4-BE49-F238E27FC236}">
                <a16:creationId xmlns:a16="http://schemas.microsoft.com/office/drawing/2014/main" id="{54503372-7E2E-4DEC-8F5D-87886A06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6381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10" name="p10-input-accent">
            <a:extLst xmlns:a="http://schemas.openxmlformats.org/drawingml/2006/main">
              <a:ext uri="{FF2B5EF4-FFF2-40B4-BE49-F238E27FC236}">
                <a16:creationId xmlns:a16="http://schemas.microsoft.com/office/drawing/2014/main" id="{49C13004-AEC7-4FFB-9D0B-CBA9F0DD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11" name="p10-input-text">
            <a:extLst xmlns:a="http://schemas.openxmlformats.org/drawingml/2006/main">
              <a:ext uri="{FF2B5EF4-FFF2-40B4-BE49-F238E27FC236}">
                <a16:creationId xmlns:a16="http://schemas.microsoft.com/office/drawing/2014/main" id="{2A5045EF-687A-4AB8-AFB2-4B0E07FE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98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필수 입력 · 같은 Flow Run에서 성공한 연관 모델·범주형 규칙 요약·Symbolic 규칙</a:t>
            </a:r>
          </a:p>
        </p:txBody>
      </p:sp>
      <p:sp>
        <p:nvSpPr>
          <p:cNvPr id="12" name="p10-cat">
            <a:extLst xmlns:a="http://schemas.openxmlformats.org/drawingml/2006/main">
              <a:ext uri="{FF2B5EF4-FFF2-40B4-BE49-F238E27FC236}">
                <a16:creationId xmlns:a16="http://schemas.microsoft.com/office/drawing/2014/main" id="{F20E29AF-5119-4889-BDF6-38644886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3067050" cy="381000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3" name="p10-cat-title">
            <a:extLst xmlns:a="http://schemas.openxmlformats.org/drawingml/2006/main">
              <a:ext uri="{FF2B5EF4-FFF2-40B4-BE49-F238E27FC236}">
                <a16:creationId xmlns:a16="http://schemas.microsoft.com/office/drawing/2014/main" id="{663958D3-776D-4267-A0BC-CEEE1CA8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5725"/>
            <a:ext cx="2609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범주형 위반</a:t>
            </a:r>
          </a:p>
        </p:txBody>
      </p:sp>
      <p:sp>
        <p:nvSpPr>
          <p:cNvPr id="14" name="p10-cat-desc">
            <a:extLst xmlns:a="http://schemas.openxmlformats.org/drawingml/2006/main">
              <a:ext uri="{FF2B5EF4-FFF2-40B4-BE49-F238E27FC236}">
                <a16:creationId xmlns:a16="http://schemas.microsoft.com/office/drawing/2014/main" id="{14067C77-552A-4312-B2F7-DC19E050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91025"/>
            <a:ext cx="2609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규칙 조건이 일치하지만 결과가 NULL이거나 예상값과 다른 행을 찾습니다.</a:t>
            </a:r>
          </a:p>
        </p:txBody>
      </p:sp>
      <p:sp>
        <p:nvSpPr>
          <p:cNvPr id="15" name="p10-cat-bullets">
            <a:extLst xmlns:a="http://schemas.openxmlformats.org/drawingml/2006/main">
              <a:ext uri="{FF2B5EF4-FFF2-40B4-BE49-F238E27FC236}">
                <a16:creationId xmlns:a16="http://schemas.microsoft.com/office/drawing/2014/main" id="{F66FA198-A28E-434D-9743-B8E9CC91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57825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confidence·lift를 보조 점수로 사용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규칙별 저장·스캔 제한 적용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위반 후보와 근거를 함께 보존</a:t>
            </a:r>
          </a:p>
        </p:txBody>
      </p:sp>
      <p:sp>
        <p:nvSpPr>
          <p:cNvPr id="16" name="p10-num">
            <a:extLst xmlns:a="http://schemas.openxmlformats.org/drawingml/2006/main">
              <a:ext uri="{FF2B5EF4-FFF2-40B4-BE49-F238E27FC236}">
                <a16:creationId xmlns:a16="http://schemas.microsoft.com/office/drawing/2014/main" id="{43E26BCE-7E66-4287-935D-A2FF1303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3067050" cy="381000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0">
            <a:solidFill>
              <a:srgbClr val="E9F5F4"/>
            </a:solidFill>
            <a:prstDash val="solid"/>
          </a:ln>
        </p:spPr>
      </p:sp>
      <p:sp>
        <p:nvSpPr>
          <p:cNvPr id="17" name="p10-num-title">
            <a:extLst xmlns:a="http://schemas.openxmlformats.org/drawingml/2006/main">
              <a:ext uri="{FF2B5EF4-FFF2-40B4-BE49-F238E27FC236}">
                <a16:creationId xmlns:a16="http://schemas.microsoft.com/office/drawing/2014/main" id="{D76ADE91-917C-4C6B-8E91-86E03092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95725"/>
            <a:ext cx="2609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연속형 위반</a:t>
            </a:r>
          </a:p>
        </p:txBody>
      </p:sp>
      <p:sp>
        <p:nvSpPr>
          <p:cNvPr id="18" name="p10-num-desc">
            <a:extLst xmlns:a="http://schemas.openxmlformats.org/drawingml/2006/main">
              <a:ext uri="{FF2B5EF4-FFF2-40B4-BE49-F238E27FC236}">
                <a16:creationId xmlns:a16="http://schemas.microsoft.com/office/drawing/2014/main" id="{9880373D-1E35-48FA-A361-E35266C6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91025"/>
            <a:ext cx="2609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허용된 수식으로 예측값을 계산하고 실제값과의 상대·절대 오차를 평가합니다.</a:t>
            </a:r>
          </a:p>
        </p:txBody>
      </p:sp>
      <p:sp>
        <p:nvSpPr>
          <p:cNvPr id="19" name="p10-num-bullets">
            <a:extLst xmlns:a="http://schemas.openxmlformats.org/drawingml/2006/main">
              <a:ext uri="{FF2B5EF4-FFF2-40B4-BE49-F238E27FC236}">
                <a16:creationId xmlns:a16="http://schemas.microsoft.com/office/drawing/2014/main" id="{398D5A30-0B39-4738-B660-0BD0F598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457825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허용 feature와 수식만 안전하게 평가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상대·절대 오차 임계값 적용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실제·예측·오차를 상세 저장</a:t>
            </a:r>
          </a:p>
        </p:txBody>
      </p:sp>
      <p:sp>
        <p:nvSpPr>
          <p:cNvPr id="20" name="p10-result-fill">
            <a:extLst xmlns:a="http://schemas.openxmlformats.org/drawingml/2006/main">
              <a:ext uri="{FF2B5EF4-FFF2-40B4-BE49-F238E27FC236}">
                <a16:creationId xmlns:a16="http://schemas.microsoft.com/office/drawing/2014/main" id="{13494D1A-1F7F-43AE-A1AC-E037DA97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72400"/>
            <a:ext cx="638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0">
            <a:solidFill>
              <a:srgbClr val="FAF2E6"/>
            </a:solidFill>
            <a:prstDash val="solid"/>
          </a:ln>
        </p:spPr>
      </p:sp>
      <p:sp>
        <p:nvSpPr>
          <p:cNvPr id="21" name="p10-result-accent">
            <a:extLst xmlns:a="http://schemas.openxmlformats.org/drawingml/2006/main">
              <a:ext uri="{FF2B5EF4-FFF2-40B4-BE49-F238E27FC236}">
                <a16:creationId xmlns:a16="http://schemas.microsoft.com/office/drawing/2014/main" id="{CFDC0C12-6925-406F-BF29-AEAF7DAA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724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2" name="p10-result-title">
            <a:extLst xmlns:a="http://schemas.openxmlformats.org/drawingml/2006/main">
              <a:ext uri="{FF2B5EF4-FFF2-40B4-BE49-F238E27FC236}">
                <a16:creationId xmlns:a16="http://schemas.microsoft.com/office/drawing/2014/main" id="{6745F498-0B5A-4844-B89C-0FC92A0E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81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결과를 이렇게 읽습니다</a:t>
            </a:r>
          </a:p>
        </p:txBody>
      </p:sp>
      <p:sp>
        <p:nvSpPr>
          <p:cNvPr id="23" name="p10-result-body">
            <a:extLst xmlns:a="http://schemas.openxmlformats.org/drawingml/2006/main">
              <a:ext uri="{FF2B5EF4-FFF2-40B4-BE49-F238E27FC236}">
                <a16:creationId xmlns:a16="http://schemas.microsoft.com/office/drawing/2014/main" id="{F38DFB04-E69D-499E-BB98-CBCFAC45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7981950"/>
            <a:ext cx="331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SUCCESS이면서 0건이면 정상 결과일 수 있습니다. FAILED이면 범주형·연속형의 성공 여부를 부분 완료 메시지로 나누어 확인합니다.</a:t>
            </a:r>
          </a:p>
        </p:txBody>
      </p:sp>
      <p:sp>
        <p:nvSpPr>
          <p:cNvPr id="24" name="p10-warning-fill">
            <a:extLst xmlns:a="http://schemas.openxmlformats.org/drawingml/2006/main">
              <a:ext uri="{FF2B5EF4-FFF2-40B4-BE49-F238E27FC236}">
                <a16:creationId xmlns:a16="http://schemas.microsoft.com/office/drawing/2014/main" id="{3763758D-F722-415F-871F-FBD912CE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53550"/>
            <a:ext cx="638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9525">
            <a:solidFill>
              <a:srgbClr val="B54D58"/>
            </a:solidFill>
            <a:prstDash val="solid"/>
          </a:ln>
        </p:spPr>
      </p:sp>
      <p:sp>
        <p:nvSpPr>
          <p:cNvPr id="25" name="p10-warning-accent">
            <a:extLst xmlns:a="http://schemas.openxmlformats.org/drawingml/2006/main">
              <a:ext uri="{FF2B5EF4-FFF2-40B4-BE49-F238E27FC236}">
                <a16:creationId xmlns:a16="http://schemas.microsoft.com/office/drawing/2014/main" id="{27A5FCE1-ABFB-4616-B505-9A6FF395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535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26" name="p10-warning-text">
            <a:extLst xmlns:a="http://schemas.openxmlformats.org/drawingml/2006/main">
              <a:ext uri="{FF2B5EF4-FFF2-40B4-BE49-F238E27FC236}">
                <a16:creationId xmlns:a16="http://schemas.microsoft.com/office/drawing/2014/main" id="{D0E55665-1480-4465-AADC-B844A961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0"/>
            <a:ext cx="598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위반 탐지는 원본을 수정하지 않습니다. 실제 오류 수정은 M05002의 별도 편집 테이블에서 수행합니다.</a:t>
            </a:r>
          </a:p>
        </p:txBody>
      </p:sp>
    </p:spTree>
    <p:extLst>
      <p:ext uri="{BB962C8B-B14F-4D97-AF65-F5344CB8AC3E}">
        <p14:creationId xmlns:p14="http://schemas.microsoft.com/office/powerpoint/2010/main" val="16159951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ge-11-rail">
            <a:extLst xmlns:a="http://schemas.openxmlformats.org/drawingml/2006/main">
              <a:ext uri="{FF2B5EF4-FFF2-40B4-BE49-F238E27FC236}">
                <a16:creationId xmlns:a16="http://schemas.microsoft.com/office/drawing/2014/main" id="{71874A72-0021-42B6-BFC2-E9064A96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" name="page-11-chapter">
            <a:extLst xmlns:a="http://schemas.openxmlformats.org/drawingml/2006/main">
              <a:ext uri="{FF2B5EF4-FFF2-40B4-BE49-F238E27FC236}">
                <a16:creationId xmlns:a16="http://schemas.microsoft.com/office/drawing/2014/main" id="{1DE7D07D-944D-4911-B49C-30EEBE32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02 · FOUR-STAGE DISCOVERY · RUN CONTRACT</a:t>
            </a:r>
          </a:p>
        </p:txBody>
      </p:sp>
      <p:sp>
        <p:nvSpPr>
          <p:cNvPr id="3" name="page-11-title">
            <a:extLst xmlns:a="http://schemas.openxmlformats.org/drawingml/2006/main">
              <a:ext uri="{FF2B5EF4-FFF2-40B4-BE49-F238E27FC236}">
                <a16:creationId xmlns:a16="http://schemas.microsoft.com/office/drawing/2014/main" id="{7243D49F-F132-4896-BCF9-81F0C6AA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4단계는 같은 Run 안에서 계약으로 이어집니다</a:t>
            </a:r>
          </a:p>
        </p:txBody>
      </p:sp>
      <p:sp>
        <p:nvSpPr>
          <p:cNvPr id="4" name="page-11-subtitle">
            <a:extLst xmlns:a="http://schemas.openxmlformats.org/drawingml/2006/main">
              <a:ext uri="{FF2B5EF4-FFF2-40B4-BE49-F238E27FC236}">
                <a16:creationId xmlns:a16="http://schemas.microsoft.com/office/drawing/2014/main" id="{1C53F31E-A7AF-4C72-B4D2-D59D96B4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각 단계는 결과 테이블만 넘기는 것이 아니라, 어떤 기준과 Run을 참조할지 명시한 아티팩트 계약으로 연결됩니다.</a:t>
            </a:r>
          </a:p>
        </p:txBody>
      </p:sp>
      <p:sp>
        <p:nvSpPr>
          <p:cNvPr id="5" name="page-11-top-rule">
            <a:extLst xmlns:a="http://schemas.openxmlformats.org/drawingml/2006/main">
              <a:ext uri="{FF2B5EF4-FFF2-40B4-BE49-F238E27FC236}">
                <a16:creationId xmlns:a16="http://schemas.microsoft.com/office/drawing/2014/main" id="{4434B64E-AE69-411D-B97C-D84BC7B0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1-footer-rule">
            <a:extLst xmlns:a="http://schemas.openxmlformats.org/drawingml/2006/main">
              <a:ext uri="{FF2B5EF4-FFF2-40B4-BE49-F238E27FC236}">
                <a16:creationId xmlns:a16="http://schemas.microsoft.com/office/drawing/2014/main" id="{D5CF01E8-0122-40D0-9CED-5BEF4543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1-footer-name">
            <a:extLst xmlns:a="http://schemas.openxmlformats.org/drawingml/2006/main">
              <a:ext uri="{FF2B5EF4-FFF2-40B4-BE49-F238E27FC236}">
                <a16:creationId xmlns:a16="http://schemas.microsoft.com/office/drawing/2014/main" id="{84927A29-E4EF-41B9-A74F-95F86D61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1-footer-number">
            <a:extLst xmlns:a="http://schemas.openxmlformats.org/drawingml/2006/main">
              <a:ext uri="{FF2B5EF4-FFF2-40B4-BE49-F238E27FC236}">
                <a16:creationId xmlns:a16="http://schemas.microsoft.com/office/drawing/2014/main" id="{F2C7BFDF-0082-4BAF-84EB-CBAC325B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9" name="p11-node-0">
            <a:extLst xmlns:a="http://schemas.openxmlformats.org/drawingml/2006/main">
              <a:ext uri="{FF2B5EF4-FFF2-40B4-BE49-F238E27FC236}">
                <a16:creationId xmlns:a16="http://schemas.microsoft.com/office/drawing/2014/main" id="{70D5AE06-1CC3-4C39-B6B6-016BE7D0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58483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F6FB5"/>
            </a:solidFill>
            <a:prstDash val="solid"/>
          </a:ln>
        </p:spPr>
      </p:sp>
      <p:sp>
        <p:nvSpPr>
          <p:cNvPr id="10" name="p11-num-0-circle">
            <a:extLst xmlns:a="http://schemas.openxmlformats.org/drawingml/2006/main">
              <a:ext uri="{FF2B5EF4-FFF2-40B4-BE49-F238E27FC236}">
                <a16:creationId xmlns:a16="http://schemas.microsoft.com/office/drawing/2014/main" id="{79DF2500-4442-47B8-A2B1-A9F455C0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p11-num-0-number">
            <a:extLst xmlns:a="http://schemas.openxmlformats.org/drawingml/2006/main">
              <a:ext uri="{FF2B5EF4-FFF2-40B4-BE49-F238E27FC236}">
                <a16:creationId xmlns:a16="http://schemas.microsoft.com/office/drawing/2014/main" id="{518AE3E5-7AA1-4D9F-AD6E-58358797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194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p11-title-0">
            <a:extLst xmlns:a="http://schemas.openxmlformats.org/drawingml/2006/main">
              <a:ext uri="{FF2B5EF4-FFF2-40B4-BE49-F238E27FC236}">
                <a16:creationId xmlns:a16="http://schemas.microsoft.com/office/drawing/2014/main" id="{03407DA8-864E-47B2-9A8B-704B744C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76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컬럼 유형</a:t>
            </a:r>
          </a:p>
        </p:txBody>
      </p:sp>
      <p:sp>
        <p:nvSpPr>
          <p:cNvPr id="13" name="p11-body-0">
            <a:extLst xmlns:a="http://schemas.openxmlformats.org/drawingml/2006/main">
              <a:ext uri="{FF2B5EF4-FFF2-40B4-BE49-F238E27FC236}">
                <a16:creationId xmlns:a16="http://schemas.microsoft.com/office/drawing/2014/main" id="{B4BBEA09-C683-462D-B74E-E98F546E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86125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RULE · MODEL · FINAL 유형과 사용자 확정 기준</a:t>
            </a:r>
          </a:p>
        </p:txBody>
      </p:sp>
      <p:sp>
        <p:nvSpPr>
          <p:cNvPr id="14" name="p11-latest">
            <a:extLst xmlns:a="http://schemas.openxmlformats.org/drawingml/2006/main">
              <a:ext uri="{FF2B5EF4-FFF2-40B4-BE49-F238E27FC236}">
                <a16:creationId xmlns:a16="http://schemas.microsoft.com/office/drawing/2014/main" id="{2A495B52-538D-45E9-AE87-CF620FEA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819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LATEST_MASTER</a:t>
            </a:r>
          </a:p>
        </p:txBody>
      </p:sp>
      <p:sp>
        <p:nvSpPr>
          <p:cNvPr id="15" name="p11-node-1">
            <a:extLst xmlns:a="http://schemas.openxmlformats.org/drawingml/2006/main">
              <a:ext uri="{FF2B5EF4-FFF2-40B4-BE49-F238E27FC236}">
                <a16:creationId xmlns:a16="http://schemas.microsoft.com/office/drawing/2014/main" id="{1102C9F2-ADA1-47F6-A2DD-029C5B00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58483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158D91"/>
            </a:solidFill>
            <a:prstDash val="solid"/>
          </a:ln>
        </p:spPr>
      </p:sp>
      <p:sp>
        <p:nvSpPr>
          <p:cNvPr id="16" name="p11-num-1-circle">
            <a:extLst xmlns:a="http://schemas.openxmlformats.org/drawingml/2006/main">
              <a:ext uri="{FF2B5EF4-FFF2-40B4-BE49-F238E27FC236}">
                <a16:creationId xmlns:a16="http://schemas.microsoft.com/office/drawing/2014/main" id="{C5934C27-63A9-45A5-8FBA-E7663882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43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17" name="p11-num-1-number">
            <a:extLst xmlns:a="http://schemas.openxmlformats.org/drawingml/2006/main">
              <a:ext uri="{FF2B5EF4-FFF2-40B4-BE49-F238E27FC236}">
                <a16:creationId xmlns:a16="http://schemas.microsoft.com/office/drawing/2014/main" id="{88C4D033-5DA3-416B-999B-B2449A47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624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p11-title-1">
            <a:extLst xmlns:a="http://schemas.openxmlformats.org/drawingml/2006/main">
              <a:ext uri="{FF2B5EF4-FFF2-40B4-BE49-F238E27FC236}">
                <a16:creationId xmlns:a16="http://schemas.microsoft.com/office/drawing/2014/main" id="{5599CC58-0FCA-44C2-892A-67B93B28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19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관계·군집</a:t>
            </a:r>
          </a:p>
        </p:txBody>
      </p:sp>
      <p:sp>
        <p:nvSpPr>
          <p:cNvPr id="19" name="p11-body-1">
            <a:extLst xmlns:a="http://schemas.openxmlformats.org/drawingml/2006/main">
              <a:ext uri="{FF2B5EF4-FFF2-40B4-BE49-F238E27FC236}">
                <a16:creationId xmlns:a16="http://schemas.microsoft.com/office/drawing/2014/main" id="{38C8E50C-A273-4A7A-B5AD-F48D95CF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29175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유형별 지표, PASS 관계, 네트워크와 community</a:t>
            </a:r>
          </a:p>
        </p:txBody>
      </p:sp>
      <p:sp>
        <p:nvSpPr>
          <p:cNvPr id="20" name="p11-same-1">
            <a:extLst xmlns:a="http://schemas.openxmlformats.org/drawingml/2006/main">
              <a:ext uri="{FF2B5EF4-FFF2-40B4-BE49-F238E27FC236}">
                <a16:creationId xmlns:a16="http://schemas.microsoft.com/office/drawing/2014/main" id="{DCF06067-FE1E-416B-A0E4-8C61DB3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624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SAME_RUN</a:t>
            </a:r>
          </a:p>
        </p:txBody>
      </p:sp>
      <p:sp>
        <p:nvSpPr>
          <p:cNvPr id="21" name="p11-node-2">
            <a:extLst xmlns:a="http://schemas.openxmlformats.org/drawingml/2006/main">
              <a:ext uri="{FF2B5EF4-FFF2-40B4-BE49-F238E27FC236}">
                <a16:creationId xmlns:a16="http://schemas.microsoft.com/office/drawing/2014/main" id="{821EAEAD-CBB8-4EFF-9354-74F23440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58483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22" name="p11-num-2-circle">
            <a:extLst xmlns:a="http://schemas.openxmlformats.org/drawingml/2006/main">
              <a:ext uri="{FF2B5EF4-FFF2-40B4-BE49-F238E27FC236}">
                <a16:creationId xmlns:a16="http://schemas.microsoft.com/office/drawing/2014/main" id="{3C713EE9-D10C-4C87-AD64-1B833EDD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8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3" name="p11-num-2-number">
            <a:extLst xmlns:a="http://schemas.openxmlformats.org/drawingml/2006/main">
              <a:ext uri="{FF2B5EF4-FFF2-40B4-BE49-F238E27FC236}">
                <a16:creationId xmlns:a16="http://schemas.microsoft.com/office/drawing/2014/main" id="{7D02F934-4431-4462-8958-0068B6B3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055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p11-title-2">
            <a:extLst xmlns:a="http://schemas.openxmlformats.org/drawingml/2006/main">
              <a:ext uri="{FF2B5EF4-FFF2-40B4-BE49-F238E27FC236}">
                <a16:creationId xmlns:a16="http://schemas.microsoft.com/office/drawing/2014/main" id="{FC776265-D65F-4370-B059-F7F1A3A6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962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규칙 발굴</a:t>
            </a:r>
          </a:p>
        </p:txBody>
      </p:sp>
      <p:sp>
        <p:nvSpPr>
          <p:cNvPr id="25" name="p11-body-2">
            <a:extLst xmlns:a="http://schemas.openxmlformats.org/drawingml/2006/main">
              <a:ext uri="{FF2B5EF4-FFF2-40B4-BE49-F238E27FC236}">
                <a16:creationId xmlns:a16="http://schemas.microsoft.com/office/drawing/2014/main" id="{3E8B043A-E1F1-4CD9-BD2C-C3E252AF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72225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Apriori 규칙, LASSO 중요변수, Symbolic 수식</a:t>
            </a:r>
          </a:p>
        </p:txBody>
      </p:sp>
      <p:sp>
        <p:nvSpPr>
          <p:cNvPr id="26" name="p11-same-2">
            <a:extLst xmlns:a="http://schemas.openxmlformats.org/drawingml/2006/main">
              <a:ext uri="{FF2B5EF4-FFF2-40B4-BE49-F238E27FC236}">
                <a16:creationId xmlns:a16="http://schemas.microsoft.com/office/drawing/2014/main" id="{0E2226E0-B791-483A-83FD-DB6044E5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90550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SAME_RUN</a:t>
            </a:r>
          </a:p>
        </p:txBody>
      </p:sp>
      <p:sp>
        <p:nvSpPr>
          <p:cNvPr id="27" name="p11-node-3">
            <a:extLst xmlns:a="http://schemas.openxmlformats.org/drawingml/2006/main">
              <a:ext uri="{FF2B5EF4-FFF2-40B4-BE49-F238E27FC236}">
                <a16:creationId xmlns:a16="http://schemas.microsoft.com/office/drawing/2014/main" id="{B2670710-7D94-4136-A1AC-82B70067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77100"/>
            <a:ext cx="58483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9525">
            <a:solidFill>
              <a:srgbClr val="B54D58"/>
            </a:solidFill>
            <a:prstDash val="solid"/>
          </a:ln>
        </p:spPr>
      </p:sp>
      <p:sp>
        <p:nvSpPr>
          <p:cNvPr id="28" name="p11-num-3-circle">
            <a:extLst xmlns:a="http://schemas.openxmlformats.org/drawingml/2006/main">
              <a:ext uri="{FF2B5EF4-FFF2-40B4-BE49-F238E27FC236}">
                <a16:creationId xmlns:a16="http://schemas.microsoft.com/office/drawing/2014/main" id="{20D54178-F753-43AB-BE14-914C0E2B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29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29" name="p11-num-3-number">
            <a:extLst xmlns:a="http://schemas.openxmlformats.org/drawingml/2006/main">
              <a:ext uri="{FF2B5EF4-FFF2-40B4-BE49-F238E27FC236}">
                <a16:creationId xmlns:a16="http://schemas.microsoft.com/office/drawing/2014/main" id="{A31220D3-681D-4578-BE0B-92EDB54E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485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p11-title-3">
            <a:extLst xmlns:a="http://schemas.openxmlformats.org/drawingml/2006/main">
              <a:ext uri="{FF2B5EF4-FFF2-40B4-BE49-F238E27FC236}">
                <a16:creationId xmlns:a16="http://schemas.microsoft.com/office/drawing/2014/main" id="{63CAA795-89B6-42A7-A720-F75CC1AE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505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위반 탐지</a:t>
            </a:r>
          </a:p>
        </p:txBody>
      </p:sp>
      <p:sp>
        <p:nvSpPr>
          <p:cNvPr id="31" name="p11-body-3">
            <a:extLst xmlns:a="http://schemas.openxmlformats.org/drawingml/2006/main">
              <a:ext uri="{FF2B5EF4-FFF2-40B4-BE49-F238E27FC236}">
                <a16:creationId xmlns:a16="http://schemas.microsoft.com/office/drawing/2014/main" id="{63C33B75-D780-4A00-A467-83C85B4A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915275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범주형·연속형 위반 후보와 상세 행</a:t>
            </a:r>
          </a:p>
        </p:txBody>
      </p:sp>
      <p:sp>
        <p:nvSpPr>
          <p:cNvPr id="32" name="p11-same-3">
            <a:extLst xmlns:a="http://schemas.openxmlformats.org/drawingml/2006/main">
              <a:ext uri="{FF2B5EF4-FFF2-40B4-BE49-F238E27FC236}">
                <a16:creationId xmlns:a16="http://schemas.microsoft.com/office/drawing/2014/main" id="{A851F335-3B0C-4F98-BFCA-72D5613F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4485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B54D5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54D58"/>
                </a:solidFill>
                <a:latin typeface="Consolas"/>
                <a:ea typeface="Consolas"/>
                <a:cs typeface="Consolas"/>
              </a:rPr>
              <a:t>SAME_RUN</a:t>
            </a:r>
          </a:p>
        </p:txBody>
      </p:sp>
      <p:cxnSp>
        <p:nvCxnSpPr>
          <p:cNvPr id="74" name=""/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781425" y="38290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62A8"/>
            </a:solidFill>
            <a:prstDash val="solid"/>
            <a:tailEnd type="arrow" w="med" len="med"/>
          </a:ln>
        </p:spPr>
      </p:cxnSp>
      <p:sp>
        <p:nvSpPr>
          <p:cNvPr id="34" name="p11-link-label-0">
            <a:extLst xmlns:a="http://schemas.openxmlformats.org/drawingml/2006/main">
              <a:ext uri="{FF2B5EF4-FFF2-40B4-BE49-F238E27FC236}">
                <a16:creationId xmlns:a16="http://schemas.microsoft.com/office/drawing/2014/main" id="{B95C6664-83BF-4D64-82C7-56BDFDF4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2905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최신 확정 유형</a:t>
            </a:r>
          </a:p>
        </p:txBody>
      </p:sp>
      <p:cxnSp>
        <p:nvCxnSpPr>
          <p:cNvPr id="76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781425" y="53721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62A8"/>
            </a:solidFill>
            <a:prstDash val="solid"/>
            <a:tailEnd type="arrow" w="med" len="med"/>
          </a:ln>
        </p:spPr>
      </p:cxnSp>
      <p:sp>
        <p:nvSpPr>
          <p:cNvPr id="36" name="p11-link-label-1">
            <a:extLst xmlns:a="http://schemas.openxmlformats.org/drawingml/2006/main">
              <a:ext uri="{FF2B5EF4-FFF2-40B4-BE49-F238E27FC236}">
                <a16:creationId xmlns:a16="http://schemas.microsoft.com/office/drawing/2014/main" id="{93304866-0E3B-4EB7-BE91-7F9FCCAC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7210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같은 Run의 선행 아티팩트</a:t>
            </a:r>
          </a:p>
        </p:txBody>
      </p:sp>
      <p:cxnSp>
        <p:nvCxnSpPr>
          <p:cNvPr id="78" name="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781425" y="69151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62A8"/>
            </a:solidFill>
            <a:prstDash val="solid"/>
            <a:tailEnd type="arrow" w="med" len="med"/>
          </a:ln>
        </p:spPr>
      </p:cxnSp>
      <p:sp>
        <p:nvSpPr>
          <p:cNvPr id="38" name="p11-link-label-2">
            <a:extLst xmlns:a="http://schemas.openxmlformats.org/drawingml/2006/main">
              <a:ext uri="{FF2B5EF4-FFF2-40B4-BE49-F238E27FC236}">
                <a16:creationId xmlns:a16="http://schemas.microsoft.com/office/drawing/2014/main" id="{B858D9B7-6D66-4D95-A162-7779E3E7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91515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같은 Run의 선행 아티팩트</a:t>
            </a:r>
          </a:p>
        </p:txBody>
      </p:sp>
      <p:sp>
        <p:nvSpPr>
          <p:cNvPr id="39" name="p11-callout-fill">
            <a:extLst xmlns:a="http://schemas.openxmlformats.org/drawingml/2006/main">
              <a:ext uri="{FF2B5EF4-FFF2-40B4-BE49-F238E27FC236}">
                <a16:creationId xmlns:a16="http://schemas.microsoft.com/office/drawing/2014/main" id="{2D74F0CB-E6D6-4CC9-8BAD-BEBD9198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10650"/>
            <a:ext cx="6381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15255A"/>
            </a:solidFill>
            <a:prstDash val="solid"/>
          </a:ln>
        </p:spPr>
      </p:sp>
      <p:sp>
        <p:nvSpPr>
          <p:cNvPr id="40" name="p11-callout-accent">
            <a:extLst xmlns:a="http://schemas.openxmlformats.org/drawingml/2006/main">
              <a:ext uri="{FF2B5EF4-FFF2-40B4-BE49-F238E27FC236}">
                <a16:creationId xmlns:a16="http://schemas.microsoft.com/office/drawing/2014/main" id="{8D6166DC-A481-4480-B89F-C0A8326D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106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5A"/>
          </a:solidFill>
          <a:ln xmlns:a="http://schemas.openxmlformats.org/drawingml/2006/main" w="0">
            <a:solidFill>
              <a:srgbClr val="15255A"/>
            </a:solidFill>
            <a:prstDash val="solid"/>
          </a:ln>
        </p:spPr>
      </p:sp>
      <p:sp>
        <p:nvSpPr>
          <p:cNvPr id="41" name="p11-callout-text">
            <a:extLst xmlns:a="http://schemas.openxmlformats.org/drawingml/2006/main">
              <a:ext uri="{FF2B5EF4-FFF2-40B4-BE49-F238E27FC236}">
                <a16:creationId xmlns:a16="http://schemas.microsoft.com/office/drawing/2014/main" id="{9A9DD869-C765-47D5-A1D6-4324413A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8210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Flow 분석에서는 단계별 결과뿐 아니라 실제 Run 파라미터와 선행 아티팩트가 같은 실행 맥락인지 함께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2400246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age-12-rail">
            <a:extLst xmlns:a="http://schemas.openxmlformats.org/drawingml/2006/main">
              <a:ext uri="{FF2B5EF4-FFF2-40B4-BE49-F238E27FC236}">
                <a16:creationId xmlns:a16="http://schemas.microsoft.com/office/drawing/2014/main" id="{E10323D9-A9E1-40D2-BCE1-3FBC303D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" name="page-12-chapter">
            <a:extLst xmlns:a="http://schemas.openxmlformats.org/drawingml/2006/main">
              <a:ext uri="{FF2B5EF4-FFF2-40B4-BE49-F238E27FC236}">
                <a16:creationId xmlns:a16="http://schemas.microsoft.com/office/drawing/2014/main" id="{0EEE0836-D2AE-4876-A2F8-A04689C6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03 · FLOW ORCHESTRATION</a:t>
            </a:r>
          </a:p>
        </p:txBody>
      </p:sp>
      <p:sp>
        <p:nvSpPr>
          <p:cNvPr id="3" name="page-12-title">
            <a:extLst xmlns:a="http://schemas.openxmlformats.org/drawingml/2006/main">
              <a:ext uri="{FF2B5EF4-FFF2-40B4-BE49-F238E27FC236}">
                <a16:creationId xmlns:a16="http://schemas.microsoft.com/office/drawing/2014/main" id="{665E9AE9-253B-4D96-9A9E-4CB581CD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저장된 Job을 검증 가능한 DAG로 실행합니다</a:t>
            </a:r>
          </a:p>
        </p:txBody>
      </p:sp>
      <p:sp>
        <p:nvSpPr>
          <p:cNvPr id="4" name="page-12-subtitle">
            <a:extLst xmlns:a="http://schemas.openxmlformats.org/drawingml/2006/main">
              <a:ext uri="{FF2B5EF4-FFF2-40B4-BE49-F238E27FC236}">
                <a16:creationId xmlns:a16="http://schemas.microsoft.com/office/drawing/2014/main" id="{BE365FD1-4817-48AB-B05E-413C5E2C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M04001의 Flow는 그림이 아니라 저장·검증·실행 가능한 실행 계획이며, 각 노드 상태와 출력을 같은 Flow Run에 기록합니다.</a:t>
            </a:r>
          </a:p>
        </p:txBody>
      </p:sp>
      <p:sp>
        <p:nvSpPr>
          <p:cNvPr id="5" name="page-12-top-rule">
            <a:extLst xmlns:a="http://schemas.openxmlformats.org/drawingml/2006/main">
              <a:ext uri="{FF2B5EF4-FFF2-40B4-BE49-F238E27FC236}">
                <a16:creationId xmlns:a16="http://schemas.microsoft.com/office/drawing/2014/main" id="{BB53AE87-261C-4E98-825A-2CAEA99D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2-footer-rule">
            <a:extLst xmlns:a="http://schemas.openxmlformats.org/drawingml/2006/main">
              <a:ext uri="{FF2B5EF4-FFF2-40B4-BE49-F238E27FC236}">
                <a16:creationId xmlns:a16="http://schemas.microsoft.com/office/drawing/2014/main" id="{E31A9A07-ABAA-4EF5-86A3-F47EEF41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2-footer-name">
            <a:extLst xmlns:a="http://schemas.openxmlformats.org/drawingml/2006/main">
              <a:ext uri="{FF2B5EF4-FFF2-40B4-BE49-F238E27FC236}">
                <a16:creationId xmlns:a16="http://schemas.microsoft.com/office/drawing/2014/main" id="{E0714004-A345-4C8E-A26E-BFFFB755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2-footer-number">
            <a:extLst xmlns:a="http://schemas.openxmlformats.org/drawingml/2006/main">
              <a:ext uri="{FF2B5EF4-FFF2-40B4-BE49-F238E27FC236}">
                <a16:creationId xmlns:a16="http://schemas.microsoft.com/office/drawing/2014/main" id="{9BB74F18-47F1-436B-8A5E-2034F754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9" name="dag-node-1">
            <a:extLst xmlns:a="http://schemas.openxmlformats.org/drawingml/2006/main">
              <a:ext uri="{FF2B5EF4-FFF2-40B4-BE49-F238E27FC236}">
                <a16:creationId xmlns:a16="http://schemas.microsoft.com/office/drawing/2014/main" id="{1C49F540-EB72-4CF8-B196-B88058F3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F6FB5"/>
            </a:solidFill>
            <a:prstDash val="solid"/>
          </a:ln>
        </p:spPr>
      </p:sp>
      <p:sp>
        <p:nvSpPr>
          <p:cNvPr id="10" name="dag-num-1-circle">
            <a:extLst xmlns:a="http://schemas.openxmlformats.org/drawingml/2006/main">
              <a:ext uri="{FF2B5EF4-FFF2-40B4-BE49-F238E27FC236}">
                <a16:creationId xmlns:a16="http://schemas.microsoft.com/office/drawing/2014/main" id="{5409A693-D890-414C-8ABD-54C47154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dag-num-1-number">
            <a:extLst xmlns:a="http://schemas.openxmlformats.org/drawingml/2006/main">
              <a:ext uri="{FF2B5EF4-FFF2-40B4-BE49-F238E27FC236}">
                <a16:creationId xmlns:a16="http://schemas.microsoft.com/office/drawing/2014/main" id="{F3A9CBB7-A647-4EB4-95A4-18DCB436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dag-title-1">
            <a:extLst xmlns:a="http://schemas.openxmlformats.org/drawingml/2006/main">
              <a:ext uri="{FF2B5EF4-FFF2-40B4-BE49-F238E27FC236}">
                <a16:creationId xmlns:a16="http://schemas.microsoft.com/office/drawing/2014/main" id="{7C01EED5-6ACD-4B66-AE80-CA00CD02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574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Job 배치·연결</a:t>
            </a:r>
          </a:p>
        </p:txBody>
      </p:sp>
      <p:sp>
        <p:nvSpPr>
          <p:cNvPr id="13" name="dag-kicker-1">
            <a:extLst xmlns:a="http://schemas.openxmlformats.org/drawingml/2006/main">
              <a:ext uri="{FF2B5EF4-FFF2-40B4-BE49-F238E27FC236}">
                <a16:creationId xmlns:a16="http://schemas.microsoft.com/office/drawing/2014/main" id="{2816C6A1-0768-4EDA-B929-463D4BDB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01 · DESIGN</a:t>
            </a:r>
          </a:p>
        </p:txBody>
      </p:sp>
      <p:sp>
        <p:nvSpPr>
          <p:cNvPr id="14" name="dag-body-1">
            <a:extLst xmlns:a="http://schemas.openxmlformats.org/drawingml/2006/main">
              <a:ext uri="{FF2B5EF4-FFF2-40B4-BE49-F238E27FC236}">
                <a16:creationId xmlns:a16="http://schemas.microsoft.com/office/drawing/2014/main" id="{34321D59-CCAA-499D-8AEF-397F52E1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저장한 4단계 Job과 확장 리소스를 노드·엣지로 구성합니다.</a:t>
            </a:r>
          </a:p>
        </p:txBody>
      </p:sp>
      <p:sp>
        <p:nvSpPr>
          <p:cNvPr id="15" name="dag-node-2">
            <a:extLst xmlns:a="http://schemas.openxmlformats.org/drawingml/2006/main">
              <a:ext uri="{FF2B5EF4-FFF2-40B4-BE49-F238E27FC236}">
                <a16:creationId xmlns:a16="http://schemas.microsoft.com/office/drawing/2014/main" id="{35EA2EBB-0E07-459E-B4A0-3083B058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158D91"/>
            </a:solidFill>
            <a:prstDash val="solid"/>
          </a:ln>
        </p:spPr>
      </p:sp>
      <p:sp>
        <p:nvSpPr>
          <p:cNvPr id="16" name="dag-num-2-circle">
            <a:extLst xmlns:a="http://schemas.openxmlformats.org/drawingml/2006/main">
              <a:ext uri="{FF2B5EF4-FFF2-40B4-BE49-F238E27FC236}">
                <a16:creationId xmlns:a16="http://schemas.microsoft.com/office/drawing/2014/main" id="{BA02051B-1EB9-4166-AAB0-E5ECAE5D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17" name="dag-num-2-number">
            <a:extLst xmlns:a="http://schemas.openxmlformats.org/drawingml/2006/main">
              <a:ext uri="{FF2B5EF4-FFF2-40B4-BE49-F238E27FC236}">
                <a16:creationId xmlns:a16="http://schemas.microsoft.com/office/drawing/2014/main" id="{2C6C34BA-EA7A-4885-BFBF-C2FF48B7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dag-title-2">
            <a:extLst xmlns:a="http://schemas.openxmlformats.org/drawingml/2006/main">
              <a:ext uri="{FF2B5EF4-FFF2-40B4-BE49-F238E27FC236}">
                <a16:creationId xmlns:a16="http://schemas.microsoft.com/office/drawing/2014/main" id="{03104671-0C22-49A3-86B4-2492558D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구조·계약 검증</a:t>
            </a:r>
          </a:p>
        </p:txBody>
      </p:sp>
      <p:sp>
        <p:nvSpPr>
          <p:cNvPr id="19" name="dag-kicker-2">
            <a:extLst xmlns:a="http://schemas.openxmlformats.org/drawingml/2006/main">
              <a:ext uri="{FF2B5EF4-FFF2-40B4-BE49-F238E27FC236}">
                <a16:creationId xmlns:a16="http://schemas.microsoft.com/office/drawing/2014/main" id="{A4AD4F88-A229-40EC-B1C2-2A1DDC88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02 · VALIDATE</a:t>
            </a:r>
          </a:p>
        </p:txBody>
      </p:sp>
      <p:sp>
        <p:nvSpPr>
          <p:cNvPr id="20" name="dag-body-2">
            <a:extLst xmlns:a="http://schemas.openxmlformats.org/drawingml/2006/main">
              <a:ext uri="{FF2B5EF4-FFF2-40B4-BE49-F238E27FC236}">
                <a16:creationId xmlns:a16="http://schemas.microsoft.com/office/drawing/2014/main" id="{4064A43B-FFA2-49DC-B083-702A0B70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95725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순환, 역방향 단계, 포트·아티팩트와 SAME_RUN 입력을 확인합니다.</a:t>
            </a:r>
          </a:p>
        </p:txBody>
      </p:sp>
      <p:sp>
        <p:nvSpPr>
          <p:cNvPr id="21" name="dag-node-3">
            <a:extLst xmlns:a="http://schemas.openxmlformats.org/drawingml/2006/main">
              <a:ext uri="{FF2B5EF4-FFF2-40B4-BE49-F238E27FC236}">
                <a16:creationId xmlns:a16="http://schemas.microsoft.com/office/drawing/2014/main" id="{663580C4-9634-481A-AAF7-368ACE1D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22" name="dag-num-3-circle">
            <a:extLst xmlns:a="http://schemas.openxmlformats.org/drawingml/2006/main">
              <a:ext uri="{FF2B5EF4-FFF2-40B4-BE49-F238E27FC236}">
                <a16:creationId xmlns:a16="http://schemas.microsoft.com/office/drawing/2014/main" id="{D8D02914-E9F1-4ECC-9291-5BFC8D38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3" name="dag-num-3-number">
            <a:extLst xmlns:a="http://schemas.openxmlformats.org/drawingml/2006/main">
              <a:ext uri="{FF2B5EF4-FFF2-40B4-BE49-F238E27FC236}">
                <a16:creationId xmlns:a16="http://schemas.microsoft.com/office/drawing/2014/main" id="{815C25A5-0785-4DDC-831D-B63F5CE2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dag-title-3">
            <a:extLst xmlns:a="http://schemas.openxmlformats.org/drawingml/2006/main">
              <a:ext uri="{FF2B5EF4-FFF2-40B4-BE49-F238E27FC236}">
                <a16:creationId xmlns:a16="http://schemas.microsoft.com/office/drawing/2014/main" id="{A2190611-2B4C-43A7-B964-FE1864F2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530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런타임 값 확정</a:t>
            </a:r>
          </a:p>
        </p:txBody>
      </p:sp>
      <p:sp>
        <p:nvSpPr>
          <p:cNvPr id="25" name="dag-kicker-3">
            <a:extLst xmlns:a="http://schemas.openxmlformats.org/drawingml/2006/main">
              <a:ext uri="{FF2B5EF4-FFF2-40B4-BE49-F238E27FC236}">
                <a16:creationId xmlns:a16="http://schemas.microsoft.com/office/drawing/2014/main" id="{27372462-7DC0-4E9F-BC67-B594F3D3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149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03 · BIND</a:t>
            </a:r>
          </a:p>
        </p:txBody>
      </p:sp>
      <p:sp>
        <p:nvSpPr>
          <p:cNvPr id="26" name="dag-body-3">
            <a:extLst xmlns:a="http://schemas.openxmlformats.org/drawingml/2006/main">
              <a:ext uri="{FF2B5EF4-FFF2-40B4-BE49-F238E27FC236}">
                <a16:creationId xmlns:a16="http://schemas.microsoft.com/office/drawing/2014/main" id="{1EEF03EB-089F-4EDA-BAE7-4F948310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4350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Target, Result, 선행 출력, Run ID와 실제 파라미터를 결합합니다.</a:t>
            </a:r>
          </a:p>
        </p:txBody>
      </p:sp>
      <p:sp>
        <p:nvSpPr>
          <p:cNvPr id="27" name="dag-node-4">
            <a:extLst xmlns:a="http://schemas.openxmlformats.org/drawingml/2006/main">
              <a:ext uri="{FF2B5EF4-FFF2-40B4-BE49-F238E27FC236}">
                <a16:creationId xmlns:a16="http://schemas.microsoft.com/office/drawing/2014/main" id="{9323594C-89E0-4386-9C18-67F8DD36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B97316"/>
            </a:solidFill>
            <a:prstDash val="solid"/>
          </a:ln>
        </p:spPr>
      </p:sp>
      <p:sp>
        <p:nvSpPr>
          <p:cNvPr id="28" name="dag-num-4-circle">
            <a:extLst xmlns:a="http://schemas.openxmlformats.org/drawingml/2006/main">
              <a:ext uri="{FF2B5EF4-FFF2-40B4-BE49-F238E27FC236}">
                <a16:creationId xmlns:a16="http://schemas.microsoft.com/office/drawing/2014/main" id="{46C34CBA-FB12-4D4B-8A11-B440EE96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674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9" name="dag-num-4-number">
            <a:extLst xmlns:a="http://schemas.openxmlformats.org/drawingml/2006/main">
              <a:ext uri="{FF2B5EF4-FFF2-40B4-BE49-F238E27FC236}">
                <a16:creationId xmlns:a16="http://schemas.microsoft.com/office/drawing/2014/main" id="{5E631994-04E5-4293-B546-7B2DB9AF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dag-title-4">
            <a:extLst xmlns:a="http://schemas.openxmlformats.org/drawingml/2006/main">
              <a:ext uri="{FF2B5EF4-FFF2-40B4-BE49-F238E27FC236}">
                <a16:creationId xmlns:a16="http://schemas.microsoft.com/office/drawing/2014/main" id="{53228213-160D-443C-8F8A-79E22225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00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실행 경로 선택</a:t>
            </a:r>
          </a:p>
        </p:txBody>
      </p:sp>
      <p:sp>
        <p:nvSpPr>
          <p:cNvPr id="31" name="dag-kicker-4">
            <a:extLst xmlns:a="http://schemas.openxmlformats.org/drawingml/2006/main">
              <a:ext uri="{FF2B5EF4-FFF2-40B4-BE49-F238E27FC236}">
                <a16:creationId xmlns:a16="http://schemas.microsoft.com/office/drawing/2014/main" id="{401391EB-F5ED-45B1-A105-C12007D3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762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B9731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97316"/>
                </a:solidFill>
                <a:latin typeface="Consolas"/>
                <a:ea typeface="Consolas"/>
                <a:cs typeface="Consolas"/>
              </a:rPr>
              <a:t>04 · EXECUTE</a:t>
            </a:r>
          </a:p>
        </p:txBody>
      </p:sp>
      <p:sp>
        <p:nvSpPr>
          <p:cNvPr id="32" name="dag-body-4">
            <a:extLst xmlns:a="http://schemas.openxmlformats.org/drawingml/2006/main">
              <a:ext uri="{FF2B5EF4-FFF2-40B4-BE49-F238E27FC236}">
                <a16:creationId xmlns:a16="http://schemas.microsoft.com/office/drawing/2014/main" id="{16B2C85E-9D0D-49F2-8315-B6C6F569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391275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저장된 EXEC_SOURCE_TYPE에 맞는 실행 어댑터를 한 개 선택합니다.</a:t>
            </a:r>
          </a:p>
        </p:txBody>
      </p:sp>
      <p:sp>
        <p:nvSpPr>
          <p:cNvPr id="33" name="dag-node-5">
            <a:extLst xmlns:a="http://schemas.openxmlformats.org/drawingml/2006/main">
              <a:ext uri="{FF2B5EF4-FFF2-40B4-BE49-F238E27FC236}">
                <a16:creationId xmlns:a16="http://schemas.microsoft.com/office/drawing/2014/main" id="{8AC3CD0A-00FC-4F58-9AFE-CEA8BC90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67600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9525">
            <a:solidFill>
              <a:srgbClr val="3E8D65"/>
            </a:solidFill>
            <a:prstDash val="solid"/>
          </a:ln>
        </p:spPr>
      </p:sp>
      <p:sp>
        <p:nvSpPr>
          <p:cNvPr id="34" name="dag-num-5-circle">
            <a:extLst xmlns:a="http://schemas.openxmlformats.org/drawingml/2006/main">
              <a:ext uri="{FF2B5EF4-FFF2-40B4-BE49-F238E27FC236}">
                <a16:creationId xmlns:a16="http://schemas.microsoft.com/office/drawing/2014/main" id="{E2C791C5-2AB8-4230-949D-B64FAA1C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1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35" name="dag-num-5-number">
            <a:extLst xmlns:a="http://schemas.openxmlformats.org/drawingml/2006/main">
              <a:ext uri="{FF2B5EF4-FFF2-40B4-BE49-F238E27FC236}">
                <a16:creationId xmlns:a16="http://schemas.microsoft.com/office/drawing/2014/main" id="{6659D606-F91B-476B-A2D8-8AFE69E8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6" name="dag-title-5">
            <a:extLst xmlns:a="http://schemas.openxmlformats.org/drawingml/2006/main">
              <a:ext uri="{FF2B5EF4-FFF2-40B4-BE49-F238E27FC236}">
                <a16:creationId xmlns:a16="http://schemas.microsoft.com/office/drawing/2014/main" id="{95D98401-BEF6-44E2-A0AE-78C30305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6485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결과 정규화</a:t>
            </a:r>
          </a:p>
        </p:txBody>
      </p:sp>
      <p:sp>
        <p:nvSpPr>
          <p:cNvPr id="37" name="dag-kicker-5">
            <a:extLst xmlns:a="http://schemas.openxmlformats.org/drawingml/2006/main">
              <a:ext uri="{FF2B5EF4-FFF2-40B4-BE49-F238E27FC236}">
                <a16:creationId xmlns:a16="http://schemas.microsoft.com/office/drawing/2014/main" id="{E32FD7E7-6EE9-4876-8DCE-5C260790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0105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E8D6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E8D65"/>
                </a:solidFill>
                <a:latin typeface="Consolas"/>
                <a:ea typeface="Consolas"/>
                <a:cs typeface="Consolas"/>
              </a:rPr>
              <a:t>05 · MATERIALIZE</a:t>
            </a:r>
          </a:p>
        </p:txBody>
      </p:sp>
      <p:sp>
        <p:nvSpPr>
          <p:cNvPr id="38" name="dag-body-5">
            <a:extLst xmlns:a="http://schemas.openxmlformats.org/drawingml/2006/main">
              <a:ext uri="{FF2B5EF4-FFF2-40B4-BE49-F238E27FC236}">
                <a16:creationId xmlns:a16="http://schemas.microsoft.com/office/drawing/2014/main" id="{1B7D3CB3-722A-4456-84D3-793EBA16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63905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출력 계약과 메시지를 Run·Node 결과 아티팩트로 저장합니다.</a:t>
            </a:r>
          </a:p>
        </p:txBody>
      </p:sp>
      <p:cxnSp>
        <p:nvCxnSpPr>
          <p:cNvPr id="84" name=""/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781425" y="354330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85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781425" y="479107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86" name="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781425" y="603885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87" name=""/>
          <p:cNvCxnSpPr>
            <a:stCxn xmlns:a="http://schemas.openxmlformats.org/drawingml/2006/main" id="27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781425" y="728662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sp>
        <p:nvSpPr>
          <p:cNvPr id="43" name="p12-callout-fill">
            <a:extLst xmlns:a="http://schemas.openxmlformats.org/drawingml/2006/main">
              <a:ext uri="{FF2B5EF4-FFF2-40B4-BE49-F238E27FC236}">
                <a16:creationId xmlns:a16="http://schemas.microsoft.com/office/drawing/2014/main" id="{FE766A35-EA17-4238-B4AE-DE71CD2F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15400"/>
            <a:ext cx="638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9525">
            <a:solidFill>
              <a:srgbClr val="B54D58"/>
            </a:solidFill>
            <a:prstDash val="solid"/>
          </a:ln>
        </p:spPr>
      </p:sp>
      <p:sp>
        <p:nvSpPr>
          <p:cNvPr id="44" name="p12-callout-accent">
            <a:extLst xmlns:a="http://schemas.openxmlformats.org/drawingml/2006/main">
              <a:ext uri="{FF2B5EF4-FFF2-40B4-BE49-F238E27FC236}">
                <a16:creationId xmlns:a16="http://schemas.microsoft.com/office/drawing/2014/main" id="{61B8EA17-E9C0-423C-B650-591781FE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154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45" name="p12-callout-text">
            <a:extLst xmlns:a="http://schemas.openxmlformats.org/drawingml/2006/main">
              <a:ext uri="{FF2B5EF4-FFF2-40B4-BE49-F238E27FC236}">
                <a16:creationId xmlns:a16="http://schemas.microsoft.com/office/drawing/2014/main" id="{C46AC854-7777-4B10-8BC0-EA38543B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086850"/>
            <a:ext cx="598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Validate를 통과하지 못한 연결은 실행하지 않습니다. 필수 선행 노드는 SUCCESS가 되어야 후행 노드가 진행됩니다.</a:t>
            </a:r>
          </a:p>
        </p:txBody>
      </p:sp>
    </p:spTree>
    <p:extLst>
      <p:ext uri="{BB962C8B-B14F-4D97-AF65-F5344CB8AC3E}">
        <p14:creationId xmlns:p14="http://schemas.microsoft.com/office/powerpoint/2010/main" val="8834447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age-13-rail">
            <a:extLst xmlns:a="http://schemas.openxmlformats.org/drawingml/2006/main">
              <a:ext uri="{FF2B5EF4-FFF2-40B4-BE49-F238E27FC236}">
                <a16:creationId xmlns:a16="http://schemas.microsoft.com/office/drawing/2014/main" id="{93DB4921-89DB-4DFF-81C9-EEBE6058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" name="page-13-chapter">
            <a:extLst xmlns:a="http://schemas.openxmlformats.org/drawingml/2006/main">
              <a:ext uri="{FF2B5EF4-FFF2-40B4-BE49-F238E27FC236}">
                <a16:creationId xmlns:a16="http://schemas.microsoft.com/office/drawing/2014/main" id="{1D128938-8144-49B6-ADEC-E8CD8109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03 · EXECUTION RESOURCE ROUTING</a:t>
            </a:r>
          </a:p>
        </p:txBody>
      </p:sp>
      <p:sp>
        <p:nvSpPr>
          <p:cNvPr id="3" name="page-13-title">
            <a:extLst xmlns:a="http://schemas.openxmlformats.org/drawingml/2006/main">
              <a:ext uri="{FF2B5EF4-FFF2-40B4-BE49-F238E27FC236}">
                <a16:creationId xmlns:a16="http://schemas.microsoft.com/office/drawing/2014/main" id="{BDEF74E8-7EB2-4C90-A5E6-2B729C80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실행 리소스는 세 경로로 라우팅됩니다</a:t>
            </a:r>
          </a:p>
        </p:txBody>
      </p:sp>
      <p:sp>
        <p:nvSpPr>
          <p:cNvPr id="4" name="page-13-subtitle">
            <a:extLst xmlns:a="http://schemas.openxmlformats.org/drawingml/2006/main">
              <a:ext uri="{FF2B5EF4-FFF2-40B4-BE49-F238E27FC236}">
                <a16:creationId xmlns:a16="http://schemas.microsoft.com/office/drawing/2014/main" id="{BB81F8DE-A53F-4980-953B-FFD0738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Job에 저장된 실행 유형과 결과 계약을 기준으로 Target DB, OML Python, 내부·외부 API 경로 중 하나를 선택합니다.</a:t>
            </a:r>
          </a:p>
        </p:txBody>
      </p:sp>
      <p:sp>
        <p:nvSpPr>
          <p:cNvPr id="5" name="page-13-top-rule">
            <a:extLst xmlns:a="http://schemas.openxmlformats.org/drawingml/2006/main">
              <a:ext uri="{FF2B5EF4-FFF2-40B4-BE49-F238E27FC236}">
                <a16:creationId xmlns:a16="http://schemas.microsoft.com/office/drawing/2014/main" id="{D9D852D1-C332-44D8-83C3-411DDC6B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3-footer-rule">
            <a:extLst xmlns:a="http://schemas.openxmlformats.org/drawingml/2006/main">
              <a:ext uri="{FF2B5EF4-FFF2-40B4-BE49-F238E27FC236}">
                <a16:creationId xmlns:a16="http://schemas.microsoft.com/office/drawing/2014/main" id="{D8DE08F0-743F-445D-94CE-84B6243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3-footer-name">
            <a:extLst xmlns:a="http://schemas.openxmlformats.org/drawingml/2006/main">
              <a:ext uri="{FF2B5EF4-FFF2-40B4-BE49-F238E27FC236}">
                <a16:creationId xmlns:a16="http://schemas.microsoft.com/office/drawing/2014/main" id="{EECF4449-1C33-4EB1-9635-7253484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3-footer-number">
            <a:extLst xmlns:a="http://schemas.openxmlformats.org/drawingml/2006/main">
              <a:ext uri="{FF2B5EF4-FFF2-40B4-BE49-F238E27FC236}">
                <a16:creationId xmlns:a16="http://schemas.microsoft.com/office/drawing/2014/main" id="{1049B262-D09E-4BEF-A628-694A1D16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9" name="p13-db-fill">
            <a:extLst xmlns:a="http://schemas.openxmlformats.org/drawingml/2006/main">
              <a:ext uri="{FF2B5EF4-FFF2-40B4-BE49-F238E27FC236}">
                <a16:creationId xmlns:a16="http://schemas.microsoft.com/office/drawing/2014/main" id="{0CD7AF12-8607-4B17-9DA6-9E86864A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6381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0" name="p13-db-accent">
            <a:extLst xmlns:a="http://schemas.openxmlformats.org/drawingml/2006/main">
              <a:ext uri="{FF2B5EF4-FFF2-40B4-BE49-F238E27FC236}">
                <a16:creationId xmlns:a16="http://schemas.microsoft.com/office/drawing/2014/main" id="{84FE8228-9344-403B-979C-FB4F69B7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p13-db-kicker">
            <a:extLst xmlns:a="http://schemas.openxmlformats.org/drawingml/2006/main">
              <a:ext uri="{FF2B5EF4-FFF2-40B4-BE49-F238E27FC236}">
                <a16:creationId xmlns:a16="http://schemas.microsoft.com/office/drawing/2014/main" id="{CADA96CF-AA9E-4B44-93AF-D7B8C2C7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DB_OBJECT · M90001</a:t>
            </a:r>
          </a:p>
        </p:txBody>
      </p:sp>
      <p:sp>
        <p:nvSpPr>
          <p:cNvPr id="12" name="p13-db-title">
            <a:extLst xmlns:a="http://schemas.openxmlformats.org/drawingml/2006/main">
              <a:ext uri="{FF2B5EF4-FFF2-40B4-BE49-F238E27FC236}">
                <a16:creationId xmlns:a16="http://schemas.microsoft.com/office/drawing/2014/main" id="{AB3B6B0E-98F9-40A6-ABD4-30B27672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Target DB 실행 객체</a:t>
            </a:r>
          </a:p>
        </p:txBody>
      </p:sp>
      <p:sp>
        <p:nvSpPr>
          <p:cNvPr id="13" name="p13-db-body">
            <a:extLst xmlns:a="http://schemas.openxmlformats.org/drawingml/2006/main">
              <a:ext uri="{FF2B5EF4-FFF2-40B4-BE49-F238E27FC236}">
                <a16:creationId xmlns:a16="http://schemas.microsoft.com/office/drawing/2014/main" id="{E5933C06-B0A6-45FC-8823-6A62F195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3314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등록된 프로시저·패키지·Oracle ML 모델을 서버 세션의 검증된 Target DB 연결에서 실행합니다. 객체명·파라미터·결과 계약이 실제 DB 정의와 일치해야 합니다.</a:t>
            </a:r>
          </a:p>
        </p:txBody>
      </p:sp>
      <p:sp>
        <p:nvSpPr>
          <p:cNvPr id="14" name="p13-oml-fill">
            <a:extLst xmlns:a="http://schemas.openxmlformats.org/drawingml/2006/main">
              <a:ext uri="{FF2B5EF4-FFF2-40B4-BE49-F238E27FC236}">
                <a16:creationId xmlns:a16="http://schemas.microsoft.com/office/drawing/2014/main" id="{0F25ED4C-1101-4E5E-BBF6-99613A09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6381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0">
            <a:solidFill>
              <a:srgbClr val="F1EFF8"/>
            </a:solidFill>
            <a:prstDash val="solid"/>
          </a:ln>
        </p:spPr>
      </p:sp>
      <p:sp>
        <p:nvSpPr>
          <p:cNvPr id="15" name="p13-oml-accent">
            <a:extLst xmlns:a="http://schemas.openxmlformats.org/drawingml/2006/main">
              <a:ext uri="{FF2B5EF4-FFF2-40B4-BE49-F238E27FC236}">
                <a16:creationId xmlns:a16="http://schemas.microsoft.com/office/drawing/2014/main" id="{F6F5F6ED-E7F6-48D1-8403-D134EF6C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16" name="p13-oml-kicker">
            <a:extLst xmlns:a="http://schemas.openxmlformats.org/drawingml/2006/main">
              <a:ext uri="{FF2B5EF4-FFF2-40B4-BE49-F238E27FC236}">
                <a16:creationId xmlns:a16="http://schemas.microsoft.com/office/drawing/2014/main" id="{9C9C029A-CC2A-41EF-9AEA-3E1EB020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OML_PYTHON · OML4PY</a:t>
            </a:r>
          </a:p>
        </p:txBody>
      </p:sp>
      <p:sp>
        <p:nvSpPr>
          <p:cNvPr id="17" name="p13-oml-title">
            <a:extLst xmlns:a="http://schemas.openxmlformats.org/drawingml/2006/main">
              <a:ext uri="{FF2B5EF4-FFF2-40B4-BE49-F238E27FC236}">
                <a16:creationId xmlns:a16="http://schemas.microsoft.com/office/drawing/2014/main" id="{BFC98FBB-5578-4317-85CD-D53C59DC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OML Python SQL API</a:t>
            </a:r>
          </a:p>
        </p:txBody>
      </p:sp>
      <p:sp>
        <p:nvSpPr>
          <p:cNvPr id="18" name="p13-oml-body">
            <a:extLst xmlns:a="http://schemas.openxmlformats.org/drawingml/2006/main">
              <a:ext uri="{FF2B5EF4-FFF2-40B4-BE49-F238E27FC236}">
                <a16:creationId xmlns:a16="http://schemas.microsoft.com/office/drawing/2014/main" id="{0087735A-617C-4C03-80A7-CDB89B95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05350"/>
            <a:ext cx="3314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OML4Py Script Repository와 pyqEval·pyqTableEval·pyqRowEval·pyqGroupEval·pyqIndexEval 계약을 사용하고 결과를 표준 출력 형식으로 정규화합니다.</a:t>
            </a:r>
          </a:p>
        </p:txBody>
      </p:sp>
      <p:sp>
        <p:nvSpPr>
          <p:cNvPr id="19" name="p13-api-fill">
            <a:extLst xmlns:a="http://schemas.openxmlformats.org/drawingml/2006/main">
              <a:ext uri="{FF2B5EF4-FFF2-40B4-BE49-F238E27FC236}">
                <a16:creationId xmlns:a16="http://schemas.microsoft.com/office/drawing/2014/main" id="{8640863B-A1D3-45CB-BC70-FA631833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6381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0">
            <a:solidFill>
              <a:srgbClr val="E9F5F4"/>
            </a:solidFill>
            <a:prstDash val="solid"/>
          </a:ln>
        </p:spPr>
      </p:sp>
      <p:sp>
        <p:nvSpPr>
          <p:cNvPr id="20" name="p13-api-accent">
            <a:extLst xmlns:a="http://schemas.openxmlformats.org/drawingml/2006/main">
              <a:ext uri="{FF2B5EF4-FFF2-40B4-BE49-F238E27FC236}">
                <a16:creationId xmlns:a16="http://schemas.microsoft.com/office/drawing/2014/main" id="{BD7FD0A9-0E1C-4AED-AC8B-AC7593A7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1" name="p13-api-kicker">
            <a:extLst xmlns:a="http://schemas.openxmlformats.org/drawingml/2006/main">
              <a:ext uri="{FF2B5EF4-FFF2-40B4-BE49-F238E27FC236}">
                <a16:creationId xmlns:a16="http://schemas.microsoft.com/office/drawing/2014/main" id="{D7B573F9-26C3-4954-A5E8-E428F799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103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WEB_API · M90002</a:t>
            </a:r>
          </a:p>
        </p:txBody>
      </p:sp>
      <p:sp>
        <p:nvSpPr>
          <p:cNvPr id="22" name="p13-api-title">
            <a:extLst xmlns:a="http://schemas.openxmlformats.org/drawingml/2006/main">
              <a:ext uri="{FF2B5EF4-FFF2-40B4-BE49-F238E27FC236}">
                <a16:creationId xmlns:a16="http://schemas.microsoft.com/office/drawing/2014/main" id="{7FF420C4-9019-43B7-9EAE-345FE133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내부 Python·외부 JSON API</a:t>
            </a:r>
          </a:p>
        </p:txBody>
      </p:sp>
      <p:sp>
        <p:nvSpPr>
          <p:cNvPr id="23" name="p13-api-body">
            <a:extLst xmlns:a="http://schemas.openxmlformats.org/drawingml/2006/main">
              <a:ext uri="{FF2B5EF4-FFF2-40B4-BE49-F238E27FC236}">
                <a16:creationId xmlns:a16="http://schemas.microsoft.com/office/drawing/2014/main" id="{2233B3E7-AF28-4BD2-8E77-8468FD27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648450"/>
            <a:ext cx="3314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기본 2~4단계는 INTERNAL_API가 같은 WAS 함수를 직접 호출합니다. 사용자가 EXTERNAL_API를 등록한 경우에만 원격 HTTP JSON endpoint를 호출합니다.</a:t>
            </a:r>
          </a:p>
        </p:txBody>
      </p:sp>
      <p:sp>
        <p:nvSpPr>
          <p:cNvPr id="24" name="p13-check-label-bar">
            <a:extLst xmlns:a="http://schemas.openxmlformats.org/drawingml/2006/main">
              <a:ext uri="{FF2B5EF4-FFF2-40B4-BE49-F238E27FC236}">
                <a16:creationId xmlns:a16="http://schemas.microsoft.com/office/drawing/2014/main" id="{28891CD1-C345-47BB-BBAD-AF5EA468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5" name="p13-check-label">
            <a:extLst xmlns:a="http://schemas.openxmlformats.org/drawingml/2006/main">
              <a:ext uri="{FF2B5EF4-FFF2-40B4-BE49-F238E27FC236}">
                <a16:creationId xmlns:a16="http://schemas.microsoft.com/office/drawing/2014/main" id="{7613BA18-F406-4909-B984-BCDB5D07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34400"/>
            <a:ext cx="622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공통 검증 항목</a:t>
            </a:r>
          </a:p>
        </p:txBody>
      </p:sp>
      <p:sp>
        <p:nvSpPr>
          <p:cNvPr id="26" name="p13-check">
            <a:extLst xmlns:a="http://schemas.openxmlformats.org/drawingml/2006/main">
              <a:ext uri="{FF2B5EF4-FFF2-40B4-BE49-F238E27FC236}">
                <a16:creationId xmlns:a16="http://schemas.microsoft.com/office/drawing/2014/main" id="{252C03D0-B7A5-43F1-8ECE-6D28649B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0"/>
            <a:ext cx="6229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Target·Result·Run 바인드와 출력 계약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권한·ACL·시간·응답 크기·유효 JSON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대용량 처리 범위, 병렬 자원과 커밋 단위</a:t>
            </a:r>
          </a:p>
        </p:txBody>
      </p:sp>
    </p:spTree>
    <p:extLst>
      <p:ext uri="{BB962C8B-B14F-4D97-AF65-F5344CB8AC3E}">
        <p14:creationId xmlns:p14="http://schemas.microsoft.com/office/powerpoint/2010/main" val="3490088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age-14-rail">
            <a:extLst xmlns:a="http://schemas.openxmlformats.org/drawingml/2006/main">
              <a:ext uri="{FF2B5EF4-FFF2-40B4-BE49-F238E27FC236}">
                <a16:creationId xmlns:a16="http://schemas.microsoft.com/office/drawing/2014/main" id="{823026F3-1009-489F-9B1B-57DCF1ED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" name="page-14-chapter">
            <a:extLst xmlns:a="http://schemas.openxmlformats.org/drawingml/2006/main">
              <a:ext uri="{FF2B5EF4-FFF2-40B4-BE49-F238E27FC236}">
                <a16:creationId xmlns:a16="http://schemas.microsoft.com/office/drawing/2014/main" id="{F36A30BB-65F2-4E57-9ADA-ACAADB2E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03 · RUN &amp; NODE STATUS</a:t>
            </a:r>
          </a:p>
        </p:txBody>
      </p:sp>
      <p:sp>
        <p:nvSpPr>
          <p:cNvPr id="3" name="page-14-title">
            <a:extLst xmlns:a="http://schemas.openxmlformats.org/drawingml/2006/main">
              <a:ext uri="{FF2B5EF4-FFF2-40B4-BE49-F238E27FC236}">
                <a16:creationId xmlns:a16="http://schemas.microsoft.com/office/drawing/2014/main" id="{468FC480-E001-4E00-B025-F9859C38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SUCCESS와 좋은 결과는 같은 말이 아닙니다</a:t>
            </a:r>
          </a:p>
        </p:txBody>
      </p:sp>
      <p:sp>
        <p:nvSpPr>
          <p:cNvPr id="4" name="page-14-subtitle">
            <a:extLst xmlns:a="http://schemas.openxmlformats.org/drawingml/2006/main">
              <a:ext uri="{FF2B5EF4-FFF2-40B4-BE49-F238E27FC236}">
                <a16:creationId xmlns:a16="http://schemas.microsoft.com/office/drawing/2014/main" id="{BD5B982A-7165-4D82-9DEC-ACB955ED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실행 상태는 프로세스가 어떻게 종료되었는지를 나타냅니다. 규칙 품질과 업무 승인 여부는 결과 지표·표본·메시지를 별도로 확인해야 합니다.</a:t>
            </a:r>
          </a:p>
        </p:txBody>
      </p:sp>
      <p:sp>
        <p:nvSpPr>
          <p:cNvPr id="5" name="page-14-top-rule">
            <a:extLst xmlns:a="http://schemas.openxmlformats.org/drawingml/2006/main">
              <a:ext uri="{FF2B5EF4-FFF2-40B4-BE49-F238E27FC236}">
                <a16:creationId xmlns:a16="http://schemas.microsoft.com/office/drawing/2014/main" id="{A4683FEC-16EB-4235-B07E-9CA89CE6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4-footer-rule">
            <a:extLst xmlns:a="http://schemas.openxmlformats.org/drawingml/2006/main">
              <a:ext uri="{FF2B5EF4-FFF2-40B4-BE49-F238E27FC236}">
                <a16:creationId xmlns:a16="http://schemas.microsoft.com/office/drawing/2014/main" id="{420934CE-3A95-4242-9F17-0535B5CC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4-footer-name">
            <a:extLst xmlns:a="http://schemas.openxmlformats.org/drawingml/2006/main">
              <a:ext uri="{FF2B5EF4-FFF2-40B4-BE49-F238E27FC236}">
                <a16:creationId xmlns:a16="http://schemas.microsoft.com/office/drawing/2014/main" id="{DE31BCD3-00CA-45CE-8D1E-8D3E7F5D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4-footer-number">
            <a:extLst xmlns:a="http://schemas.openxmlformats.org/drawingml/2006/main">
              <a:ext uri="{FF2B5EF4-FFF2-40B4-BE49-F238E27FC236}">
                <a16:creationId xmlns:a16="http://schemas.microsoft.com/office/drawing/2014/main" id="{02D6D551-136E-420C-BE91-C0CDC832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9" name="p14-row-0">
            <a:extLst xmlns:a="http://schemas.openxmlformats.org/drawingml/2006/main">
              <a:ext uri="{FF2B5EF4-FFF2-40B4-BE49-F238E27FC236}">
                <a16:creationId xmlns:a16="http://schemas.microsoft.com/office/drawing/2014/main" id="{42350B42-8A2D-42A0-A08F-36CDA460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6381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0">
            <a:solidFill>
              <a:srgbClr val="ECF5EF"/>
            </a:solidFill>
            <a:prstDash val="solid"/>
          </a:ln>
        </p:spPr>
      </p:sp>
      <p:sp>
        <p:nvSpPr>
          <p:cNvPr id="10" name="p14-status-0">
            <a:extLst xmlns:a="http://schemas.openxmlformats.org/drawingml/2006/main">
              <a:ext uri="{FF2B5EF4-FFF2-40B4-BE49-F238E27FC236}">
                <a16:creationId xmlns:a16="http://schemas.microsoft.com/office/drawing/2014/main" id="{466EE764-CA7B-4C36-9CC1-627CFADB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E8D65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3E8D65"/>
                </a:solidFill>
                <a:latin typeface="Consolas"/>
                <a:ea typeface="Consolas"/>
                <a:cs typeface="Consolas"/>
              </a:rPr>
              <a:t>SUCCESS</a:t>
            </a:r>
          </a:p>
        </p:txBody>
      </p:sp>
      <p:sp>
        <p:nvSpPr>
          <p:cNvPr id="11" name="p14-meaning-title-0">
            <a:extLst xmlns:a="http://schemas.openxmlformats.org/drawingml/2006/main">
              <a:ext uri="{FF2B5EF4-FFF2-40B4-BE49-F238E27FC236}">
                <a16:creationId xmlns:a16="http://schemas.microsoft.com/office/drawing/2014/main" id="{907A23B3-10F0-4F2D-8831-86539595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622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rPr>
              <a:t>실행 의미</a:t>
            </a:r>
          </a:p>
        </p:txBody>
      </p:sp>
      <p:sp>
        <p:nvSpPr>
          <p:cNvPr id="12" name="p14-meaning-0">
            <a:extLst xmlns:a="http://schemas.openxmlformats.org/drawingml/2006/main">
              <a:ext uri="{FF2B5EF4-FFF2-40B4-BE49-F238E27FC236}">
                <a16:creationId xmlns:a16="http://schemas.microsoft.com/office/drawing/2014/main" id="{A1001248-C1D2-4A02-99F5-76B1C5E3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3847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노드 실행과 결과 계약 저장 완료</a:t>
            </a:r>
          </a:p>
        </p:txBody>
      </p:sp>
      <p:sp>
        <p:nvSpPr>
          <p:cNvPr id="13" name="p14-reading-title-0">
            <a:extLst xmlns:a="http://schemas.openxmlformats.org/drawingml/2006/main">
              <a:ext uri="{FF2B5EF4-FFF2-40B4-BE49-F238E27FC236}">
                <a16:creationId xmlns:a16="http://schemas.microsoft.com/office/drawing/2014/main" id="{A36BAAE6-1B35-47F7-88CC-AFC46372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5147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rPr>
              <a:t>운영 해석</a:t>
            </a:r>
          </a:p>
        </p:txBody>
      </p:sp>
      <p:sp>
        <p:nvSpPr>
          <p:cNvPr id="14" name="p14-reading-0">
            <a:extLst xmlns:a="http://schemas.openxmlformats.org/drawingml/2006/main">
              <a:ext uri="{FF2B5EF4-FFF2-40B4-BE49-F238E27FC236}">
                <a16:creationId xmlns:a16="http://schemas.microsoft.com/office/drawing/2014/main" id="{1F0617FA-24EA-49D4-9A3E-B8E49A67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8615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업무 승인이나 규칙 품질을 뜻하지 않습니다. 실제 지표와 표본을 확인합니다.</a:t>
            </a:r>
          </a:p>
        </p:txBody>
      </p:sp>
      <p:sp>
        <p:nvSpPr>
          <p:cNvPr id="15" name="p14-row-1">
            <a:extLst xmlns:a="http://schemas.openxmlformats.org/drawingml/2006/main">
              <a:ext uri="{FF2B5EF4-FFF2-40B4-BE49-F238E27FC236}">
                <a16:creationId xmlns:a16="http://schemas.microsoft.com/office/drawing/2014/main" id="{25ADC71E-79C0-4995-8A08-4F9ADDE9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6381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0">
            <a:solidFill>
              <a:srgbClr val="F9ECEE"/>
            </a:solidFill>
            <a:prstDash val="solid"/>
          </a:ln>
        </p:spPr>
      </p:sp>
      <p:sp>
        <p:nvSpPr>
          <p:cNvPr id="16" name="p14-status-1">
            <a:extLst xmlns:a="http://schemas.openxmlformats.org/drawingml/2006/main">
              <a:ext uri="{FF2B5EF4-FFF2-40B4-BE49-F238E27FC236}">
                <a16:creationId xmlns:a16="http://schemas.microsoft.com/office/drawing/2014/main" id="{6412345D-A5BF-4CAD-99B3-8C32FEA1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B54D58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B54D58"/>
                </a:solidFill>
                <a:latin typeface="Consolas"/>
                <a:ea typeface="Consolas"/>
                <a:cs typeface="Consolas"/>
              </a:rPr>
              <a:t>FAILED</a:t>
            </a:r>
          </a:p>
        </p:txBody>
      </p:sp>
      <p:sp>
        <p:nvSpPr>
          <p:cNvPr id="17" name="p14-meaning-title-1">
            <a:extLst xmlns:a="http://schemas.openxmlformats.org/drawingml/2006/main">
              <a:ext uri="{FF2B5EF4-FFF2-40B4-BE49-F238E27FC236}">
                <a16:creationId xmlns:a16="http://schemas.microsoft.com/office/drawing/2014/main" id="{8F0185FA-3559-4496-B4B4-04DEC2D2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572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실행 의미</a:t>
            </a:r>
          </a:p>
        </p:txBody>
      </p:sp>
      <p:sp>
        <p:nvSpPr>
          <p:cNvPr id="18" name="p14-meaning-1">
            <a:extLst xmlns:a="http://schemas.openxmlformats.org/drawingml/2006/main">
              <a:ext uri="{FF2B5EF4-FFF2-40B4-BE49-F238E27FC236}">
                <a16:creationId xmlns:a16="http://schemas.microsoft.com/office/drawing/2014/main" id="{79FF8032-0BD2-49C9-981A-5072D288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8482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실행 오류 또는 검토가 필요한 부분 완료</a:t>
            </a:r>
          </a:p>
        </p:txBody>
      </p:sp>
      <p:sp>
        <p:nvSpPr>
          <p:cNvPr id="19" name="p14-reading-title-1">
            <a:extLst xmlns:a="http://schemas.openxmlformats.org/drawingml/2006/main">
              <a:ext uri="{FF2B5EF4-FFF2-40B4-BE49-F238E27FC236}">
                <a16:creationId xmlns:a16="http://schemas.microsoft.com/office/drawing/2014/main" id="{B3DEA609-F13E-4042-91A7-254C6F69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3244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운영 해석</a:t>
            </a:r>
          </a:p>
        </p:txBody>
      </p:sp>
      <p:sp>
        <p:nvSpPr>
          <p:cNvPr id="20" name="p14-reading-1">
            <a:extLst xmlns:a="http://schemas.openxmlformats.org/drawingml/2006/main">
              <a:ext uri="{FF2B5EF4-FFF2-40B4-BE49-F238E27FC236}">
                <a16:creationId xmlns:a16="http://schemas.microsoft.com/office/drawing/2014/main" id="{0742DA3F-0141-41E9-AF6C-67B48734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29590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메시지에서 성공한 하위 작업과 실패한 작업을 유형별로 나누어 확인합니다.</a:t>
            </a:r>
          </a:p>
        </p:txBody>
      </p:sp>
      <p:sp>
        <p:nvSpPr>
          <p:cNvPr id="21" name="p14-row-2">
            <a:extLst xmlns:a="http://schemas.openxmlformats.org/drawingml/2006/main">
              <a:ext uri="{FF2B5EF4-FFF2-40B4-BE49-F238E27FC236}">
                <a16:creationId xmlns:a16="http://schemas.microsoft.com/office/drawing/2014/main" id="{BBC79F5C-7FF8-4105-B403-02022A01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6381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0">
            <a:solidFill>
              <a:srgbClr val="F2F6FA"/>
            </a:solidFill>
            <a:prstDash val="solid"/>
          </a:ln>
        </p:spPr>
      </p:sp>
      <p:sp>
        <p:nvSpPr>
          <p:cNvPr id="22" name="p14-status-2">
            <a:extLst xmlns:a="http://schemas.openxmlformats.org/drawingml/2006/main">
              <a:ext uri="{FF2B5EF4-FFF2-40B4-BE49-F238E27FC236}">
                <a16:creationId xmlns:a16="http://schemas.microsoft.com/office/drawing/2014/main" id="{6D3952F1-66AA-4A93-905D-F77026CC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00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6D7A8D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6D7A8D"/>
                </a:solidFill>
                <a:latin typeface="Consolas"/>
                <a:ea typeface="Consolas"/>
                <a:cs typeface="Consolas"/>
              </a:rPr>
              <a:t>SKIPPED</a:t>
            </a:r>
          </a:p>
        </p:txBody>
      </p:sp>
      <p:sp>
        <p:nvSpPr>
          <p:cNvPr id="23" name="p14-meaning-title-2">
            <a:extLst xmlns:a="http://schemas.openxmlformats.org/drawingml/2006/main">
              <a:ext uri="{FF2B5EF4-FFF2-40B4-BE49-F238E27FC236}">
                <a16:creationId xmlns:a16="http://schemas.microsoft.com/office/drawing/2014/main" id="{DEBC3981-3957-4BAD-859F-741ECD95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6381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실행 의미</a:t>
            </a:r>
          </a:p>
        </p:txBody>
      </p:sp>
      <p:sp>
        <p:nvSpPr>
          <p:cNvPr id="24" name="p14-meaning-2">
            <a:extLst xmlns:a="http://schemas.openxmlformats.org/drawingml/2006/main">
              <a:ext uri="{FF2B5EF4-FFF2-40B4-BE49-F238E27FC236}">
                <a16:creationId xmlns:a16="http://schemas.microsoft.com/office/drawing/2014/main" id="{1C47DE29-FA4B-4977-89EA-CC5E08B5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665797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의존 조건 미충족 또는 실행 대상 제외</a:t>
            </a:r>
          </a:p>
        </p:txBody>
      </p:sp>
      <p:sp>
        <p:nvSpPr>
          <p:cNvPr id="25" name="p14-reading-title-2">
            <a:extLst xmlns:a="http://schemas.openxmlformats.org/drawingml/2006/main">
              <a:ext uri="{FF2B5EF4-FFF2-40B4-BE49-F238E27FC236}">
                <a16:creationId xmlns:a16="http://schemas.microsoft.com/office/drawing/2014/main" id="{0A8249C9-A958-4FF7-BD0D-CD52F106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71342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운영 해석</a:t>
            </a:r>
          </a:p>
        </p:txBody>
      </p:sp>
      <p:sp>
        <p:nvSpPr>
          <p:cNvPr id="26" name="p14-reading-2">
            <a:extLst xmlns:a="http://schemas.openxmlformats.org/drawingml/2006/main">
              <a:ext uri="{FF2B5EF4-FFF2-40B4-BE49-F238E27FC236}">
                <a16:creationId xmlns:a16="http://schemas.microsoft.com/office/drawing/2014/main" id="{D1629A29-CF80-4AB4-8150-F36E81E1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10565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필수 선행 노드 상태와 ON_COMPLETE 등 엣지 조건을 확인합니다.</a:t>
            </a:r>
          </a:p>
        </p:txBody>
      </p:sp>
      <p:sp>
        <p:nvSpPr>
          <p:cNvPr id="27" name="p14-callout-fill">
            <a:extLst xmlns:a="http://schemas.openxmlformats.org/drawingml/2006/main">
              <a:ext uri="{FF2B5EF4-FFF2-40B4-BE49-F238E27FC236}">
                <a16:creationId xmlns:a16="http://schemas.microsoft.com/office/drawing/2014/main" id="{3D63AE2E-D32C-44DE-8216-90293C9E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29600"/>
            <a:ext cx="6381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B97316"/>
            </a:solidFill>
            <a:prstDash val="solid"/>
          </a:ln>
        </p:spPr>
      </p:sp>
      <p:sp>
        <p:nvSpPr>
          <p:cNvPr id="28" name="p14-callout-accent">
            <a:extLst xmlns:a="http://schemas.openxmlformats.org/drawingml/2006/main">
              <a:ext uri="{FF2B5EF4-FFF2-40B4-BE49-F238E27FC236}">
                <a16:creationId xmlns:a16="http://schemas.microsoft.com/office/drawing/2014/main" id="{FD3C3915-9A9B-4A8E-8A12-316F7DC5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296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9" name="p14-callout-text">
            <a:extLst xmlns:a="http://schemas.openxmlformats.org/drawingml/2006/main">
              <a:ext uri="{FF2B5EF4-FFF2-40B4-BE49-F238E27FC236}">
                <a16:creationId xmlns:a16="http://schemas.microsoft.com/office/drawing/2014/main" id="{F58C02B6-0C06-4A60-9421-44757C68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010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위반 0건은 오류가 아닐 수 있습니다. 반대로 SUCCESS라도 규칙 표본과 설명력이 충분한지는 별도로 검토합니다.</a:t>
            </a:r>
          </a:p>
        </p:txBody>
      </p:sp>
    </p:spTree>
    <p:extLst>
      <p:ext uri="{BB962C8B-B14F-4D97-AF65-F5344CB8AC3E}">
        <p14:creationId xmlns:p14="http://schemas.microsoft.com/office/powerpoint/2010/main" val="1234163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age-15-rail">
            <a:extLst xmlns:a="http://schemas.openxmlformats.org/drawingml/2006/main">
              <a:ext uri="{FF2B5EF4-FFF2-40B4-BE49-F238E27FC236}">
                <a16:creationId xmlns:a16="http://schemas.microsoft.com/office/drawing/2014/main" id="{7760E374-59F3-4E98-9E5E-59EB64BB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" name="page-15-chapter">
            <a:extLst xmlns:a="http://schemas.openxmlformats.org/drawingml/2006/main">
              <a:ext uri="{FF2B5EF4-FFF2-40B4-BE49-F238E27FC236}">
                <a16:creationId xmlns:a16="http://schemas.microsoft.com/office/drawing/2014/main" id="{26C82EDC-0137-4129-9ED6-BD408D44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04 · REVIEW TO CHANGE</a:t>
            </a:r>
          </a:p>
        </p:txBody>
      </p:sp>
      <p:sp>
        <p:nvSpPr>
          <p:cNvPr id="3" name="page-15-title">
            <a:extLst xmlns:a="http://schemas.openxmlformats.org/drawingml/2006/main">
              <a:ext uri="{FF2B5EF4-FFF2-40B4-BE49-F238E27FC236}">
                <a16:creationId xmlns:a16="http://schemas.microsoft.com/office/drawing/2014/main" id="{C8BF0201-749B-403A-8229-C930F75E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분석 결과는 다섯 책임 단계를 거쳐 변경됩니다</a:t>
            </a:r>
          </a:p>
        </p:txBody>
      </p:sp>
      <p:sp>
        <p:nvSpPr>
          <p:cNvPr id="4" name="page-15-subtitle">
            <a:extLst xmlns:a="http://schemas.openxmlformats.org/drawingml/2006/main">
              <a:ext uri="{FF2B5EF4-FFF2-40B4-BE49-F238E27FC236}">
                <a16:creationId xmlns:a16="http://schemas.microsoft.com/office/drawing/2014/main" id="{B1EB2E5B-CF45-4AFF-9FFB-89FE7AA2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발굴 결과를 곧바로 원본에 적용하지 않고, 해석·결정·편집·효과 검증·보고를 서로 다른 작업 화면과 책임으로 분리합니다.</a:t>
            </a:r>
          </a:p>
        </p:txBody>
      </p:sp>
      <p:sp>
        <p:nvSpPr>
          <p:cNvPr id="5" name="page-15-top-rule">
            <a:extLst xmlns:a="http://schemas.openxmlformats.org/drawingml/2006/main">
              <a:ext uri="{FF2B5EF4-FFF2-40B4-BE49-F238E27FC236}">
                <a16:creationId xmlns:a16="http://schemas.microsoft.com/office/drawing/2014/main" id="{4D9CEECC-D69E-424A-878F-9F7AE373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5-footer-rule">
            <a:extLst xmlns:a="http://schemas.openxmlformats.org/drawingml/2006/main">
              <a:ext uri="{FF2B5EF4-FFF2-40B4-BE49-F238E27FC236}">
                <a16:creationId xmlns:a16="http://schemas.microsoft.com/office/drawing/2014/main" id="{68A8EBE2-E470-4AE9-9B1A-F8679C71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5-footer-name">
            <a:extLst xmlns:a="http://schemas.openxmlformats.org/drawingml/2006/main">
              <a:ext uri="{FF2B5EF4-FFF2-40B4-BE49-F238E27FC236}">
                <a16:creationId xmlns:a16="http://schemas.microsoft.com/office/drawing/2014/main" id="{6DE635FA-AB05-4A02-8442-A0F26478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5-footer-number">
            <a:extLst xmlns:a="http://schemas.openxmlformats.org/drawingml/2006/main">
              <a:ext uri="{FF2B5EF4-FFF2-40B4-BE49-F238E27FC236}">
                <a16:creationId xmlns:a16="http://schemas.microsoft.com/office/drawing/2014/main" id="{60588B5C-B167-47F1-A583-BCF9721D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9" name="change-node-1">
            <a:extLst xmlns:a="http://schemas.openxmlformats.org/drawingml/2006/main">
              <a:ext uri="{FF2B5EF4-FFF2-40B4-BE49-F238E27FC236}">
                <a16:creationId xmlns:a16="http://schemas.microsoft.com/office/drawing/2014/main" id="{F332F388-53B3-479C-8ED8-E5107C2D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F6FB5"/>
            </a:solidFill>
            <a:prstDash val="solid"/>
          </a:ln>
        </p:spPr>
      </p:sp>
      <p:sp>
        <p:nvSpPr>
          <p:cNvPr id="10" name="change-num-1-circle">
            <a:extLst xmlns:a="http://schemas.openxmlformats.org/drawingml/2006/main">
              <a:ext uri="{FF2B5EF4-FFF2-40B4-BE49-F238E27FC236}">
                <a16:creationId xmlns:a16="http://schemas.microsoft.com/office/drawing/2014/main" id="{F1CDE689-9B73-4BC1-B240-2EA76C6D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change-num-1-number">
            <a:extLst xmlns:a="http://schemas.openxmlformats.org/drawingml/2006/main">
              <a:ext uri="{FF2B5EF4-FFF2-40B4-BE49-F238E27FC236}">
                <a16:creationId xmlns:a16="http://schemas.microsoft.com/office/drawing/2014/main" id="{CE751C4E-25CD-491A-B4ED-A3248D79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change-title-1">
            <a:extLst xmlns:a="http://schemas.openxmlformats.org/drawingml/2006/main">
              <a:ext uri="{FF2B5EF4-FFF2-40B4-BE49-F238E27FC236}">
                <a16:creationId xmlns:a16="http://schemas.microsoft.com/office/drawing/2014/main" id="{5774E95A-1BD4-4018-AEEB-9023005E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574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결과 분석</a:t>
            </a:r>
          </a:p>
        </p:txBody>
      </p:sp>
      <p:sp>
        <p:nvSpPr>
          <p:cNvPr id="13" name="change-kicker-1">
            <a:extLst xmlns:a="http://schemas.openxmlformats.org/drawingml/2006/main">
              <a:ext uri="{FF2B5EF4-FFF2-40B4-BE49-F238E27FC236}">
                <a16:creationId xmlns:a16="http://schemas.microsoft.com/office/drawing/2014/main" id="{0A70A5D3-A141-4686-95DC-9C2B2FD3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M04002</a:t>
            </a:r>
          </a:p>
        </p:txBody>
      </p:sp>
      <p:sp>
        <p:nvSpPr>
          <p:cNvPr id="14" name="change-body-1">
            <a:extLst xmlns:a="http://schemas.openxmlformats.org/drawingml/2006/main">
              <a:ext uri="{FF2B5EF4-FFF2-40B4-BE49-F238E27FC236}">
                <a16:creationId xmlns:a16="http://schemas.microsoft.com/office/drawing/2014/main" id="{F3F7F408-97A7-43B4-8A6D-A3F38E12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유형, 관계·군집, 규칙, 위반과 실제 Run 파라미터를 함께 해석합니다.</a:t>
            </a:r>
          </a:p>
        </p:txBody>
      </p:sp>
      <p:sp>
        <p:nvSpPr>
          <p:cNvPr id="15" name="change-node-2">
            <a:extLst xmlns:a="http://schemas.openxmlformats.org/drawingml/2006/main">
              <a:ext uri="{FF2B5EF4-FFF2-40B4-BE49-F238E27FC236}">
                <a16:creationId xmlns:a16="http://schemas.microsoft.com/office/drawing/2014/main" id="{8AFBF175-0965-4D7F-891D-64BF8274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16" name="change-num-2-circle">
            <a:extLst xmlns:a="http://schemas.openxmlformats.org/drawingml/2006/main">
              <a:ext uri="{FF2B5EF4-FFF2-40B4-BE49-F238E27FC236}">
                <a16:creationId xmlns:a16="http://schemas.microsoft.com/office/drawing/2014/main" id="{390DF0CB-801C-45EA-BA01-8D80D520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17" name="change-num-2-number">
            <a:extLst xmlns:a="http://schemas.openxmlformats.org/drawingml/2006/main">
              <a:ext uri="{FF2B5EF4-FFF2-40B4-BE49-F238E27FC236}">
                <a16:creationId xmlns:a16="http://schemas.microsoft.com/office/drawing/2014/main" id="{BAB69C9C-3F36-4A80-98C5-20A29EC6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change-title-2">
            <a:extLst xmlns:a="http://schemas.openxmlformats.org/drawingml/2006/main">
              <a:ext uri="{FF2B5EF4-FFF2-40B4-BE49-F238E27FC236}">
                <a16:creationId xmlns:a16="http://schemas.microsoft.com/office/drawing/2014/main" id="{5331C36A-2FEA-460F-A464-BE68D8C0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규칙 결정</a:t>
            </a:r>
          </a:p>
        </p:txBody>
      </p:sp>
      <p:sp>
        <p:nvSpPr>
          <p:cNvPr id="19" name="change-kicker-2">
            <a:extLst xmlns:a="http://schemas.openxmlformats.org/drawingml/2006/main">
              <a:ext uri="{FF2B5EF4-FFF2-40B4-BE49-F238E27FC236}">
                <a16:creationId xmlns:a16="http://schemas.microsoft.com/office/drawing/2014/main" id="{B097C633-7BFA-4CAF-9AA1-C435E2AC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M05001</a:t>
            </a:r>
          </a:p>
        </p:txBody>
      </p:sp>
      <p:sp>
        <p:nvSpPr>
          <p:cNvPr id="20" name="change-body-2">
            <a:extLst xmlns:a="http://schemas.openxmlformats.org/drawingml/2006/main">
              <a:ext uri="{FF2B5EF4-FFF2-40B4-BE49-F238E27FC236}">
                <a16:creationId xmlns:a16="http://schemas.microsoft.com/office/drawing/2014/main" id="{EA3D7098-0E68-4B3A-9436-88651EFC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0525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발굴 후보를 선정·제외하고 사용자 규칙을 검증해 규칙 마스터를 관리합니다.</a:t>
            </a:r>
          </a:p>
        </p:txBody>
      </p:sp>
      <p:sp>
        <p:nvSpPr>
          <p:cNvPr id="21" name="change-node-3">
            <a:extLst xmlns:a="http://schemas.openxmlformats.org/drawingml/2006/main">
              <a:ext uri="{FF2B5EF4-FFF2-40B4-BE49-F238E27FC236}">
                <a16:creationId xmlns:a16="http://schemas.microsoft.com/office/drawing/2014/main" id="{ED17382C-74FD-46F6-9C50-0DAB8AB1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B97316"/>
            </a:solidFill>
            <a:prstDash val="solid"/>
          </a:ln>
        </p:spPr>
      </p:sp>
      <p:sp>
        <p:nvSpPr>
          <p:cNvPr id="22" name="change-num-3-circle">
            <a:extLst xmlns:a="http://schemas.openxmlformats.org/drawingml/2006/main">
              <a:ext uri="{FF2B5EF4-FFF2-40B4-BE49-F238E27FC236}">
                <a16:creationId xmlns:a16="http://schemas.microsoft.com/office/drawing/2014/main" id="{5A9EEFB8-CC6C-479A-81C9-E59D36F1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3" name="change-num-3-number">
            <a:extLst xmlns:a="http://schemas.openxmlformats.org/drawingml/2006/main">
              <a:ext uri="{FF2B5EF4-FFF2-40B4-BE49-F238E27FC236}">
                <a16:creationId xmlns:a16="http://schemas.microsoft.com/office/drawing/2014/main" id="{EB6A71AF-AF69-4D25-BA6A-0383236B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change-title-3">
            <a:extLst xmlns:a="http://schemas.openxmlformats.org/drawingml/2006/main">
              <a:ext uri="{FF2B5EF4-FFF2-40B4-BE49-F238E27FC236}">
                <a16:creationId xmlns:a16="http://schemas.microsoft.com/office/drawing/2014/main" id="{0D766B3B-D5D2-4C6A-827D-E9AA1EDF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720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오류 수정</a:t>
            </a:r>
          </a:p>
        </p:txBody>
      </p:sp>
      <p:sp>
        <p:nvSpPr>
          <p:cNvPr id="25" name="change-kicker-3">
            <a:extLst xmlns:a="http://schemas.openxmlformats.org/drawingml/2006/main">
              <a:ext uri="{FF2B5EF4-FFF2-40B4-BE49-F238E27FC236}">
                <a16:creationId xmlns:a16="http://schemas.microsoft.com/office/drawing/2014/main" id="{5222867B-AF4A-46E1-BF5A-05D58FFE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340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B9731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97316"/>
                </a:solidFill>
                <a:latin typeface="Consolas"/>
                <a:ea typeface="Consolas"/>
                <a:cs typeface="Consolas"/>
              </a:rPr>
              <a:t>M05002</a:t>
            </a:r>
          </a:p>
        </p:txBody>
      </p:sp>
      <p:sp>
        <p:nvSpPr>
          <p:cNvPr id="26" name="change-body-3">
            <a:extLst xmlns:a="http://schemas.openxmlformats.org/drawingml/2006/main">
              <a:ext uri="{FF2B5EF4-FFF2-40B4-BE49-F238E27FC236}">
                <a16:creationId xmlns:a16="http://schemas.microsoft.com/office/drawing/2014/main" id="{8F9B1494-EE16-4B8F-871A-1E649798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6255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원본 기준 작업본을 검사하고 INITDN$ 편집본에서 셀 값을 수정합니다.</a:t>
            </a:r>
          </a:p>
        </p:txBody>
      </p:sp>
      <p:sp>
        <p:nvSpPr>
          <p:cNvPr id="27" name="change-node-4">
            <a:extLst xmlns:a="http://schemas.openxmlformats.org/drawingml/2006/main">
              <a:ext uri="{FF2B5EF4-FFF2-40B4-BE49-F238E27FC236}">
                <a16:creationId xmlns:a16="http://schemas.microsoft.com/office/drawing/2014/main" id="{901F1871-F6BB-4206-A86B-5791C2A8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48400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9525">
            <a:solidFill>
              <a:srgbClr val="B54D58"/>
            </a:solidFill>
            <a:prstDash val="solid"/>
          </a:ln>
        </p:spPr>
      </p:sp>
      <p:sp>
        <p:nvSpPr>
          <p:cNvPr id="28" name="change-num-4-circle">
            <a:extLst xmlns:a="http://schemas.openxmlformats.org/drawingml/2006/main">
              <a:ext uri="{FF2B5EF4-FFF2-40B4-BE49-F238E27FC236}">
                <a16:creationId xmlns:a16="http://schemas.microsoft.com/office/drawing/2014/main" id="{7676DDB5-1428-4F56-A3DC-E0DC3066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29" name="change-num-4-number">
            <a:extLst xmlns:a="http://schemas.openxmlformats.org/drawingml/2006/main">
              <a:ext uri="{FF2B5EF4-FFF2-40B4-BE49-F238E27FC236}">
                <a16:creationId xmlns:a16="http://schemas.microsoft.com/office/drawing/2014/main" id="{2E9B435A-3ABA-4D85-8018-6072BDEF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151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change-title-4">
            <a:extLst xmlns:a="http://schemas.openxmlformats.org/drawingml/2006/main">
              <a:ext uri="{FF2B5EF4-FFF2-40B4-BE49-F238E27FC236}">
                <a16:creationId xmlns:a16="http://schemas.microsoft.com/office/drawing/2014/main" id="{35D06357-1D94-4DBB-A683-BB6316CE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293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효과·DML</a:t>
            </a:r>
          </a:p>
        </p:txBody>
      </p:sp>
      <p:sp>
        <p:nvSpPr>
          <p:cNvPr id="31" name="change-kicker-4">
            <a:extLst xmlns:a="http://schemas.openxmlformats.org/drawingml/2006/main">
              <a:ext uri="{FF2B5EF4-FFF2-40B4-BE49-F238E27FC236}">
                <a16:creationId xmlns:a16="http://schemas.microsoft.com/office/drawing/2014/main" id="{73E35F89-4A26-4D9E-8B6E-291047DC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7913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B54D5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54D58"/>
                </a:solidFill>
                <a:latin typeface="Consolas"/>
                <a:ea typeface="Consolas"/>
                <a:cs typeface="Consolas"/>
              </a:rPr>
              <a:t>M05003</a:t>
            </a:r>
          </a:p>
        </p:txBody>
      </p:sp>
      <p:sp>
        <p:nvSpPr>
          <p:cNvPr id="32" name="change-body-4">
            <a:extLst xmlns:a="http://schemas.openxmlformats.org/drawingml/2006/main">
              <a:ext uri="{FF2B5EF4-FFF2-40B4-BE49-F238E27FC236}">
                <a16:creationId xmlns:a16="http://schemas.microsoft.com/office/drawing/2014/main" id="{766CD0AD-4FFB-4542-B61A-C628E501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41985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수정 전후 효과를 비교하고 버전 관리된 운영 반영 DML을 검증·실행합니다.</a:t>
            </a:r>
          </a:p>
        </p:txBody>
      </p:sp>
      <p:sp>
        <p:nvSpPr>
          <p:cNvPr id="33" name="change-node-5">
            <a:extLst xmlns:a="http://schemas.openxmlformats.org/drawingml/2006/main">
              <a:ext uri="{FF2B5EF4-FFF2-40B4-BE49-F238E27FC236}">
                <a16:creationId xmlns:a16="http://schemas.microsoft.com/office/drawing/2014/main" id="{1CBD1A71-A9CE-43DC-B5D0-4C4CFADD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505700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9525">
            <a:solidFill>
              <a:srgbClr val="3E8D65"/>
            </a:solidFill>
            <a:prstDash val="solid"/>
          </a:ln>
        </p:spPr>
      </p:sp>
      <p:sp>
        <p:nvSpPr>
          <p:cNvPr id="34" name="change-num-5-circle">
            <a:extLst xmlns:a="http://schemas.openxmlformats.org/drawingml/2006/main">
              <a:ext uri="{FF2B5EF4-FFF2-40B4-BE49-F238E27FC236}">
                <a16:creationId xmlns:a16="http://schemas.microsoft.com/office/drawing/2014/main" id="{31E2816E-0DF6-4B66-9DAA-35AB09A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5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35" name="change-num-5-number">
            <a:extLst xmlns:a="http://schemas.openxmlformats.org/drawingml/2006/main">
              <a:ext uri="{FF2B5EF4-FFF2-40B4-BE49-F238E27FC236}">
                <a16:creationId xmlns:a16="http://schemas.microsoft.com/office/drawing/2014/main" id="{C928EAF7-7282-49C1-83FA-333ED4DC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724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6" name="change-title-5">
            <a:extLst xmlns:a="http://schemas.openxmlformats.org/drawingml/2006/main">
              <a:ext uri="{FF2B5EF4-FFF2-40B4-BE49-F238E27FC236}">
                <a16:creationId xmlns:a16="http://schemas.microsoft.com/office/drawing/2014/main" id="{8A572859-7ACF-4CAD-AA87-97CAA600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6866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결과 보고</a:t>
            </a:r>
          </a:p>
        </p:txBody>
      </p:sp>
      <p:sp>
        <p:nvSpPr>
          <p:cNvPr id="37" name="change-kicker-5">
            <a:extLst xmlns:a="http://schemas.openxmlformats.org/drawingml/2006/main">
              <a:ext uri="{FF2B5EF4-FFF2-40B4-BE49-F238E27FC236}">
                <a16:creationId xmlns:a16="http://schemas.microsoft.com/office/drawing/2014/main" id="{105CB70E-D593-490C-A4AA-77AE3479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0486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E8D6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E8D65"/>
                </a:solidFill>
                <a:latin typeface="Consolas"/>
                <a:ea typeface="Consolas"/>
                <a:cs typeface="Consolas"/>
              </a:rPr>
              <a:t>M06001 · M06002</a:t>
            </a:r>
          </a:p>
        </p:txBody>
      </p:sp>
      <p:sp>
        <p:nvSpPr>
          <p:cNvPr id="38" name="change-body-5">
            <a:extLst xmlns:a="http://schemas.openxmlformats.org/drawingml/2006/main">
              <a:ext uri="{FF2B5EF4-FFF2-40B4-BE49-F238E27FC236}">
                <a16:creationId xmlns:a16="http://schemas.microsoft.com/office/drawing/2014/main" id="{F8FD5388-9BAD-4372-8E8F-0D643EDE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67715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고정형·통합 또는 맞춤형 보고서로 분석과 에디팅 이력을 공유합니다.</a:t>
            </a:r>
          </a:p>
        </p:txBody>
      </p:sp>
      <p:cxnSp>
        <p:nvCxnSpPr>
          <p:cNvPr id="84" name=""/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781425" y="35433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85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781425" y="48006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86" name="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781425" y="60579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87" name=""/>
          <p:cNvCxnSpPr>
            <a:stCxn xmlns:a="http://schemas.openxmlformats.org/drawingml/2006/main" id="27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781425" y="73152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sp>
        <p:nvSpPr>
          <p:cNvPr id="43" name="p15-callout-fill">
            <a:extLst xmlns:a="http://schemas.openxmlformats.org/drawingml/2006/main">
              <a:ext uri="{FF2B5EF4-FFF2-40B4-BE49-F238E27FC236}">
                <a16:creationId xmlns:a16="http://schemas.microsoft.com/office/drawing/2014/main" id="{177445AF-A216-42C0-9DC4-03A34CB7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72550"/>
            <a:ext cx="6381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15255A"/>
            </a:solidFill>
            <a:prstDash val="solid"/>
          </a:ln>
        </p:spPr>
      </p:sp>
      <p:sp>
        <p:nvSpPr>
          <p:cNvPr id="44" name="p15-callout-accent">
            <a:extLst xmlns:a="http://schemas.openxmlformats.org/drawingml/2006/main">
              <a:ext uri="{FF2B5EF4-FFF2-40B4-BE49-F238E27FC236}">
                <a16:creationId xmlns:a16="http://schemas.microsoft.com/office/drawing/2014/main" id="{D6115173-3078-463F-A0F3-D9101006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725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5A"/>
          </a:solidFill>
          <a:ln xmlns:a="http://schemas.openxmlformats.org/drawingml/2006/main" w="0">
            <a:solidFill>
              <a:srgbClr val="15255A"/>
            </a:solidFill>
            <a:prstDash val="solid"/>
          </a:ln>
        </p:spPr>
      </p:sp>
      <p:sp>
        <p:nvSpPr>
          <p:cNvPr id="45" name="p15-callout-text">
            <a:extLst xmlns:a="http://schemas.openxmlformats.org/drawingml/2006/main">
              <a:ext uri="{FF2B5EF4-FFF2-40B4-BE49-F238E27FC236}">
                <a16:creationId xmlns:a16="http://schemas.microsoft.com/office/drawing/2014/main" id="{D8740963-5C87-4D18-8C3B-C021D49D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0"/>
            <a:ext cx="598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각 단계가 분리되어 있기 때문에 규칙 후보의 품질 문제와 실제 데이터 변경 위험을 서로 다른 지점에서 통제할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755018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16-rail">
            <a:extLst xmlns:a="http://schemas.openxmlformats.org/drawingml/2006/main">
              <a:ext uri="{FF2B5EF4-FFF2-40B4-BE49-F238E27FC236}">
                <a16:creationId xmlns:a16="http://schemas.microsoft.com/office/drawing/2014/main" id="{BB03FC9B-68A0-4993-9BFE-309188EC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2" name="page-16-chapter">
            <a:extLst xmlns:a="http://schemas.openxmlformats.org/drawingml/2006/main">
              <a:ext uri="{FF2B5EF4-FFF2-40B4-BE49-F238E27FC236}">
                <a16:creationId xmlns:a16="http://schemas.microsoft.com/office/drawing/2014/main" id="{9EE4A520-45AE-48CF-9DDB-6C5CE84C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04 · EDITING &amp; OPERATIONAL APPLY</a:t>
            </a:r>
          </a:p>
        </p:txBody>
      </p:sp>
      <p:sp>
        <p:nvSpPr>
          <p:cNvPr id="3" name="page-16-title">
            <a:extLst xmlns:a="http://schemas.openxmlformats.org/drawingml/2006/main">
              <a:ext uri="{FF2B5EF4-FFF2-40B4-BE49-F238E27FC236}">
                <a16:creationId xmlns:a16="http://schemas.microsoft.com/office/drawing/2014/main" id="{21738A9F-0911-4005-BD67-EF1077AE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원본·편집본·운영 반영을 세 층으로 분리합니다</a:t>
            </a:r>
          </a:p>
        </p:txBody>
      </p:sp>
      <p:sp>
        <p:nvSpPr>
          <p:cNvPr id="4" name="page-16-subtitle">
            <a:extLst xmlns:a="http://schemas.openxmlformats.org/drawingml/2006/main">
              <a:ext uri="{FF2B5EF4-FFF2-40B4-BE49-F238E27FC236}">
                <a16:creationId xmlns:a16="http://schemas.microsoft.com/office/drawing/2014/main" id="{926B574F-715B-4050-9A14-D7B325D5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탐지 결과가 원본을 직접 바꾸지 않도록 검사 기준, 사용자 편집, 운영 반영을 서로 다른 데이터와 승인 단계로 관리합니다.</a:t>
            </a:r>
          </a:p>
        </p:txBody>
      </p:sp>
      <p:sp>
        <p:nvSpPr>
          <p:cNvPr id="5" name="page-16-top-rule">
            <a:extLst xmlns:a="http://schemas.openxmlformats.org/drawingml/2006/main">
              <a:ext uri="{FF2B5EF4-FFF2-40B4-BE49-F238E27FC236}">
                <a16:creationId xmlns:a16="http://schemas.microsoft.com/office/drawing/2014/main" id="{8C2CEC71-D4BC-4B52-B02A-2AF6C781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6-footer-rule">
            <a:extLst xmlns:a="http://schemas.openxmlformats.org/drawingml/2006/main">
              <a:ext uri="{FF2B5EF4-FFF2-40B4-BE49-F238E27FC236}">
                <a16:creationId xmlns:a16="http://schemas.microsoft.com/office/drawing/2014/main" id="{3827E313-363B-4CAF-B2CB-2B69064D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6-footer-name">
            <a:extLst xmlns:a="http://schemas.openxmlformats.org/drawingml/2006/main">
              <a:ext uri="{FF2B5EF4-FFF2-40B4-BE49-F238E27FC236}">
                <a16:creationId xmlns:a16="http://schemas.microsoft.com/office/drawing/2014/main" id="{23C7C097-B9AF-41D7-B64F-EE2F0156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6-footer-number">
            <a:extLst xmlns:a="http://schemas.openxmlformats.org/drawingml/2006/main">
              <a:ext uri="{FF2B5EF4-FFF2-40B4-BE49-F238E27FC236}">
                <a16:creationId xmlns:a16="http://schemas.microsoft.com/office/drawing/2014/main" id="{DC6CC49C-231B-4547-9652-D6D7F883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9" name="p16-node-0">
            <a:extLst xmlns:a="http://schemas.openxmlformats.org/drawingml/2006/main">
              <a:ext uri="{FF2B5EF4-FFF2-40B4-BE49-F238E27FC236}">
                <a16:creationId xmlns:a16="http://schemas.microsoft.com/office/drawing/2014/main" id="{15EED9CE-62D6-4777-98AA-D3942736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5467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F6FB5"/>
            </a:solidFill>
            <a:prstDash val="solid"/>
          </a:ln>
        </p:spPr>
      </p:sp>
      <p:sp>
        <p:nvSpPr>
          <p:cNvPr id="10" name="p16-label-0">
            <a:extLst xmlns:a="http://schemas.openxmlformats.org/drawingml/2006/main">
              <a:ext uri="{FF2B5EF4-FFF2-40B4-BE49-F238E27FC236}">
                <a16:creationId xmlns:a16="http://schemas.microsoft.com/office/drawing/2014/main" id="{D1EE7E90-5300-419F-BCEB-86272DAF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52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기준 작업본</a:t>
            </a:r>
          </a:p>
        </p:txBody>
      </p:sp>
      <p:sp>
        <p:nvSpPr>
          <p:cNvPr id="11" name="p16-code-0">
            <a:extLst xmlns:a="http://schemas.openxmlformats.org/drawingml/2006/main">
              <a:ext uri="{FF2B5EF4-FFF2-40B4-BE49-F238E27FC236}">
                <a16:creationId xmlns:a16="http://schemas.microsoft.com/office/drawing/2014/main" id="{EBE9B0DA-D0F2-4803-82BE-58D56E45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051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4233C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14233C"/>
                </a:solidFill>
                <a:latin typeface="Consolas"/>
                <a:ea typeface="Consolas"/>
                <a:cs typeface="Consolas"/>
              </a:rPr>
              <a:t>INITUP$</a:t>
            </a:r>
          </a:p>
        </p:txBody>
      </p:sp>
      <p:sp>
        <p:nvSpPr>
          <p:cNvPr id="12" name="p16-desc-0">
            <a:extLst xmlns:a="http://schemas.openxmlformats.org/drawingml/2006/main">
              <a:ext uri="{FF2B5EF4-FFF2-40B4-BE49-F238E27FC236}">
                <a16:creationId xmlns:a16="http://schemas.microsoft.com/office/drawing/2014/main" id="{73C6CA17-32F3-4CB2-8026-3EAC790C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242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규칙을 적용해 현재 위반 여부를 검사하는 원본 기준 스냅샷</a:t>
            </a:r>
          </a:p>
        </p:txBody>
      </p:sp>
      <p:sp>
        <p:nvSpPr>
          <p:cNvPr id="13" name="p16-node-1">
            <a:extLst xmlns:a="http://schemas.openxmlformats.org/drawingml/2006/main">
              <a:ext uri="{FF2B5EF4-FFF2-40B4-BE49-F238E27FC236}">
                <a16:creationId xmlns:a16="http://schemas.microsoft.com/office/drawing/2014/main" id="{3F271D17-E310-41F7-BF60-BE9D7B54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5467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B97316"/>
            </a:solidFill>
            <a:prstDash val="solid"/>
          </a:ln>
        </p:spPr>
      </p:sp>
      <p:sp>
        <p:nvSpPr>
          <p:cNvPr id="14" name="p16-label-1">
            <a:extLst xmlns:a="http://schemas.openxmlformats.org/drawingml/2006/main">
              <a:ext uri="{FF2B5EF4-FFF2-40B4-BE49-F238E27FC236}">
                <a16:creationId xmlns:a16="http://schemas.microsoft.com/office/drawing/2014/main" id="{0D794B05-04C8-42E6-81BA-194A035B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사용자 편집본</a:t>
            </a:r>
          </a:p>
        </p:txBody>
      </p:sp>
      <p:sp>
        <p:nvSpPr>
          <p:cNvPr id="15" name="p16-code-1">
            <a:extLst xmlns:a="http://schemas.openxmlformats.org/drawingml/2006/main">
              <a:ext uri="{FF2B5EF4-FFF2-40B4-BE49-F238E27FC236}">
                <a16:creationId xmlns:a16="http://schemas.microsoft.com/office/drawing/2014/main" id="{7EDF3965-2087-4BAF-89F3-99D7EDDF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81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4233C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14233C"/>
                </a:solidFill>
                <a:latin typeface="Consolas"/>
                <a:ea typeface="Consolas"/>
                <a:cs typeface="Consolas"/>
              </a:rPr>
              <a:t>INITDN$</a:t>
            </a:r>
          </a:p>
        </p:txBody>
      </p:sp>
      <p:sp>
        <p:nvSpPr>
          <p:cNvPr id="16" name="p16-desc-1">
            <a:extLst xmlns:a="http://schemas.openxmlformats.org/drawingml/2006/main">
              <a:ext uri="{FF2B5EF4-FFF2-40B4-BE49-F238E27FC236}">
                <a16:creationId xmlns:a16="http://schemas.microsoft.com/office/drawing/2014/main" id="{9A7306DD-2EAA-4D65-9929-2597A59C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0065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검토자가 오류 값을 수정하고 변경 사유와 세션을 기록하는 편집 테이블</a:t>
            </a:r>
          </a:p>
        </p:txBody>
      </p:sp>
      <p:sp>
        <p:nvSpPr>
          <p:cNvPr id="17" name="p16-node-2">
            <a:extLst xmlns:a="http://schemas.openxmlformats.org/drawingml/2006/main">
              <a:ext uri="{FF2B5EF4-FFF2-40B4-BE49-F238E27FC236}">
                <a16:creationId xmlns:a16="http://schemas.microsoft.com/office/drawing/2014/main" id="{73E7BF31-60D4-410F-98FB-501607CD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77050"/>
            <a:ext cx="5467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9525">
            <a:solidFill>
              <a:srgbClr val="B54D58"/>
            </a:solidFill>
            <a:prstDash val="solid"/>
          </a:ln>
        </p:spPr>
      </p:sp>
      <p:sp>
        <p:nvSpPr>
          <p:cNvPr id="18" name="p16-label-2">
            <a:extLst xmlns:a="http://schemas.openxmlformats.org/drawingml/2006/main">
              <a:ext uri="{FF2B5EF4-FFF2-40B4-BE49-F238E27FC236}">
                <a16:creationId xmlns:a16="http://schemas.microsoft.com/office/drawing/2014/main" id="{23E31481-1B77-4511-8861-BC60B9E6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105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운영 반영</a:t>
            </a:r>
          </a:p>
        </p:txBody>
      </p:sp>
      <p:sp>
        <p:nvSpPr>
          <p:cNvPr id="19" name="p16-code-2">
            <a:extLst xmlns:a="http://schemas.openxmlformats.org/drawingml/2006/main">
              <a:ext uri="{FF2B5EF4-FFF2-40B4-BE49-F238E27FC236}">
                <a16:creationId xmlns:a16="http://schemas.microsoft.com/office/drawing/2014/main" id="{73528EBC-66F0-401A-BD9D-3DF65A03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4580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4233C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14233C"/>
                </a:solidFill>
                <a:latin typeface="Consolas"/>
                <a:ea typeface="Consolas"/>
                <a:cs typeface="Consolas"/>
              </a:rPr>
              <a:t>VERSIONED DML</a:t>
            </a:r>
          </a:p>
        </p:txBody>
      </p:sp>
      <p:sp>
        <p:nvSpPr>
          <p:cNvPr id="20" name="p16-desc-2">
            <a:extLst xmlns:a="http://schemas.openxmlformats.org/drawingml/2006/main">
              <a:ext uri="{FF2B5EF4-FFF2-40B4-BE49-F238E27FC236}">
                <a16:creationId xmlns:a16="http://schemas.microsoft.com/office/drawing/2014/main" id="{56B7875A-21C5-4D80-BE74-B2F1D085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2771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효과 검증을 통과한 변경만 버전 DML로 생성·검증·승인 후 실행</a:t>
            </a:r>
          </a:p>
        </p:txBody>
      </p:sp>
      <p:cxnSp>
        <p:nvCxnSpPr>
          <p:cNvPr id="48" name=""/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781425" y="43815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97316"/>
            </a:solidFill>
            <a:prstDash val="solid"/>
            <a:tailEnd type="arrow" w="med" len="med"/>
          </a:ln>
        </p:spPr>
      </p:cxnSp>
      <p:sp>
        <p:nvSpPr>
          <p:cNvPr id="22" name="p16-gate-0">
            <a:extLst xmlns:a="http://schemas.openxmlformats.org/drawingml/2006/main">
              <a:ext uri="{FF2B5EF4-FFF2-40B4-BE49-F238E27FC236}">
                <a16:creationId xmlns:a16="http://schemas.microsoft.com/office/drawing/2014/main" id="{2A7279EA-B861-4D73-84FF-5B786C72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24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사람의 검토·수정</a:t>
            </a:r>
          </a:p>
        </p:txBody>
      </p:sp>
      <p:cxnSp>
        <p:nvCxnSpPr>
          <p:cNvPr id="50" name=""/>
          <p:cNvCxnSpPr>
            <a:stCxn xmlns:a="http://schemas.openxmlformats.org/drawingml/2006/main" id="13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3781425" y="64579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97316"/>
            </a:solidFill>
            <a:prstDash val="solid"/>
            <a:tailEnd type="arrow" w="med" len="med"/>
          </a:ln>
        </p:spPr>
      </p:cxnSp>
      <p:sp>
        <p:nvSpPr>
          <p:cNvPr id="24" name="p16-gate-1">
            <a:extLst xmlns:a="http://schemas.openxmlformats.org/drawingml/2006/main">
              <a:ext uri="{FF2B5EF4-FFF2-40B4-BE49-F238E27FC236}">
                <a16:creationId xmlns:a16="http://schemas.microsoft.com/office/drawing/2014/main" id="{74E495B2-345C-484D-B5E6-D7E60C12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4008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효과 검증·권한·실행 확인</a:t>
            </a:r>
          </a:p>
        </p:txBody>
      </p:sp>
      <p:sp>
        <p:nvSpPr>
          <p:cNvPr id="25" name="p16-audit-fill">
            <a:extLst xmlns:a="http://schemas.openxmlformats.org/drawingml/2006/main">
              <a:ext uri="{FF2B5EF4-FFF2-40B4-BE49-F238E27FC236}">
                <a16:creationId xmlns:a16="http://schemas.microsoft.com/office/drawing/2014/main" id="{57E713F8-2DF5-4065-AEE6-E8C7BFC7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63050"/>
            <a:ext cx="6381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9525">
            <a:solidFill>
              <a:srgbClr val="3E8D65"/>
            </a:solidFill>
            <a:prstDash val="solid"/>
          </a:ln>
        </p:spPr>
      </p:sp>
      <p:sp>
        <p:nvSpPr>
          <p:cNvPr id="26" name="p16-audit-accent">
            <a:extLst xmlns:a="http://schemas.openxmlformats.org/drawingml/2006/main">
              <a:ext uri="{FF2B5EF4-FFF2-40B4-BE49-F238E27FC236}">
                <a16:creationId xmlns:a16="http://schemas.microsoft.com/office/drawing/2014/main" id="{3689CF38-73B1-4F00-9EDB-C6E27445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630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27" name="p16-audit-text">
            <a:extLst xmlns:a="http://schemas.openxmlformats.org/drawingml/2006/main">
              <a:ext uri="{FF2B5EF4-FFF2-40B4-BE49-F238E27FC236}">
                <a16:creationId xmlns:a16="http://schemas.microsoft.com/office/drawing/2014/main" id="{8C9E2A96-1203-4F45-8838-44B96440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0"/>
            <a:ext cx="598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감사 이력 · 편집 세션, 수정 전후 값, 규칙 근거, DML 버전과 실행 결과를 다시 추적할 수 있어야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3526997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17-rail">
            <a:extLst xmlns:a="http://schemas.openxmlformats.org/drawingml/2006/main">
              <a:ext uri="{FF2B5EF4-FFF2-40B4-BE49-F238E27FC236}">
                <a16:creationId xmlns:a16="http://schemas.microsoft.com/office/drawing/2014/main" id="{0A64BE22-8F09-4D5A-80BC-4C24C527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2" name="page-17-chapter">
            <a:extLst xmlns:a="http://schemas.openxmlformats.org/drawingml/2006/main">
              <a:ext uri="{FF2B5EF4-FFF2-40B4-BE49-F238E27FC236}">
                <a16:creationId xmlns:a16="http://schemas.microsoft.com/office/drawing/2014/main" id="{8F265B3E-AF36-4559-9D26-092A3BC0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05 · MENU MAP</a:t>
            </a:r>
          </a:p>
        </p:txBody>
      </p:sp>
      <p:sp>
        <p:nvSpPr>
          <p:cNvPr id="3" name="page-17-title">
            <a:extLst xmlns:a="http://schemas.openxmlformats.org/drawingml/2006/main">
              <a:ext uri="{FF2B5EF4-FFF2-40B4-BE49-F238E27FC236}">
                <a16:creationId xmlns:a16="http://schemas.microsoft.com/office/drawing/2014/main" id="{D66B2035-3D85-497F-80F5-D4C1957F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24개 업무 메뉴는 네 책임 영역으로 구성됩니다</a:t>
            </a:r>
          </a:p>
        </p:txBody>
      </p:sp>
      <p:sp>
        <p:nvSpPr>
          <p:cNvPr id="4" name="page-17-subtitle">
            <a:extLst xmlns:a="http://schemas.openxmlformats.org/drawingml/2006/main">
              <a:ext uri="{FF2B5EF4-FFF2-40B4-BE49-F238E27FC236}">
                <a16:creationId xmlns:a16="http://schemas.microsoft.com/office/drawing/2014/main" id="{13F4D051-5976-4E9A-918A-80E57CDE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메인 홈을 제외한 활성 업무 화면을 업무 단계에 따라 묶었습니다. 관리자 메뉴 노출과 API 실행 권한은 서버 역할 검사를 기준으로 합니다.</a:t>
            </a:r>
          </a:p>
        </p:txBody>
      </p:sp>
      <p:sp>
        <p:nvSpPr>
          <p:cNvPr id="5" name="page-17-top-rule">
            <a:extLst xmlns:a="http://schemas.openxmlformats.org/drawingml/2006/main">
              <a:ext uri="{FF2B5EF4-FFF2-40B4-BE49-F238E27FC236}">
                <a16:creationId xmlns:a16="http://schemas.microsoft.com/office/drawing/2014/main" id="{418B7782-6F55-4706-8512-12D878C2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7-footer-rule">
            <a:extLst xmlns:a="http://schemas.openxmlformats.org/drawingml/2006/main">
              <a:ext uri="{FF2B5EF4-FFF2-40B4-BE49-F238E27FC236}">
                <a16:creationId xmlns:a16="http://schemas.microsoft.com/office/drawing/2014/main" id="{432456B2-6CD6-4612-BDD2-4F53FD00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7-footer-name">
            <a:extLst xmlns:a="http://schemas.openxmlformats.org/drawingml/2006/main">
              <a:ext uri="{FF2B5EF4-FFF2-40B4-BE49-F238E27FC236}">
                <a16:creationId xmlns:a16="http://schemas.microsoft.com/office/drawing/2014/main" id="{FE774FA8-6F45-46F7-9CAF-E26AAC8D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7-footer-number">
            <a:extLst xmlns:a="http://schemas.openxmlformats.org/drawingml/2006/main">
              <a:ext uri="{FF2B5EF4-FFF2-40B4-BE49-F238E27FC236}">
                <a16:creationId xmlns:a16="http://schemas.microsoft.com/office/drawing/2014/main" id="{F7675CBA-399D-4A5D-851A-42D9982E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9" name="p17-group-0">
            <a:extLst xmlns:a="http://schemas.openxmlformats.org/drawingml/2006/main">
              <a:ext uri="{FF2B5EF4-FFF2-40B4-BE49-F238E27FC236}">
                <a16:creationId xmlns:a16="http://schemas.microsoft.com/office/drawing/2014/main" id="{EABFAD41-2FAA-49E9-B755-C8E05505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638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0" name="p17-num-0-circle">
            <a:extLst xmlns:a="http://schemas.openxmlformats.org/drawingml/2006/main">
              <a:ext uri="{FF2B5EF4-FFF2-40B4-BE49-F238E27FC236}">
                <a16:creationId xmlns:a16="http://schemas.microsoft.com/office/drawing/2014/main" id="{A34B66F1-7E88-4302-8616-4DE2D725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p17-num-0-number">
            <a:extLst xmlns:a="http://schemas.openxmlformats.org/drawingml/2006/main">
              <a:ext uri="{FF2B5EF4-FFF2-40B4-BE49-F238E27FC236}">
                <a16:creationId xmlns:a16="http://schemas.microsoft.com/office/drawing/2014/main" id="{BD8D0209-ECD8-486B-83EC-D21C48F7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p17-title-0">
            <a:extLst xmlns:a="http://schemas.openxmlformats.org/drawingml/2006/main">
              <a:ext uri="{FF2B5EF4-FFF2-40B4-BE49-F238E27FC236}">
                <a16:creationId xmlns:a16="http://schemas.microsoft.com/office/drawing/2014/main" id="{92A6ACA0-7165-4D0D-8A87-573DC376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670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업무 설계·대상 준비</a:t>
            </a:r>
          </a:p>
        </p:txBody>
      </p:sp>
      <p:sp>
        <p:nvSpPr>
          <p:cNvPr id="13" name="p17-desc-0">
            <a:extLst xmlns:a="http://schemas.openxmlformats.org/drawingml/2006/main">
              <a:ext uri="{FF2B5EF4-FFF2-40B4-BE49-F238E27FC236}">
                <a16:creationId xmlns:a16="http://schemas.microsoft.com/office/drawing/2014/main" id="{49482A06-FD16-4DA8-9D3E-CC371DF7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4327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프로젝트·시나리오·파일·Target 테이블</a:t>
            </a:r>
          </a:p>
        </p:txBody>
      </p:sp>
      <p:sp>
        <p:nvSpPr>
          <p:cNvPr id="14" name="p17-count-0">
            <a:extLst xmlns:a="http://schemas.openxmlformats.org/drawingml/2006/main">
              <a:ext uri="{FF2B5EF4-FFF2-40B4-BE49-F238E27FC236}">
                <a16:creationId xmlns:a16="http://schemas.microsoft.com/office/drawing/2014/main" id="{CE7822FB-4D5D-41A8-89FB-E50DD7CE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2850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5" name="p17-count-label-0">
            <a:extLst xmlns:a="http://schemas.openxmlformats.org/drawingml/2006/main">
              <a:ext uri="{FF2B5EF4-FFF2-40B4-BE49-F238E27FC236}">
                <a16:creationId xmlns:a16="http://schemas.microsoft.com/office/drawing/2014/main" id="{6E4A672E-B9C7-497D-985A-8F11D31E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242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개 메뉴</a:t>
            </a:r>
          </a:p>
        </p:txBody>
      </p:sp>
      <p:sp>
        <p:nvSpPr>
          <p:cNvPr id="16" name="p17-group-1">
            <a:extLst xmlns:a="http://schemas.openxmlformats.org/drawingml/2006/main">
              <a:ext uri="{FF2B5EF4-FFF2-40B4-BE49-F238E27FC236}">
                <a16:creationId xmlns:a16="http://schemas.microsoft.com/office/drawing/2014/main" id="{135C126A-755E-479B-8A9A-6C2CB192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638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0">
            <a:solidFill>
              <a:srgbClr val="E9F5F4"/>
            </a:solidFill>
            <a:prstDash val="solid"/>
          </a:ln>
        </p:spPr>
      </p:sp>
      <p:sp>
        <p:nvSpPr>
          <p:cNvPr id="17" name="p17-num-1-circle">
            <a:extLst xmlns:a="http://schemas.openxmlformats.org/drawingml/2006/main">
              <a:ext uri="{FF2B5EF4-FFF2-40B4-BE49-F238E27FC236}">
                <a16:creationId xmlns:a16="http://schemas.microsoft.com/office/drawing/2014/main" id="{C5881D3F-C3F5-400C-BA84-9D07EA65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18" name="p17-num-1-number">
            <a:extLst xmlns:a="http://schemas.openxmlformats.org/drawingml/2006/main">
              <a:ext uri="{FF2B5EF4-FFF2-40B4-BE49-F238E27FC236}">
                <a16:creationId xmlns:a16="http://schemas.microsoft.com/office/drawing/2014/main" id="{1BE48E6B-9CD5-453A-A752-7A552188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672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9" name="p17-title-1">
            <a:extLst xmlns:a="http://schemas.openxmlformats.org/drawingml/2006/main">
              <a:ext uri="{FF2B5EF4-FFF2-40B4-BE49-F238E27FC236}">
                <a16:creationId xmlns:a16="http://schemas.microsoft.com/office/drawing/2014/main" id="{9250DFA0-D682-411D-A0C0-50D2FC93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모델 설정·통합 실행</a:t>
            </a:r>
          </a:p>
        </p:txBody>
      </p:sp>
      <p:sp>
        <p:nvSpPr>
          <p:cNvPr id="20" name="p17-desc-1">
            <a:extLst xmlns:a="http://schemas.openxmlformats.org/drawingml/2006/main">
              <a:ext uri="{FF2B5EF4-FFF2-40B4-BE49-F238E27FC236}">
                <a16:creationId xmlns:a16="http://schemas.microsoft.com/office/drawing/2014/main" id="{CD1D5168-58C3-464F-BF50-FA9F90EA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863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4단계 Job, Flow 설계와 Run 분석</a:t>
            </a:r>
          </a:p>
        </p:txBody>
      </p:sp>
      <p:sp>
        <p:nvSpPr>
          <p:cNvPr id="21" name="p17-count-1">
            <a:extLst xmlns:a="http://schemas.openxmlformats.org/drawingml/2006/main">
              <a:ext uri="{FF2B5EF4-FFF2-40B4-BE49-F238E27FC236}">
                <a16:creationId xmlns:a16="http://schemas.microsoft.com/office/drawing/2014/main" id="{28E28340-182E-48AD-86EA-BCFB31C4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958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2850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2" name="p17-count-label-1">
            <a:extLst xmlns:a="http://schemas.openxmlformats.org/drawingml/2006/main">
              <a:ext uri="{FF2B5EF4-FFF2-40B4-BE49-F238E27FC236}">
                <a16:creationId xmlns:a16="http://schemas.microsoft.com/office/drawing/2014/main" id="{04676FD2-2908-4D13-9E66-ED8F37DD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6732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개 메뉴</a:t>
            </a:r>
          </a:p>
        </p:txBody>
      </p:sp>
      <p:sp>
        <p:nvSpPr>
          <p:cNvPr id="23" name="p17-group-2">
            <a:extLst xmlns:a="http://schemas.openxmlformats.org/drawingml/2006/main">
              <a:ext uri="{FF2B5EF4-FFF2-40B4-BE49-F238E27FC236}">
                <a16:creationId xmlns:a16="http://schemas.microsoft.com/office/drawing/2014/main" id="{27F62959-0683-41A1-9E73-0133E6A3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638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0">
            <a:solidFill>
              <a:srgbClr val="FAF2E6"/>
            </a:solidFill>
            <a:prstDash val="solid"/>
          </a:ln>
        </p:spPr>
      </p:sp>
      <p:sp>
        <p:nvSpPr>
          <p:cNvPr id="24" name="p17-num-2-circle">
            <a:extLst xmlns:a="http://schemas.openxmlformats.org/drawingml/2006/main">
              <a:ext uri="{FF2B5EF4-FFF2-40B4-BE49-F238E27FC236}">
                <a16:creationId xmlns:a16="http://schemas.microsoft.com/office/drawing/2014/main" id="{9B3988C5-DEBC-4C49-BA7B-0C89DC77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91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5" name="p17-num-2-number">
            <a:extLst xmlns:a="http://schemas.openxmlformats.org/drawingml/2006/main">
              <a:ext uri="{FF2B5EF4-FFF2-40B4-BE49-F238E27FC236}">
                <a16:creationId xmlns:a16="http://schemas.microsoft.com/office/drawing/2014/main" id="{8AAF143B-D592-489E-A063-7A16DEC5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10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6" name="p17-title-2">
            <a:extLst xmlns:a="http://schemas.openxmlformats.org/drawingml/2006/main">
              <a:ext uri="{FF2B5EF4-FFF2-40B4-BE49-F238E27FC236}">
                <a16:creationId xmlns:a16="http://schemas.microsoft.com/office/drawing/2014/main" id="{062A0A19-57EE-4723-9C49-673DC246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531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규칙 결정·수정·보고</a:t>
            </a:r>
          </a:p>
        </p:txBody>
      </p:sp>
      <p:sp>
        <p:nvSpPr>
          <p:cNvPr id="27" name="p17-desc-2">
            <a:extLst xmlns:a="http://schemas.openxmlformats.org/drawingml/2006/main">
              <a:ext uri="{FF2B5EF4-FFF2-40B4-BE49-F238E27FC236}">
                <a16:creationId xmlns:a16="http://schemas.microsoft.com/office/drawing/2014/main" id="{A08E5B24-1D28-41D4-86A8-D25B4A41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2942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규칙 마스터, 편집, 운영 반영, 보고서</a:t>
            </a:r>
          </a:p>
        </p:txBody>
      </p:sp>
      <p:sp>
        <p:nvSpPr>
          <p:cNvPr id="28" name="p17-count-2">
            <a:extLst xmlns:a="http://schemas.openxmlformats.org/drawingml/2006/main">
              <a:ext uri="{FF2B5EF4-FFF2-40B4-BE49-F238E27FC236}">
                <a16:creationId xmlns:a16="http://schemas.microsoft.com/office/drawing/2014/main" id="{3D8BAF92-CB06-436E-A9F7-4FD25774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389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2850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9" name="p17-count-label-2">
            <a:extLst xmlns:a="http://schemas.openxmlformats.org/drawingml/2006/main">
              <a:ext uri="{FF2B5EF4-FFF2-40B4-BE49-F238E27FC236}">
                <a16:creationId xmlns:a16="http://schemas.microsoft.com/office/drawing/2014/main" id="{FFE3F4B7-F953-46BF-AF6B-D56327E9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0104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개 메뉴</a:t>
            </a:r>
          </a:p>
        </p:txBody>
      </p:sp>
      <p:sp>
        <p:nvSpPr>
          <p:cNvPr id="30" name="p17-group-3">
            <a:extLst xmlns:a="http://schemas.openxmlformats.org/drawingml/2006/main">
              <a:ext uri="{FF2B5EF4-FFF2-40B4-BE49-F238E27FC236}">
                <a16:creationId xmlns:a16="http://schemas.microsoft.com/office/drawing/2014/main" id="{433A9F52-6548-445F-ABF6-93CA62E0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58125"/>
            <a:ext cx="638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0">
            <a:solidFill>
              <a:srgbClr val="F1EFF8"/>
            </a:solidFill>
            <a:prstDash val="solid"/>
          </a:ln>
        </p:spPr>
      </p:sp>
      <p:sp>
        <p:nvSpPr>
          <p:cNvPr id="31" name="p17-num-3-circle">
            <a:extLst xmlns:a="http://schemas.openxmlformats.org/drawingml/2006/main">
              <a:ext uri="{FF2B5EF4-FFF2-40B4-BE49-F238E27FC236}">
                <a16:creationId xmlns:a16="http://schemas.microsoft.com/office/drawing/2014/main" id="{32149962-0376-43B5-9A66-9EB6AC8A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34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32" name="p17-num-3-number">
            <a:extLst xmlns:a="http://schemas.openxmlformats.org/drawingml/2006/main">
              <a:ext uri="{FF2B5EF4-FFF2-40B4-BE49-F238E27FC236}">
                <a16:creationId xmlns:a16="http://schemas.microsoft.com/office/drawing/2014/main" id="{A9499A88-32FA-4861-8A68-E53BF9E6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534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3" name="p17-title-3">
            <a:extLst xmlns:a="http://schemas.openxmlformats.org/drawingml/2006/main">
              <a:ext uri="{FF2B5EF4-FFF2-40B4-BE49-F238E27FC236}">
                <a16:creationId xmlns:a16="http://schemas.microsoft.com/office/drawing/2014/main" id="{C84EB80E-77CE-4DB0-9D6E-F8E68075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096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리소스·개인·관리자 운영</a:t>
            </a:r>
          </a:p>
        </p:txBody>
      </p:sp>
      <p:sp>
        <p:nvSpPr>
          <p:cNvPr id="34" name="p17-desc-3">
            <a:extLst xmlns:a="http://schemas.openxmlformats.org/drawingml/2006/main">
              <a:ext uri="{FF2B5EF4-FFF2-40B4-BE49-F238E27FC236}">
                <a16:creationId xmlns:a16="http://schemas.microsoft.com/office/drawing/2014/main" id="{EDD38272-7FE1-4AA4-A1A7-8D035CAA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5725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모델/API, 개인 설정, DB·시스템·공지</a:t>
            </a:r>
          </a:p>
        </p:txBody>
      </p:sp>
      <p:sp>
        <p:nvSpPr>
          <p:cNvPr id="35" name="p17-count-3">
            <a:extLst xmlns:a="http://schemas.openxmlformats.org/drawingml/2006/main">
              <a:ext uri="{FF2B5EF4-FFF2-40B4-BE49-F238E27FC236}">
                <a16:creationId xmlns:a16="http://schemas.microsoft.com/office/drawing/2014/main" id="{3E45E80F-38EB-4A66-A0EB-C6862490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1819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2850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6" name="p17-count-label-3">
            <a:extLst xmlns:a="http://schemas.openxmlformats.org/drawingml/2006/main">
              <a:ext uri="{FF2B5EF4-FFF2-40B4-BE49-F238E27FC236}">
                <a16:creationId xmlns:a16="http://schemas.microsoft.com/office/drawing/2014/main" id="{ABC0A0B0-BBBF-4BDA-AD3F-8762E6ED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75347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개 메뉴</a:t>
            </a:r>
          </a:p>
        </p:txBody>
      </p:sp>
      <p:sp>
        <p:nvSpPr>
          <p:cNvPr id="37" name="p17-auth-fill">
            <a:extLst xmlns:a="http://schemas.openxmlformats.org/drawingml/2006/main">
              <a:ext uri="{FF2B5EF4-FFF2-40B4-BE49-F238E27FC236}">
                <a16:creationId xmlns:a16="http://schemas.microsoft.com/office/drawing/2014/main" id="{7AE860EA-0043-4197-AED6-14E4B7C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658350"/>
            <a:ext cx="638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9525">
            <a:solidFill>
              <a:srgbClr val="B54D58"/>
            </a:solidFill>
            <a:prstDash val="solid"/>
          </a:ln>
        </p:spPr>
      </p:sp>
      <p:sp>
        <p:nvSpPr>
          <p:cNvPr id="38" name="p17-auth-accent">
            <a:extLst xmlns:a="http://schemas.openxmlformats.org/drawingml/2006/main">
              <a:ext uri="{FF2B5EF4-FFF2-40B4-BE49-F238E27FC236}">
                <a16:creationId xmlns:a16="http://schemas.microsoft.com/office/drawing/2014/main" id="{8275F1DB-CB47-42BC-97D6-7929893B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6583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39" name="p17-auth-text">
            <a:extLst xmlns:a="http://schemas.openxmlformats.org/drawingml/2006/main">
              <a:ext uri="{FF2B5EF4-FFF2-40B4-BE49-F238E27FC236}">
                <a16:creationId xmlns:a16="http://schemas.microsoft.com/office/drawing/2014/main" id="{C1B2AC88-DF22-452E-83D2-01701EA5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829800"/>
            <a:ext cx="598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보안 경계 · 화면에서 메뉴를 숨기는 것은 편의 기능입니다. 실제 관리자 기능은 서버의 관리자 역할 검사를 통과해야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1198794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ge-18-rail">
            <a:extLst xmlns:a="http://schemas.openxmlformats.org/drawingml/2006/main">
              <a:ext uri="{FF2B5EF4-FFF2-40B4-BE49-F238E27FC236}">
                <a16:creationId xmlns:a16="http://schemas.microsoft.com/office/drawing/2014/main" id="{DF7EC7BA-4E65-4A79-9DFE-C6F1838B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2" name="page-18-chapter">
            <a:extLst xmlns:a="http://schemas.openxmlformats.org/drawingml/2006/main">
              <a:ext uri="{FF2B5EF4-FFF2-40B4-BE49-F238E27FC236}">
                <a16:creationId xmlns:a16="http://schemas.microsoft.com/office/drawing/2014/main" id="{FAA439C9-F053-4BBE-A30D-ED969209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05 · MENU MAP · 1/3</a:t>
            </a:r>
          </a:p>
        </p:txBody>
      </p:sp>
      <p:sp>
        <p:nvSpPr>
          <p:cNvPr id="3" name="page-18-title">
            <a:extLst xmlns:a="http://schemas.openxmlformats.org/drawingml/2006/main">
              <a:ext uri="{FF2B5EF4-FFF2-40B4-BE49-F238E27FC236}">
                <a16:creationId xmlns:a16="http://schemas.microsoft.com/office/drawing/2014/main" id="{4B4D0349-A8E0-4E9A-9374-C6E61C4D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업무 범위와 4단계 모델 작업을 준비합니다</a:t>
            </a:r>
          </a:p>
        </p:txBody>
      </p:sp>
      <p:sp>
        <p:nvSpPr>
          <p:cNvPr id="4" name="page-18-subtitle">
            <a:extLst xmlns:a="http://schemas.openxmlformats.org/drawingml/2006/main">
              <a:ext uri="{FF2B5EF4-FFF2-40B4-BE49-F238E27FC236}">
                <a16:creationId xmlns:a16="http://schemas.microsoft.com/office/drawing/2014/main" id="{6A9B274E-3027-494F-82AC-905C78EF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프로젝트·시나리오·대상 데이터 준비에서 규칙 발굴 4단계 Job 설정까지의 메뉴입니다.</a:t>
            </a:r>
          </a:p>
        </p:txBody>
      </p:sp>
      <p:sp>
        <p:nvSpPr>
          <p:cNvPr id="5" name="page-18-top-rule">
            <a:extLst xmlns:a="http://schemas.openxmlformats.org/drawingml/2006/main">
              <a:ext uri="{FF2B5EF4-FFF2-40B4-BE49-F238E27FC236}">
                <a16:creationId xmlns:a16="http://schemas.microsoft.com/office/drawing/2014/main" id="{9AD766A3-9744-4D92-996F-E16B7E00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8-footer-rule">
            <a:extLst xmlns:a="http://schemas.openxmlformats.org/drawingml/2006/main">
              <a:ext uri="{FF2B5EF4-FFF2-40B4-BE49-F238E27FC236}">
                <a16:creationId xmlns:a16="http://schemas.microsoft.com/office/drawing/2014/main" id="{A4D45F77-6F1B-4738-AAF4-79CACA37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8-footer-name">
            <a:extLst xmlns:a="http://schemas.openxmlformats.org/drawingml/2006/main">
              <a:ext uri="{FF2B5EF4-FFF2-40B4-BE49-F238E27FC236}">
                <a16:creationId xmlns:a16="http://schemas.microsoft.com/office/drawing/2014/main" id="{A2624A42-6C8A-4C89-A31D-7B105A17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8-footer-number">
            <a:extLst xmlns:a="http://schemas.openxmlformats.org/drawingml/2006/main">
              <a:ext uri="{FF2B5EF4-FFF2-40B4-BE49-F238E27FC236}">
                <a16:creationId xmlns:a16="http://schemas.microsoft.com/office/drawing/2014/main" id="{F3FEEEA1-5A67-45FD-8BB9-0CA7A839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9" name="p18-menu-0-row">
            <a:extLst xmlns:a="http://schemas.openxmlformats.org/drawingml/2006/main">
              <a:ext uri="{FF2B5EF4-FFF2-40B4-BE49-F238E27FC236}">
                <a16:creationId xmlns:a16="http://schemas.microsoft.com/office/drawing/2014/main" id="{AF6EB778-4D02-4737-930E-48758856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p18-menu-0-code">
            <a:extLst xmlns:a="http://schemas.openxmlformats.org/drawingml/2006/main">
              <a:ext uri="{FF2B5EF4-FFF2-40B4-BE49-F238E27FC236}">
                <a16:creationId xmlns:a16="http://schemas.microsoft.com/office/drawing/2014/main" id="{A2AE571E-69D0-4A16-94AA-255B87D3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M01001</a:t>
            </a:r>
          </a:p>
        </p:txBody>
      </p:sp>
      <p:sp>
        <p:nvSpPr>
          <p:cNvPr id="11" name="p18-menu-0-title">
            <a:extLst xmlns:a="http://schemas.openxmlformats.org/drawingml/2006/main">
              <a:ext uri="{FF2B5EF4-FFF2-40B4-BE49-F238E27FC236}">
                <a16:creationId xmlns:a16="http://schemas.microsoft.com/office/drawing/2014/main" id="{22183650-26A7-415F-B1A3-2DE1913D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57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프로젝트 설정</a:t>
            </a:r>
          </a:p>
        </p:txBody>
      </p:sp>
      <p:sp>
        <p:nvSpPr>
          <p:cNvPr id="12" name="p18-menu-0-desc">
            <a:extLst xmlns:a="http://schemas.openxmlformats.org/drawingml/2006/main">
              <a:ext uri="{FF2B5EF4-FFF2-40B4-BE49-F238E27FC236}">
                <a16:creationId xmlns:a16="http://schemas.microsoft.com/office/drawing/2014/main" id="{25966191-75F5-4984-86E6-3A55A40A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384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데이터 에디팅 업무의 최상위 범위를 등록·조회·수정합니다.</a:t>
            </a:r>
          </a:p>
        </p:txBody>
      </p:sp>
      <p:sp>
        <p:nvSpPr>
          <p:cNvPr id="13" name="p18-menu-1-row">
            <a:extLst xmlns:a="http://schemas.openxmlformats.org/drawingml/2006/main">
              <a:ext uri="{FF2B5EF4-FFF2-40B4-BE49-F238E27FC236}">
                <a16:creationId xmlns:a16="http://schemas.microsoft.com/office/drawing/2014/main" id="{94895B64-F9EB-4C21-B348-AEE33C75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p18-menu-1-code">
            <a:extLst xmlns:a="http://schemas.openxmlformats.org/drawingml/2006/main">
              <a:ext uri="{FF2B5EF4-FFF2-40B4-BE49-F238E27FC236}">
                <a16:creationId xmlns:a16="http://schemas.microsoft.com/office/drawing/2014/main" id="{8A97D44A-6B16-4330-A4C4-40ECD64E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M01002</a:t>
            </a:r>
          </a:p>
        </p:txBody>
      </p:sp>
      <p:sp>
        <p:nvSpPr>
          <p:cNvPr id="15" name="p18-menu-1-title">
            <a:extLst xmlns:a="http://schemas.openxmlformats.org/drawingml/2006/main">
              <a:ext uri="{FF2B5EF4-FFF2-40B4-BE49-F238E27FC236}">
                <a16:creationId xmlns:a16="http://schemas.microsoft.com/office/drawing/2014/main" id="{B1759D7D-B058-4A47-B866-932E2D46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시나리오 정의</a:t>
            </a:r>
          </a:p>
        </p:txBody>
      </p:sp>
      <p:sp>
        <p:nvSpPr>
          <p:cNvPr id="16" name="p18-menu-1-desc">
            <a:extLst xmlns:a="http://schemas.openxmlformats.org/drawingml/2006/main">
              <a:ext uri="{FF2B5EF4-FFF2-40B4-BE49-F238E27FC236}">
                <a16:creationId xmlns:a16="http://schemas.microsoft.com/office/drawing/2014/main" id="{1BFC4D7F-7149-4521-AAB3-BD76DDDD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766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프로젝트 안의 실행 목적·설명·기준을 관리합니다.</a:t>
            </a:r>
          </a:p>
        </p:txBody>
      </p:sp>
      <p:sp>
        <p:nvSpPr>
          <p:cNvPr id="17" name="p18-menu-2-row">
            <a:extLst xmlns:a="http://schemas.openxmlformats.org/drawingml/2006/main">
              <a:ext uri="{FF2B5EF4-FFF2-40B4-BE49-F238E27FC236}">
                <a16:creationId xmlns:a16="http://schemas.microsoft.com/office/drawing/2014/main" id="{010EF7DA-582D-427F-866F-6352B7CD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p18-menu-2-code">
            <a:extLst xmlns:a="http://schemas.openxmlformats.org/drawingml/2006/main">
              <a:ext uri="{FF2B5EF4-FFF2-40B4-BE49-F238E27FC236}">
                <a16:creationId xmlns:a16="http://schemas.microsoft.com/office/drawing/2014/main" id="{61FFF4E3-B8DC-4BE8-A67E-6D2C0B10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M02001</a:t>
            </a:r>
          </a:p>
        </p:txBody>
      </p:sp>
      <p:sp>
        <p:nvSpPr>
          <p:cNvPr id="19" name="p18-menu-2-title">
            <a:extLst xmlns:a="http://schemas.openxmlformats.org/drawingml/2006/main">
              <a:ext uri="{FF2B5EF4-FFF2-40B4-BE49-F238E27FC236}">
                <a16:creationId xmlns:a16="http://schemas.microsoft.com/office/drawing/2014/main" id="{22E9DC0D-7942-43CE-8EFB-70D8FC7C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33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파일 업로드 관리</a:t>
            </a:r>
          </a:p>
        </p:txBody>
      </p:sp>
      <p:sp>
        <p:nvSpPr>
          <p:cNvPr id="20" name="p18-menu-2-desc">
            <a:extLst xmlns:a="http://schemas.openxmlformats.org/drawingml/2006/main">
              <a:ext uri="{FF2B5EF4-FFF2-40B4-BE49-F238E27FC236}">
                <a16:creationId xmlns:a16="http://schemas.microsoft.com/office/drawing/2014/main" id="{245EF4E4-84DF-436E-9628-D34DE4E1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148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CSV·Excel을 Target DB 작업 테이블로 적재하고 구조를 확인합니다.</a:t>
            </a:r>
          </a:p>
        </p:txBody>
      </p:sp>
      <p:sp>
        <p:nvSpPr>
          <p:cNvPr id="21" name="p18-menu-3-row">
            <a:extLst xmlns:a="http://schemas.openxmlformats.org/drawingml/2006/main">
              <a:ext uri="{FF2B5EF4-FFF2-40B4-BE49-F238E27FC236}">
                <a16:creationId xmlns:a16="http://schemas.microsoft.com/office/drawing/2014/main" id="{A36CBC5E-C42D-4B23-AA8F-ACD7B926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p18-menu-3-code">
            <a:extLst xmlns:a="http://schemas.openxmlformats.org/drawingml/2006/main">
              <a:ext uri="{FF2B5EF4-FFF2-40B4-BE49-F238E27FC236}">
                <a16:creationId xmlns:a16="http://schemas.microsoft.com/office/drawing/2014/main" id="{BAAC2569-BE7E-47F6-A255-B9E65442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M02002</a:t>
            </a:r>
          </a:p>
        </p:txBody>
      </p:sp>
      <p:sp>
        <p:nvSpPr>
          <p:cNvPr id="23" name="p18-menu-3-title">
            <a:extLst xmlns:a="http://schemas.openxmlformats.org/drawingml/2006/main">
              <a:ext uri="{FF2B5EF4-FFF2-40B4-BE49-F238E27FC236}">
                <a16:creationId xmlns:a16="http://schemas.microsoft.com/office/drawing/2014/main" id="{6D360C84-EB94-466D-999F-61335231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720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대상 테이블 선정</a:t>
            </a:r>
          </a:p>
        </p:txBody>
      </p:sp>
      <p:sp>
        <p:nvSpPr>
          <p:cNvPr id="24" name="p18-menu-3-desc">
            <a:extLst xmlns:a="http://schemas.openxmlformats.org/drawingml/2006/main">
              <a:ext uri="{FF2B5EF4-FFF2-40B4-BE49-F238E27FC236}">
                <a16:creationId xmlns:a16="http://schemas.microsoft.com/office/drawing/2014/main" id="{CB3D30AE-0D52-4A55-AA93-5ED6A050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530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Target DB 테이블을 관리 대상으로 등록하고 기본 Job·Flow를 준비합니다.</a:t>
            </a:r>
          </a:p>
        </p:txBody>
      </p:sp>
      <p:sp>
        <p:nvSpPr>
          <p:cNvPr id="25" name="p18-menu-4-row">
            <a:extLst xmlns:a="http://schemas.openxmlformats.org/drawingml/2006/main">
              <a:ext uri="{FF2B5EF4-FFF2-40B4-BE49-F238E27FC236}">
                <a16:creationId xmlns:a16="http://schemas.microsoft.com/office/drawing/2014/main" id="{87CA7F2E-F401-42C4-BCED-35A08385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p18-menu-4-code">
            <a:extLst xmlns:a="http://schemas.openxmlformats.org/drawingml/2006/main">
              <a:ext uri="{FF2B5EF4-FFF2-40B4-BE49-F238E27FC236}">
                <a16:creationId xmlns:a16="http://schemas.microsoft.com/office/drawing/2014/main" id="{591F39E6-CC99-4D0A-9C84-B8E0B324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88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M03001</a:t>
            </a:r>
          </a:p>
        </p:txBody>
      </p:sp>
      <p:sp>
        <p:nvSpPr>
          <p:cNvPr id="27" name="p18-menu-4-title">
            <a:extLst xmlns:a="http://schemas.openxmlformats.org/drawingml/2006/main">
              <a:ext uri="{FF2B5EF4-FFF2-40B4-BE49-F238E27FC236}">
                <a16:creationId xmlns:a16="http://schemas.microsoft.com/office/drawing/2014/main" id="{BE30341F-E7D6-4FA8-BEF4-C290FFE6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10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컬럼 유형 분석</a:t>
            </a:r>
          </a:p>
        </p:txBody>
      </p:sp>
      <p:sp>
        <p:nvSpPr>
          <p:cNvPr id="28" name="p18-menu-4-desc">
            <a:extLst xmlns:a="http://schemas.openxmlformats.org/drawingml/2006/main">
              <a:ext uri="{FF2B5EF4-FFF2-40B4-BE49-F238E27FC236}">
                <a16:creationId xmlns:a16="http://schemas.microsoft.com/office/drawing/2014/main" id="{E8DE3283-ACDF-4480-8757-580069DC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9912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RULE·MODEL·FINAL과 사용자 확정 최종 유형을 구분합니다.</a:t>
            </a:r>
          </a:p>
        </p:txBody>
      </p:sp>
      <p:sp>
        <p:nvSpPr>
          <p:cNvPr id="29" name="p18-menu-5-row">
            <a:extLst xmlns:a="http://schemas.openxmlformats.org/drawingml/2006/main">
              <a:ext uri="{FF2B5EF4-FFF2-40B4-BE49-F238E27FC236}">
                <a16:creationId xmlns:a16="http://schemas.microsoft.com/office/drawing/2014/main" id="{58B6C06D-F0A7-4A90-9572-825CCD9E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056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0" name="p18-menu-5-code">
            <a:extLst xmlns:a="http://schemas.openxmlformats.org/drawingml/2006/main">
              <a:ext uri="{FF2B5EF4-FFF2-40B4-BE49-F238E27FC236}">
                <a16:creationId xmlns:a16="http://schemas.microsoft.com/office/drawing/2014/main" id="{2D9C0BDB-0866-474C-BE8F-C077B2B6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M03002</a:t>
            </a:r>
          </a:p>
        </p:txBody>
      </p:sp>
      <p:sp>
        <p:nvSpPr>
          <p:cNvPr id="31" name="p18-menu-5-title">
            <a:extLst xmlns:a="http://schemas.openxmlformats.org/drawingml/2006/main">
              <a:ext uri="{FF2B5EF4-FFF2-40B4-BE49-F238E27FC236}">
                <a16:creationId xmlns:a16="http://schemas.microsoft.com/office/drawing/2014/main" id="{1AAB12B0-106A-44C2-B7E5-14BC677F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848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컬럼 상관 분석</a:t>
            </a:r>
          </a:p>
        </p:txBody>
      </p:sp>
      <p:sp>
        <p:nvSpPr>
          <p:cNvPr id="32" name="p18-menu-5-desc">
            <a:extLst xmlns:a="http://schemas.openxmlformats.org/drawingml/2006/main">
              <a:ext uri="{FF2B5EF4-FFF2-40B4-BE49-F238E27FC236}">
                <a16:creationId xmlns:a16="http://schemas.microsoft.com/office/drawing/2014/main" id="{720AFF26-0819-48E6-A549-BFA8C5BC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8294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유형별 지표, 관계 매트릭스, 네트워크와 군집을 생성합니다.</a:t>
            </a:r>
          </a:p>
        </p:txBody>
      </p:sp>
      <p:sp>
        <p:nvSpPr>
          <p:cNvPr id="33" name="p18-menu-6-row">
            <a:extLst xmlns:a="http://schemas.openxmlformats.org/drawingml/2006/main">
              <a:ext uri="{FF2B5EF4-FFF2-40B4-BE49-F238E27FC236}">
                <a16:creationId xmlns:a16="http://schemas.microsoft.com/office/drawing/2014/main" id="{9EA16A8B-6EC3-41E6-A4AB-D9482A74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5438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4" name="p18-menu-6-code">
            <a:extLst xmlns:a="http://schemas.openxmlformats.org/drawingml/2006/main">
              <a:ext uri="{FF2B5EF4-FFF2-40B4-BE49-F238E27FC236}">
                <a16:creationId xmlns:a16="http://schemas.microsoft.com/office/drawing/2014/main" id="{5D932B79-186C-4A73-9001-C477AD11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152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M03003</a:t>
            </a:r>
          </a:p>
        </p:txBody>
      </p:sp>
      <p:sp>
        <p:nvSpPr>
          <p:cNvPr id="35" name="p18-menu-6-title">
            <a:extLst xmlns:a="http://schemas.openxmlformats.org/drawingml/2006/main">
              <a:ext uri="{FF2B5EF4-FFF2-40B4-BE49-F238E27FC236}">
                <a16:creationId xmlns:a16="http://schemas.microsoft.com/office/drawing/2014/main" id="{9E07BBAD-2BD3-49F6-BB43-1AC098CB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686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자동 규칙 발굴</a:t>
            </a:r>
          </a:p>
        </p:txBody>
      </p:sp>
      <p:sp>
        <p:nvSpPr>
          <p:cNvPr id="36" name="p18-menu-6-desc">
            <a:extLst xmlns:a="http://schemas.openxmlformats.org/drawingml/2006/main">
              <a:ext uri="{FF2B5EF4-FFF2-40B4-BE49-F238E27FC236}">
                <a16:creationId xmlns:a16="http://schemas.microsoft.com/office/drawing/2014/main" id="{16DA29E0-F36D-46CF-A6FB-7968B6D1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76676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Apriori와 LASSO·Symbolic 규칙 후보를 발굴합니다.</a:t>
            </a:r>
          </a:p>
        </p:txBody>
      </p:sp>
      <p:sp>
        <p:nvSpPr>
          <p:cNvPr id="37" name="p18-menu-7-row">
            <a:extLst xmlns:a="http://schemas.openxmlformats.org/drawingml/2006/main">
              <a:ext uri="{FF2B5EF4-FFF2-40B4-BE49-F238E27FC236}">
                <a16:creationId xmlns:a16="http://schemas.microsoft.com/office/drawing/2014/main" id="{3A8D7133-176F-4651-A958-96537C50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8" name="p18-menu-7-code">
            <a:extLst xmlns:a="http://schemas.openxmlformats.org/drawingml/2006/main">
              <a:ext uri="{FF2B5EF4-FFF2-40B4-BE49-F238E27FC236}">
                <a16:creationId xmlns:a16="http://schemas.microsoft.com/office/drawing/2014/main" id="{41F46D6A-CDDE-4972-A1DF-B0F5A50D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534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M03004</a:t>
            </a:r>
          </a:p>
        </p:txBody>
      </p:sp>
      <p:sp>
        <p:nvSpPr>
          <p:cNvPr id="39" name="p18-menu-7-title">
            <a:extLst xmlns:a="http://schemas.openxmlformats.org/drawingml/2006/main">
              <a:ext uri="{FF2B5EF4-FFF2-40B4-BE49-F238E27FC236}">
                <a16:creationId xmlns:a16="http://schemas.microsoft.com/office/drawing/2014/main" id="{03BFE833-78D2-4C32-9B5D-1A60293C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8524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규칙 위반 탐지</a:t>
            </a:r>
          </a:p>
        </p:txBody>
      </p:sp>
      <p:sp>
        <p:nvSpPr>
          <p:cNvPr id="40" name="p18-menu-7-desc">
            <a:extLst xmlns:a="http://schemas.openxmlformats.org/drawingml/2006/main">
              <a:ext uri="{FF2B5EF4-FFF2-40B4-BE49-F238E27FC236}">
                <a16:creationId xmlns:a16="http://schemas.microsoft.com/office/drawing/2014/main" id="{B586FCB9-F76D-4513-A2FA-8BB65C93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85058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범주형·연속형 규칙의 위반 후보와 상세 행을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4319922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19-rail">
            <a:extLst xmlns:a="http://schemas.openxmlformats.org/drawingml/2006/main">
              <a:ext uri="{FF2B5EF4-FFF2-40B4-BE49-F238E27FC236}">
                <a16:creationId xmlns:a16="http://schemas.microsoft.com/office/drawing/2014/main" id="{B3F37427-6BB4-4E4B-B7F7-D5E0164D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" name="page-19-chapter">
            <a:extLst xmlns:a="http://schemas.openxmlformats.org/drawingml/2006/main">
              <a:ext uri="{FF2B5EF4-FFF2-40B4-BE49-F238E27FC236}">
                <a16:creationId xmlns:a16="http://schemas.microsoft.com/office/drawing/2014/main" id="{0092D935-EB28-42B8-9F3C-8F2819C2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05 · MENU MAP · 2/3</a:t>
            </a:r>
          </a:p>
        </p:txBody>
      </p:sp>
      <p:sp>
        <p:nvSpPr>
          <p:cNvPr id="3" name="page-19-title">
            <a:extLst xmlns:a="http://schemas.openxmlformats.org/drawingml/2006/main">
              <a:ext uri="{FF2B5EF4-FFF2-40B4-BE49-F238E27FC236}">
                <a16:creationId xmlns:a16="http://schemas.microsoft.com/office/drawing/2014/main" id="{D95F4C13-40D6-49EE-BFA9-BE38B981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실행 결과를 결정·수정·보고로 연결합니다</a:t>
            </a:r>
          </a:p>
        </p:txBody>
      </p:sp>
      <p:sp>
        <p:nvSpPr>
          <p:cNvPr id="4" name="page-19-subtitle">
            <a:extLst xmlns:a="http://schemas.openxmlformats.org/drawingml/2006/main">
              <a:ext uri="{FF2B5EF4-FFF2-40B4-BE49-F238E27FC236}">
                <a16:creationId xmlns:a16="http://schemas.microsoft.com/office/drawing/2014/main" id="{F9FD2793-110F-47AA-ACF4-EEB3A47D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Flow 실행과 결과 분석, 규칙 결정, 편집, 운영 반영과 보고서 메뉴입니다.</a:t>
            </a:r>
          </a:p>
        </p:txBody>
      </p:sp>
      <p:sp>
        <p:nvSpPr>
          <p:cNvPr id="5" name="page-19-top-rule">
            <a:extLst xmlns:a="http://schemas.openxmlformats.org/drawingml/2006/main">
              <a:ext uri="{FF2B5EF4-FFF2-40B4-BE49-F238E27FC236}">
                <a16:creationId xmlns:a16="http://schemas.microsoft.com/office/drawing/2014/main" id="{EA50688A-8000-4108-988E-EF1018A0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9-footer-rule">
            <a:extLst xmlns:a="http://schemas.openxmlformats.org/drawingml/2006/main">
              <a:ext uri="{FF2B5EF4-FFF2-40B4-BE49-F238E27FC236}">
                <a16:creationId xmlns:a16="http://schemas.microsoft.com/office/drawing/2014/main" id="{B2D00DC2-4315-4402-B721-430F4110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9-footer-name">
            <a:extLst xmlns:a="http://schemas.openxmlformats.org/drawingml/2006/main">
              <a:ext uri="{FF2B5EF4-FFF2-40B4-BE49-F238E27FC236}">
                <a16:creationId xmlns:a16="http://schemas.microsoft.com/office/drawing/2014/main" id="{35FE3002-660C-42E7-8EAE-657B68E0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9-footer-number">
            <a:extLst xmlns:a="http://schemas.openxmlformats.org/drawingml/2006/main">
              <a:ext uri="{FF2B5EF4-FFF2-40B4-BE49-F238E27FC236}">
                <a16:creationId xmlns:a16="http://schemas.microsoft.com/office/drawing/2014/main" id="{1620F6A3-69CD-4DB6-B01A-B9D9B2FC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9" name="p19-menu-0-row">
            <a:extLst xmlns:a="http://schemas.openxmlformats.org/drawingml/2006/main">
              <a:ext uri="{FF2B5EF4-FFF2-40B4-BE49-F238E27FC236}">
                <a16:creationId xmlns:a16="http://schemas.microsoft.com/office/drawing/2014/main" id="{D8538ED6-4BF0-414A-864B-F3E7B451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p19-menu-0-code">
            <a:extLst xmlns:a="http://schemas.openxmlformats.org/drawingml/2006/main">
              <a:ext uri="{FF2B5EF4-FFF2-40B4-BE49-F238E27FC236}">
                <a16:creationId xmlns:a16="http://schemas.microsoft.com/office/drawing/2014/main" id="{02E986C8-F3A1-47B7-8E72-794161DE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M04001</a:t>
            </a:r>
          </a:p>
        </p:txBody>
      </p:sp>
      <p:sp>
        <p:nvSpPr>
          <p:cNvPr id="11" name="p19-menu-0-title">
            <a:extLst xmlns:a="http://schemas.openxmlformats.org/drawingml/2006/main">
              <a:ext uri="{FF2B5EF4-FFF2-40B4-BE49-F238E27FC236}">
                <a16:creationId xmlns:a16="http://schemas.microsoft.com/office/drawing/2014/main" id="{0D577A23-F36B-4F04-8BC7-65771C04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14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규칙 발굴 실행</a:t>
            </a:r>
          </a:p>
        </p:txBody>
      </p:sp>
      <p:sp>
        <p:nvSpPr>
          <p:cNvPr id="12" name="p19-menu-0-desc">
            <a:extLst xmlns:a="http://schemas.openxmlformats.org/drawingml/2006/main">
              <a:ext uri="{FF2B5EF4-FFF2-40B4-BE49-F238E27FC236}">
                <a16:creationId xmlns:a16="http://schemas.microsoft.com/office/drawing/2014/main" id="{9FBB2B5C-0D4A-43F6-8220-ABA0BA62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955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Job을 DAG로 연결해 통합 Flow를 설계·검증·실행합니다.</a:t>
            </a:r>
          </a:p>
        </p:txBody>
      </p:sp>
      <p:sp>
        <p:nvSpPr>
          <p:cNvPr id="13" name="p19-menu-1-row">
            <a:extLst xmlns:a="http://schemas.openxmlformats.org/drawingml/2006/main">
              <a:ext uri="{FF2B5EF4-FFF2-40B4-BE49-F238E27FC236}">
                <a16:creationId xmlns:a16="http://schemas.microsoft.com/office/drawing/2014/main" id="{40352750-39D7-4893-A965-DB0DEA3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p19-menu-1-code">
            <a:extLst xmlns:a="http://schemas.openxmlformats.org/drawingml/2006/main">
              <a:ext uri="{FF2B5EF4-FFF2-40B4-BE49-F238E27FC236}">
                <a16:creationId xmlns:a16="http://schemas.microsoft.com/office/drawing/2014/main" id="{510882E2-FCDC-490E-A182-5055FA3E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M04002</a:t>
            </a:r>
          </a:p>
        </p:txBody>
      </p:sp>
      <p:sp>
        <p:nvSpPr>
          <p:cNvPr id="15" name="p19-menu-1-title">
            <a:extLst xmlns:a="http://schemas.openxmlformats.org/drawingml/2006/main">
              <a:ext uri="{FF2B5EF4-FFF2-40B4-BE49-F238E27FC236}">
                <a16:creationId xmlns:a16="http://schemas.microsoft.com/office/drawing/2014/main" id="{E86005A5-43FE-4FE7-A0B9-7E5D0DBC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57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규칙 발굴 분석</a:t>
            </a:r>
          </a:p>
        </p:txBody>
      </p:sp>
      <p:sp>
        <p:nvSpPr>
          <p:cNvPr id="16" name="p19-menu-1-desc">
            <a:extLst xmlns:a="http://schemas.openxmlformats.org/drawingml/2006/main">
              <a:ext uri="{FF2B5EF4-FFF2-40B4-BE49-F238E27FC236}">
                <a16:creationId xmlns:a16="http://schemas.microsoft.com/office/drawing/2014/main" id="{676A1B50-BF74-47CA-8EE2-1AE75DB0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Flow Run의 4단계 결과와 실제 실행 맥락을 해석합니다.</a:t>
            </a:r>
          </a:p>
        </p:txBody>
      </p:sp>
      <p:sp>
        <p:nvSpPr>
          <p:cNvPr id="17" name="p19-menu-2-row">
            <a:extLst xmlns:a="http://schemas.openxmlformats.org/drawingml/2006/main">
              <a:ext uri="{FF2B5EF4-FFF2-40B4-BE49-F238E27FC236}">
                <a16:creationId xmlns:a16="http://schemas.microsoft.com/office/drawing/2014/main" id="{0D27E522-3BCC-45F4-B66C-35CB2EC6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p19-menu-2-code">
            <a:extLst xmlns:a="http://schemas.openxmlformats.org/drawingml/2006/main">
              <a:ext uri="{FF2B5EF4-FFF2-40B4-BE49-F238E27FC236}">
                <a16:creationId xmlns:a16="http://schemas.microsoft.com/office/drawing/2014/main" id="{CC09F941-1019-46D5-A899-E5C6A671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9731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97316"/>
                </a:solidFill>
                <a:latin typeface="Consolas"/>
                <a:ea typeface="Consolas"/>
                <a:cs typeface="Consolas"/>
              </a:rPr>
              <a:t>M05001</a:t>
            </a:r>
          </a:p>
        </p:txBody>
      </p:sp>
      <p:sp>
        <p:nvSpPr>
          <p:cNvPr id="19" name="p19-menu-2-title">
            <a:extLst xmlns:a="http://schemas.openxmlformats.org/drawingml/2006/main">
              <a:ext uri="{FF2B5EF4-FFF2-40B4-BE49-F238E27FC236}">
                <a16:creationId xmlns:a16="http://schemas.microsoft.com/office/drawing/2014/main" id="{6992B178-B692-4236-8E4E-AA0A2AA5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00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에디팅 규칙 관리</a:t>
            </a:r>
          </a:p>
        </p:txBody>
      </p:sp>
      <p:sp>
        <p:nvSpPr>
          <p:cNvPr id="20" name="p19-menu-2-desc">
            <a:extLst xmlns:a="http://schemas.openxmlformats.org/drawingml/2006/main">
              <a:ext uri="{FF2B5EF4-FFF2-40B4-BE49-F238E27FC236}">
                <a16:creationId xmlns:a16="http://schemas.microsoft.com/office/drawing/2014/main" id="{EC8C69EE-AE6C-4398-89D5-2F463F40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815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발굴 후보를 선정·제외하고 최종·사용자 규칙을 관리합니다.</a:t>
            </a:r>
          </a:p>
        </p:txBody>
      </p:sp>
      <p:sp>
        <p:nvSpPr>
          <p:cNvPr id="21" name="p19-menu-3-row">
            <a:extLst xmlns:a="http://schemas.openxmlformats.org/drawingml/2006/main">
              <a:ext uri="{FF2B5EF4-FFF2-40B4-BE49-F238E27FC236}">
                <a16:creationId xmlns:a16="http://schemas.microsoft.com/office/drawing/2014/main" id="{6F73E16C-39B3-47DF-B519-80F9B365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p19-menu-3-code">
            <a:extLst xmlns:a="http://schemas.openxmlformats.org/drawingml/2006/main">
              <a:ext uri="{FF2B5EF4-FFF2-40B4-BE49-F238E27FC236}">
                <a16:creationId xmlns:a16="http://schemas.microsoft.com/office/drawing/2014/main" id="{2C509BEA-8F59-479C-89F8-A62BED82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9731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97316"/>
                </a:solidFill>
                <a:latin typeface="Consolas"/>
                <a:ea typeface="Consolas"/>
                <a:cs typeface="Consolas"/>
              </a:rPr>
              <a:t>M05002</a:t>
            </a:r>
          </a:p>
        </p:txBody>
      </p:sp>
      <p:sp>
        <p:nvSpPr>
          <p:cNvPr id="23" name="p19-menu-3-title">
            <a:extLst xmlns:a="http://schemas.openxmlformats.org/drawingml/2006/main">
              <a:ext uri="{FF2B5EF4-FFF2-40B4-BE49-F238E27FC236}">
                <a16:creationId xmlns:a16="http://schemas.microsoft.com/office/drawing/2014/main" id="{EEFE6291-5B49-4272-9851-C39F6331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43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에디팅 오류 수정</a:t>
            </a:r>
          </a:p>
        </p:txBody>
      </p:sp>
      <p:sp>
        <p:nvSpPr>
          <p:cNvPr id="24" name="p19-menu-3-desc">
            <a:extLst xmlns:a="http://schemas.openxmlformats.org/drawingml/2006/main">
              <a:ext uri="{FF2B5EF4-FFF2-40B4-BE49-F238E27FC236}">
                <a16:creationId xmlns:a16="http://schemas.microsoft.com/office/drawing/2014/main" id="{F7123A1D-259D-4DBB-ACD3-C3D99B46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524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활성 규칙으로 기준본을 검사하고 편집본의 오류 값을 수정합니다.</a:t>
            </a:r>
          </a:p>
        </p:txBody>
      </p:sp>
      <p:sp>
        <p:nvSpPr>
          <p:cNvPr id="25" name="p19-menu-4-row">
            <a:extLst xmlns:a="http://schemas.openxmlformats.org/drawingml/2006/main">
              <a:ext uri="{FF2B5EF4-FFF2-40B4-BE49-F238E27FC236}">
                <a16:creationId xmlns:a16="http://schemas.microsoft.com/office/drawing/2014/main" id="{A9D98F3F-DCEC-4E74-BCE8-1276B74E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p19-menu-4-code">
            <a:extLst xmlns:a="http://schemas.openxmlformats.org/drawingml/2006/main">
              <a:ext uri="{FF2B5EF4-FFF2-40B4-BE49-F238E27FC236}">
                <a16:creationId xmlns:a16="http://schemas.microsoft.com/office/drawing/2014/main" id="{2FE54B5F-604A-4BBB-8BF0-32AA7559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151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9731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97316"/>
                </a:solidFill>
                <a:latin typeface="Consolas"/>
                <a:ea typeface="Consolas"/>
                <a:cs typeface="Consolas"/>
              </a:rPr>
              <a:t>M05003</a:t>
            </a:r>
          </a:p>
        </p:txBody>
      </p:sp>
      <p:sp>
        <p:nvSpPr>
          <p:cNvPr id="27" name="p19-menu-4-title">
            <a:extLst xmlns:a="http://schemas.openxmlformats.org/drawingml/2006/main">
              <a:ext uri="{FF2B5EF4-FFF2-40B4-BE49-F238E27FC236}">
                <a16:creationId xmlns:a16="http://schemas.microsoft.com/office/drawing/2014/main" id="{2C37A511-8751-4B97-84CE-8E23AB7F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4865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에디팅 운영 반영</a:t>
            </a:r>
          </a:p>
        </p:txBody>
      </p:sp>
      <p:sp>
        <p:nvSpPr>
          <p:cNvPr id="28" name="p19-menu-4-desc">
            <a:extLst xmlns:a="http://schemas.openxmlformats.org/drawingml/2006/main">
              <a:ext uri="{FF2B5EF4-FFF2-40B4-BE49-F238E27FC236}">
                <a16:creationId xmlns:a16="http://schemas.microsoft.com/office/drawing/2014/main" id="{8DED76DE-D0D8-46C0-BAE0-2F18830E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4674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수정 효과, 버전 DML, 실행과 감사 이력을 관리합니다.</a:t>
            </a:r>
          </a:p>
        </p:txBody>
      </p:sp>
      <p:sp>
        <p:nvSpPr>
          <p:cNvPr id="29" name="p19-menu-5-row">
            <a:extLst xmlns:a="http://schemas.openxmlformats.org/drawingml/2006/main">
              <a:ext uri="{FF2B5EF4-FFF2-40B4-BE49-F238E27FC236}">
                <a16:creationId xmlns:a16="http://schemas.microsoft.com/office/drawing/2014/main" id="{9268EE01-850A-4A45-A8F3-11C66360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86625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0" name="p19-menu-5-code">
            <a:extLst xmlns:a="http://schemas.openxmlformats.org/drawingml/2006/main">
              <a:ext uri="{FF2B5EF4-FFF2-40B4-BE49-F238E27FC236}">
                <a16:creationId xmlns:a16="http://schemas.microsoft.com/office/drawing/2014/main" id="{2A8F8969-5F06-48F2-8EA0-EE9DF603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580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E8D65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E8D65"/>
                </a:solidFill>
                <a:latin typeface="Consolas"/>
                <a:ea typeface="Consolas"/>
                <a:cs typeface="Consolas"/>
              </a:rPr>
              <a:t>M06001</a:t>
            </a:r>
          </a:p>
        </p:txBody>
      </p:sp>
      <p:sp>
        <p:nvSpPr>
          <p:cNvPr id="31" name="p19-menu-5-title">
            <a:extLst xmlns:a="http://schemas.openxmlformats.org/drawingml/2006/main">
              <a:ext uri="{FF2B5EF4-FFF2-40B4-BE49-F238E27FC236}">
                <a16:creationId xmlns:a16="http://schemas.microsoft.com/office/drawing/2014/main" id="{153C969B-9DCE-4AC6-81A9-406A5B42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429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기본형 보고서</a:t>
            </a:r>
          </a:p>
        </p:txBody>
      </p:sp>
      <p:sp>
        <p:nvSpPr>
          <p:cNvPr id="32" name="p19-menu-5-desc">
            <a:extLst xmlns:a="http://schemas.openxmlformats.org/drawingml/2006/main">
              <a:ext uri="{FF2B5EF4-FFF2-40B4-BE49-F238E27FC236}">
                <a16:creationId xmlns:a16="http://schemas.microsoft.com/office/drawing/2014/main" id="{4C94FE0F-7C94-46EE-898A-D5EB9A89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74104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설계·분석·에디팅 결과를 고정형·통합 보고서로 제공합니다.</a:t>
            </a:r>
          </a:p>
        </p:txBody>
      </p:sp>
      <p:sp>
        <p:nvSpPr>
          <p:cNvPr id="33" name="p19-menu-6-row">
            <a:extLst xmlns:a="http://schemas.openxmlformats.org/drawingml/2006/main">
              <a:ext uri="{FF2B5EF4-FFF2-40B4-BE49-F238E27FC236}">
                <a16:creationId xmlns:a16="http://schemas.microsoft.com/office/drawing/2014/main" id="{94429C5C-B205-4DD2-882A-60D3036C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296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4" name="p19-menu-6-code">
            <a:extLst xmlns:a="http://schemas.openxmlformats.org/drawingml/2006/main">
              <a:ext uri="{FF2B5EF4-FFF2-40B4-BE49-F238E27FC236}">
                <a16:creationId xmlns:a16="http://schemas.microsoft.com/office/drawing/2014/main" id="{4E2F423A-EBF9-4898-A202-A213DB4D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4010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E8D65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E8D65"/>
                </a:solidFill>
                <a:latin typeface="Consolas"/>
                <a:ea typeface="Consolas"/>
                <a:cs typeface="Consolas"/>
              </a:rPr>
              <a:t>M06002</a:t>
            </a:r>
          </a:p>
        </p:txBody>
      </p:sp>
      <p:sp>
        <p:nvSpPr>
          <p:cNvPr id="35" name="p19-menu-6-title">
            <a:extLst xmlns:a="http://schemas.openxmlformats.org/drawingml/2006/main">
              <a:ext uri="{FF2B5EF4-FFF2-40B4-BE49-F238E27FC236}">
                <a16:creationId xmlns:a16="http://schemas.microsoft.com/office/drawing/2014/main" id="{244E6664-2A5A-4312-8937-DC36A923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8372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맞춤형 보고서</a:t>
            </a:r>
          </a:p>
        </p:txBody>
      </p:sp>
      <p:sp>
        <p:nvSpPr>
          <p:cNvPr id="36" name="p19-menu-6-desc">
            <a:extLst xmlns:a="http://schemas.openxmlformats.org/drawingml/2006/main">
              <a:ext uri="{FF2B5EF4-FFF2-40B4-BE49-F238E27FC236}">
                <a16:creationId xmlns:a16="http://schemas.microsoft.com/office/drawing/2014/main" id="{3F7E6693-6276-4861-886D-B36319F6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83534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보고 블록을 용지와 순서에 맞춰 재사용 가능한 템플릿으로 만듭니다.</a:t>
            </a:r>
          </a:p>
        </p:txBody>
      </p:sp>
      <p:sp>
        <p:nvSpPr>
          <p:cNvPr id="37" name="p19-callout-fill">
            <a:extLst xmlns:a="http://schemas.openxmlformats.org/drawingml/2006/main">
              <a:ext uri="{FF2B5EF4-FFF2-40B4-BE49-F238E27FC236}">
                <a16:creationId xmlns:a16="http://schemas.microsoft.com/office/drawing/2014/main" id="{AADC646C-7EF2-4C2C-97F2-64A346ED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72600"/>
            <a:ext cx="6381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B97316"/>
            </a:solidFill>
            <a:prstDash val="solid"/>
          </a:ln>
        </p:spPr>
      </p:sp>
      <p:sp>
        <p:nvSpPr>
          <p:cNvPr id="38" name="p19-callout-accent">
            <a:extLst xmlns:a="http://schemas.openxmlformats.org/drawingml/2006/main">
              <a:ext uri="{FF2B5EF4-FFF2-40B4-BE49-F238E27FC236}">
                <a16:creationId xmlns:a16="http://schemas.microsoft.com/office/drawing/2014/main" id="{DFCF6B76-4491-41C3-BFB6-5CCCEE49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726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39" name="p19-callout-text">
            <a:extLst xmlns:a="http://schemas.openxmlformats.org/drawingml/2006/main">
              <a:ext uri="{FF2B5EF4-FFF2-40B4-BE49-F238E27FC236}">
                <a16:creationId xmlns:a16="http://schemas.microsoft.com/office/drawing/2014/main" id="{20AD183F-D364-4B7B-97B8-4260CF81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598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업무 승인·데이터 수정·운영 실행·결과 공유는 서로 다른 메뉴와 이력으로 분리됩니다.</a:t>
            </a:r>
          </a:p>
        </p:txBody>
      </p:sp>
    </p:spTree>
    <p:extLst>
      <p:ext uri="{BB962C8B-B14F-4D97-AF65-F5344CB8AC3E}">
        <p14:creationId xmlns:p14="http://schemas.microsoft.com/office/powerpoint/2010/main" val="7986420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page-20-rail">
            <a:extLst xmlns:a="http://schemas.openxmlformats.org/drawingml/2006/main">
              <a:ext uri="{FF2B5EF4-FFF2-40B4-BE49-F238E27FC236}">
                <a16:creationId xmlns:a16="http://schemas.microsoft.com/office/drawing/2014/main" id="{BDA562F5-D6AD-42CF-8673-55DD1723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" name="page-20-chapter">
            <a:extLst xmlns:a="http://schemas.openxmlformats.org/drawingml/2006/main">
              <a:ext uri="{FF2B5EF4-FFF2-40B4-BE49-F238E27FC236}">
                <a16:creationId xmlns:a16="http://schemas.microsoft.com/office/drawing/2014/main" id="{5921DD8C-5E6C-42F7-A640-52A8E9BB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05 · MENU MAP · 3/3</a:t>
            </a:r>
          </a:p>
        </p:txBody>
      </p:sp>
      <p:sp>
        <p:nvSpPr>
          <p:cNvPr id="3" name="page-20-title">
            <a:extLst xmlns:a="http://schemas.openxmlformats.org/drawingml/2006/main">
              <a:ext uri="{FF2B5EF4-FFF2-40B4-BE49-F238E27FC236}">
                <a16:creationId xmlns:a16="http://schemas.microsoft.com/office/drawing/2014/main" id="{E5BF5755-BB8B-480D-A566-9C7E1432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리소스·개인 환경·관리자 기능을 운영합니다</a:t>
            </a:r>
          </a:p>
        </p:txBody>
      </p:sp>
      <p:sp>
        <p:nvSpPr>
          <p:cNvPr id="4" name="page-20-subtitle">
            <a:extLst xmlns:a="http://schemas.openxmlformats.org/drawingml/2006/main">
              <a:ext uri="{FF2B5EF4-FFF2-40B4-BE49-F238E27FC236}">
                <a16:creationId xmlns:a16="http://schemas.microsoft.com/office/drawing/2014/main" id="{C9951FC0-BDA8-450E-B72E-EA6B4C04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실행 리소스와 모델 학습, 개인 설정, Target DB·시스템·공지 관리 메뉴입니다.</a:t>
            </a:r>
          </a:p>
        </p:txBody>
      </p:sp>
      <p:sp>
        <p:nvSpPr>
          <p:cNvPr id="5" name="page-20-top-rule">
            <a:extLst xmlns:a="http://schemas.openxmlformats.org/drawingml/2006/main">
              <a:ext uri="{FF2B5EF4-FFF2-40B4-BE49-F238E27FC236}">
                <a16:creationId xmlns:a16="http://schemas.microsoft.com/office/drawing/2014/main" id="{246F582A-7099-40C8-9FC6-F26B64B3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20-footer-rule">
            <a:extLst xmlns:a="http://schemas.openxmlformats.org/drawingml/2006/main">
              <a:ext uri="{FF2B5EF4-FFF2-40B4-BE49-F238E27FC236}">
                <a16:creationId xmlns:a16="http://schemas.microsoft.com/office/drawing/2014/main" id="{CF128C09-ECDF-44B1-9B40-E03296A2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20-footer-name">
            <a:extLst xmlns:a="http://schemas.openxmlformats.org/drawingml/2006/main">
              <a:ext uri="{FF2B5EF4-FFF2-40B4-BE49-F238E27FC236}">
                <a16:creationId xmlns:a16="http://schemas.microsoft.com/office/drawing/2014/main" id="{77A282A8-DF6A-4AE8-B1F8-E614A10D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20-footer-number">
            <a:extLst xmlns:a="http://schemas.openxmlformats.org/drawingml/2006/main">
              <a:ext uri="{FF2B5EF4-FFF2-40B4-BE49-F238E27FC236}">
                <a16:creationId xmlns:a16="http://schemas.microsoft.com/office/drawing/2014/main" id="{98AFC9A3-3085-4189-8874-06FFFD20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9" name="p20-menu-0-row">
            <a:extLst xmlns:a="http://schemas.openxmlformats.org/drawingml/2006/main">
              <a:ext uri="{FF2B5EF4-FFF2-40B4-BE49-F238E27FC236}">
                <a16:creationId xmlns:a16="http://schemas.microsoft.com/office/drawing/2014/main" id="{08797016-793F-4FBB-A418-DDDD95C3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p20-menu-0-code">
            <a:extLst xmlns:a="http://schemas.openxmlformats.org/drawingml/2006/main">
              <a:ext uri="{FF2B5EF4-FFF2-40B4-BE49-F238E27FC236}">
                <a16:creationId xmlns:a16="http://schemas.microsoft.com/office/drawing/2014/main" id="{1CFC761B-43B9-4C38-9B5B-FAA4465F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M90001</a:t>
            </a:r>
          </a:p>
        </p:txBody>
      </p:sp>
      <p:sp>
        <p:nvSpPr>
          <p:cNvPr id="11" name="p20-menu-0-title">
            <a:extLst xmlns:a="http://schemas.openxmlformats.org/drawingml/2006/main">
              <a:ext uri="{FF2B5EF4-FFF2-40B4-BE49-F238E27FC236}">
                <a16:creationId xmlns:a16="http://schemas.microsoft.com/office/drawing/2014/main" id="{BC184CCF-A127-4F7C-865C-423DF4E4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19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내부 모델 등록</a:t>
            </a:r>
          </a:p>
        </p:txBody>
      </p:sp>
      <p:sp>
        <p:nvSpPr>
          <p:cNvPr id="12" name="p20-menu-0-desc">
            <a:extLst xmlns:a="http://schemas.openxmlformats.org/drawingml/2006/main">
              <a:ext uri="{FF2B5EF4-FFF2-40B4-BE49-F238E27FC236}">
                <a16:creationId xmlns:a16="http://schemas.microsoft.com/office/drawing/2014/main" id="{396460DB-EDA5-43C8-AEA1-E95FE46C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03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Target DB 프로시저·패키지·모델 객체를 실행 리소스로 등록합니다.</a:t>
            </a:r>
          </a:p>
        </p:txBody>
      </p:sp>
      <p:sp>
        <p:nvSpPr>
          <p:cNvPr id="13" name="p20-menu-1-row">
            <a:extLst xmlns:a="http://schemas.openxmlformats.org/drawingml/2006/main">
              <a:ext uri="{FF2B5EF4-FFF2-40B4-BE49-F238E27FC236}">
                <a16:creationId xmlns:a16="http://schemas.microsoft.com/office/drawing/2014/main" id="{9D646D2C-3B45-41B7-9AA5-A0016DFE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p20-menu-1-code">
            <a:extLst xmlns:a="http://schemas.openxmlformats.org/drawingml/2006/main">
              <a:ext uri="{FF2B5EF4-FFF2-40B4-BE49-F238E27FC236}">
                <a16:creationId xmlns:a16="http://schemas.microsoft.com/office/drawing/2014/main" id="{6648F69D-4965-4562-964B-C6DD8067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M90002</a:t>
            </a:r>
          </a:p>
        </p:txBody>
      </p:sp>
      <p:sp>
        <p:nvSpPr>
          <p:cNvPr id="15" name="p20-menu-1-title">
            <a:extLst xmlns:a="http://schemas.openxmlformats.org/drawingml/2006/main">
              <a:ext uri="{FF2B5EF4-FFF2-40B4-BE49-F238E27FC236}">
                <a16:creationId xmlns:a16="http://schemas.microsoft.com/office/drawing/2014/main" id="{50D8B82C-34CE-47D3-8BB8-7AEC8E7E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외부 모델 등록</a:t>
            </a:r>
          </a:p>
        </p:txBody>
      </p:sp>
      <p:sp>
        <p:nvSpPr>
          <p:cNvPr id="16" name="p20-menu-1-desc">
            <a:extLst xmlns:a="http://schemas.openxmlformats.org/drawingml/2006/main">
              <a:ext uri="{FF2B5EF4-FFF2-40B4-BE49-F238E27FC236}">
                <a16:creationId xmlns:a16="http://schemas.microsoft.com/office/drawing/2014/main" id="{7E4331F0-9977-4A71-936C-85E7AF16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내부 Python·외부 JSON API·OML 리소스 계약을 관리합니다.</a:t>
            </a:r>
          </a:p>
        </p:txBody>
      </p:sp>
      <p:sp>
        <p:nvSpPr>
          <p:cNvPr id="17" name="p20-menu-2-row">
            <a:extLst xmlns:a="http://schemas.openxmlformats.org/drawingml/2006/main">
              <a:ext uri="{FF2B5EF4-FFF2-40B4-BE49-F238E27FC236}">
                <a16:creationId xmlns:a16="http://schemas.microsoft.com/office/drawing/2014/main" id="{D33B04C0-4F93-45FB-BD18-484265C3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p20-menu-2-code">
            <a:extLst xmlns:a="http://schemas.openxmlformats.org/drawingml/2006/main">
              <a:ext uri="{FF2B5EF4-FFF2-40B4-BE49-F238E27FC236}">
                <a16:creationId xmlns:a16="http://schemas.microsoft.com/office/drawing/2014/main" id="{8D094EDD-E932-4B20-9982-A30932FD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M90003</a:t>
            </a:r>
          </a:p>
        </p:txBody>
      </p:sp>
      <p:sp>
        <p:nvSpPr>
          <p:cNvPr id="19" name="p20-menu-2-title">
            <a:extLst xmlns:a="http://schemas.openxmlformats.org/drawingml/2006/main">
              <a:ext uri="{FF2B5EF4-FFF2-40B4-BE49-F238E27FC236}">
                <a16:creationId xmlns:a16="http://schemas.microsoft.com/office/drawing/2014/main" id="{708F0490-62AB-4AB8-ACD6-5824F212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243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모델 학습 관리</a:t>
            </a:r>
          </a:p>
        </p:txBody>
      </p:sp>
      <p:sp>
        <p:nvSpPr>
          <p:cNvPr id="20" name="p20-menu-2-desc">
            <a:extLst xmlns:a="http://schemas.openxmlformats.org/drawingml/2006/main">
              <a:ext uri="{FF2B5EF4-FFF2-40B4-BE49-F238E27FC236}">
                <a16:creationId xmlns:a16="http://schemas.microsoft.com/office/drawing/2014/main" id="{D366EC3B-4166-4C6B-A37C-CF85977C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052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공통 OML 모델의 학습·검증·활성화·롤백 이력을 관리합니다.</a:t>
            </a:r>
          </a:p>
        </p:txBody>
      </p:sp>
      <p:sp>
        <p:nvSpPr>
          <p:cNvPr id="21" name="p20-menu-3-row">
            <a:extLst xmlns:a="http://schemas.openxmlformats.org/drawingml/2006/main">
              <a:ext uri="{FF2B5EF4-FFF2-40B4-BE49-F238E27FC236}">
                <a16:creationId xmlns:a16="http://schemas.microsoft.com/office/drawing/2014/main" id="{9FE9EAEB-E2D7-406A-B29F-F524A222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p20-menu-3-code">
            <a:extLst xmlns:a="http://schemas.openxmlformats.org/drawingml/2006/main">
              <a:ext uri="{FF2B5EF4-FFF2-40B4-BE49-F238E27FC236}">
                <a16:creationId xmlns:a16="http://schemas.microsoft.com/office/drawing/2014/main" id="{3258037B-65E3-4295-B7CF-620C44C0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M91001</a:t>
            </a:r>
          </a:p>
        </p:txBody>
      </p:sp>
      <p:sp>
        <p:nvSpPr>
          <p:cNvPr id="23" name="p20-menu-3-title">
            <a:extLst xmlns:a="http://schemas.openxmlformats.org/drawingml/2006/main">
              <a:ext uri="{FF2B5EF4-FFF2-40B4-BE49-F238E27FC236}">
                <a16:creationId xmlns:a16="http://schemas.microsoft.com/office/drawing/2014/main" id="{422FB727-4793-4308-AE0D-34284AD0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나의 회원정보</a:t>
            </a:r>
          </a:p>
        </p:txBody>
      </p:sp>
      <p:sp>
        <p:nvSpPr>
          <p:cNvPr id="24" name="p20-menu-3-desc">
            <a:extLst xmlns:a="http://schemas.openxmlformats.org/drawingml/2006/main">
              <a:ext uri="{FF2B5EF4-FFF2-40B4-BE49-F238E27FC236}">
                <a16:creationId xmlns:a16="http://schemas.microsoft.com/office/drawing/2014/main" id="{74FF74F0-DE26-4485-9093-B8FF7DE2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577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계정 정보와 개인 API Key 상태를 관리합니다.</a:t>
            </a:r>
          </a:p>
        </p:txBody>
      </p:sp>
      <p:sp>
        <p:nvSpPr>
          <p:cNvPr id="25" name="p20-menu-4-row">
            <a:extLst xmlns:a="http://schemas.openxmlformats.org/drawingml/2006/main">
              <a:ext uri="{FF2B5EF4-FFF2-40B4-BE49-F238E27FC236}">
                <a16:creationId xmlns:a16="http://schemas.microsoft.com/office/drawing/2014/main" id="{CC24E404-F2FA-47A1-9038-A0505B58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864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p20-menu-4-code">
            <a:extLst xmlns:a="http://schemas.openxmlformats.org/drawingml/2006/main">
              <a:ext uri="{FF2B5EF4-FFF2-40B4-BE49-F238E27FC236}">
                <a16:creationId xmlns:a16="http://schemas.microsoft.com/office/drawing/2014/main" id="{CB64D4E7-A8B7-41D2-AB13-7CFB86B0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M91002</a:t>
            </a:r>
          </a:p>
        </p:txBody>
      </p:sp>
      <p:sp>
        <p:nvSpPr>
          <p:cNvPr id="27" name="p20-menu-4-title">
            <a:extLst xmlns:a="http://schemas.openxmlformats.org/drawingml/2006/main">
              <a:ext uri="{FF2B5EF4-FFF2-40B4-BE49-F238E27FC236}">
                <a16:creationId xmlns:a16="http://schemas.microsoft.com/office/drawing/2014/main" id="{3D37A9C9-598B-4602-9D81-70F11126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29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내 시스템 설정</a:t>
            </a:r>
          </a:p>
        </p:txBody>
      </p:sp>
      <p:sp>
        <p:nvSpPr>
          <p:cNvPr id="28" name="p20-menu-4-desc">
            <a:extLst xmlns:a="http://schemas.openxmlformats.org/drawingml/2006/main">
              <a:ext uri="{FF2B5EF4-FFF2-40B4-BE49-F238E27FC236}">
                <a16:creationId xmlns:a16="http://schemas.microsoft.com/office/drawing/2014/main" id="{E7FF0095-90A4-49A9-B627-2561794B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102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언어·표시·계정과 사용자별 설정을 관리합니다.</a:t>
            </a:r>
          </a:p>
        </p:txBody>
      </p:sp>
      <p:sp>
        <p:nvSpPr>
          <p:cNvPr id="29" name="p20-menu-5-row">
            <a:extLst xmlns:a="http://schemas.openxmlformats.org/drawingml/2006/main">
              <a:ext uri="{FF2B5EF4-FFF2-40B4-BE49-F238E27FC236}">
                <a16:creationId xmlns:a16="http://schemas.microsoft.com/office/drawing/2014/main" id="{E905C34E-E182-4B57-BC9C-9DCA468E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0" name="p20-menu-5-code">
            <a:extLst xmlns:a="http://schemas.openxmlformats.org/drawingml/2006/main">
              <a:ext uri="{FF2B5EF4-FFF2-40B4-BE49-F238E27FC236}">
                <a16:creationId xmlns:a16="http://schemas.microsoft.com/office/drawing/2014/main" id="{BA9815FF-25C4-4925-9809-1EF2EC3A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03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54D58"/>
                </a:solidFill>
                <a:latin typeface="Consolas"/>
                <a:ea typeface="Consolas"/>
                <a:cs typeface="Consolas"/>
              </a:rPr>
              <a:t>M99001</a:t>
            </a:r>
          </a:p>
        </p:txBody>
      </p:sp>
      <p:sp>
        <p:nvSpPr>
          <p:cNvPr id="31" name="p20-menu-5-title">
            <a:extLst xmlns:a="http://schemas.openxmlformats.org/drawingml/2006/main">
              <a:ext uri="{FF2B5EF4-FFF2-40B4-BE49-F238E27FC236}">
                <a16:creationId xmlns:a16="http://schemas.microsoft.com/office/drawing/2014/main" id="{A71E455E-D8CD-4076-88B5-B2B87D0B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381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DB 접속 정보 설정</a:t>
            </a:r>
          </a:p>
        </p:txBody>
      </p:sp>
      <p:sp>
        <p:nvSpPr>
          <p:cNvPr id="32" name="p20-menu-5-desc">
            <a:extLst xmlns:a="http://schemas.openxmlformats.org/drawingml/2006/main">
              <a:ext uri="{FF2B5EF4-FFF2-40B4-BE49-F238E27FC236}">
                <a16:creationId xmlns:a16="http://schemas.microsoft.com/office/drawing/2014/main" id="{1DF708EB-EDB3-469D-8363-EEDD08EA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3627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관리자가 Target DB 연결을 등록·테스트·초기화합니다.</a:t>
            </a:r>
          </a:p>
        </p:txBody>
      </p:sp>
      <p:sp>
        <p:nvSpPr>
          <p:cNvPr id="33" name="p20-menu-6-row">
            <a:extLst xmlns:a="http://schemas.openxmlformats.org/drawingml/2006/main">
              <a:ext uri="{FF2B5EF4-FFF2-40B4-BE49-F238E27FC236}">
                <a16:creationId xmlns:a16="http://schemas.microsoft.com/office/drawing/2014/main" id="{552D52AA-93A6-4C67-BBE6-E12010CB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99135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4" name="p20-menu-6-code">
            <a:extLst xmlns:a="http://schemas.openxmlformats.org/drawingml/2006/main">
              <a:ext uri="{FF2B5EF4-FFF2-40B4-BE49-F238E27FC236}">
                <a16:creationId xmlns:a16="http://schemas.microsoft.com/office/drawing/2014/main" id="{21752760-7C59-4D43-94EF-B8A1EFD8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54D58"/>
                </a:solidFill>
                <a:latin typeface="Consolas"/>
                <a:ea typeface="Consolas"/>
                <a:cs typeface="Consolas"/>
              </a:rPr>
              <a:t>M99002</a:t>
            </a:r>
          </a:p>
        </p:txBody>
      </p:sp>
      <p:sp>
        <p:nvSpPr>
          <p:cNvPr id="35" name="p20-menu-6-title">
            <a:extLst xmlns:a="http://schemas.openxmlformats.org/drawingml/2006/main">
              <a:ext uri="{FF2B5EF4-FFF2-40B4-BE49-F238E27FC236}">
                <a16:creationId xmlns:a16="http://schemas.microsoft.com/office/drawing/2014/main" id="{C7554DBB-6186-4580-B484-78402CC3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1342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데이터베이스관리</a:t>
            </a:r>
          </a:p>
        </p:txBody>
      </p:sp>
      <p:sp>
        <p:nvSpPr>
          <p:cNvPr id="36" name="p20-menu-6-desc">
            <a:extLst xmlns:a="http://schemas.openxmlformats.org/drawingml/2006/main">
              <a:ext uri="{FF2B5EF4-FFF2-40B4-BE49-F238E27FC236}">
                <a16:creationId xmlns:a16="http://schemas.microsoft.com/office/drawing/2014/main" id="{F4711A5B-BB7E-461E-A9EB-EB2A5E45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71151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Target DB 객체·데이터·컬럼·소스·SQL을 탐색합니다.</a:t>
            </a:r>
          </a:p>
        </p:txBody>
      </p:sp>
      <p:sp>
        <p:nvSpPr>
          <p:cNvPr id="37" name="p20-menu-7-row">
            <a:extLst xmlns:a="http://schemas.openxmlformats.org/drawingml/2006/main">
              <a:ext uri="{FF2B5EF4-FFF2-40B4-BE49-F238E27FC236}">
                <a16:creationId xmlns:a16="http://schemas.microsoft.com/office/drawing/2014/main" id="{BB6D3FDF-FD49-4007-A9DC-5D0E714E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43825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8" name="p20-menu-7-code">
            <a:extLst xmlns:a="http://schemas.openxmlformats.org/drawingml/2006/main">
              <a:ext uri="{FF2B5EF4-FFF2-40B4-BE49-F238E27FC236}">
                <a16:creationId xmlns:a16="http://schemas.microsoft.com/office/drawing/2014/main" id="{99AF6BA9-6284-406B-A447-8C8EC6F7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152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54D58"/>
                </a:solidFill>
                <a:latin typeface="Consolas"/>
                <a:ea typeface="Consolas"/>
                <a:cs typeface="Consolas"/>
              </a:rPr>
              <a:t>M99003</a:t>
            </a:r>
          </a:p>
        </p:txBody>
      </p:sp>
      <p:sp>
        <p:nvSpPr>
          <p:cNvPr id="39" name="p20-menu-7-title">
            <a:extLst xmlns:a="http://schemas.openxmlformats.org/drawingml/2006/main">
              <a:ext uri="{FF2B5EF4-FFF2-40B4-BE49-F238E27FC236}">
                <a16:creationId xmlns:a16="http://schemas.microsoft.com/office/drawing/2014/main" id="{0B6B97FA-CE7B-4B2D-8B44-0E0830B2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88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System Management</a:t>
            </a:r>
          </a:p>
        </p:txBody>
      </p:sp>
      <p:sp>
        <p:nvSpPr>
          <p:cNvPr id="40" name="p20-menu-7-desc">
            <a:extLst xmlns:a="http://schemas.openxmlformats.org/drawingml/2006/main">
              <a:ext uri="{FF2B5EF4-FFF2-40B4-BE49-F238E27FC236}">
                <a16:creationId xmlns:a16="http://schemas.microsoft.com/office/drawing/2014/main" id="{73BC8A5E-04AF-4143-8F93-DF5D5285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78676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초기화·테이블 점검·사용자 승인 등 시스템을 운영합니다.</a:t>
            </a:r>
          </a:p>
        </p:txBody>
      </p:sp>
      <p:sp>
        <p:nvSpPr>
          <p:cNvPr id="41" name="p20-menu-8-row">
            <a:extLst xmlns:a="http://schemas.openxmlformats.org/drawingml/2006/main">
              <a:ext uri="{FF2B5EF4-FFF2-40B4-BE49-F238E27FC236}">
                <a16:creationId xmlns:a16="http://schemas.microsoft.com/office/drawing/2014/main" id="{286736CA-DB7B-4F8A-BBE5-F0DD465A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963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2" name="p20-menu-8-code">
            <a:extLst xmlns:a="http://schemas.openxmlformats.org/drawingml/2006/main">
              <a:ext uri="{FF2B5EF4-FFF2-40B4-BE49-F238E27FC236}">
                <a16:creationId xmlns:a16="http://schemas.microsoft.com/office/drawing/2014/main" id="{1D06789F-DC46-47E0-AC59-293EFD15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54D58"/>
                </a:solidFill>
                <a:latin typeface="Consolas"/>
                <a:ea typeface="Consolas"/>
                <a:cs typeface="Consolas"/>
              </a:rPr>
              <a:t>M99004</a:t>
            </a:r>
          </a:p>
        </p:txBody>
      </p:sp>
      <p:sp>
        <p:nvSpPr>
          <p:cNvPr id="43" name="p20-menu-8-title">
            <a:extLst xmlns:a="http://schemas.openxmlformats.org/drawingml/2006/main">
              <a:ext uri="{FF2B5EF4-FFF2-40B4-BE49-F238E27FC236}">
                <a16:creationId xmlns:a16="http://schemas.microsoft.com/office/drawing/2014/main" id="{2014AD8C-3501-4E75-AC12-4A8C7A8B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86391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공지사항 관리</a:t>
            </a:r>
          </a:p>
        </p:txBody>
      </p:sp>
      <p:sp>
        <p:nvSpPr>
          <p:cNvPr id="44" name="p20-menu-8-desc">
            <a:extLst xmlns:a="http://schemas.openxmlformats.org/drawingml/2006/main">
              <a:ext uri="{FF2B5EF4-FFF2-40B4-BE49-F238E27FC236}">
                <a16:creationId xmlns:a16="http://schemas.microsoft.com/office/drawing/2014/main" id="{FA958D07-464D-4AEE-A6B7-13E7E99E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86201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공지와 첨부 파일을 등록·수정·삭제합니다.</a:t>
            </a:r>
          </a:p>
        </p:txBody>
      </p:sp>
    </p:spTree>
    <p:extLst>
      <p:ext uri="{BB962C8B-B14F-4D97-AF65-F5344CB8AC3E}">
        <p14:creationId xmlns:p14="http://schemas.microsoft.com/office/powerpoint/2010/main" val="116111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age-21-rail">
            <a:extLst xmlns:a="http://schemas.openxmlformats.org/drawingml/2006/main">
              <a:ext uri="{FF2B5EF4-FFF2-40B4-BE49-F238E27FC236}">
                <a16:creationId xmlns:a16="http://schemas.microsoft.com/office/drawing/2014/main" id="{20D47D89-9323-4C8F-926F-6B05F13A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2" name="page-21-chapter">
            <a:extLst xmlns:a="http://schemas.openxmlformats.org/drawingml/2006/main">
              <a:ext uri="{FF2B5EF4-FFF2-40B4-BE49-F238E27FC236}">
                <a16:creationId xmlns:a16="http://schemas.microsoft.com/office/drawing/2014/main" id="{4C8FD8A3-D6DE-416B-AEAB-ADBCF6A3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rPr>
              <a:t>06 · SAFE OPERATION</a:t>
            </a:r>
          </a:p>
        </p:txBody>
      </p:sp>
      <p:sp>
        <p:nvSpPr>
          <p:cNvPr id="3" name="page-21-title">
            <a:extLst xmlns:a="http://schemas.openxmlformats.org/drawingml/2006/main">
              <a:ext uri="{FF2B5EF4-FFF2-40B4-BE49-F238E27FC236}">
                <a16:creationId xmlns:a16="http://schemas.microsoft.com/office/drawing/2014/main" id="{2624038E-D0C4-4A41-9B85-F6918F6C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실행 전후에 세 가지 기준을 확인합니다</a:t>
            </a:r>
          </a:p>
        </p:txBody>
      </p:sp>
      <p:sp>
        <p:nvSpPr>
          <p:cNvPr id="4" name="page-21-subtitle">
            <a:extLst xmlns:a="http://schemas.openxmlformats.org/drawingml/2006/main">
              <a:ext uri="{FF2B5EF4-FFF2-40B4-BE49-F238E27FC236}">
                <a16:creationId xmlns:a16="http://schemas.microsoft.com/office/drawing/2014/main" id="{F6364EE3-AD11-4027-B4CC-00802DE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실행 컨텍스트, 상태와 품질, 수정·반영 안전성을 분리해 점검하면 잘못된 대상 실행과 성급한 운영 변경을 줄일 수 있습니다.</a:t>
            </a:r>
          </a:p>
        </p:txBody>
      </p:sp>
      <p:sp>
        <p:nvSpPr>
          <p:cNvPr id="5" name="page-21-top-rule">
            <a:extLst xmlns:a="http://schemas.openxmlformats.org/drawingml/2006/main">
              <a:ext uri="{FF2B5EF4-FFF2-40B4-BE49-F238E27FC236}">
                <a16:creationId xmlns:a16="http://schemas.microsoft.com/office/drawing/2014/main" id="{8940D41B-D344-4C4A-9AFC-2C1A1C09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21-footer-rule">
            <a:extLst xmlns:a="http://schemas.openxmlformats.org/drawingml/2006/main">
              <a:ext uri="{FF2B5EF4-FFF2-40B4-BE49-F238E27FC236}">
                <a16:creationId xmlns:a16="http://schemas.microsoft.com/office/drawing/2014/main" id="{98CFDBF6-26E5-42C0-8D4D-6B929563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21-footer-name">
            <a:extLst xmlns:a="http://schemas.openxmlformats.org/drawingml/2006/main">
              <a:ext uri="{FF2B5EF4-FFF2-40B4-BE49-F238E27FC236}">
                <a16:creationId xmlns:a16="http://schemas.microsoft.com/office/drawing/2014/main" id="{CE05050B-9FAB-4F21-912D-F664612D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21-footer-number">
            <a:extLst xmlns:a="http://schemas.openxmlformats.org/drawingml/2006/main">
              <a:ext uri="{FF2B5EF4-FFF2-40B4-BE49-F238E27FC236}">
                <a16:creationId xmlns:a16="http://schemas.microsoft.com/office/drawing/2014/main" id="{493C1C69-264B-4D0F-968B-B4321075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9" name="p21-card-0">
            <a:extLst xmlns:a="http://schemas.openxmlformats.org/drawingml/2006/main">
              <a:ext uri="{FF2B5EF4-FFF2-40B4-BE49-F238E27FC236}">
                <a16:creationId xmlns:a16="http://schemas.microsoft.com/office/drawing/2014/main" id="{AC1D4906-7090-4046-8EE3-1B96F86E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6381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0" name="p21-num-0-circle">
            <a:extLst xmlns:a="http://schemas.openxmlformats.org/drawingml/2006/main">
              <a:ext uri="{FF2B5EF4-FFF2-40B4-BE49-F238E27FC236}">
                <a16:creationId xmlns:a16="http://schemas.microsoft.com/office/drawing/2014/main" id="{664FADA3-28AA-4C73-B7CC-B912CFAA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p21-num-0-number">
            <a:extLst xmlns:a="http://schemas.openxmlformats.org/drawingml/2006/main">
              <a:ext uri="{FF2B5EF4-FFF2-40B4-BE49-F238E27FC236}">
                <a16:creationId xmlns:a16="http://schemas.microsoft.com/office/drawing/2014/main" id="{1AE02ED8-29D2-4022-AC7B-577F270D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p21-title-0">
            <a:extLst xmlns:a="http://schemas.openxmlformats.org/drawingml/2006/main">
              <a:ext uri="{FF2B5EF4-FFF2-40B4-BE49-F238E27FC236}">
                <a16:creationId xmlns:a16="http://schemas.microsoft.com/office/drawing/2014/main" id="{5FDF46D1-65C0-482C-8BC3-2E72268D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05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실행 전 컨텍스트</a:t>
            </a:r>
          </a:p>
        </p:txBody>
      </p:sp>
      <p:sp>
        <p:nvSpPr>
          <p:cNvPr id="13" name="p21-bullets-0">
            <a:extLst xmlns:a="http://schemas.openxmlformats.org/drawingml/2006/main">
              <a:ext uri="{FF2B5EF4-FFF2-40B4-BE49-F238E27FC236}">
                <a16:creationId xmlns:a16="http://schemas.microsoft.com/office/drawing/2014/main" id="{88B3273B-9DC0-4150-9C0A-CAED043A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5105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현재 사용자, 역할과 Target DB 확인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프로젝트·시나리오·대상 테이블 범위 확인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Flow Validate의 단계·포트·SAME_RUN 확인</a:t>
            </a:r>
          </a:p>
        </p:txBody>
      </p:sp>
      <p:sp>
        <p:nvSpPr>
          <p:cNvPr id="14" name="p21-card-1">
            <a:extLst xmlns:a="http://schemas.openxmlformats.org/drawingml/2006/main">
              <a:ext uri="{FF2B5EF4-FFF2-40B4-BE49-F238E27FC236}">
                <a16:creationId xmlns:a16="http://schemas.microsoft.com/office/drawing/2014/main" id="{13A763D0-5EEE-4EB7-9658-016BD1FC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6381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0">
            <a:solidFill>
              <a:srgbClr val="FAF2E6"/>
            </a:solidFill>
            <a:prstDash val="solid"/>
          </a:ln>
        </p:spPr>
      </p:sp>
      <p:sp>
        <p:nvSpPr>
          <p:cNvPr id="15" name="p21-num-1-circle">
            <a:extLst xmlns:a="http://schemas.openxmlformats.org/drawingml/2006/main">
              <a:ext uri="{FF2B5EF4-FFF2-40B4-BE49-F238E27FC236}">
                <a16:creationId xmlns:a16="http://schemas.microsoft.com/office/drawing/2014/main" id="{788CFD15-A5AB-49E7-A1D5-000454A6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16" name="p21-num-1-number">
            <a:extLst xmlns:a="http://schemas.openxmlformats.org/drawingml/2006/main">
              <a:ext uri="{FF2B5EF4-FFF2-40B4-BE49-F238E27FC236}">
                <a16:creationId xmlns:a16="http://schemas.microsoft.com/office/drawing/2014/main" id="{4FA5E3E0-FE8B-4DFA-ACA1-2E1C7387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7" name="p21-title-1">
            <a:extLst xmlns:a="http://schemas.openxmlformats.org/drawingml/2006/main">
              <a:ext uri="{FF2B5EF4-FFF2-40B4-BE49-F238E27FC236}">
                <a16:creationId xmlns:a16="http://schemas.microsoft.com/office/drawing/2014/main" id="{23859305-5AFA-4EA8-98C2-2249BFFB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530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상태와 품질 분리</a:t>
            </a:r>
          </a:p>
        </p:txBody>
      </p:sp>
      <p:sp>
        <p:nvSpPr>
          <p:cNvPr id="18" name="p21-bullets-1">
            <a:extLst xmlns:a="http://schemas.openxmlformats.org/drawingml/2006/main">
              <a:ext uri="{FF2B5EF4-FFF2-40B4-BE49-F238E27FC236}">
                <a16:creationId xmlns:a16="http://schemas.microsoft.com/office/drawing/2014/main" id="{71BA23C2-79D1-4BB4-98EF-21F72C7A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5105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SUCCESS와 업무 승인을 구분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FAILED의 부분 완료 메시지를 유형별 확인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위반 0건이 정상 결과일 가능성 확인</a:t>
            </a:r>
          </a:p>
        </p:txBody>
      </p:sp>
      <p:sp>
        <p:nvSpPr>
          <p:cNvPr id="19" name="p21-card-2">
            <a:extLst xmlns:a="http://schemas.openxmlformats.org/drawingml/2006/main">
              <a:ext uri="{FF2B5EF4-FFF2-40B4-BE49-F238E27FC236}">
                <a16:creationId xmlns:a16="http://schemas.microsoft.com/office/drawing/2014/main" id="{08E7A3A2-ABDE-4D0E-ABE9-0961D0DA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05650"/>
            <a:ext cx="6381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0">
            <a:solidFill>
              <a:srgbClr val="ECF5EF"/>
            </a:solidFill>
            <a:prstDash val="solid"/>
          </a:ln>
        </p:spPr>
      </p:sp>
      <p:sp>
        <p:nvSpPr>
          <p:cNvPr id="20" name="p21-num-2-circle">
            <a:extLst xmlns:a="http://schemas.openxmlformats.org/drawingml/2006/main">
              <a:ext uri="{FF2B5EF4-FFF2-40B4-BE49-F238E27FC236}">
                <a16:creationId xmlns:a16="http://schemas.microsoft.com/office/drawing/2014/main" id="{004974F8-714A-4EC8-AF62-526854C1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72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21" name="p21-num-2-number">
            <a:extLst xmlns:a="http://schemas.openxmlformats.org/drawingml/2006/main">
              <a:ext uri="{FF2B5EF4-FFF2-40B4-BE49-F238E27FC236}">
                <a16:creationId xmlns:a16="http://schemas.microsoft.com/office/drawing/2014/main" id="{379CA50F-6321-4A73-AFA8-71E5FAAE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914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2" name="p21-title-2">
            <a:extLst xmlns:a="http://schemas.openxmlformats.org/drawingml/2006/main">
              <a:ext uri="{FF2B5EF4-FFF2-40B4-BE49-F238E27FC236}">
                <a16:creationId xmlns:a16="http://schemas.microsoft.com/office/drawing/2014/main" id="{C799014F-5A3A-4852-AC04-B655C6A5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400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수정·반영 안전성</a:t>
            </a:r>
          </a:p>
        </p:txBody>
      </p:sp>
      <p:sp>
        <p:nvSpPr>
          <p:cNvPr id="23" name="p21-bullets-2">
            <a:extLst xmlns:a="http://schemas.openxmlformats.org/drawingml/2006/main">
              <a:ext uri="{FF2B5EF4-FFF2-40B4-BE49-F238E27FC236}">
                <a16:creationId xmlns:a16="http://schemas.microsoft.com/office/drawing/2014/main" id="{0EAE66BB-652E-4025-B379-0C38559D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943850"/>
            <a:ext cx="5105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탐지 결과가 원본을 자동 수정하지 않음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수정본 효과 검증 후 버전 DML 검증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운영 반영 전 권한·실행 확인·감사 이력 점검</a:t>
            </a:r>
          </a:p>
        </p:txBody>
      </p:sp>
      <p:sp>
        <p:nvSpPr>
          <p:cNvPr id="24" name="p21-callout-fill">
            <a:extLst xmlns:a="http://schemas.openxmlformats.org/drawingml/2006/main">
              <a:ext uri="{FF2B5EF4-FFF2-40B4-BE49-F238E27FC236}">
                <a16:creationId xmlns:a16="http://schemas.microsoft.com/office/drawing/2014/main" id="{C180A314-DEA1-43D2-9D6C-81F6EBBF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601200"/>
            <a:ext cx="6381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15255A"/>
            </a:solidFill>
            <a:prstDash val="solid"/>
          </a:ln>
        </p:spPr>
      </p:sp>
      <p:sp>
        <p:nvSpPr>
          <p:cNvPr id="25" name="p21-callout-accent">
            <a:extLst xmlns:a="http://schemas.openxmlformats.org/drawingml/2006/main">
              <a:ext uri="{FF2B5EF4-FFF2-40B4-BE49-F238E27FC236}">
                <a16:creationId xmlns:a16="http://schemas.microsoft.com/office/drawing/2014/main" id="{E2ED85B1-05E6-4FD3-A7E7-2530B578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6012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5A"/>
          </a:solidFill>
          <a:ln xmlns:a="http://schemas.openxmlformats.org/drawingml/2006/main" w="0">
            <a:solidFill>
              <a:srgbClr val="15255A"/>
            </a:solidFill>
            <a:prstDash val="solid"/>
          </a:ln>
        </p:spPr>
      </p:sp>
      <p:sp>
        <p:nvSpPr>
          <p:cNvPr id="26" name="p21-callout-text">
            <a:extLst xmlns:a="http://schemas.openxmlformats.org/drawingml/2006/main">
              <a:ext uri="{FF2B5EF4-FFF2-40B4-BE49-F238E27FC236}">
                <a16:creationId xmlns:a16="http://schemas.microsoft.com/office/drawing/2014/main" id="{A3CE87D3-3F87-4871-95F3-6A04572C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72650"/>
            <a:ext cx="598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운영 체크는 오류 대응 절차가 아니라 실행 전에 범위와 책임을 확정하는 기본 업무 절차입니다.</a:t>
            </a:r>
          </a:p>
        </p:txBody>
      </p:sp>
    </p:spTree>
    <p:extLst>
      <p:ext uri="{BB962C8B-B14F-4D97-AF65-F5344CB8AC3E}">
        <p14:creationId xmlns:p14="http://schemas.microsoft.com/office/powerpoint/2010/main" val="16264109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22-rail">
            <a:extLst xmlns:a="http://schemas.openxmlformats.org/drawingml/2006/main">
              <a:ext uri="{FF2B5EF4-FFF2-40B4-BE49-F238E27FC236}">
                <a16:creationId xmlns:a16="http://schemas.microsoft.com/office/drawing/2014/main" id="{FF14D203-2281-4A22-B25C-A73D7DD1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2" name="page-22-chapter">
            <a:extLst xmlns:a="http://schemas.openxmlformats.org/drawingml/2006/main">
              <a:ext uri="{FF2B5EF4-FFF2-40B4-BE49-F238E27FC236}">
                <a16:creationId xmlns:a16="http://schemas.microsoft.com/office/drawing/2014/main" id="{B7E6DBFB-11C1-4AA0-A62F-506EBD35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06 · SECURITY BOUNDARIES</a:t>
            </a:r>
          </a:p>
        </p:txBody>
      </p:sp>
      <p:sp>
        <p:nvSpPr>
          <p:cNvPr id="3" name="page-22-title">
            <a:extLst xmlns:a="http://schemas.openxmlformats.org/drawingml/2006/main">
              <a:ext uri="{FF2B5EF4-FFF2-40B4-BE49-F238E27FC236}">
                <a16:creationId xmlns:a16="http://schemas.microsoft.com/office/drawing/2014/main" id="{794D2EAF-9758-4C3F-A6F8-4603591A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인증·권한·비밀 값은 서버 경계에서 판단합니다</a:t>
            </a:r>
          </a:p>
        </p:txBody>
      </p:sp>
      <p:sp>
        <p:nvSpPr>
          <p:cNvPr id="4" name="page-22-subtitle">
            <a:extLst xmlns:a="http://schemas.openxmlformats.org/drawingml/2006/main">
              <a:ext uri="{FF2B5EF4-FFF2-40B4-BE49-F238E27FC236}">
                <a16:creationId xmlns:a16="http://schemas.microsoft.com/office/drawing/2014/main" id="{A6AD9FDE-77C8-49B1-8A71-6C369157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브라우저 저장 값이나 메뉴 숨김을 보안 근거로 사용하지 않고, 서버 세션과 시스템 DB 조회를 기준으로 사용자와 관리자 권한을 확인합니다.</a:t>
            </a:r>
          </a:p>
        </p:txBody>
      </p:sp>
      <p:sp>
        <p:nvSpPr>
          <p:cNvPr id="5" name="page-22-top-rule">
            <a:extLst xmlns:a="http://schemas.openxmlformats.org/drawingml/2006/main">
              <a:ext uri="{FF2B5EF4-FFF2-40B4-BE49-F238E27FC236}">
                <a16:creationId xmlns:a16="http://schemas.microsoft.com/office/drawing/2014/main" id="{FD6AE6CF-4BCA-4DFC-9F0F-6C1304D9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22-footer-rule">
            <a:extLst xmlns:a="http://schemas.openxmlformats.org/drawingml/2006/main">
              <a:ext uri="{FF2B5EF4-FFF2-40B4-BE49-F238E27FC236}">
                <a16:creationId xmlns:a16="http://schemas.microsoft.com/office/drawing/2014/main" id="{8C9375D9-1F7A-4140-A1BE-1CE935A4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22-footer-name">
            <a:extLst xmlns:a="http://schemas.openxmlformats.org/drawingml/2006/main">
              <a:ext uri="{FF2B5EF4-FFF2-40B4-BE49-F238E27FC236}">
                <a16:creationId xmlns:a16="http://schemas.microsoft.com/office/drawing/2014/main" id="{ABA2009D-9FB3-4607-B4E3-C143925A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22-footer-number">
            <a:extLst xmlns:a="http://schemas.openxmlformats.org/drawingml/2006/main">
              <a:ext uri="{FF2B5EF4-FFF2-40B4-BE49-F238E27FC236}">
                <a16:creationId xmlns:a16="http://schemas.microsoft.com/office/drawing/2014/main" id="{655A209F-B120-4C0E-80FF-9706CB12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9" name="p22-auth-fill">
            <a:extLst xmlns:a="http://schemas.openxmlformats.org/drawingml/2006/main">
              <a:ext uri="{FF2B5EF4-FFF2-40B4-BE49-F238E27FC236}">
                <a16:creationId xmlns:a16="http://schemas.microsoft.com/office/drawing/2014/main" id="{47AA3415-993E-431F-B847-4D12044A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6381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0" name="p22-auth-accent">
            <a:extLst xmlns:a="http://schemas.openxmlformats.org/drawingml/2006/main">
              <a:ext uri="{FF2B5EF4-FFF2-40B4-BE49-F238E27FC236}">
                <a16:creationId xmlns:a16="http://schemas.microsoft.com/office/drawing/2014/main" id="{85BA767F-8567-4C64-B21F-2E652572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p22-auth-title">
            <a:extLst xmlns:a="http://schemas.openxmlformats.org/drawingml/2006/main">
              <a:ext uri="{FF2B5EF4-FFF2-40B4-BE49-F238E27FC236}">
                <a16:creationId xmlns:a16="http://schemas.microsoft.com/office/drawing/2014/main" id="{C4D2459E-DB0F-458E-AC4B-6877BABA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인증·인가 기준</a:t>
            </a:r>
          </a:p>
        </p:txBody>
      </p:sp>
      <p:sp>
        <p:nvSpPr>
          <p:cNvPr id="12" name="p22-auth-body">
            <a:extLst xmlns:a="http://schemas.openxmlformats.org/drawingml/2006/main">
              <a:ext uri="{FF2B5EF4-FFF2-40B4-BE49-F238E27FC236}">
                <a16:creationId xmlns:a16="http://schemas.microsoft.com/office/drawing/2014/main" id="{E6C801D2-2A39-4621-9F86-AABA1225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3314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서버 세션 쿠키와 시스템 DB 조회가 사용자 ID와 역할의 기준입니다. GET/POST 파라미터, 임의 헤더, sessionStorage·localStorage는 권한 근거가 아닙니다.</a:t>
            </a:r>
          </a:p>
        </p:txBody>
      </p:sp>
      <p:sp>
        <p:nvSpPr>
          <p:cNvPr id="13" name="p22-admin-fill">
            <a:extLst xmlns:a="http://schemas.openxmlformats.org/drawingml/2006/main">
              <a:ext uri="{FF2B5EF4-FFF2-40B4-BE49-F238E27FC236}">
                <a16:creationId xmlns:a16="http://schemas.microsoft.com/office/drawing/2014/main" id="{51B80BCD-05CB-49B4-B007-244F6860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6381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0">
            <a:solidFill>
              <a:srgbClr val="F1EFF8"/>
            </a:solidFill>
            <a:prstDash val="solid"/>
          </a:ln>
        </p:spPr>
      </p:sp>
      <p:sp>
        <p:nvSpPr>
          <p:cNvPr id="14" name="p22-admin-accent">
            <a:extLst xmlns:a="http://schemas.openxmlformats.org/drawingml/2006/main">
              <a:ext uri="{FF2B5EF4-FFF2-40B4-BE49-F238E27FC236}">
                <a16:creationId xmlns:a16="http://schemas.microsoft.com/office/drawing/2014/main" id="{957AC54D-F776-45D6-9326-3C7251CF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15" name="p22-admin-title">
            <a:extLst xmlns:a="http://schemas.openxmlformats.org/drawingml/2006/main">
              <a:ext uri="{FF2B5EF4-FFF2-40B4-BE49-F238E27FC236}">
                <a16:creationId xmlns:a16="http://schemas.microsoft.com/office/drawing/2014/main" id="{C483F7DC-C6EE-4E6B-9BC7-754CAA07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관리자 기능</a:t>
            </a:r>
          </a:p>
        </p:txBody>
      </p:sp>
      <p:sp>
        <p:nvSpPr>
          <p:cNvPr id="16" name="p22-admin-body">
            <a:extLst xmlns:a="http://schemas.openxmlformats.org/drawingml/2006/main">
              <a:ext uri="{FF2B5EF4-FFF2-40B4-BE49-F238E27FC236}">
                <a16:creationId xmlns:a16="http://schemas.microsoft.com/office/drawing/2014/main" id="{8E91F78B-48C7-48AD-8787-35ECEE74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95800"/>
            <a:ext cx="3314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관리자 메뉴 숨김은 보조 UI일 뿐입니다. 관리자 API는 서버의 관리자 역할 검사 또는 전역 관리자 정책을 통과해야 합니다.</a:t>
            </a:r>
          </a:p>
        </p:txBody>
      </p:sp>
      <p:sp>
        <p:nvSpPr>
          <p:cNvPr id="17" name="p22-secret-fill">
            <a:extLst xmlns:a="http://schemas.openxmlformats.org/drawingml/2006/main">
              <a:ext uri="{FF2B5EF4-FFF2-40B4-BE49-F238E27FC236}">
                <a16:creationId xmlns:a16="http://schemas.microsoft.com/office/drawing/2014/main" id="{791886BD-FD30-4F91-97B8-6519124C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6381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0">
            <a:solidFill>
              <a:srgbClr val="F9ECEE"/>
            </a:solidFill>
            <a:prstDash val="solid"/>
          </a:ln>
        </p:spPr>
      </p:sp>
      <p:sp>
        <p:nvSpPr>
          <p:cNvPr id="18" name="p22-secret-accent">
            <a:extLst xmlns:a="http://schemas.openxmlformats.org/drawingml/2006/main">
              <a:ext uri="{FF2B5EF4-FFF2-40B4-BE49-F238E27FC236}">
                <a16:creationId xmlns:a16="http://schemas.microsoft.com/office/drawing/2014/main" id="{A9AA545D-B1A8-4547-BCA5-75F499AE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19" name="p22-secret-title">
            <a:extLst xmlns:a="http://schemas.openxmlformats.org/drawingml/2006/main">
              <a:ext uri="{FF2B5EF4-FFF2-40B4-BE49-F238E27FC236}">
                <a16:creationId xmlns:a16="http://schemas.microsoft.com/office/drawing/2014/main" id="{E7A43DB3-6473-446B-A187-0BB6683D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76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비밀번호·키·지갑</a:t>
            </a:r>
          </a:p>
        </p:txBody>
      </p:sp>
      <p:sp>
        <p:nvSpPr>
          <p:cNvPr id="20" name="p22-secret-body">
            <a:extLst xmlns:a="http://schemas.openxmlformats.org/drawingml/2006/main">
              <a:ext uri="{FF2B5EF4-FFF2-40B4-BE49-F238E27FC236}">
                <a16:creationId xmlns:a16="http://schemas.microsoft.com/office/drawing/2014/main" id="{256FA31F-ED33-431B-8509-D47F9ADB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76950"/>
            <a:ext cx="3314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DB·지갑 비밀번호, 외부 API Key, 관리자 인증 값은 암호화·세션·권한 경계에서 처리하며 도움말·브라우저 응답·JS에 남기지 않습니다.</a:t>
            </a:r>
          </a:p>
        </p:txBody>
      </p:sp>
      <p:sp>
        <p:nvSpPr>
          <p:cNvPr id="21" name="p22-external-fill">
            <a:extLst xmlns:a="http://schemas.openxmlformats.org/drawingml/2006/main">
              <a:ext uri="{FF2B5EF4-FFF2-40B4-BE49-F238E27FC236}">
                <a16:creationId xmlns:a16="http://schemas.microsoft.com/office/drawing/2014/main" id="{4697616A-B3B9-4DDD-9769-8D057E95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00950"/>
            <a:ext cx="6381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0">
            <a:solidFill>
              <a:srgbClr val="FAF2E6"/>
            </a:solidFill>
            <a:prstDash val="solid"/>
          </a:ln>
        </p:spPr>
      </p:sp>
      <p:sp>
        <p:nvSpPr>
          <p:cNvPr id="22" name="p22-external-accent">
            <a:extLst xmlns:a="http://schemas.openxmlformats.org/drawingml/2006/main">
              <a:ext uri="{FF2B5EF4-FFF2-40B4-BE49-F238E27FC236}">
                <a16:creationId xmlns:a16="http://schemas.microsoft.com/office/drawing/2014/main" id="{AA2060B0-A1DF-4557-8F13-FF746E9B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0095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3" name="p22-external-title">
            <a:extLst xmlns:a="http://schemas.openxmlformats.org/drawingml/2006/main">
              <a:ext uri="{FF2B5EF4-FFF2-40B4-BE49-F238E27FC236}">
                <a16:creationId xmlns:a16="http://schemas.microsoft.com/office/drawing/2014/main" id="{94DF3511-B9F2-4630-A887-1E5E0996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EXTERNAL_API 인증 값</a:t>
            </a:r>
          </a:p>
        </p:txBody>
      </p:sp>
      <p:sp>
        <p:nvSpPr>
          <p:cNvPr id="24" name="p22-external-body">
            <a:extLst xmlns:a="http://schemas.openxmlformats.org/drawingml/2006/main">
              <a:ext uri="{FF2B5EF4-FFF2-40B4-BE49-F238E27FC236}">
                <a16:creationId xmlns:a16="http://schemas.microsoft.com/office/drawing/2014/main" id="{7C48B2DC-A9AD-43E9-8357-6096A36A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7810500"/>
            <a:ext cx="3314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런타임 바인드 화면에서 입력되어 브라우저 메모리와 실행 요청에 포함됩니다. 현재 경로는 서버 비밀 저장소의 값을 자동으로 조회하지 않습니다.</a:t>
            </a:r>
          </a:p>
        </p:txBody>
      </p:sp>
      <p:sp>
        <p:nvSpPr>
          <p:cNvPr id="25" name="p22-callout-fill">
            <a:extLst xmlns:a="http://schemas.openxmlformats.org/drawingml/2006/main">
              <a:ext uri="{FF2B5EF4-FFF2-40B4-BE49-F238E27FC236}">
                <a16:creationId xmlns:a16="http://schemas.microsoft.com/office/drawing/2014/main" id="{1DB710CF-290B-42FF-98AD-5AF78514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67850"/>
            <a:ext cx="6381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9525">
            <a:solidFill>
              <a:srgbClr val="3E8D65"/>
            </a:solidFill>
            <a:prstDash val="solid"/>
          </a:ln>
        </p:spPr>
      </p:sp>
      <p:sp>
        <p:nvSpPr>
          <p:cNvPr id="26" name="p22-callout-accent">
            <a:extLst xmlns:a="http://schemas.openxmlformats.org/drawingml/2006/main">
              <a:ext uri="{FF2B5EF4-FFF2-40B4-BE49-F238E27FC236}">
                <a16:creationId xmlns:a16="http://schemas.microsoft.com/office/drawing/2014/main" id="{D15EA8F5-2957-4115-A44F-7EEC63DB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678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27" name="p22-callout-text">
            <a:extLst xmlns:a="http://schemas.openxmlformats.org/drawingml/2006/main">
              <a:ext uri="{FF2B5EF4-FFF2-40B4-BE49-F238E27FC236}">
                <a16:creationId xmlns:a16="http://schemas.microsoft.com/office/drawing/2014/main" id="{3689AEC4-2BA4-40B4-81D9-7AEF416F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39300"/>
            <a:ext cx="598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공개 도움말과 소개서는 논리적인 흐름만 설명하며 실제 DB 접속 정보, 내부 비밀 값과 인증 자격 증명을 포함하지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346963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age-23-rail">
            <a:extLst xmlns:a="http://schemas.openxmlformats.org/drawingml/2006/main">
              <a:ext uri="{FF2B5EF4-FFF2-40B4-BE49-F238E27FC236}">
                <a16:creationId xmlns:a16="http://schemas.microsoft.com/office/drawing/2014/main" id="{5B017EED-1D02-4659-99E3-5EFCA2E7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" name="page-23-chapter">
            <a:extLst xmlns:a="http://schemas.openxmlformats.org/drawingml/2006/main">
              <a:ext uri="{FF2B5EF4-FFF2-40B4-BE49-F238E27FC236}">
                <a16:creationId xmlns:a16="http://schemas.microsoft.com/office/drawing/2014/main" id="{55803292-210C-47F0-A6D9-135F4882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06 · GLOSSARY</a:t>
            </a:r>
          </a:p>
        </p:txBody>
      </p:sp>
      <p:sp>
        <p:nvSpPr>
          <p:cNvPr id="3" name="page-23-title">
            <a:extLst xmlns:a="http://schemas.openxmlformats.org/drawingml/2006/main">
              <a:ext uri="{FF2B5EF4-FFF2-40B4-BE49-F238E27FC236}">
                <a16:creationId xmlns:a16="http://schemas.microsoft.com/office/drawing/2014/main" id="{132169DB-9EB0-4F4A-9147-0AF1BAEE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핵심 용어는 실행 맥락과 변경 책임을 설명합니다</a:t>
            </a:r>
          </a:p>
        </p:txBody>
      </p:sp>
      <p:sp>
        <p:nvSpPr>
          <p:cNvPr id="4" name="page-23-subtitle">
            <a:extLst xmlns:a="http://schemas.openxmlformats.org/drawingml/2006/main">
              <a:ext uri="{FF2B5EF4-FFF2-40B4-BE49-F238E27FC236}">
                <a16:creationId xmlns:a16="http://schemas.microsoft.com/office/drawing/2014/main" id="{4F9B8A2E-0F3A-45EB-A33C-FF95701B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화면과 결과를 읽을 때 반복해서 등장하는 여섯 용어를 하나의 기준으로 정리했습니다.</a:t>
            </a:r>
          </a:p>
        </p:txBody>
      </p:sp>
      <p:sp>
        <p:nvSpPr>
          <p:cNvPr id="5" name="page-23-top-rule">
            <a:extLst xmlns:a="http://schemas.openxmlformats.org/drawingml/2006/main">
              <a:ext uri="{FF2B5EF4-FFF2-40B4-BE49-F238E27FC236}">
                <a16:creationId xmlns:a16="http://schemas.microsoft.com/office/drawing/2014/main" id="{0C88CD92-288D-44C1-B715-4B1088AA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23-footer-rule">
            <a:extLst xmlns:a="http://schemas.openxmlformats.org/drawingml/2006/main">
              <a:ext uri="{FF2B5EF4-FFF2-40B4-BE49-F238E27FC236}">
                <a16:creationId xmlns:a16="http://schemas.microsoft.com/office/drawing/2014/main" id="{C6914DA7-0FE9-4215-A3C3-3E9B5242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23-footer-name">
            <a:extLst xmlns:a="http://schemas.openxmlformats.org/drawingml/2006/main">
              <a:ext uri="{FF2B5EF4-FFF2-40B4-BE49-F238E27FC236}">
                <a16:creationId xmlns:a16="http://schemas.microsoft.com/office/drawing/2014/main" id="{DE095F64-81BE-494B-B9AB-30E8BAC8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23-footer-number">
            <a:extLst xmlns:a="http://schemas.openxmlformats.org/drawingml/2006/main">
              <a:ext uri="{FF2B5EF4-FFF2-40B4-BE49-F238E27FC236}">
                <a16:creationId xmlns:a16="http://schemas.microsoft.com/office/drawing/2014/main" id="{561A270F-0872-47EB-8673-629BD7B3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9" name="p23-term-0">
            <a:extLst xmlns:a="http://schemas.openxmlformats.org/drawingml/2006/main">
              <a:ext uri="{FF2B5EF4-FFF2-40B4-BE49-F238E27FC236}">
                <a16:creationId xmlns:a16="http://schemas.microsoft.com/office/drawing/2014/main" id="{67C6A4B3-5944-41BB-976B-CC96AAEC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638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0" name="p23-code-0">
            <a:extLst xmlns:a="http://schemas.openxmlformats.org/drawingml/2006/main">
              <a:ext uri="{FF2B5EF4-FFF2-40B4-BE49-F238E27FC236}">
                <a16:creationId xmlns:a16="http://schemas.microsoft.com/office/drawing/2014/main" id="{F78B853B-D572-4490-B883-B56F2787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JOB</a:t>
            </a:r>
          </a:p>
        </p:txBody>
      </p:sp>
      <p:sp>
        <p:nvSpPr>
          <p:cNvPr id="11" name="p23-title-0">
            <a:extLst xmlns:a="http://schemas.openxmlformats.org/drawingml/2006/main">
              <a:ext uri="{FF2B5EF4-FFF2-40B4-BE49-F238E27FC236}">
                <a16:creationId xmlns:a16="http://schemas.microsoft.com/office/drawing/2014/main" id="{F931342B-8DF4-4582-BD78-7999DD11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데이터 작업</a:t>
            </a:r>
          </a:p>
        </p:txBody>
      </p:sp>
      <p:sp>
        <p:nvSpPr>
          <p:cNvPr id="12" name="p23-desc-0">
            <a:extLst xmlns:a="http://schemas.openxmlformats.org/drawingml/2006/main">
              <a:ext uri="{FF2B5EF4-FFF2-40B4-BE49-F238E27FC236}">
                <a16:creationId xmlns:a16="http://schemas.microsoft.com/office/drawing/2014/main" id="{3EF89C2A-1149-4576-918E-AE564B8C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241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실행 객체와 파라미터, 대상·결과 계약을 저장한 재사용 실행 단위</a:t>
            </a:r>
          </a:p>
        </p:txBody>
      </p:sp>
      <p:sp>
        <p:nvSpPr>
          <p:cNvPr id="13" name="p23-term-1">
            <a:extLst xmlns:a="http://schemas.openxmlformats.org/drawingml/2006/main">
              <a:ext uri="{FF2B5EF4-FFF2-40B4-BE49-F238E27FC236}">
                <a16:creationId xmlns:a16="http://schemas.microsoft.com/office/drawing/2014/main" id="{794DAD5C-3870-4669-B707-3FD3AB11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638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0">
            <a:solidFill>
              <a:srgbClr val="F1EFF8"/>
            </a:solidFill>
            <a:prstDash val="solid"/>
          </a:ln>
        </p:spPr>
      </p:sp>
      <p:sp>
        <p:nvSpPr>
          <p:cNvPr id="14" name="p23-code-1">
            <a:extLst xmlns:a="http://schemas.openxmlformats.org/drawingml/2006/main">
              <a:ext uri="{FF2B5EF4-FFF2-40B4-BE49-F238E27FC236}">
                <a16:creationId xmlns:a16="http://schemas.microsoft.com/office/drawing/2014/main" id="{8EB06650-DEDF-47B2-AA4A-E383FD29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FLOW RUN</a:t>
            </a:r>
          </a:p>
        </p:txBody>
      </p:sp>
      <p:sp>
        <p:nvSpPr>
          <p:cNvPr id="15" name="p23-title-1">
            <a:extLst xmlns:a="http://schemas.openxmlformats.org/drawingml/2006/main">
              <a:ext uri="{FF2B5EF4-FFF2-40B4-BE49-F238E27FC236}">
                <a16:creationId xmlns:a16="http://schemas.microsoft.com/office/drawing/2014/main" id="{072A29EB-14DC-4DBB-A989-8307815F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통합 실행 맥락</a:t>
            </a:r>
          </a:p>
        </p:txBody>
      </p:sp>
      <p:sp>
        <p:nvSpPr>
          <p:cNvPr id="16" name="p23-desc-1">
            <a:extLst xmlns:a="http://schemas.openxmlformats.org/drawingml/2006/main">
              <a:ext uri="{FF2B5EF4-FFF2-40B4-BE49-F238E27FC236}">
                <a16:creationId xmlns:a16="http://schemas.microsoft.com/office/drawing/2014/main" id="{A93EF66E-B6D5-4878-AEA2-559FC5DA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하나의 DAG 실행에서 실제 파라미터와 모든 Node Run을 묶는 추적 기준</a:t>
            </a:r>
          </a:p>
        </p:txBody>
      </p:sp>
      <p:sp>
        <p:nvSpPr>
          <p:cNvPr id="17" name="p23-term-2">
            <a:extLst xmlns:a="http://schemas.openxmlformats.org/drawingml/2006/main">
              <a:ext uri="{FF2B5EF4-FFF2-40B4-BE49-F238E27FC236}">
                <a16:creationId xmlns:a16="http://schemas.microsoft.com/office/drawing/2014/main" id="{995F73AD-91D1-40E1-8B85-117A9A05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638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0">
            <a:solidFill>
              <a:srgbClr val="E9F5F4"/>
            </a:solidFill>
            <a:prstDash val="solid"/>
          </a:ln>
        </p:spPr>
      </p:sp>
      <p:sp>
        <p:nvSpPr>
          <p:cNvPr id="18" name="p23-code-2">
            <a:extLst xmlns:a="http://schemas.openxmlformats.org/drawingml/2006/main">
              <a:ext uri="{FF2B5EF4-FFF2-40B4-BE49-F238E27FC236}">
                <a16:creationId xmlns:a16="http://schemas.microsoft.com/office/drawing/2014/main" id="{B534D5AF-C004-4FAC-B02A-C74EB8E7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ARTIFACT</a:t>
            </a:r>
          </a:p>
        </p:txBody>
      </p:sp>
      <p:sp>
        <p:nvSpPr>
          <p:cNvPr id="19" name="p23-title-2">
            <a:extLst xmlns:a="http://schemas.openxmlformats.org/drawingml/2006/main">
              <a:ext uri="{FF2B5EF4-FFF2-40B4-BE49-F238E27FC236}">
                <a16:creationId xmlns:a16="http://schemas.microsoft.com/office/drawing/2014/main" id="{6AAB4143-4EB9-461B-B470-5ADADDC0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4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단계 결과 계약</a:t>
            </a:r>
          </a:p>
        </p:txBody>
      </p:sp>
      <p:sp>
        <p:nvSpPr>
          <p:cNvPr id="20" name="p23-desc-2">
            <a:extLst xmlns:a="http://schemas.openxmlformats.org/drawingml/2006/main">
              <a:ext uri="{FF2B5EF4-FFF2-40B4-BE49-F238E27FC236}">
                <a16:creationId xmlns:a16="http://schemas.microsoft.com/office/drawing/2014/main" id="{FD0BC2ED-1E07-48B6-AE91-23A81797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101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후행 노드와 분석·보고가 참조할 테이블, 모델, JSON과 실행 메시지</a:t>
            </a:r>
          </a:p>
        </p:txBody>
      </p:sp>
      <p:sp>
        <p:nvSpPr>
          <p:cNvPr id="21" name="p23-term-3">
            <a:extLst xmlns:a="http://schemas.openxmlformats.org/drawingml/2006/main">
              <a:ext uri="{FF2B5EF4-FFF2-40B4-BE49-F238E27FC236}">
                <a16:creationId xmlns:a16="http://schemas.microsoft.com/office/drawing/2014/main" id="{056F022A-C9AA-429F-B3BD-20C40AEA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638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0">
            <a:solidFill>
              <a:srgbClr val="ECF5EF"/>
            </a:solidFill>
            <a:prstDash val="solid"/>
          </a:ln>
        </p:spPr>
      </p:sp>
      <p:sp>
        <p:nvSpPr>
          <p:cNvPr id="22" name="p23-code-3">
            <a:extLst xmlns:a="http://schemas.openxmlformats.org/drawingml/2006/main">
              <a:ext uri="{FF2B5EF4-FFF2-40B4-BE49-F238E27FC236}">
                <a16:creationId xmlns:a16="http://schemas.microsoft.com/office/drawing/2014/main" id="{374BE798-37B2-47CE-863F-A0DC9F3F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3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3E8D65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3E8D65"/>
                </a:solidFill>
                <a:latin typeface="Consolas"/>
                <a:ea typeface="Consolas"/>
                <a:cs typeface="Consolas"/>
              </a:rPr>
              <a:t>LATEST_MASTER</a:t>
            </a:r>
          </a:p>
        </p:txBody>
      </p:sp>
      <p:sp>
        <p:nvSpPr>
          <p:cNvPr id="23" name="p23-title-3">
            <a:extLst xmlns:a="http://schemas.openxmlformats.org/drawingml/2006/main">
              <a:ext uri="{FF2B5EF4-FFF2-40B4-BE49-F238E27FC236}">
                <a16:creationId xmlns:a16="http://schemas.microsoft.com/office/drawing/2014/main" id="{D5C78BB5-CBC4-442B-9F06-CE7E97A5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67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최신 확정 기준</a:t>
            </a:r>
          </a:p>
        </p:txBody>
      </p:sp>
      <p:sp>
        <p:nvSpPr>
          <p:cNvPr id="24" name="p23-desc-3">
            <a:extLst xmlns:a="http://schemas.openxmlformats.org/drawingml/2006/main">
              <a:ext uri="{FF2B5EF4-FFF2-40B4-BE49-F238E27FC236}">
                <a16:creationId xmlns:a16="http://schemas.microsoft.com/office/drawing/2014/main" id="{75DB4745-CC32-4C34-B3C8-01CFFC4C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531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사용자 확정값을 보존한 최신 컬럼 유형 등 단계가 참조하는 마스터</a:t>
            </a:r>
          </a:p>
        </p:txBody>
      </p:sp>
      <p:sp>
        <p:nvSpPr>
          <p:cNvPr id="25" name="p23-term-4">
            <a:extLst xmlns:a="http://schemas.openxmlformats.org/drawingml/2006/main">
              <a:ext uri="{FF2B5EF4-FFF2-40B4-BE49-F238E27FC236}">
                <a16:creationId xmlns:a16="http://schemas.microsoft.com/office/drawing/2014/main" id="{E8872AB4-58F8-43D3-8F3F-51244F70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05650"/>
            <a:ext cx="638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0">
            <a:solidFill>
              <a:srgbClr val="FAF2E6"/>
            </a:solidFill>
            <a:prstDash val="solid"/>
          </a:ln>
        </p:spPr>
      </p:sp>
      <p:sp>
        <p:nvSpPr>
          <p:cNvPr id="26" name="p23-code-4">
            <a:extLst xmlns:a="http://schemas.openxmlformats.org/drawingml/2006/main">
              <a:ext uri="{FF2B5EF4-FFF2-40B4-BE49-F238E27FC236}">
                <a16:creationId xmlns:a16="http://schemas.microsoft.com/office/drawing/2014/main" id="{ABB7666A-655C-4809-9B5C-EFA783F5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77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B97316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97316"/>
                </a:solidFill>
                <a:latin typeface="Consolas"/>
                <a:ea typeface="Consolas"/>
                <a:cs typeface="Consolas"/>
              </a:rPr>
              <a:t>SAME_RUN</a:t>
            </a:r>
          </a:p>
        </p:txBody>
      </p:sp>
      <p:sp>
        <p:nvSpPr>
          <p:cNvPr id="27" name="p23-title-4">
            <a:extLst xmlns:a="http://schemas.openxmlformats.org/drawingml/2006/main">
              <a:ext uri="{FF2B5EF4-FFF2-40B4-BE49-F238E27FC236}">
                <a16:creationId xmlns:a16="http://schemas.microsoft.com/office/drawing/2014/main" id="{76F9EE7F-657B-4D4E-B5BD-072431FD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10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동일 Run 의존</a:t>
            </a:r>
          </a:p>
        </p:txBody>
      </p:sp>
      <p:sp>
        <p:nvSpPr>
          <p:cNvPr id="28" name="p23-desc-4">
            <a:extLst xmlns:a="http://schemas.openxmlformats.org/drawingml/2006/main">
              <a:ext uri="{FF2B5EF4-FFF2-40B4-BE49-F238E27FC236}">
                <a16:creationId xmlns:a16="http://schemas.microsoft.com/office/drawing/2014/main" id="{2D274656-9867-4EF1-BDF0-EDAF10D0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2961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현재 Flow Run에서 성공한 선행 노드 아티팩트만 필수 입력으로 사용하는 계약</a:t>
            </a:r>
          </a:p>
        </p:txBody>
      </p:sp>
      <p:sp>
        <p:nvSpPr>
          <p:cNvPr id="29" name="p23-term-5">
            <a:extLst xmlns:a="http://schemas.openxmlformats.org/drawingml/2006/main">
              <a:ext uri="{FF2B5EF4-FFF2-40B4-BE49-F238E27FC236}">
                <a16:creationId xmlns:a16="http://schemas.microsoft.com/office/drawing/2014/main" id="{DBFEAD9F-61AB-46BC-A8E1-1D1A7711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48650"/>
            <a:ext cx="638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0">
            <a:solidFill>
              <a:srgbClr val="F9ECEE"/>
            </a:solidFill>
            <a:prstDash val="solid"/>
          </a:ln>
        </p:spPr>
      </p:sp>
      <p:sp>
        <p:nvSpPr>
          <p:cNvPr id="30" name="p23-code-5">
            <a:extLst xmlns:a="http://schemas.openxmlformats.org/drawingml/2006/main">
              <a:ext uri="{FF2B5EF4-FFF2-40B4-BE49-F238E27FC236}">
                <a16:creationId xmlns:a16="http://schemas.microsoft.com/office/drawing/2014/main" id="{4767E3AD-AFA8-4922-8CD3-C34559D0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20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B54D58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54D58"/>
                </a:solidFill>
                <a:latin typeface="Consolas"/>
                <a:ea typeface="Consolas"/>
                <a:cs typeface="Consolas"/>
              </a:rPr>
              <a:t>INITUP$ / INITDN$</a:t>
            </a:r>
          </a:p>
        </p:txBody>
      </p:sp>
      <p:sp>
        <p:nvSpPr>
          <p:cNvPr id="31" name="p23-title-5">
            <a:extLst xmlns:a="http://schemas.openxmlformats.org/drawingml/2006/main">
              <a:ext uri="{FF2B5EF4-FFF2-40B4-BE49-F238E27FC236}">
                <a16:creationId xmlns:a16="http://schemas.microsoft.com/office/drawing/2014/main" id="{CDAE6907-8657-4A67-8233-5387B70B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53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원본 기준본 / 편집본</a:t>
            </a:r>
          </a:p>
        </p:txBody>
      </p:sp>
      <p:sp>
        <p:nvSpPr>
          <p:cNvPr id="32" name="p23-desc-5">
            <a:extLst xmlns:a="http://schemas.openxmlformats.org/drawingml/2006/main">
              <a:ext uri="{FF2B5EF4-FFF2-40B4-BE49-F238E27FC236}">
                <a16:creationId xmlns:a16="http://schemas.microsoft.com/office/drawing/2014/main" id="{A0B43A3F-903B-406D-A00D-798AFFCF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4391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검사 기준 작업본과 사용자 수정이 이루어지는 편집 테이블을 분리하는 패턴</a:t>
            </a:r>
          </a:p>
        </p:txBody>
      </p:sp>
    </p:spTree>
    <p:extLst>
      <p:ext uri="{BB962C8B-B14F-4D97-AF65-F5344CB8AC3E}">
        <p14:creationId xmlns:p14="http://schemas.microsoft.com/office/powerpoint/2010/main" val="176409581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525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ack-left">
            <a:extLst xmlns:a="http://schemas.openxmlformats.org/drawingml/2006/main">
              <a:ext uri="{FF2B5EF4-FFF2-40B4-BE49-F238E27FC236}">
                <a16:creationId xmlns:a16="http://schemas.microsoft.com/office/drawing/2014/main" id="{B8E6734A-4FED-42B1-AC7C-BEF03636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f7d82cda4411a"/>
          <a:stretch xmlns:a="http://schemas.openxmlformats.org/drawingml/2006/main"/>
        </p:blipFill>
        <p:spPr>
          <a:xfrm xmlns:a="http://schemas.openxmlformats.org/drawingml/2006/main">
            <a:off x="597203" y="704850"/>
            <a:ext cx="4082443" cy="1276350"/>
          </a:xfrm>
          <a:prstGeom xmlns:a="http://schemas.openxmlformats.org/drawingml/2006/main" prst="rect">
            <a:avLst/>
          </a:prstGeom>
        </p:spPr>
      </p:pic>
      <p:sp>
        <p:nvSpPr>
          <p:cNvPr id="3" name="back-kicker">
            <a:extLst xmlns:a="http://schemas.openxmlformats.org/drawingml/2006/main">
              <a:ext uri="{FF2B5EF4-FFF2-40B4-BE49-F238E27FC236}">
                <a16:creationId xmlns:a16="http://schemas.microsoft.com/office/drawing/2014/main" id="{B674C1AC-A495-433C-8EDD-4843BFC0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7AC7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AC7D0"/>
                </a:solidFill>
                <a:latin typeface="Malgun Gothic"/>
                <a:ea typeface="Malgun Gothic"/>
                <a:cs typeface="Malgun Gothic"/>
              </a:rPr>
              <a:t>THE IN-DEPS OPERATING MODEL</a:t>
            </a:r>
          </a:p>
        </p:txBody>
      </p:sp>
      <p:sp>
        <p:nvSpPr>
          <p:cNvPr id="4" name="back-title">
            <a:extLst xmlns:a="http://schemas.openxmlformats.org/drawingml/2006/main">
              <a:ext uri="{FF2B5EF4-FFF2-40B4-BE49-F238E27FC236}">
                <a16:creationId xmlns:a16="http://schemas.microsoft.com/office/drawing/2014/main" id="{C748A84F-A79E-4784-81A9-237D820A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5905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근거를 만들고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사람이 결정하며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변경을 추적합니다</a:t>
            </a:r>
          </a:p>
        </p:txBody>
      </p:sp>
      <p:sp>
        <p:nvSpPr>
          <p:cNvPr id="5" name="back-body">
            <a:extLst xmlns:a="http://schemas.openxmlformats.org/drawingml/2006/main">
              <a:ext uri="{FF2B5EF4-FFF2-40B4-BE49-F238E27FC236}">
                <a16:creationId xmlns:a16="http://schemas.microsoft.com/office/drawing/2014/main" id="{2A49F26C-5B8D-4D3F-9801-FB41F868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71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575" b="0">
                <a:solidFill>
                  <a:srgbClr val="D9E3F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9E3F1"/>
                </a:solidFill>
                <a:latin typeface="Malgun Gothic"/>
                <a:ea typeface="Malgun Gothic"/>
                <a:cs typeface="Malgun Gothic"/>
              </a:rPr>
              <a:t>데이터 선정부터 규칙 발굴, Flow 실행, 결과 해석, 편집과 운영 반영까지 — IN-DEPS는 분석과 변경 사이의 책임을 분리하면서 하나의 Run과 감사 이력으로 업무를 연결합니다.</a:t>
            </a:r>
          </a:p>
        </p:txBody>
      </p:sp>
      <p:sp>
        <p:nvSpPr>
          <p:cNvPr id="6" name="back-dot-0">
            <a:extLst xmlns:a="http://schemas.openxmlformats.org/drawingml/2006/main">
              <a:ext uri="{FF2B5EF4-FFF2-40B4-BE49-F238E27FC236}">
                <a16:creationId xmlns:a16="http://schemas.microsoft.com/office/drawing/2014/main" id="{494B1107-C9D5-4073-8BB4-06C18D89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86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92CE"/>
          </a:solidFill>
          <a:ln xmlns:a="http://schemas.openxmlformats.org/drawingml/2006/main" w="0">
            <a:solidFill>
              <a:srgbClr val="5E92CE"/>
            </a:solidFill>
            <a:prstDash val="solid"/>
          </a:ln>
        </p:spPr>
      </p:sp>
      <p:sp>
        <p:nvSpPr>
          <p:cNvPr id="7" name="back-value-0">
            <a:extLst xmlns:a="http://schemas.openxmlformats.org/drawingml/2006/main">
              <a:ext uri="{FF2B5EF4-FFF2-40B4-BE49-F238E27FC236}">
                <a16:creationId xmlns:a16="http://schemas.microsoft.com/office/drawing/2014/main" id="{366AD999-3FC1-47FA-B291-36CCE2AE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39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설명 가능한 근거</a:t>
            </a:r>
          </a:p>
        </p:txBody>
      </p:sp>
      <p:sp>
        <p:nvSpPr>
          <p:cNvPr id="8" name="back-dot-1">
            <a:extLst xmlns:a="http://schemas.openxmlformats.org/drawingml/2006/main">
              <a:ext uri="{FF2B5EF4-FFF2-40B4-BE49-F238E27FC236}">
                <a16:creationId xmlns:a16="http://schemas.microsoft.com/office/drawing/2014/main" id="{6AF2F06B-FA17-4B47-859D-95086C00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01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8B0"/>
          </a:solidFill>
          <a:ln xmlns:a="http://schemas.openxmlformats.org/drawingml/2006/main" w="0">
            <a:solidFill>
              <a:srgbClr val="4DB8B0"/>
            </a:solidFill>
            <a:prstDash val="solid"/>
          </a:ln>
        </p:spPr>
      </p:sp>
      <p:sp>
        <p:nvSpPr>
          <p:cNvPr id="9" name="back-value-1">
            <a:extLst xmlns:a="http://schemas.openxmlformats.org/drawingml/2006/main">
              <a:ext uri="{FF2B5EF4-FFF2-40B4-BE49-F238E27FC236}">
                <a16:creationId xmlns:a16="http://schemas.microsoft.com/office/drawing/2014/main" id="{5CCF08A6-1936-4714-9CD1-381B2074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534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검토 가능한 결정</a:t>
            </a:r>
          </a:p>
        </p:txBody>
      </p:sp>
      <p:sp>
        <p:nvSpPr>
          <p:cNvPr id="10" name="back-dot-2">
            <a:extLst xmlns:a="http://schemas.openxmlformats.org/drawingml/2006/main">
              <a:ext uri="{FF2B5EF4-FFF2-40B4-BE49-F238E27FC236}">
                <a16:creationId xmlns:a16="http://schemas.microsoft.com/office/drawing/2014/main" id="{C9351EA5-CA8A-4AA7-9D3A-12F2437E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15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B391"/>
          </a:solidFill>
          <a:ln xmlns:a="http://schemas.openxmlformats.org/drawingml/2006/main" w="0">
            <a:solidFill>
              <a:srgbClr val="79B391"/>
            </a:solidFill>
            <a:prstDash val="solid"/>
          </a:ln>
        </p:spPr>
      </p:sp>
      <p:sp>
        <p:nvSpPr>
          <p:cNvPr id="11" name="back-value-2">
            <a:extLst xmlns:a="http://schemas.openxmlformats.org/drawingml/2006/main">
              <a:ext uri="{FF2B5EF4-FFF2-40B4-BE49-F238E27FC236}">
                <a16:creationId xmlns:a16="http://schemas.microsoft.com/office/drawing/2014/main" id="{DA011705-9F41-4C8C-AA11-88233254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8677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통제 가능한 변경</a:t>
            </a:r>
          </a:p>
        </p:txBody>
      </p:sp>
      <p:sp>
        <p:nvSpPr>
          <p:cNvPr id="12" name="back-dot-3">
            <a:extLst xmlns:a="http://schemas.openxmlformats.org/drawingml/2006/main">
              <a:ext uri="{FF2B5EF4-FFF2-40B4-BE49-F238E27FC236}">
                <a16:creationId xmlns:a16="http://schemas.microsoft.com/office/drawing/2014/main" id="{E91F9DFD-2E0F-4C27-9892-7F6178F6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A8E2"/>
          </a:solidFill>
          <a:ln xmlns:a="http://schemas.openxmlformats.org/drawingml/2006/main" w="0">
            <a:solidFill>
              <a:srgbClr val="B7A8E2"/>
            </a:solidFill>
            <a:prstDash val="solid"/>
          </a:ln>
        </p:spPr>
      </p:sp>
      <p:sp>
        <p:nvSpPr>
          <p:cNvPr id="13" name="back-value-3">
            <a:extLst xmlns:a="http://schemas.openxmlformats.org/drawingml/2006/main">
              <a:ext uri="{FF2B5EF4-FFF2-40B4-BE49-F238E27FC236}">
                <a16:creationId xmlns:a16="http://schemas.microsoft.com/office/drawing/2014/main" id="{CCB647B8-9C23-4E57-A3D3-91071EFA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82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재현 가능한 이력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4752784db454b"/>
          <a:stretch xmlns:a="http://schemas.openxmlformats.org/drawingml/2006/main"/>
        </p:blipFill>
        <p:spPr>
          <a:xfrm xmlns:a="http://schemas.openxmlformats.org/drawingml/2006/main">
            <a:off x="5353415" y="9620250"/>
            <a:ext cx="1618520" cy="457200"/>
          </a:xfrm>
          <a:prstGeom xmlns:a="http://schemas.openxmlformats.org/drawingml/2006/main" prst="rect">
            <a:avLst/>
          </a:prstGeom>
        </p:spPr>
      </p:pic>
      <p:sp>
        <p:nvSpPr>
          <p:cNvPr id="15" name="back-format">
            <a:extLst xmlns:a="http://schemas.openxmlformats.org/drawingml/2006/main">
              <a:ext uri="{FF2B5EF4-FFF2-40B4-BE49-F238E27FC236}">
                <a16:creationId xmlns:a16="http://schemas.microsoft.com/office/drawing/2014/main" id="{45448F6C-E28F-4716-B7B6-1395250D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63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98A9C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98A9C0"/>
                </a:solidFill>
                <a:latin typeface="Malgun Gothic"/>
                <a:ea typeface="Malgun Gothic"/>
                <a:cs typeface="Malgun Gothic"/>
              </a:rPr>
              <a:t>A4 PRINT EDITION · 2026</a:t>
            </a:r>
          </a:p>
        </p:txBody>
      </p:sp>
    </p:spTree>
    <p:extLst>
      <p:ext uri="{BB962C8B-B14F-4D97-AF65-F5344CB8AC3E}">
        <p14:creationId xmlns:p14="http://schemas.microsoft.com/office/powerpoint/2010/main" val="1047068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2026-08-26T11:44:38.8040000Z</dcterms:created>
  <dcterms:modified xsi:type="dcterms:W3CDTF">2026-08-26T11:44:38.8040000Z</dcterms:modified>
</coreProperties>
</file>