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9b5fd040a440e" /><Relationship Type="http://schemas.openxmlformats.org/officeDocument/2006/relationships/extended-properties" Target="/docProps/app.xml" Id="R906acf3ca89148be" /><Relationship Type="http://schemas.openxmlformats.org/officeDocument/2006/relationships/officeDocument" Target="/ppt/presentation.xml" Id="R7f58783e3ef141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0a9f91c634dfc"/>
  </p:sldMasterIdLst>
  <p:notesMasterIdLst>
    <p:notesMasterId xmlns:r="http://schemas.openxmlformats.org/officeDocument/2006/relationships" r:id="R75a55563ebc5407f"/>
  </p:notesMasterIdLst>
  <p:sldIdLst>
    <p:sldId xmlns:r="http://schemas.openxmlformats.org/officeDocument/2006/relationships" id="256" r:id="R0b6b6ee5a6da4c39"/>
    <p:sldId xmlns:r="http://schemas.openxmlformats.org/officeDocument/2006/relationships" id="257" r:id="Rd8b7b2569d7649d2"/>
    <p:sldId xmlns:r="http://schemas.openxmlformats.org/officeDocument/2006/relationships" id="258" r:id="R0f90cd45f32d4ea4"/>
    <p:sldId xmlns:r="http://schemas.openxmlformats.org/officeDocument/2006/relationships" id="259" r:id="R9cc8ede101024484"/>
    <p:sldId xmlns:r="http://schemas.openxmlformats.org/officeDocument/2006/relationships" id="260" r:id="Re1b7c24277ae4f0a"/>
    <p:sldId xmlns:r="http://schemas.openxmlformats.org/officeDocument/2006/relationships" id="261" r:id="R3e645eb7571e4460"/>
    <p:sldId xmlns:r="http://schemas.openxmlformats.org/officeDocument/2006/relationships" id="262" r:id="Rbf410888929b42fc"/>
    <p:sldId xmlns:r="http://schemas.openxmlformats.org/officeDocument/2006/relationships" id="263" r:id="R93f14a6acccc4ede"/>
    <p:sldId xmlns:r="http://schemas.openxmlformats.org/officeDocument/2006/relationships" id="264" r:id="Refa387efe1ef4fa9"/>
    <p:sldId xmlns:r="http://schemas.openxmlformats.org/officeDocument/2006/relationships" id="265" r:id="R1c481f54554b49db"/>
    <p:sldId xmlns:r="http://schemas.openxmlformats.org/officeDocument/2006/relationships" id="266" r:id="R2622ec57abd94749"/>
    <p:sldId xmlns:r="http://schemas.openxmlformats.org/officeDocument/2006/relationships" id="267" r:id="Rc169e6e420744443"/>
    <p:sldId xmlns:r="http://schemas.openxmlformats.org/officeDocument/2006/relationships" id="268" r:id="Rcff61d279be24ff5"/>
    <p:sldId xmlns:r="http://schemas.openxmlformats.org/officeDocument/2006/relationships" id="269" r:id="R6b735adb2cab4915"/>
    <p:sldId xmlns:r="http://schemas.openxmlformats.org/officeDocument/2006/relationships" id="270" r:id="R00c79a19a6ed4701"/>
    <p:sldId xmlns:r="http://schemas.openxmlformats.org/officeDocument/2006/relationships" id="271" r:id="Rde9158afa2974c73"/>
    <p:sldId xmlns:r="http://schemas.openxmlformats.org/officeDocument/2006/relationships" id="272" r:id="R36402795bcf34e1a"/>
    <p:sldId xmlns:r="http://schemas.openxmlformats.org/officeDocument/2006/relationships" id="273" r:id="Rd9d256b665c145db"/>
    <p:sldId xmlns:r="http://schemas.openxmlformats.org/officeDocument/2006/relationships" id="274" r:id="Rc755b22fb13f4f07"/>
    <p:sldId xmlns:r="http://schemas.openxmlformats.org/officeDocument/2006/relationships" id="275" r:id="R92f75e8722cd425a"/>
    <p:sldId xmlns:r="http://schemas.openxmlformats.org/officeDocument/2006/relationships" id="276" r:id="R48c06cb4dec94b17"/>
    <p:sldId xmlns:r="http://schemas.openxmlformats.org/officeDocument/2006/relationships" id="277" r:id="R7dcb358ce88744dd"/>
    <p:sldId xmlns:r="http://schemas.openxmlformats.org/officeDocument/2006/relationships" id="278" r:id="R97d9e912bf1d4592"/>
    <p:sldId xmlns:r="http://schemas.openxmlformats.org/officeDocument/2006/relationships" id="279" r:id="R3f189ab6b81c492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9c902be6904c31" /><Relationship Type="http://schemas.openxmlformats.org/officeDocument/2006/relationships/slideMaster" Target="/ppt/slideMasters/slideMaster1.xml" Id="R2be0a9f91c634dfc" /><Relationship Type="http://schemas.openxmlformats.org/officeDocument/2006/relationships/notesMaster" Target="/ppt/notesMasters/notesMaster1.xml" Id="R75a55563ebc5407f" /><Relationship Type="http://schemas.openxmlformats.org/officeDocument/2006/relationships/presProps" Target="/ppt/presProps.xml" Id="R6831dc2ac6264970" /><Relationship Type="http://schemas.openxmlformats.org/officeDocument/2006/relationships/tableStyles" Target="/ppt/tableStyles.xml" Id="Ra2ea75e930c8495a" /><Relationship Type="http://schemas.openxmlformats.org/officeDocument/2006/relationships/slide" Target="/ppt/slides/slide1.xml" Id="R0b6b6ee5a6da4c39" /><Relationship Type="http://schemas.openxmlformats.org/officeDocument/2006/relationships/slide" Target="/ppt/slides/slide2.xml" Id="Rd8b7b2569d7649d2" /><Relationship Type="http://schemas.openxmlformats.org/officeDocument/2006/relationships/slide" Target="/ppt/slides/slide3.xml" Id="R0f90cd45f32d4ea4" /><Relationship Type="http://schemas.openxmlformats.org/officeDocument/2006/relationships/slide" Target="/ppt/slides/slide4.xml" Id="R9cc8ede101024484" /><Relationship Type="http://schemas.openxmlformats.org/officeDocument/2006/relationships/slide" Target="/ppt/slides/slide5.xml" Id="Re1b7c24277ae4f0a" /><Relationship Type="http://schemas.openxmlformats.org/officeDocument/2006/relationships/slide" Target="/ppt/slides/slide6.xml" Id="R3e645eb7571e4460" /><Relationship Type="http://schemas.openxmlformats.org/officeDocument/2006/relationships/slide" Target="/ppt/slides/slide7.xml" Id="Rbf410888929b42fc" /><Relationship Type="http://schemas.openxmlformats.org/officeDocument/2006/relationships/slide" Target="/ppt/slides/slide8.xml" Id="R93f14a6acccc4ede" /><Relationship Type="http://schemas.openxmlformats.org/officeDocument/2006/relationships/slide" Target="/ppt/slides/slide9.xml" Id="Refa387efe1ef4fa9" /><Relationship Type="http://schemas.openxmlformats.org/officeDocument/2006/relationships/slide" Target="/ppt/slides/slide10.xml" Id="R1c481f54554b49db" /><Relationship Type="http://schemas.openxmlformats.org/officeDocument/2006/relationships/slide" Target="/ppt/slides/slide11.xml" Id="R2622ec57abd94749" /><Relationship Type="http://schemas.openxmlformats.org/officeDocument/2006/relationships/slide" Target="/ppt/slides/slide12.xml" Id="Rc169e6e420744443" /><Relationship Type="http://schemas.openxmlformats.org/officeDocument/2006/relationships/slide" Target="/ppt/slides/slide13.xml" Id="Rcff61d279be24ff5" /><Relationship Type="http://schemas.openxmlformats.org/officeDocument/2006/relationships/slide" Target="/ppt/slides/slide14.xml" Id="R6b735adb2cab4915" /><Relationship Type="http://schemas.openxmlformats.org/officeDocument/2006/relationships/slide" Target="/ppt/slides/slide15.xml" Id="R00c79a19a6ed4701" /><Relationship Type="http://schemas.openxmlformats.org/officeDocument/2006/relationships/slide" Target="/ppt/slides/slide16.xml" Id="Rde9158afa2974c73" /><Relationship Type="http://schemas.openxmlformats.org/officeDocument/2006/relationships/slide" Target="/ppt/slides/slide17.xml" Id="R36402795bcf34e1a" /><Relationship Type="http://schemas.openxmlformats.org/officeDocument/2006/relationships/slide" Target="/ppt/slides/slide18.xml" Id="Rd9d256b665c145db" /><Relationship Type="http://schemas.openxmlformats.org/officeDocument/2006/relationships/slide" Target="/ppt/slides/slide19.xml" Id="Rc755b22fb13f4f07" /><Relationship Type="http://schemas.openxmlformats.org/officeDocument/2006/relationships/slide" Target="/ppt/slides/slide20.xml" Id="R92f75e8722cd425a" /><Relationship Type="http://schemas.openxmlformats.org/officeDocument/2006/relationships/slide" Target="/ppt/slides/slide21.xml" Id="R48c06cb4dec94b17" /><Relationship Type="http://schemas.openxmlformats.org/officeDocument/2006/relationships/slide" Target="/ppt/slides/slide22.xml" Id="R7dcb358ce88744dd" /><Relationship Type="http://schemas.openxmlformats.org/officeDocument/2006/relationships/slide" Target="/ppt/slides/slide23.xml" Id="R97d9e912bf1d4592" /><Relationship Type="http://schemas.openxmlformats.org/officeDocument/2006/relationships/slide" Target="/ppt/slides/slide24.xml" Id="R3f189ab6b81c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067504bfb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d2c398e73475d" /><Relationship Type="http://schemas.openxmlformats.org/officeDocument/2006/relationships/notesMaster" Target="/ppt/notesMasters/notesMaster1.xml" Id="Rf73ae5d5ca20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4b94bbcb4476d" /><Relationship Type="http://schemas.openxmlformats.org/officeDocument/2006/relationships/notesMaster" Target="/ppt/notesMasters/notesMaster1.xml" Id="R198de9314bd9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d8ea455d14201" /><Relationship Type="http://schemas.openxmlformats.org/officeDocument/2006/relationships/notesMaster" Target="/ppt/notesMasters/notesMaster1.xml" Id="R4a2671875ead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f95ec37f7b47ef" /><Relationship Type="http://schemas.openxmlformats.org/officeDocument/2006/relationships/notesMaster" Target="/ppt/notesMasters/notesMaster1.xml" Id="R41c4a3826e2a43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6a0348b99f4a29" /><Relationship Type="http://schemas.openxmlformats.org/officeDocument/2006/relationships/notesMaster" Target="/ppt/notesMasters/notesMaster1.xml" Id="Rbca9d2996ca6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f15df829e44e39" /><Relationship Type="http://schemas.openxmlformats.org/officeDocument/2006/relationships/notesMaster" Target="/ppt/notesMasters/notesMaster1.xml" Id="Rf43b91be1bfa45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1c3410745d4309" /><Relationship Type="http://schemas.openxmlformats.org/officeDocument/2006/relationships/notesMaster" Target="/ppt/notesMasters/notesMaster1.xml" Id="R17aaa2134f394b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0b4af33884882" /><Relationship Type="http://schemas.openxmlformats.org/officeDocument/2006/relationships/notesMaster" Target="/ppt/notesMasters/notesMaster1.xml" Id="Rd7375d02e17646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f0be8a84c04a15" /><Relationship Type="http://schemas.openxmlformats.org/officeDocument/2006/relationships/notesMaster" Target="/ppt/notesMasters/notesMaster1.xml" Id="Rc4bf8c70c4174f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105459c2642a7" /><Relationship Type="http://schemas.openxmlformats.org/officeDocument/2006/relationships/notesMaster" Target="/ppt/notesMasters/notesMaster1.xml" Id="R0594fccd4bdc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67314877ac45be" /><Relationship Type="http://schemas.openxmlformats.org/officeDocument/2006/relationships/notesMaster" Target="/ppt/notesMasters/notesMaster1.xml" Id="R8edc632fe32644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e0b054cec444cd" /><Relationship Type="http://schemas.openxmlformats.org/officeDocument/2006/relationships/notesMaster" Target="/ppt/notesMasters/notesMaster1.xml" Id="R2842f8cf869642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f20f39587748e2" /><Relationship Type="http://schemas.openxmlformats.org/officeDocument/2006/relationships/notesMaster" Target="/ppt/notesMasters/notesMaster1.xml" Id="R5aee95c14d6a45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e0ba9299224373" /><Relationship Type="http://schemas.openxmlformats.org/officeDocument/2006/relationships/notesMaster" Target="/ppt/notesMasters/notesMaster1.xml" Id="Rdf277c3a2b8b4d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79ac8dd5af48dc" /><Relationship Type="http://schemas.openxmlformats.org/officeDocument/2006/relationships/notesMaster" Target="/ppt/notesMasters/notesMaster1.xml" Id="Ra156e67123054e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72ed8268ec4c17" /><Relationship Type="http://schemas.openxmlformats.org/officeDocument/2006/relationships/notesMaster" Target="/ppt/notesMasters/notesMaster1.xml" Id="R6d798b16f6dc4e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f5188e6d3c4427" /><Relationship Type="http://schemas.openxmlformats.org/officeDocument/2006/relationships/notesMaster" Target="/ppt/notesMasters/notesMaster1.xml" Id="R9144a1f6fe2645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deb6c0f9ff471c" /><Relationship Type="http://schemas.openxmlformats.org/officeDocument/2006/relationships/notesMaster" Target="/ppt/notesMasters/notesMaster1.xml" Id="R468962d9188049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da3d48ad064291" /><Relationship Type="http://schemas.openxmlformats.org/officeDocument/2006/relationships/notesMaster" Target="/ppt/notesMasters/notesMaster1.xml" Id="R132f4355e2274e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e3e3ee0a6040f0" /><Relationship Type="http://schemas.openxmlformats.org/officeDocument/2006/relationships/notesMaster" Target="/ppt/notesMasters/notesMaster1.xml" Id="Rab74284c16df40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180977762e4820" /><Relationship Type="http://schemas.openxmlformats.org/officeDocument/2006/relationships/notesMaster" Target="/ppt/notesMasters/notesMaster1.xml" Id="Re3bd3191e1ff4c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29b9f5a4114934" /><Relationship Type="http://schemas.openxmlformats.org/officeDocument/2006/relationships/notesMaster" Target="/ppt/notesMasters/notesMaster1.xml" Id="Rd26be6e9adc64d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dd93fba8cf4458" /><Relationship Type="http://schemas.openxmlformats.org/officeDocument/2006/relationships/notesMaster" Target="/ppt/notesMasters/notesMaster1.xml" Id="Rcb710d4c5f3640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8d5f39d10c4089" /><Relationship Type="http://schemas.openxmlformats.org/officeDocument/2006/relationships/notesMaster" Target="/ppt/notesMasters/notesMaster1.xml" Id="Rd219f8eed3e945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structure,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(active menu structure,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codes and labels,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codes and labels,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  <a:p xmlns:a="http://schemas.openxmlformats.org/drawingml/2006/main">
            <a:r>
              <a:t>- D:/work/data-editing-system/frontend/config/menu.config.js (menu codes and labels,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D:/work/data-editing-system/frontend/help/in-deps-system-guide.html (content source, accessed 2026-08-26)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4cd0602f3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e6e60a77749c3" /><Relationship Type="http://schemas.openxmlformats.org/officeDocument/2006/relationships/slideLayout" Target="/ppt/slideLayouts/slideLayout1.xml" Id="R0c02d56fc2af4d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02d56fc2af4d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b6e6a9e949ff" /><Relationship Type="http://schemas.openxmlformats.org/officeDocument/2006/relationships/image" Target="/ppt/media/image.png" Id="R3763695cad804a89" /><Relationship Type="http://schemas.openxmlformats.org/officeDocument/2006/relationships/image" Target="/ppt/media/image2.png" Id="Rbe8a36794f794be1" /><Relationship Type="http://schemas.openxmlformats.org/officeDocument/2006/relationships/notesSlide" Target="/ppt/notesSlides/notesSlide1.xml" Id="R984a45879ad44b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d8ccead2b4c77" /><Relationship Type="http://schemas.openxmlformats.org/officeDocument/2006/relationships/notesSlide" Target="/ppt/notesSlides/notesSlide2.xml" Id="R1cf493a6c3fd47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e107f583e4187" /><Relationship Type="http://schemas.openxmlformats.org/officeDocument/2006/relationships/notesSlide" Target="/ppt/notesSlides/notesSlide3.xml" Id="Ra05f17d642524c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b324cc274950" /><Relationship Type="http://schemas.openxmlformats.org/officeDocument/2006/relationships/notesSlide" Target="/ppt/notesSlides/notesSlide4.xml" Id="Rcb6ed54235dc41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0e0bda54147b3" /><Relationship Type="http://schemas.openxmlformats.org/officeDocument/2006/relationships/notesSlide" Target="/ppt/notesSlides/notesSlide5.xml" Id="Rb7d92625de8a40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1e590b08e43b6" /><Relationship Type="http://schemas.openxmlformats.org/officeDocument/2006/relationships/notesSlide" Target="/ppt/notesSlides/notesSlide6.xml" Id="Re41def23eb9646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46ef392c6499b" /><Relationship Type="http://schemas.openxmlformats.org/officeDocument/2006/relationships/notesSlide" Target="/ppt/notesSlides/notesSlide7.xml" Id="R8c3cd896d8be40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4c8a648704294" /><Relationship Type="http://schemas.openxmlformats.org/officeDocument/2006/relationships/notesSlide" Target="/ppt/notesSlides/notesSlide8.xml" Id="R7effe4bf39b94a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8a31aaf2c49c3" /><Relationship Type="http://schemas.openxmlformats.org/officeDocument/2006/relationships/notesSlide" Target="/ppt/notesSlides/notesSlide9.xml" Id="R5128c1448a6448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9e61e79ee4469" /><Relationship Type="http://schemas.openxmlformats.org/officeDocument/2006/relationships/notesSlide" Target="/ppt/notesSlides/notesSlide10.xml" Id="Ref35082645104d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8d6d7d7b34d99" /><Relationship Type="http://schemas.openxmlformats.org/officeDocument/2006/relationships/notesSlide" Target="/ppt/notesSlides/notesSlide11.xml" Id="R526dbef24aaf44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2a090cdfc4c1b" /><Relationship Type="http://schemas.openxmlformats.org/officeDocument/2006/relationships/notesSlide" Target="/ppt/notesSlides/notesSlide12.xml" Id="R5574c30ad47a42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f04502f7482c" /><Relationship Type="http://schemas.openxmlformats.org/officeDocument/2006/relationships/notesSlide" Target="/ppt/notesSlides/notesSlide13.xml" Id="Ra9e7db15184343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70474a38c4f9a" /><Relationship Type="http://schemas.openxmlformats.org/officeDocument/2006/relationships/notesSlide" Target="/ppt/notesSlides/notesSlide14.xml" Id="Rbaa73c50a43d4e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38dfe86664a5b" /><Relationship Type="http://schemas.openxmlformats.org/officeDocument/2006/relationships/notesSlide" Target="/ppt/notesSlides/notesSlide15.xml" Id="R2825ce37a6c440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823b2029418d" /><Relationship Type="http://schemas.openxmlformats.org/officeDocument/2006/relationships/notesSlide" Target="/ppt/notesSlides/notesSlide16.xml" Id="Rd9ba75588be744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2856f99be4a1f" /><Relationship Type="http://schemas.openxmlformats.org/officeDocument/2006/relationships/notesSlide" Target="/ppt/notesSlides/notesSlide17.xml" Id="R1991d757924440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e13e443f14abc" /><Relationship Type="http://schemas.openxmlformats.org/officeDocument/2006/relationships/notesSlide" Target="/ppt/notesSlides/notesSlide18.xml" Id="R3c54c6e593b948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e129cba014774" /><Relationship Type="http://schemas.openxmlformats.org/officeDocument/2006/relationships/notesSlide" Target="/ppt/notesSlides/notesSlide19.xml" Id="Ra80b2c26822e40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d8d97124e4f3f" /><Relationship Type="http://schemas.openxmlformats.org/officeDocument/2006/relationships/notesSlide" Target="/ppt/notesSlides/notesSlide20.xml" Id="R100dba37339d46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ae00e1cc34d0c" /><Relationship Type="http://schemas.openxmlformats.org/officeDocument/2006/relationships/notesSlide" Target="/ppt/notesSlides/notesSlide21.xml" Id="R85679b44840b4a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49e8201104af4" /><Relationship Type="http://schemas.openxmlformats.org/officeDocument/2006/relationships/notesSlide" Target="/ppt/notesSlides/notesSlide22.xml" Id="R1ba02b503c1849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f5e063ad6486b" /><Relationship Type="http://schemas.openxmlformats.org/officeDocument/2006/relationships/notesSlide" Target="/ppt/notesSlides/notesSlide23.xml" Id="R5414893cb17345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c4c330aad4610" /><Relationship Type="http://schemas.openxmlformats.org/officeDocument/2006/relationships/image" Target="/ppt/media/image3.png" Id="Re596ddc752fb49a2" /><Relationship Type="http://schemas.openxmlformats.org/officeDocument/2006/relationships/image" Target="/ppt/media/image4.png" Id="R0398ad5144844c49" /><Relationship Type="http://schemas.openxmlformats.org/officeDocument/2006/relationships/notesSlide" Target="/ppt/notesSlides/notesSlide24.xml" Id="R23ce8445cc484e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top">
            <a:extLst xmlns:a="http://schemas.openxmlformats.org/drawingml/2006/main">
              <a:ext uri="{FF2B5EF4-FFF2-40B4-BE49-F238E27FC236}">
                <a16:creationId xmlns:a16="http://schemas.microsoft.com/office/drawing/2014/main" id="{61B7010F-4FFF-4098-AD17-5C26A8D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2" name="cover-right">
            <a:extLst xmlns:a="http://schemas.openxmlformats.org/drawingml/2006/main">
              <a:ext uri="{FF2B5EF4-FFF2-40B4-BE49-F238E27FC236}">
                <a16:creationId xmlns:a16="http://schemas.microsoft.com/office/drawing/2014/main" id="{2DEC59DA-D705-4D2E-9AD1-89292377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0"/>
            <a:ext cx="118110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3" name="cover-right-accent">
            <a:extLst xmlns:a="http://schemas.openxmlformats.org/drawingml/2006/main">
              <a:ext uri="{FF2B5EF4-FFF2-40B4-BE49-F238E27FC236}">
                <a16:creationId xmlns:a16="http://schemas.microsoft.com/office/drawing/2014/main" id="{677E3FC0-60A8-4356-B38A-4925CB00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2476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3695cad804a89"/>
          <a:stretch xmlns:a="http://schemas.openxmlformats.org/drawingml/2006/main"/>
        </p:blipFill>
        <p:spPr>
          <a:xfrm xmlns:a="http://schemas.openxmlformats.org/drawingml/2006/main">
            <a:off x="591776" y="742950"/>
            <a:ext cx="5331549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2D34BBD-B7EF-4C76-92FC-B74E58F4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718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SYSTEM INTRODUCTION · PRINT EDITION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6192594-3BA7-49B1-9EBB-C100FA40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인아이티 데이터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플랫폼 시스템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F4CE10E-5047-4927-AEEB-AA01F7A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9117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데이터 선정부터 규칙 발굴, 검토·수정, 운영 반영까지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하나의 추적 가능한 흐름으로 연결하는 IN-DEPS 시스템 소개서</a:t>
            </a:r>
          </a:p>
        </p:txBody>
      </p:sp>
      <p:sp>
        <p:nvSpPr>
          <p:cNvPr id="8" name="cover-statement-line">
            <a:extLst xmlns:a="http://schemas.openxmlformats.org/drawingml/2006/main">
              <a:ext uri="{FF2B5EF4-FFF2-40B4-BE49-F238E27FC236}">
                <a16:creationId xmlns:a16="http://schemas.microsoft.com/office/drawing/2014/main" id="{B4E06988-85F9-4084-A762-B987B8C6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675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9" name="cover-statement">
            <a:extLst xmlns:a="http://schemas.openxmlformats.org/drawingml/2006/main">
              <a:ext uri="{FF2B5EF4-FFF2-40B4-BE49-F238E27FC236}">
                <a16:creationId xmlns:a16="http://schemas.microsoft.com/office/drawing/2014/main" id="{177D4ED1-F64E-40C5-BBFA-1C281BB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근거를 만들고, 사람이 결정하며,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모든 변경을 Run과 감사 이력으로 추적합니다.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a36794f794be1"/>
          <a:stretch xmlns:a="http://schemas.openxmlformats.org/drawingml/2006/main"/>
        </p:blipFill>
        <p:spPr>
          <a:xfrm xmlns:a="http://schemas.openxmlformats.org/drawingml/2006/main">
            <a:off x="590550" y="9375619"/>
            <a:ext cx="1866900" cy="527363"/>
          </a:xfrm>
          <a:prstGeom xmlns:a="http://schemas.openxmlformats.org/drawingml/2006/main" prst="rect">
            <a:avLst/>
          </a:prstGeom>
        </p:spPr>
      </p:pic>
      <p:sp>
        <p:nvSpPr>
          <p:cNvPr id="11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53043919-5E56-478D-97C1-DDCD0B23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44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A4 PORTRAIT · EDITABLE POWERPOINT + PRINT PDF</a:t>
            </a:r>
          </a:p>
        </p:txBody>
      </p:sp>
    </p:spTree>
    <p:extLst>
      <p:ext uri="{BB962C8B-B14F-4D97-AF65-F5344CB8AC3E}">
        <p14:creationId xmlns:p14="http://schemas.microsoft.com/office/powerpoint/2010/main" val="102339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ge-2-rail">
            <a:extLst xmlns:a="http://schemas.openxmlformats.org/drawingml/2006/main">
              <a:ext uri="{FF2B5EF4-FFF2-40B4-BE49-F238E27FC236}">
                <a16:creationId xmlns:a16="http://schemas.microsoft.com/office/drawing/2014/main" id="{5643C11A-4B80-4F26-88D4-2D9C3C8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2-chapter">
            <a:extLst xmlns:a="http://schemas.openxmlformats.org/drawingml/2006/main">
              <a:ext uri="{FF2B5EF4-FFF2-40B4-BE49-F238E27FC236}">
                <a16:creationId xmlns:a16="http://schemas.microsoft.com/office/drawing/2014/main" id="{B8976FB3-B50D-4A66-B0B7-620CBE4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INTRODUCTION</a:t>
            </a:r>
          </a:p>
        </p:txBody>
      </p:sp>
      <p:sp>
        <p:nvSpPr>
          <p:cNvPr id="3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33A9D233-C37B-4465-80D3-DF74A4C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하나의 흐름으로 데이터 품질을 관리합니다</a:t>
            </a:r>
          </a:p>
        </p:txBody>
      </p:sp>
      <p:sp>
        <p:nvSpPr>
          <p:cNvPr id="4" name="page-2-subtitle">
            <a:extLst xmlns:a="http://schemas.openxmlformats.org/drawingml/2006/main">
              <a:ext uri="{FF2B5EF4-FFF2-40B4-BE49-F238E27FC236}">
                <a16:creationId xmlns:a16="http://schemas.microsoft.com/office/drawing/2014/main" id="{7EAABE6B-E84D-4858-BCD8-C325C7AB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IN-DEPS는 분석 모델만 제공하는 도구가 아니라, 데이터 품질 판단의 근거와 사람이 승인한 변경 과정을 함께 관리하는 데이터 에디팅 플랫폼입니다.</a:t>
            </a:r>
          </a:p>
        </p:txBody>
      </p:sp>
      <p:sp>
        <p:nvSpPr>
          <p:cNvPr id="5" name="page-2-top-rule">
            <a:extLst xmlns:a="http://schemas.openxmlformats.org/drawingml/2006/main">
              <a:ext uri="{FF2B5EF4-FFF2-40B4-BE49-F238E27FC236}">
                <a16:creationId xmlns:a16="http://schemas.microsoft.com/office/drawing/2014/main" id="{82782EB3-A641-4D89-B5E9-BA4043A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-footer-rule">
            <a:extLst xmlns:a="http://schemas.openxmlformats.org/drawingml/2006/main">
              <a:ext uri="{FF2B5EF4-FFF2-40B4-BE49-F238E27FC236}">
                <a16:creationId xmlns:a16="http://schemas.microsoft.com/office/drawing/2014/main" id="{A9E7DB03-9CBD-4E4D-AE7F-C74AE9B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-footer-name">
            <a:extLst xmlns:a="http://schemas.openxmlformats.org/drawingml/2006/main">
              <a:ext uri="{FF2B5EF4-FFF2-40B4-BE49-F238E27FC236}">
                <a16:creationId xmlns:a16="http://schemas.microsoft.com/office/drawing/2014/main" id="{749E085D-9144-41C1-A5D1-014BF4D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-footer-number">
            <a:extLst xmlns:a="http://schemas.openxmlformats.org/drawingml/2006/main">
              <a:ext uri="{FF2B5EF4-FFF2-40B4-BE49-F238E27FC236}">
                <a16:creationId xmlns:a16="http://schemas.microsoft.com/office/drawing/2014/main" id="{7244B47A-8E63-4EC5-84F5-1C9F855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p2-big-statement">
            <a:extLst xmlns:a="http://schemas.openxmlformats.org/drawingml/2006/main">
              <a:ext uri="{FF2B5EF4-FFF2-40B4-BE49-F238E27FC236}">
                <a16:creationId xmlns:a16="http://schemas.microsoft.com/office/drawing/2014/main" id="{55DAF80C-9807-4CBC-B44D-20E3802E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발견 → 검토 → 수정 → 검증 → 반영</a:t>
            </a:r>
          </a:p>
        </p:txBody>
      </p:sp>
      <p:sp>
        <p:nvSpPr>
          <p:cNvPr id="10" name="p2-big-caption">
            <a:extLst xmlns:a="http://schemas.openxmlformats.org/drawingml/2006/main">
              <a:ext uri="{FF2B5EF4-FFF2-40B4-BE49-F238E27FC236}">
                <a16:creationId xmlns:a16="http://schemas.microsoft.com/office/drawing/2014/main" id="{7F1551FE-1494-465D-B4BB-D99FC4A5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569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각 단계는 독립된 책임을 가지며, 모든 실행은 프로젝트·시나리오·Target DB·Flow Run 컨텍스트 안에서 연결됩니다.</a:t>
            </a:r>
          </a:p>
        </p:txBody>
      </p:sp>
      <p:sp>
        <p:nvSpPr>
          <p:cNvPr id="11" name="p2-trace-fill">
            <a:extLst xmlns:a="http://schemas.openxmlformats.org/drawingml/2006/main">
              <a:ext uri="{FF2B5EF4-FFF2-40B4-BE49-F238E27FC236}">
                <a16:creationId xmlns:a16="http://schemas.microsoft.com/office/drawing/2014/main" id="{35954413-5F2C-46E8-932B-DECF415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2" name="p2-trace-accent">
            <a:extLst xmlns:a="http://schemas.openxmlformats.org/drawingml/2006/main">
              <a:ext uri="{FF2B5EF4-FFF2-40B4-BE49-F238E27FC236}">
                <a16:creationId xmlns:a16="http://schemas.microsoft.com/office/drawing/2014/main" id="{CE183A18-B099-4863-B810-62FE0597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3" name="p2-trace-kicker">
            <a:extLst xmlns:a="http://schemas.openxmlformats.org/drawingml/2006/main">
              <a:ext uri="{FF2B5EF4-FFF2-40B4-BE49-F238E27FC236}">
                <a16:creationId xmlns:a16="http://schemas.microsoft.com/office/drawing/2014/main" id="{A9D13EFB-BC05-404C-9BD8-9278F076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TRACEABILITY</a:t>
            </a:r>
          </a:p>
        </p:txBody>
      </p:sp>
      <p:sp>
        <p:nvSpPr>
          <p:cNvPr id="14" name="p2-trace-title">
            <a:extLst xmlns:a="http://schemas.openxmlformats.org/drawingml/2006/main">
              <a:ext uri="{FF2B5EF4-FFF2-40B4-BE49-F238E27FC236}">
                <a16:creationId xmlns:a16="http://schemas.microsoft.com/office/drawing/2014/main" id="{445D8F21-2A2B-47B1-803D-7ED8CB6E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근거가 남는 분석</a:t>
            </a:r>
          </a:p>
        </p:txBody>
      </p:sp>
      <p:sp>
        <p:nvSpPr>
          <p:cNvPr id="15" name="p2-trace-body">
            <a:extLst xmlns:a="http://schemas.openxmlformats.org/drawingml/2006/main">
              <a:ext uri="{FF2B5EF4-FFF2-40B4-BE49-F238E27FC236}">
                <a16:creationId xmlns:a16="http://schemas.microsoft.com/office/drawing/2014/main" id="{AACEC25F-60E3-4FFD-A39C-89831FBA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컬럼 프로파일, 관계 지표, 규칙 품질, 위반 상세와 실제 Run 파라미터를 함께 보존합니다.</a:t>
            </a:r>
          </a:p>
        </p:txBody>
      </p:sp>
      <p:sp>
        <p:nvSpPr>
          <p:cNvPr id="16" name="p2-human-fill">
            <a:extLst xmlns:a="http://schemas.openxmlformats.org/drawingml/2006/main">
              <a:ext uri="{FF2B5EF4-FFF2-40B4-BE49-F238E27FC236}">
                <a16:creationId xmlns:a16="http://schemas.microsoft.com/office/drawing/2014/main" id="{267EEA6B-EF28-40FF-8669-DBB3A05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7" name="p2-human-accent">
            <a:extLst xmlns:a="http://schemas.openxmlformats.org/drawingml/2006/main">
              <a:ext uri="{FF2B5EF4-FFF2-40B4-BE49-F238E27FC236}">
                <a16:creationId xmlns:a16="http://schemas.microsoft.com/office/drawing/2014/main" id="{F0559BAD-E935-4A70-A8E1-5E4BA1E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8" name="p2-human-kicker">
            <a:extLst xmlns:a="http://schemas.openxmlformats.org/drawingml/2006/main">
              <a:ext uri="{FF2B5EF4-FFF2-40B4-BE49-F238E27FC236}">
                <a16:creationId xmlns:a16="http://schemas.microsoft.com/office/drawing/2014/main" id="{99BA0EE8-4E5B-4C25-9B21-975E7C78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HUMAN REVIEW</a:t>
            </a:r>
          </a:p>
        </p:txBody>
      </p:sp>
      <p:sp>
        <p:nvSpPr>
          <p:cNvPr id="19" name="p2-human-title">
            <a:extLst xmlns:a="http://schemas.openxmlformats.org/drawingml/2006/main">
              <a:ext uri="{FF2B5EF4-FFF2-40B4-BE49-F238E27FC236}">
                <a16:creationId xmlns:a16="http://schemas.microsoft.com/office/drawing/2014/main" id="{1944C1CE-70FF-4171-BD08-8831FD6D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388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사람이 내리는 결정</a:t>
            </a:r>
          </a:p>
        </p:txBody>
      </p:sp>
      <p:sp>
        <p:nvSpPr>
          <p:cNvPr id="20" name="p2-human-body">
            <a:extLst xmlns:a="http://schemas.openxmlformats.org/drawingml/2006/main">
              <a:ext uri="{FF2B5EF4-FFF2-40B4-BE49-F238E27FC236}">
                <a16:creationId xmlns:a16="http://schemas.microsoft.com/office/drawing/2014/main" id="{9ECCDC54-FBED-475B-AA5E-30F9F419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2930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모델과 Rule 결과는 후보를 만들고, 최종 규칙 선정과 데이터 수정·운영 반영은 검토와 권한을 통과합니다.</a:t>
            </a:r>
          </a:p>
        </p:txBody>
      </p:sp>
      <p:sp>
        <p:nvSpPr>
          <p:cNvPr id="21" name="p2-control-fill">
            <a:extLst xmlns:a="http://schemas.openxmlformats.org/drawingml/2006/main">
              <a:ext uri="{FF2B5EF4-FFF2-40B4-BE49-F238E27FC236}">
                <a16:creationId xmlns:a16="http://schemas.microsoft.com/office/drawing/2014/main" id="{1EDD9C08-059D-4CC5-A0C9-AF7C89A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2" name="p2-control-accent">
            <a:extLst xmlns:a="http://schemas.openxmlformats.org/drawingml/2006/main">
              <a:ext uri="{FF2B5EF4-FFF2-40B4-BE49-F238E27FC236}">
                <a16:creationId xmlns:a16="http://schemas.microsoft.com/office/drawing/2014/main" id="{E059ADDE-F50E-4B5C-BF97-03EDE8AC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48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3" name="p2-control-kicker">
            <a:extLst xmlns:a="http://schemas.openxmlformats.org/drawingml/2006/main">
              <a:ext uri="{FF2B5EF4-FFF2-40B4-BE49-F238E27FC236}">
                <a16:creationId xmlns:a16="http://schemas.microsoft.com/office/drawing/2014/main" id="{2BC5B2C3-8024-4E52-A7A3-1B47ADEA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19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CONTROLLED CHANGE</a:t>
            </a:r>
          </a:p>
        </p:txBody>
      </p:sp>
      <p:sp>
        <p:nvSpPr>
          <p:cNvPr id="24" name="p2-control-title">
            <a:extLst xmlns:a="http://schemas.openxmlformats.org/drawingml/2006/main">
              <a:ext uri="{FF2B5EF4-FFF2-40B4-BE49-F238E27FC236}">
                <a16:creationId xmlns:a16="http://schemas.microsoft.com/office/drawing/2014/main" id="{E4D39232-34A6-4BBB-903C-3E159D0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676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통제되는 운영 반영</a:t>
            </a:r>
          </a:p>
        </p:txBody>
      </p:sp>
      <p:sp>
        <p:nvSpPr>
          <p:cNvPr id="25" name="p2-control-body">
            <a:extLst xmlns:a="http://schemas.openxmlformats.org/drawingml/2006/main">
              <a:ext uri="{FF2B5EF4-FFF2-40B4-BE49-F238E27FC236}">
                <a16:creationId xmlns:a16="http://schemas.microsoft.com/office/drawing/2014/main" id="{ABB53D45-D105-41E8-88D9-31A6C07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25805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원본 기준본, 편집본, 효과 검증과 버전 DML을 분리해 자동 탐지가 원본 변경으로 직결되지 않도록 설계합니다.</a:t>
            </a:r>
          </a:p>
        </p:txBody>
      </p:sp>
      <p:sp>
        <p:nvSpPr>
          <p:cNvPr id="26" name="p2-callout-fill">
            <a:extLst xmlns:a="http://schemas.openxmlformats.org/drawingml/2006/main">
              <a:ext uri="{FF2B5EF4-FFF2-40B4-BE49-F238E27FC236}">
                <a16:creationId xmlns:a16="http://schemas.microsoft.com/office/drawing/2014/main" id="{E28A5270-D425-4C4A-B23F-E12DE6A7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7" name="p2-callout-accent">
            <a:extLst xmlns:a="http://schemas.openxmlformats.org/drawingml/2006/main">
              <a:ext uri="{FF2B5EF4-FFF2-40B4-BE49-F238E27FC236}">
                <a16:creationId xmlns:a16="http://schemas.microsoft.com/office/drawing/2014/main" id="{8D85E980-BDB1-4634-9E0C-5B47473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8" name="p2-callout-text">
            <a:extLst xmlns:a="http://schemas.openxmlformats.org/drawingml/2006/main">
              <a:ext uri="{FF2B5EF4-FFF2-40B4-BE49-F238E27FC236}">
                <a16:creationId xmlns:a16="http://schemas.microsoft.com/office/drawing/2014/main" id="{F22FC2E7-E32D-4325-B076-2B8A363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0110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핵심 원칙 · 좋은 결과는 실행 성공 여부가 아니라, 설명 가능한 근거와 검토 가능한 변경 과정으로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750326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3-rail">
            <a:extLst xmlns:a="http://schemas.openxmlformats.org/drawingml/2006/main">
              <a:ext uri="{FF2B5EF4-FFF2-40B4-BE49-F238E27FC236}">
                <a16:creationId xmlns:a16="http://schemas.microsoft.com/office/drawing/2014/main" id="{7A4C2404-D1C6-4A06-B9C0-D57A476F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3-chapter">
            <a:extLst xmlns:a="http://schemas.openxmlformats.org/drawingml/2006/main">
              <a:ext uri="{FF2B5EF4-FFF2-40B4-BE49-F238E27FC236}">
                <a16:creationId xmlns:a16="http://schemas.microsoft.com/office/drawing/2014/main" id="{F8F00057-9F2C-4D76-B899-50BE2D0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GUIDE MAP</a:t>
            </a:r>
          </a:p>
        </p:txBody>
      </p:sp>
      <p:sp>
        <p:nvSpPr>
          <p:cNvPr id="3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FA3F6FB3-7636-4670-B10B-C5EF3EA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이 소개서는 업무 흐름을 따라 읽도록 구성했습니다</a:t>
            </a:r>
          </a:p>
        </p:txBody>
      </p:sp>
      <p:sp>
        <p:nvSpPr>
          <p:cNvPr id="4" name="page-3-subtitle">
            <a:extLst xmlns:a="http://schemas.openxmlformats.org/drawingml/2006/main">
              <a:ext uri="{FF2B5EF4-FFF2-40B4-BE49-F238E27FC236}">
                <a16:creationId xmlns:a16="http://schemas.microsoft.com/office/drawing/2014/main" id="{ED8DA711-0450-42AB-BE1D-5593A66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웹 페이지의 섹션 순서를 그대로 인쇄하지 않고, 하나의 질문에 한 페이지가 답하도록 내용을 다시 묶었습니다.</a:t>
            </a:r>
          </a:p>
        </p:txBody>
      </p:sp>
      <p:sp>
        <p:nvSpPr>
          <p:cNvPr id="5" name="page-3-top-rule">
            <a:extLst xmlns:a="http://schemas.openxmlformats.org/drawingml/2006/main">
              <a:ext uri="{FF2B5EF4-FFF2-40B4-BE49-F238E27FC236}">
                <a16:creationId xmlns:a16="http://schemas.microsoft.com/office/drawing/2014/main" id="{91535DA4-2A7E-4458-9553-AF661417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3-footer-rule">
            <a:extLst xmlns:a="http://schemas.openxmlformats.org/drawingml/2006/main">
              <a:ext uri="{FF2B5EF4-FFF2-40B4-BE49-F238E27FC236}">
                <a16:creationId xmlns:a16="http://schemas.microsoft.com/office/drawing/2014/main" id="{30121504-B1F8-4248-8267-288AEC3E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3-footer-name">
            <a:extLst xmlns:a="http://schemas.openxmlformats.org/drawingml/2006/main">
              <a:ext uri="{FF2B5EF4-FFF2-40B4-BE49-F238E27FC236}">
                <a16:creationId xmlns:a16="http://schemas.microsoft.com/office/drawing/2014/main" id="{DBA06FDE-9E07-4E47-93D5-DBBE3D60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3-footer-number">
            <a:extLst xmlns:a="http://schemas.openxmlformats.org/drawingml/2006/main">
              <a:ext uri="{FF2B5EF4-FFF2-40B4-BE49-F238E27FC236}">
                <a16:creationId xmlns:a16="http://schemas.microsoft.com/office/drawing/2014/main" id="{DB135E67-C1D0-4115-BBA1-B55C8C7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p3-num-01-circle">
            <a:extLst xmlns:a="http://schemas.openxmlformats.org/drawingml/2006/main">
              <a:ext uri="{FF2B5EF4-FFF2-40B4-BE49-F238E27FC236}">
                <a16:creationId xmlns:a16="http://schemas.microsoft.com/office/drawing/2014/main" id="{5A01B883-BFF4-4716-8555-6295690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0" name="p3-num-01-number">
            <a:extLst xmlns:a="http://schemas.openxmlformats.org/drawingml/2006/main">
              <a:ext uri="{FF2B5EF4-FFF2-40B4-BE49-F238E27FC236}">
                <a16:creationId xmlns:a16="http://schemas.microsoft.com/office/drawing/2014/main" id="{18934C6B-1BAC-4B53-84D8-4F2E60A3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p3-title-01">
            <a:extLst xmlns:a="http://schemas.openxmlformats.org/drawingml/2006/main">
              <a:ext uri="{FF2B5EF4-FFF2-40B4-BE49-F238E27FC236}">
                <a16:creationId xmlns:a16="http://schemas.microsoft.com/office/drawing/2014/main" id="{D1C42BCA-E7F8-4AD5-8F18-6D1A879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흐름과 시스템 구조</a:t>
            </a:r>
          </a:p>
        </p:txBody>
      </p:sp>
      <p:sp>
        <p:nvSpPr>
          <p:cNvPr id="12" name="p3-desc-01">
            <a:extLst xmlns:a="http://schemas.openxmlformats.org/drawingml/2006/main">
              <a:ext uri="{FF2B5EF4-FFF2-40B4-BE49-F238E27FC236}">
                <a16:creationId xmlns:a16="http://schemas.microsoft.com/office/drawing/2014/main" id="{B0BA9B8F-EF2B-496D-A1AB-1A38BFC3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전체 프로세스, 아키텍처, 운영 원칙</a:t>
            </a:r>
          </a:p>
        </p:txBody>
      </p:sp>
      <p:sp>
        <p:nvSpPr>
          <p:cNvPr id="13" name="p3-pages-01">
            <a:extLst xmlns:a="http://schemas.openxmlformats.org/drawingml/2006/main">
              <a:ext uri="{FF2B5EF4-FFF2-40B4-BE49-F238E27FC236}">
                <a16:creationId xmlns:a16="http://schemas.microsoft.com/office/drawing/2014/main" id="{49C0F1D8-5C40-4EA0-B84D-B7EF5E6C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04–06</a:t>
            </a:r>
          </a:p>
        </p:txBody>
      </p:sp>
      <p:sp>
        <p:nvSpPr>
          <p:cNvPr id="14" name="p3-line-0">
            <a:extLst xmlns:a="http://schemas.openxmlformats.org/drawingml/2006/main">
              <a:ext uri="{FF2B5EF4-FFF2-40B4-BE49-F238E27FC236}">
                <a16:creationId xmlns:a16="http://schemas.microsoft.com/office/drawing/2014/main" id="{B42699E8-FB87-4D44-AD97-F4276326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5" name="p3-num-02-circle">
            <a:extLst xmlns:a="http://schemas.openxmlformats.org/drawingml/2006/main">
              <a:ext uri="{FF2B5EF4-FFF2-40B4-BE49-F238E27FC236}">
                <a16:creationId xmlns:a16="http://schemas.microsoft.com/office/drawing/2014/main" id="{C89DF685-32B2-4939-ADF3-81C3EE5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6" name="p3-num-02-number">
            <a:extLst xmlns:a="http://schemas.openxmlformats.org/drawingml/2006/main">
              <a:ext uri="{FF2B5EF4-FFF2-40B4-BE49-F238E27FC236}">
                <a16:creationId xmlns:a16="http://schemas.microsoft.com/office/drawing/2014/main" id="{D27FBC58-8937-4324-98EC-79BEBED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p3-title-02">
            <a:extLst xmlns:a="http://schemas.openxmlformats.org/drawingml/2006/main">
              <a:ext uri="{FF2B5EF4-FFF2-40B4-BE49-F238E27FC236}">
                <a16:creationId xmlns:a16="http://schemas.microsoft.com/office/drawing/2014/main" id="{4CC5A648-336D-42A8-B10E-7387A6EC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규칙 발굴 4단계</a:t>
            </a:r>
          </a:p>
        </p:txBody>
      </p:sp>
      <p:sp>
        <p:nvSpPr>
          <p:cNvPr id="18" name="p3-desc-02">
            <a:extLst xmlns:a="http://schemas.openxmlformats.org/drawingml/2006/main">
              <a:ext uri="{FF2B5EF4-FFF2-40B4-BE49-F238E27FC236}">
                <a16:creationId xmlns:a16="http://schemas.microsoft.com/office/drawing/2014/main" id="{A0372DBE-4D25-4C82-8D22-A73A4200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컬럼 유형, 관계, 규칙, 위반, SAME_RUN</a:t>
            </a:r>
          </a:p>
        </p:txBody>
      </p:sp>
      <p:sp>
        <p:nvSpPr>
          <p:cNvPr id="19" name="p3-pages-02">
            <a:extLst xmlns:a="http://schemas.openxmlformats.org/drawingml/2006/main">
              <a:ext uri="{FF2B5EF4-FFF2-40B4-BE49-F238E27FC236}">
                <a16:creationId xmlns:a16="http://schemas.microsoft.com/office/drawing/2014/main" id="{FB479221-7B45-41ED-9700-A60BB9F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07–11</a:t>
            </a:r>
          </a:p>
        </p:txBody>
      </p:sp>
      <p:sp>
        <p:nvSpPr>
          <p:cNvPr id="20" name="p3-line-1">
            <a:extLst xmlns:a="http://schemas.openxmlformats.org/drawingml/2006/main">
              <a:ext uri="{FF2B5EF4-FFF2-40B4-BE49-F238E27FC236}">
                <a16:creationId xmlns:a16="http://schemas.microsoft.com/office/drawing/2014/main" id="{AF252F0F-08B8-43BF-B8AC-856540A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1" name="p3-num-03-circle">
            <a:extLst xmlns:a="http://schemas.openxmlformats.org/drawingml/2006/main">
              <a:ext uri="{FF2B5EF4-FFF2-40B4-BE49-F238E27FC236}">
                <a16:creationId xmlns:a16="http://schemas.microsoft.com/office/drawing/2014/main" id="{83874288-98CC-4C42-BD14-2481DAE8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2" name="p3-num-03-number">
            <a:extLst xmlns:a="http://schemas.openxmlformats.org/drawingml/2006/main">
              <a:ext uri="{FF2B5EF4-FFF2-40B4-BE49-F238E27FC236}">
                <a16:creationId xmlns:a16="http://schemas.microsoft.com/office/drawing/2014/main" id="{892DC25F-A4A3-4EEA-ADBB-35882543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p3-title-03">
            <a:extLst xmlns:a="http://schemas.openxmlformats.org/drawingml/2006/main">
              <a:ext uri="{FF2B5EF4-FFF2-40B4-BE49-F238E27FC236}">
                <a16:creationId xmlns:a16="http://schemas.microsoft.com/office/drawing/2014/main" id="{9A932044-089D-4C3B-B5C4-82ED8DCF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Flow 실행과 결과 해석</a:t>
            </a:r>
          </a:p>
        </p:txBody>
      </p:sp>
      <p:sp>
        <p:nvSpPr>
          <p:cNvPr id="24" name="p3-desc-03">
            <a:extLst xmlns:a="http://schemas.openxmlformats.org/drawingml/2006/main">
              <a:ext uri="{FF2B5EF4-FFF2-40B4-BE49-F238E27FC236}">
                <a16:creationId xmlns:a16="http://schemas.microsoft.com/office/drawing/2014/main" id="{E4F24F69-D1DA-48A4-B361-865D8F9A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DAG 검증, 실행 경로, 상태 해석</a:t>
            </a:r>
          </a:p>
        </p:txBody>
      </p:sp>
      <p:sp>
        <p:nvSpPr>
          <p:cNvPr id="25" name="p3-pages-03">
            <a:extLst xmlns:a="http://schemas.openxmlformats.org/drawingml/2006/main">
              <a:ext uri="{FF2B5EF4-FFF2-40B4-BE49-F238E27FC236}">
                <a16:creationId xmlns:a16="http://schemas.microsoft.com/office/drawing/2014/main" id="{C69DD812-5062-46A1-8B54-4A93842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12–14</a:t>
            </a:r>
          </a:p>
        </p:txBody>
      </p:sp>
      <p:sp>
        <p:nvSpPr>
          <p:cNvPr id="26" name="p3-line-2">
            <a:extLst xmlns:a="http://schemas.openxmlformats.org/drawingml/2006/main">
              <a:ext uri="{FF2B5EF4-FFF2-40B4-BE49-F238E27FC236}">
                <a16:creationId xmlns:a16="http://schemas.microsoft.com/office/drawing/2014/main" id="{6D0F816E-1248-454A-8E57-BA5FB0E4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7" name="p3-num-04-circle">
            <a:extLst xmlns:a="http://schemas.openxmlformats.org/drawingml/2006/main">
              <a:ext uri="{FF2B5EF4-FFF2-40B4-BE49-F238E27FC236}">
                <a16:creationId xmlns:a16="http://schemas.microsoft.com/office/drawing/2014/main" id="{76873CCD-DDFE-4BBE-AD51-156278EB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8" name="p3-num-04-number">
            <a:extLst xmlns:a="http://schemas.openxmlformats.org/drawingml/2006/main">
              <a:ext uri="{FF2B5EF4-FFF2-40B4-BE49-F238E27FC236}">
                <a16:creationId xmlns:a16="http://schemas.microsoft.com/office/drawing/2014/main" id="{36F67D97-9D08-4249-996C-A12B3D39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p3-title-04">
            <a:extLst xmlns:a="http://schemas.openxmlformats.org/drawingml/2006/main">
              <a:ext uri="{FF2B5EF4-FFF2-40B4-BE49-F238E27FC236}">
                <a16:creationId xmlns:a16="http://schemas.microsoft.com/office/drawing/2014/main" id="{81C65C0E-7F19-4AF0-A148-D0E0E935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340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결정·수정·운영 반영</a:t>
            </a:r>
          </a:p>
        </p:txBody>
      </p:sp>
      <p:sp>
        <p:nvSpPr>
          <p:cNvPr id="30" name="p3-desc-04">
            <a:extLst xmlns:a="http://schemas.openxmlformats.org/drawingml/2006/main">
              <a:ext uri="{FF2B5EF4-FFF2-40B4-BE49-F238E27FC236}">
                <a16:creationId xmlns:a16="http://schemas.microsoft.com/office/drawing/2014/main" id="{9B36C7F7-4FD5-4892-97DE-7B2B964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24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결정, 편집본, 효과 검증, DML</a:t>
            </a:r>
          </a:p>
        </p:txBody>
      </p:sp>
      <p:sp>
        <p:nvSpPr>
          <p:cNvPr id="31" name="p3-pages-04">
            <a:extLst xmlns:a="http://schemas.openxmlformats.org/drawingml/2006/main">
              <a:ext uri="{FF2B5EF4-FFF2-40B4-BE49-F238E27FC236}">
                <a16:creationId xmlns:a16="http://schemas.microsoft.com/office/drawing/2014/main" id="{115E1CD8-052B-46C1-9AE5-65BAB17D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057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15–16</a:t>
            </a:r>
          </a:p>
        </p:txBody>
      </p:sp>
      <p:sp>
        <p:nvSpPr>
          <p:cNvPr id="32" name="p3-line-3">
            <a:extLst xmlns:a="http://schemas.openxmlformats.org/drawingml/2006/main">
              <a:ext uri="{FF2B5EF4-FFF2-40B4-BE49-F238E27FC236}">
                <a16:creationId xmlns:a16="http://schemas.microsoft.com/office/drawing/2014/main" id="{51DEF734-EF23-4BAC-844A-B80E11F5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437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3" name="p3-num-05-circle">
            <a:extLst xmlns:a="http://schemas.openxmlformats.org/drawingml/2006/main">
              <a:ext uri="{FF2B5EF4-FFF2-40B4-BE49-F238E27FC236}">
                <a16:creationId xmlns:a16="http://schemas.microsoft.com/office/drawing/2014/main" id="{A5B1CE4E-6E5E-472A-8342-1ECBDFBF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34" name="p3-num-05-number">
            <a:extLst xmlns:a="http://schemas.openxmlformats.org/drawingml/2006/main">
              <a:ext uri="{FF2B5EF4-FFF2-40B4-BE49-F238E27FC236}">
                <a16:creationId xmlns:a16="http://schemas.microsoft.com/office/drawing/2014/main" id="{83E23FE4-86C1-4642-BE47-BEDF96FA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62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5" name="p3-title-05">
            <a:extLst xmlns:a="http://schemas.openxmlformats.org/drawingml/2006/main">
              <a:ext uri="{FF2B5EF4-FFF2-40B4-BE49-F238E27FC236}">
                <a16:creationId xmlns:a16="http://schemas.microsoft.com/office/drawing/2014/main" id="{00C6F85F-0BBB-43F1-9F3D-40AF5525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38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전체 업무 메뉴</a:t>
            </a:r>
          </a:p>
        </p:txBody>
      </p:sp>
      <p:sp>
        <p:nvSpPr>
          <p:cNvPr id="36" name="p3-desc-05">
            <a:extLst xmlns:a="http://schemas.openxmlformats.org/drawingml/2006/main">
              <a:ext uri="{FF2B5EF4-FFF2-40B4-BE49-F238E27FC236}">
                <a16:creationId xmlns:a16="http://schemas.microsoft.com/office/drawing/2014/main" id="{4053D58D-14C1-4806-975C-4C0A5379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429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24개 활성 업무 화면과 역할</a:t>
            </a:r>
          </a:p>
        </p:txBody>
      </p:sp>
      <p:sp>
        <p:nvSpPr>
          <p:cNvPr id="37" name="p3-pages-05">
            <a:extLst xmlns:a="http://schemas.openxmlformats.org/drawingml/2006/main">
              <a:ext uri="{FF2B5EF4-FFF2-40B4-BE49-F238E27FC236}">
                <a16:creationId xmlns:a16="http://schemas.microsoft.com/office/drawing/2014/main" id="{D5131034-EBF5-48B8-BF22-FD4E7157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162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17–20</a:t>
            </a:r>
          </a:p>
        </p:txBody>
      </p:sp>
      <p:sp>
        <p:nvSpPr>
          <p:cNvPr id="38" name="p3-line-4">
            <a:extLst xmlns:a="http://schemas.openxmlformats.org/drawingml/2006/main">
              <a:ext uri="{FF2B5EF4-FFF2-40B4-BE49-F238E27FC236}">
                <a16:creationId xmlns:a16="http://schemas.microsoft.com/office/drawing/2014/main" id="{33F70B75-E33C-4AB9-AA39-D37E84E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486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39" name="p3-num-06-circle">
            <a:extLst xmlns:a="http://schemas.openxmlformats.org/drawingml/2006/main">
              <a:ext uri="{FF2B5EF4-FFF2-40B4-BE49-F238E27FC236}">
                <a16:creationId xmlns:a16="http://schemas.microsoft.com/office/drawing/2014/main" id="{8A3AE910-F5AB-4793-BF9F-90259B4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48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40" name="p3-num-06-number">
            <a:extLst xmlns:a="http://schemas.openxmlformats.org/drawingml/2006/main">
              <a:ext uri="{FF2B5EF4-FFF2-40B4-BE49-F238E27FC236}">
                <a16:creationId xmlns:a16="http://schemas.microsoft.com/office/drawing/2014/main" id="{0389CED5-4A63-4EF8-B696-525BAE66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67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1" name="p3-title-06">
            <a:extLst xmlns:a="http://schemas.openxmlformats.org/drawingml/2006/main">
              <a:ext uri="{FF2B5EF4-FFF2-40B4-BE49-F238E27FC236}">
                <a16:creationId xmlns:a16="http://schemas.microsoft.com/office/drawing/2014/main" id="{7396258E-A9CD-4BEF-AEF2-C355F5D4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43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운영·보안·용어</a:t>
            </a:r>
          </a:p>
        </p:txBody>
      </p:sp>
      <p:sp>
        <p:nvSpPr>
          <p:cNvPr id="42" name="p3-desc-06">
            <a:extLst xmlns:a="http://schemas.openxmlformats.org/drawingml/2006/main">
              <a:ext uri="{FF2B5EF4-FFF2-40B4-BE49-F238E27FC236}">
                <a16:creationId xmlns:a16="http://schemas.microsoft.com/office/drawing/2014/main" id="{C515D35F-C432-4D13-9F99-103F629B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34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체크, 보안 경계, 핵심 용어</a:t>
            </a:r>
          </a:p>
        </p:txBody>
      </p:sp>
      <p:sp>
        <p:nvSpPr>
          <p:cNvPr id="43" name="p3-pages-06">
            <a:extLst xmlns:a="http://schemas.openxmlformats.org/drawingml/2006/main">
              <a:ext uri="{FF2B5EF4-FFF2-40B4-BE49-F238E27FC236}">
                <a16:creationId xmlns:a16="http://schemas.microsoft.com/office/drawing/2014/main" id="{E91740D8-7404-4B4E-98AD-8E1A21D7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267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21–24</a:t>
            </a:r>
          </a:p>
        </p:txBody>
      </p:sp>
    </p:spTree>
    <p:extLst>
      <p:ext uri="{BB962C8B-B14F-4D97-AF65-F5344CB8AC3E}">
        <p14:creationId xmlns:p14="http://schemas.microsoft.com/office/powerpoint/2010/main" val="1138000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4-rail">
            <a:extLst xmlns:a="http://schemas.openxmlformats.org/drawingml/2006/main">
              <a:ext uri="{FF2B5EF4-FFF2-40B4-BE49-F238E27FC236}">
                <a16:creationId xmlns:a16="http://schemas.microsoft.com/office/drawing/2014/main" id="{3996B6C7-1FEB-4DF5-9156-9923D69E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4-chapter">
            <a:extLst xmlns:a="http://schemas.openxmlformats.org/drawingml/2006/main">
              <a:ext uri="{FF2B5EF4-FFF2-40B4-BE49-F238E27FC236}">
                <a16:creationId xmlns:a16="http://schemas.microsoft.com/office/drawing/2014/main" id="{41290317-774D-4CBF-AFB7-72E1FE6E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01 · END-TO-END JOURNEY</a:t>
            </a:r>
          </a:p>
        </p:txBody>
      </p:sp>
      <p:sp>
        <p:nvSpPr>
          <p:cNvPr id="3" name="page-4-title">
            <a:extLst xmlns:a="http://schemas.openxmlformats.org/drawingml/2006/main">
              <a:ext uri="{FF2B5EF4-FFF2-40B4-BE49-F238E27FC236}">
                <a16:creationId xmlns:a16="http://schemas.microsoft.com/office/drawing/2014/main" id="{432CC5C0-E720-41E1-B9ED-6BE72C03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여섯 단계가 하나의 추적 가능한 업무를 만듭니다</a:t>
            </a:r>
          </a:p>
        </p:txBody>
      </p:sp>
      <p:sp>
        <p:nvSpPr>
          <p:cNvPr id="4" name="page-4-subtitle">
            <a:extLst xmlns:a="http://schemas.openxmlformats.org/drawingml/2006/main">
              <a:ext uri="{FF2B5EF4-FFF2-40B4-BE49-F238E27FC236}">
                <a16:creationId xmlns:a16="http://schemas.microsoft.com/office/drawing/2014/main" id="{9FAEFF2D-BC67-4F2B-BDE9-6DD4F19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메뉴는 개별 기능의 모음이 아니라, 업무 범위를 정의하고 분석 근거를 만든 뒤 안전한 변경과 보고로 이어지는 연속 프로세스입니다.</a:t>
            </a:r>
          </a:p>
        </p:txBody>
      </p:sp>
      <p:sp>
        <p:nvSpPr>
          <p:cNvPr id="5" name="page-4-top-rule">
            <a:extLst xmlns:a="http://schemas.openxmlformats.org/drawingml/2006/main">
              <a:ext uri="{FF2B5EF4-FFF2-40B4-BE49-F238E27FC236}">
                <a16:creationId xmlns:a16="http://schemas.microsoft.com/office/drawing/2014/main" id="{B33DEBEF-FDDE-4309-8BF9-01CCD497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4-footer-rule">
            <a:extLst xmlns:a="http://schemas.openxmlformats.org/drawingml/2006/main">
              <a:ext uri="{FF2B5EF4-FFF2-40B4-BE49-F238E27FC236}">
                <a16:creationId xmlns:a16="http://schemas.microsoft.com/office/drawing/2014/main" id="{3EAE403D-D411-430E-9C0D-3CBBB4E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4-footer-name">
            <a:extLst xmlns:a="http://schemas.openxmlformats.org/drawingml/2006/main">
              <a:ext uri="{FF2B5EF4-FFF2-40B4-BE49-F238E27FC236}">
                <a16:creationId xmlns:a16="http://schemas.microsoft.com/office/drawing/2014/main" id="{72EE56D0-0FDE-49BC-9A79-F86F98AD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4-footer-number">
            <a:extLst xmlns:a="http://schemas.openxmlformats.org/drawingml/2006/main">
              <a:ext uri="{FF2B5EF4-FFF2-40B4-BE49-F238E27FC236}">
                <a16:creationId xmlns:a16="http://schemas.microsoft.com/office/drawing/2014/main" id="{07CDCA83-47F9-46E8-BB8E-69739FD1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9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71030F84-26AB-470E-BE86-B3FD9FF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journey-num-1-circle">
            <a:extLst xmlns:a="http://schemas.openxmlformats.org/drawingml/2006/main">
              <a:ext uri="{FF2B5EF4-FFF2-40B4-BE49-F238E27FC236}">
                <a16:creationId xmlns:a16="http://schemas.microsoft.com/office/drawing/2014/main" id="{80EEBE55-C13D-499F-9540-6B811683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journey-num-1-number">
            <a:extLst xmlns:a="http://schemas.openxmlformats.org/drawingml/2006/main">
              <a:ext uri="{FF2B5EF4-FFF2-40B4-BE49-F238E27FC236}">
                <a16:creationId xmlns:a16="http://schemas.microsoft.com/office/drawing/2014/main" id="{EE07871A-A903-414F-9F19-0B03951F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journey-title-1">
            <a:extLst xmlns:a="http://schemas.openxmlformats.org/drawingml/2006/main">
              <a:ext uri="{FF2B5EF4-FFF2-40B4-BE49-F238E27FC236}">
                <a16:creationId xmlns:a16="http://schemas.microsoft.com/office/drawing/2014/main" id="{8CFDB2DF-DD01-4984-8108-15F0278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범위 정의</a:t>
            </a:r>
          </a:p>
        </p:txBody>
      </p:sp>
      <p:sp>
        <p:nvSpPr>
          <p:cNvPr id="13" name="journey-kicker-1">
            <a:extLst xmlns:a="http://schemas.openxmlformats.org/drawingml/2006/main">
              <a:ext uri="{FF2B5EF4-FFF2-40B4-BE49-F238E27FC236}">
                <a16:creationId xmlns:a16="http://schemas.microsoft.com/office/drawing/2014/main" id="{3F42A8A3-EE78-41E5-9FB2-AF59A09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M01001 · M01002</a:t>
            </a:r>
          </a:p>
        </p:txBody>
      </p:sp>
      <p:sp>
        <p:nvSpPr>
          <p:cNvPr id="14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E54F1A5E-9A39-41F4-8BBB-E03A82AC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프로젝트와 시나리오로 모든 실행의 상위 업무 맥락을 정합니다.</a:t>
            </a:r>
          </a:p>
        </p:txBody>
      </p:sp>
      <p:sp>
        <p:nvSpPr>
          <p:cNvPr id="15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E055E4DC-FF48-4230-A4F5-32C29477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5E92CE"/>
            </a:solidFill>
            <a:prstDash val="solid"/>
          </a:ln>
        </p:spPr>
      </p:sp>
      <p:sp>
        <p:nvSpPr>
          <p:cNvPr id="16" name="journey-num-2-circle">
            <a:extLst xmlns:a="http://schemas.openxmlformats.org/drawingml/2006/main">
              <a:ext uri="{FF2B5EF4-FFF2-40B4-BE49-F238E27FC236}">
                <a16:creationId xmlns:a16="http://schemas.microsoft.com/office/drawing/2014/main" id="{55D1C46A-F7A7-4B39-9389-1DDF7BF2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92CE"/>
          </a:solidFill>
          <a:ln xmlns:a="http://schemas.openxmlformats.org/drawingml/2006/main" w="0">
            <a:solidFill>
              <a:srgbClr val="5E92CE"/>
            </a:solidFill>
            <a:prstDash val="solid"/>
          </a:ln>
        </p:spPr>
      </p:sp>
      <p:sp>
        <p:nvSpPr>
          <p:cNvPr id="17" name="journey-num-2-number">
            <a:extLst xmlns:a="http://schemas.openxmlformats.org/drawingml/2006/main">
              <a:ext uri="{FF2B5EF4-FFF2-40B4-BE49-F238E27FC236}">
                <a16:creationId xmlns:a16="http://schemas.microsoft.com/office/drawing/2014/main" id="{2B76268F-D02E-4AF7-A0F9-1A8ADC18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journey-title-2">
            <a:extLst xmlns:a="http://schemas.openxmlformats.org/drawingml/2006/main">
              <a:ext uri="{FF2B5EF4-FFF2-40B4-BE49-F238E27FC236}">
                <a16:creationId xmlns:a16="http://schemas.microsoft.com/office/drawing/2014/main" id="{85E42983-7C1A-440B-8D96-31360953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대상 데이터 준비</a:t>
            </a:r>
          </a:p>
        </p:txBody>
      </p:sp>
      <p:sp>
        <p:nvSpPr>
          <p:cNvPr id="19" name="journey-kicker-2">
            <a:extLst xmlns:a="http://schemas.openxmlformats.org/drawingml/2006/main">
              <a:ext uri="{FF2B5EF4-FFF2-40B4-BE49-F238E27FC236}">
                <a16:creationId xmlns:a16="http://schemas.microsoft.com/office/drawing/2014/main" id="{8C311857-15FA-4814-968F-1FAAFCCA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43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5E92C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5E92CE"/>
                </a:solidFill>
                <a:latin typeface="Consolas"/>
                <a:ea typeface="Consolas"/>
                <a:cs typeface="Consolas"/>
              </a:rPr>
              <a:t>M02001 · M02002</a:t>
            </a:r>
          </a:p>
        </p:txBody>
      </p:sp>
      <p:sp>
        <p:nvSpPr>
          <p:cNvPr id="20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AD560DA1-37FE-4A3E-82B7-36076EF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7190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파일을 적재하거나 Target DB 테이블을 관리 대상으로 연결합니다.</a:t>
            </a:r>
          </a:p>
        </p:txBody>
      </p:sp>
      <p:sp>
        <p:nvSpPr>
          <p:cNvPr id="21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BAEC1E6B-B8F6-4E4B-99B4-EA096B78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22" name="journey-num-3-circle">
            <a:extLst xmlns:a="http://schemas.openxmlformats.org/drawingml/2006/main">
              <a:ext uri="{FF2B5EF4-FFF2-40B4-BE49-F238E27FC236}">
                <a16:creationId xmlns:a16="http://schemas.microsoft.com/office/drawing/2014/main" id="{2ECA31C3-9ECF-4E8E-BFBF-8B23F887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3" name="journey-num-3-number">
            <a:extLst xmlns:a="http://schemas.openxmlformats.org/drawingml/2006/main">
              <a:ext uri="{FF2B5EF4-FFF2-40B4-BE49-F238E27FC236}">
                <a16:creationId xmlns:a16="http://schemas.microsoft.com/office/drawing/2014/main" id="{E98E9F32-1F37-4D7A-8156-3B448B87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journey-title-3">
            <a:extLst xmlns:a="http://schemas.openxmlformats.org/drawingml/2006/main">
              <a:ext uri="{FF2B5EF4-FFF2-40B4-BE49-F238E27FC236}">
                <a16:creationId xmlns:a16="http://schemas.microsoft.com/office/drawing/2014/main" id="{C1CC3A4A-9944-4C2F-8BC6-2E00744D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4단계 모델 작업</a:t>
            </a:r>
          </a:p>
        </p:txBody>
      </p:sp>
      <p:sp>
        <p:nvSpPr>
          <p:cNvPr id="25" name="journey-kicker-3">
            <a:extLst xmlns:a="http://schemas.openxmlformats.org/drawingml/2006/main">
              <a:ext uri="{FF2B5EF4-FFF2-40B4-BE49-F238E27FC236}">
                <a16:creationId xmlns:a16="http://schemas.microsoft.com/office/drawing/2014/main" id="{43C942B0-CC94-4E7D-8AC6-3A9AA912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67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M03001–M03004</a:t>
            </a:r>
          </a:p>
        </p:txBody>
      </p:sp>
      <p:sp>
        <p:nvSpPr>
          <p:cNvPr id="26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6878038B-D47D-404D-AD19-68C17FBC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958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컬럼 유형, 관계, 규칙, 위반 탐지 Job을 저장하고 개별 검증합니다.</a:t>
            </a:r>
          </a:p>
        </p:txBody>
      </p:sp>
      <p:sp>
        <p:nvSpPr>
          <p:cNvPr id="27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B4E042A1-6501-4570-B7A1-55A9F86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8" name="journey-num-4-circle">
            <a:extLst xmlns:a="http://schemas.openxmlformats.org/drawingml/2006/main">
              <a:ext uri="{FF2B5EF4-FFF2-40B4-BE49-F238E27FC236}">
                <a16:creationId xmlns:a16="http://schemas.microsoft.com/office/drawing/2014/main" id="{73BBF93F-C4DE-4A64-95B4-8C381515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9" name="journey-num-4-number">
            <a:extLst xmlns:a="http://schemas.openxmlformats.org/drawingml/2006/main">
              <a:ext uri="{FF2B5EF4-FFF2-40B4-BE49-F238E27FC236}">
                <a16:creationId xmlns:a16="http://schemas.microsoft.com/office/drawing/2014/main" id="{0D7C085D-8CA7-4D39-B174-12101E11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journey-title-4">
            <a:extLst xmlns:a="http://schemas.openxmlformats.org/drawingml/2006/main">
              <a:ext uri="{FF2B5EF4-FFF2-40B4-BE49-F238E27FC236}">
                <a16:creationId xmlns:a16="http://schemas.microsoft.com/office/drawing/2014/main" id="{0DE3DEDC-568A-4CCC-8F43-ED21B6C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29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통합 Flow 실행</a:t>
            </a:r>
          </a:p>
        </p:txBody>
      </p:sp>
      <p:sp>
        <p:nvSpPr>
          <p:cNvPr id="31" name="journey-kicker-4">
            <a:extLst xmlns:a="http://schemas.openxmlformats.org/drawingml/2006/main">
              <a:ext uri="{FF2B5EF4-FFF2-40B4-BE49-F238E27FC236}">
                <a16:creationId xmlns:a16="http://schemas.microsoft.com/office/drawing/2014/main" id="{2CFBABDC-AC19-4E4B-B514-3A3FDEB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912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M04001 · M04002</a:t>
            </a:r>
          </a:p>
        </p:txBody>
      </p:sp>
      <p:sp>
        <p:nvSpPr>
          <p:cNvPr id="32" name="journey-body-4">
            <a:extLst xmlns:a="http://schemas.openxmlformats.org/drawingml/2006/main">
              <a:ext uri="{FF2B5EF4-FFF2-40B4-BE49-F238E27FC236}">
                <a16:creationId xmlns:a16="http://schemas.microsoft.com/office/drawing/2014/main" id="{B64444FE-914E-45AC-B4B0-09E7474C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1980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Job을 DAG로 연결하고 같은 Flow Run에서 실행·분석합니다.</a:t>
            </a:r>
          </a:p>
        </p:txBody>
      </p:sp>
      <p:sp>
        <p:nvSpPr>
          <p:cNvPr id="33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D06D1144-EF50-401C-BEC4-0383CB21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7230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34" name="journey-num-5-circle">
            <a:extLst xmlns:a="http://schemas.openxmlformats.org/drawingml/2006/main">
              <a:ext uri="{FF2B5EF4-FFF2-40B4-BE49-F238E27FC236}">
                <a16:creationId xmlns:a16="http://schemas.microsoft.com/office/drawing/2014/main" id="{08F63811-4A6B-4249-BC2F-B456C3A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35" name="journey-num-5-number">
            <a:extLst xmlns:a="http://schemas.openxmlformats.org/drawingml/2006/main">
              <a:ext uri="{FF2B5EF4-FFF2-40B4-BE49-F238E27FC236}">
                <a16:creationId xmlns:a16="http://schemas.microsoft.com/office/drawing/2014/main" id="{6D6E47AF-5EAC-440B-9B5C-79F8F49E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journey-title-5">
            <a:extLst xmlns:a="http://schemas.openxmlformats.org/drawingml/2006/main">
              <a:ext uri="{FF2B5EF4-FFF2-40B4-BE49-F238E27FC236}">
                <a16:creationId xmlns:a16="http://schemas.microsoft.com/office/drawing/2014/main" id="{359D466B-B8FA-4A7D-B046-1ED39E9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53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결정·수정·반영</a:t>
            </a:r>
          </a:p>
        </p:txBody>
      </p:sp>
      <p:sp>
        <p:nvSpPr>
          <p:cNvPr id="37" name="journey-kicker-5">
            <a:extLst xmlns:a="http://schemas.openxmlformats.org/drawingml/2006/main">
              <a:ext uri="{FF2B5EF4-FFF2-40B4-BE49-F238E27FC236}">
                <a16:creationId xmlns:a16="http://schemas.microsoft.com/office/drawing/2014/main" id="{D6A317C9-1D78-4FC7-A5B2-3368C99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515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M05001–M05003</a:t>
            </a:r>
          </a:p>
        </p:txBody>
      </p:sp>
      <p:sp>
        <p:nvSpPr>
          <p:cNvPr id="38" name="journey-body-5">
            <a:extLst xmlns:a="http://schemas.openxmlformats.org/drawingml/2006/main">
              <a:ext uri="{FF2B5EF4-FFF2-40B4-BE49-F238E27FC236}">
                <a16:creationId xmlns:a16="http://schemas.microsoft.com/office/drawing/2014/main" id="{2F42B886-D37D-40D2-B228-6E167013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14375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확정, 오류 수정, 효과 검증과 운영 DML을 서로 분리합니다.</a:t>
            </a:r>
          </a:p>
        </p:txBody>
      </p:sp>
      <p:sp>
        <p:nvSpPr>
          <p:cNvPr id="39" name="journey-node-6">
            <a:extLst xmlns:a="http://schemas.openxmlformats.org/drawingml/2006/main">
              <a:ext uri="{FF2B5EF4-FFF2-40B4-BE49-F238E27FC236}">
                <a16:creationId xmlns:a16="http://schemas.microsoft.com/office/drawing/2014/main" id="{C0D1CE06-0762-426B-94BD-7432867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63817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40" name="journey-num-6-circle">
            <a:extLst xmlns:a="http://schemas.openxmlformats.org/drawingml/2006/main">
              <a:ext uri="{FF2B5EF4-FFF2-40B4-BE49-F238E27FC236}">
                <a16:creationId xmlns:a16="http://schemas.microsoft.com/office/drawing/2014/main" id="{DFD6E1B8-F77F-4D15-B232-A206C1F8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43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41" name="journey-num-6-number">
            <a:extLst xmlns:a="http://schemas.openxmlformats.org/drawingml/2006/main">
              <a:ext uri="{FF2B5EF4-FFF2-40B4-BE49-F238E27FC236}">
                <a16:creationId xmlns:a16="http://schemas.microsoft.com/office/drawing/2014/main" id="{3596EB0C-1E0C-4E8C-B8DA-E87EE24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629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2" name="journey-title-6">
            <a:extLst xmlns:a="http://schemas.openxmlformats.org/drawingml/2006/main">
              <a:ext uri="{FF2B5EF4-FFF2-40B4-BE49-F238E27FC236}">
                <a16:creationId xmlns:a16="http://schemas.microsoft.com/office/drawing/2014/main" id="{A3D16507-1074-4532-B63A-D5419404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2772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보고·운영</a:t>
            </a:r>
          </a:p>
        </p:txBody>
      </p:sp>
      <p:sp>
        <p:nvSpPr>
          <p:cNvPr id="43" name="journey-kicker-6">
            <a:extLst xmlns:a="http://schemas.openxmlformats.org/drawingml/2006/main">
              <a:ext uri="{FF2B5EF4-FFF2-40B4-BE49-F238E27FC236}">
                <a16:creationId xmlns:a16="http://schemas.microsoft.com/office/drawing/2014/main" id="{6C3D9854-BB2A-4E21-8595-ED4CE15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M06001– · M90001–</a:t>
            </a:r>
          </a:p>
        </p:txBody>
      </p:sp>
      <p:sp>
        <p:nvSpPr>
          <p:cNvPr id="44" name="journey-body-6">
            <a:extLst xmlns:a="http://schemas.openxmlformats.org/drawingml/2006/main">
              <a:ext uri="{FF2B5EF4-FFF2-40B4-BE49-F238E27FC236}">
                <a16:creationId xmlns:a16="http://schemas.microsoft.com/office/drawing/2014/main" id="{74EB567A-ECCC-44AD-912E-3A30E827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267700"/>
            <a:ext cx="3219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보고서와 모델·사용자·시스템 리소스를 운영합니다.</a:t>
            </a:r>
          </a:p>
        </p:txBody>
      </p:sp>
      <p:cxnSp>
        <p:nvCxnSpPr>
          <p:cNvPr id="9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4575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4581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57054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2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781425" y="6829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98" name=""/>
          <p:cNvCxnSpPr>
            <a:stCxn xmlns:a="http://schemas.openxmlformats.org/drawingml/2006/main" id="33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3781425" y="79533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930740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5-rail">
            <a:extLst xmlns:a="http://schemas.openxmlformats.org/drawingml/2006/main">
              <a:ext uri="{FF2B5EF4-FFF2-40B4-BE49-F238E27FC236}">
                <a16:creationId xmlns:a16="http://schemas.microsoft.com/office/drawing/2014/main" id="{DC5952B2-5163-4F24-A86D-E2F3764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5-chapter">
            <a:extLst xmlns:a="http://schemas.openxmlformats.org/drawingml/2006/main">
              <a:ext uri="{FF2B5EF4-FFF2-40B4-BE49-F238E27FC236}">
                <a16:creationId xmlns:a16="http://schemas.microsoft.com/office/drawing/2014/main" id="{CB928164-972B-405F-A91E-15FA2645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01 · SYSTEM ARCHITECTURE</a:t>
            </a:r>
          </a:p>
        </p:txBody>
      </p:sp>
      <p:sp>
        <p:nvSpPr>
          <p:cNvPr id="3" name="page-5-title">
            <a:extLst xmlns:a="http://schemas.openxmlformats.org/drawingml/2006/main">
              <a:ext uri="{FF2B5EF4-FFF2-40B4-BE49-F238E27FC236}">
                <a16:creationId xmlns:a16="http://schemas.microsoft.com/office/drawing/2014/main" id="{4CAAB32C-0C43-440F-A9B7-60BE1010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컨텍스트와 실행 계약이 시스템을 잇습니다</a:t>
            </a:r>
          </a:p>
        </p:txBody>
      </p:sp>
      <p:sp>
        <p:nvSpPr>
          <p:cNvPr id="4" name="page-5-subtitle">
            <a:extLst xmlns:a="http://schemas.openxmlformats.org/drawingml/2006/main">
              <a:ext uri="{FF2B5EF4-FFF2-40B4-BE49-F238E27FC236}">
                <a16:creationId xmlns:a16="http://schemas.microsoft.com/office/drawing/2014/main" id="{E50ADF7A-23E3-41F6-8A02-52198D8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사용자 채널에서 결과 아티팩트까지 모든 단계가 세션·권한·Target DB와 Flow Run을 공통 기준으로 사용합니다.</a:t>
            </a:r>
          </a:p>
        </p:txBody>
      </p:sp>
      <p:sp>
        <p:nvSpPr>
          <p:cNvPr id="5" name="page-5-top-rule">
            <a:extLst xmlns:a="http://schemas.openxmlformats.org/drawingml/2006/main">
              <a:ext uri="{FF2B5EF4-FFF2-40B4-BE49-F238E27FC236}">
                <a16:creationId xmlns:a16="http://schemas.microsoft.com/office/drawing/2014/main" id="{4DD2E4DA-7CD7-4934-B79C-48C9F68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5-footer-rule">
            <a:extLst xmlns:a="http://schemas.openxmlformats.org/drawingml/2006/main">
              <a:ext uri="{FF2B5EF4-FFF2-40B4-BE49-F238E27FC236}">
                <a16:creationId xmlns:a16="http://schemas.microsoft.com/office/drawing/2014/main" id="{C1F5BC68-4CEE-406A-8A0B-E7A3699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5-footer-name">
            <a:extLst xmlns:a="http://schemas.openxmlformats.org/drawingml/2006/main">
              <a:ext uri="{FF2B5EF4-FFF2-40B4-BE49-F238E27FC236}">
                <a16:creationId xmlns:a16="http://schemas.microsoft.com/office/drawing/2014/main" id="{E255F258-D70D-411F-A2C8-31162BBE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5-footer-number">
            <a:extLst xmlns:a="http://schemas.openxmlformats.org/drawingml/2006/main">
              <a:ext uri="{FF2B5EF4-FFF2-40B4-BE49-F238E27FC236}">
                <a16:creationId xmlns:a16="http://schemas.microsoft.com/office/drawing/2014/main" id="{C828541F-ADCB-4A81-B111-027A497A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9" name="p5-layer-0">
            <a:extLst xmlns:a="http://schemas.openxmlformats.org/drawingml/2006/main">
              <a:ext uri="{FF2B5EF4-FFF2-40B4-BE49-F238E27FC236}">
                <a16:creationId xmlns:a16="http://schemas.microsoft.com/office/drawing/2014/main" id="{E4490E06-146D-40F7-AACF-535298E0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p5-label-0">
            <a:extLst xmlns:a="http://schemas.openxmlformats.org/drawingml/2006/main">
              <a:ext uri="{FF2B5EF4-FFF2-40B4-BE49-F238E27FC236}">
                <a16:creationId xmlns:a16="http://schemas.microsoft.com/office/drawing/2014/main" id="{56D5B9EF-1B13-4F09-AA8D-D3742A0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사용자 채널</a:t>
            </a:r>
          </a:p>
        </p:txBody>
      </p:sp>
      <p:sp>
        <p:nvSpPr>
          <p:cNvPr id="11" name="p5-title-0">
            <a:extLst xmlns:a="http://schemas.openxmlformats.org/drawingml/2006/main">
              <a:ext uri="{FF2B5EF4-FFF2-40B4-BE49-F238E27FC236}">
                <a16:creationId xmlns:a16="http://schemas.microsoft.com/office/drawing/2014/main" id="{5C6819CC-339E-4709-A6A1-30E4A0E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웹 작업공간</a:t>
            </a:r>
          </a:p>
        </p:txBody>
      </p:sp>
      <p:sp>
        <p:nvSpPr>
          <p:cNvPr id="12" name="p5-body-0">
            <a:extLst xmlns:a="http://schemas.openxmlformats.org/drawingml/2006/main">
              <a:ext uri="{FF2B5EF4-FFF2-40B4-BE49-F238E27FC236}">
                <a16:creationId xmlns:a16="http://schemas.microsoft.com/office/drawing/2014/main" id="{5E3B5725-5714-497F-9BE0-6A44924C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194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메뉴, 데이터 작업, Flow 캔버스, 분석과 보고서를 하나의 로그인 세션에서 조작</a:t>
            </a:r>
          </a:p>
        </p:txBody>
      </p:sp>
      <p:sp>
        <p:nvSpPr>
          <p:cNvPr id="13" name="p5-layer-1">
            <a:extLst xmlns:a="http://schemas.openxmlformats.org/drawingml/2006/main">
              <a:ext uri="{FF2B5EF4-FFF2-40B4-BE49-F238E27FC236}">
                <a16:creationId xmlns:a16="http://schemas.microsoft.com/office/drawing/2014/main" id="{E1F81EA9-4047-481B-A19C-F91E1E85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14" name="p5-label-1">
            <a:extLst xmlns:a="http://schemas.openxmlformats.org/drawingml/2006/main">
              <a:ext uri="{FF2B5EF4-FFF2-40B4-BE49-F238E27FC236}">
                <a16:creationId xmlns:a16="http://schemas.microsoft.com/office/drawing/2014/main" id="{97CBCA18-51ED-45A6-AC62-7747E402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보안 경계</a:t>
            </a:r>
          </a:p>
        </p:txBody>
      </p:sp>
      <p:sp>
        <p:nvSpPr>
          <p:cNvPr id="15" name="p5-title-1">
            <a:extLst xmlns:a="http://schemas.openxmlformats.org/drawingml/2006/main">
              <a:ext uri="{FF2B5EF4-FFF2-40B4-BE49-F238E27FC236}">
                <a16:creationId xmlns:a16="http://schemas.microsoft.com/office/drawing/2014/main" id="{FA778448-DCE6-4B79-9C00-47DE6C9E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세션·API 게이트웨이</a:t>
            </a:r>
          </a:p>
        </p:txBody>
      </p:sp>
      <p:sp>
        <p:nvSpPr>
          <p:cNvPr id="16" name="p5-body-1">
            <a:extLst xmlns:a="http://schemas.openxmlformats.org/drawingml/2006/main">
              <a:ext uri="{FF2B5EF4-FFF2-40B4-BE49-F238E27FC236}">
                <a16:creationId xmlns:a16="http://schemas.microsoft.com/office/drawing/2014/main" id="{CFE5F082-1B77-485F-900D-F4F8534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서버 세션, 사용자 역할과 시스템 DB 권한을 확인한 뒤 업무 API 연결</a:t>
            </a:r>
          </a:p>
        </p:txBody>
      </p:sp>
      <p:sp>
        <p:nvSpPr>
          <p:cNvPr id="17" name="p5-layer-2">
            <a:extLst xmlns:a="http://schemas.openxmlformats.org/drawingml/2006/main">
              <a:ext uri="{FF2B5EF4-FFF2-40B4-BE49-F238E27FC236}">
                <a16:creationId xmlns:a16="http://schemas.microsoft.com/office/drawing/2014/main" id="{0A8B3C06-14BB-4B2F-B22E-F2EBE2CA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18" name="p5-label-2">
            <a:extLst xmlns:a="http://schemas.openxmlformats.org/drawingml/2006/main">
              <a:ext uri="{FF2B5EF4-FFF2-40B4-BE49-F238E27FC236}">
                <a16:creationId xmlns:a16="http://schemas.microsoft.com/office/drawing/2014/main" id="{2AEC948C-7706-4501-8F79-297414AC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업무 기준</a:t>
            </a:r>
          </a:p>
        </p:txBody>
      </p:sp>
      <p:sp>
        <p:nvSpPr>
          <p:cNvPr id="19" name="p5-title-2">
            <a:extLst xmlns:a="http://schemas.openxmlformats.org/drawingml/2006/main">
              <a:ext uri="{FF2B5EF4-FFF2-40B4-BE49-F238E27FC236}">
                <a16:creationId xmlns:a16="http://schemas.microsoft.com/office/drawing/2014/main" id="{FD8B104D-A331-4FCB-B55D-D2FFEA5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프로젝트·시나리오·Target DB</a:t>
            </a:r>
          </a:p>
        </p:txBody>
      </p:sp>
      <p:sp>
        <p:nvSpPr>
          <p:cNvPr id="20" name="p5-body-2">
            <a:extLst xmlns:a="http://schemas.openxmlformats.org/drawingml/2006/main">
              <a:ext uri="{FF2B5EF4-FFF2-40B4-BE49-F238E27FC236}">
                <a16:creationId xmlns:a16="http://schemas.microsoft.com/office/drawing/2014/main" id="{724F99C4-304B-4368-B4D6-213F7E48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48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대상 데이터, 실행 Job과 결과가 같은 업무 범위 안에서 움직이도록 컨텍스트 고정</a:t>
            </a:r>
          </a:p>
        </p:txBody>
      </p:sp>
      <p:sp>
        <p:nvSpPr>
          <p:cNvPr id="21" name="p5-layer-3">
            <a:extLst xmlns:a="http://schemas.openxmlformats.org/drawingml/2006/main">
              <a:ext uri="{FF2B5EF4-FFF2-40B4-BE49-F238E27FC236}">
                <a16:creationId xmlns:a16="http://schemas.microsoft.com/office/drawing/2014/main" id="{4DD62F81-F2FA-48B8-A6B7-3DA0423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2" name="p5-label-3">
            <a:extLst xmlns:a="http://schemas.openxmlformats.org/drawingml/2006/main">
              <a:ext uri="{FF2B5EF4-FFF2-40B4-BE49-F238E27FC236}">
                <a16:creationId xmlns:a16="http://schemas.microsoft.com/office/drawing/2014/main" id="{84CDAB22-E3D5-456F-AAED-46A4011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29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실행 제어</a:t>
            </a:r>
          </a:p>
        </p:txBody>
      </p:sp>
      <p:sp>
        <p:nvSpPr>
          <p:cNvPr id="23" name="p5-title-3">
            <a:extLst xmlns:a="http://schemas.openxmlformats.org/drawingml/2006/main">
              <a:ext uri="{FF2B5EF4-FFF2-40B4-BE49-F238E27FC236}">
                <a16:creationId xmlns:a16="http://schemas.microsoft.com/office/drawing/2014/main" id="{7823A368-029F-47D7-B0F1-F0344753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1035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Flow·Job·실행 리소스</a:t>
            </a:r>
          </a:p>
        </p:txBody>
      </p:sp>
      <p:sp>
        <p:nvSpPr>
          <p:cNvPr id="24" name="p5-body-3">
            <a:extLst xmlns:a="http://schemas.openxmlformats.org/drawingml/2006/main">
              <a:ext uri="{FF2B5EF4-FFF2-40B4-BE49-F238E27FC236}">
                <a16:creationId xmlns:a16="http://schemas.microsoft.com/office/drawing/2014/main" id="{2CAAFB0B-1934-4018-9315-5C55505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627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DAG 검증 후 DB_OBJECT, OML_PYTHON, INTERNAL/EXTERNAL API 중 한 경로 선택</a:t>
            </a:r>
          </a:p>
        </p:txBody>
      </p:sp>
      <p:sp>
        <p:nvSpPr>
          <p:cNvPr id="25" name="p5-layer-4">
            <a:extLst xmlns:a="http://schemas.openxmlformats.org/drawingml/2006/main">
              <a:ext uri="{FF2B5EF4-FFF2-40B4-BE49-F238E27FC236}">
                <a16:creationId xmlns:a16="http://schemas.microsoft.com/office/drawing/2014/main" id="{C17C9F23-4D0C-4747-B705-7245B39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772400"/>
            <a:ext cx="5695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6" name="p5-label-4">
            <a:extLst xmlns:a="http://schemas.openxmlformats.org/drawingml/2006/main">
              <a:ext uri="{FF2B5EF4-FFF2-40B4-BE49-F238E27FC236}">
                <a16:creationId xmlns:a16="http://schemas.microsoft.com/office/drawing/2014/main" id="{1F4E64ED-E910-475E-B136-A1138D0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438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결과·운영</a:t>
            </a:r>
          </a:p>
        </p:txBody>
      </p:sp>
      <p:sp>
        <p:nvSpPr>
          <p:cNvPr id="27" name="p5-title-4">
            <a:extLst xmlns:a="http://schemas.openxmlformats.org/drawingml/2006/main">
              <a:ext uri="{FF2B5EF4-FFF2-40B4-BE49-F238E27FC236}">
                <a16:creationId xmlns:a16="http://schemas.microsoft.com/office/drawing/2014/main" id="{E0D54FCE-CD8D-46D2-95C2-8D4652FF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248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Run 아티팩트·분석·편집·보고</a:t>
            </a:r>
          </a:p>
        </p:txBody>
      </p:sp>
      <p:sp>
        <p:nvSpPr>
          <p:cNvPr id="28" name="p5-body-4">
            <a:extLst xmlns:a="http://schemas.openxmlformats.org/drawingml/2006/main">
              <a:ext uri="{FF2B5EF4-FFF2-40B4-BE49-F238E27FC236}">
                <a16:creationId xmlns:a16="http://schemas.microsoft.com/office/drawing/2014/main" id="{944E4BAE-97A7-4572-8F9E-B3D04AC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2772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Node 결과와 실제 파라미터를 보존하고 규칙 결정, 수정, 반영, 보고로 연결</a:t>
            </a:r>
          </a:p>
        </p:txBody>
      </p:sp>
      <p:cxnSp>
        <p:nvCxnSpPr>
          <p:cNvPr id="61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124325" y="3581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124325" y="48958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124325" y="6210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2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4124325" y="75247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226213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6-rail">
            <a:extLst xmlns:a="http://schemas.openxmlformats.org/drawingml/2006/main">
              <a:ext uri="{FF2B5EF4-FFF2-40B4-BE49-F238E27FC236}">
                <a16:creationId xmlns:a16="http://schemas.microsoft.com/office/drawing/2014/main" id="{93B199B9-FB88-4BF0-A479-4EBE85D9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6-chapter">
            <a:extLst xmlns:a="http://schemas.openxmlformats.org/drawingml/2006/main">
              <a:ext uri="{FF2B5EF4-FFF2-40B4-BE49-F238E27FC236}">
                <a16:creationId xmlns:a16="http://schemas.microsoft.com/office/drawing/2014/main" id="{6265131C-74B8-480A-9B48-53B1B255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01 · OPERATING PRINCIPLES</a:t>
            </a:r>
          </a:p>
        </p:txBody>
      </p:sp>
      <p:sp>
        <p:nvSpPr>
          <p:cNvPr id="3" name="page-6-title">
            <a:extLst xmlns:a="http://schemas.openxmlformats.org/drawingml/2006/main">
              <a:ext uri="{FF2B5EF4-FFF2-40B4-BE49-F238E27FC236}">
                <a16:creationId xmlns:a16="http://schemas.microsoft.com/office/drawing/2014/main" id="{1827BA11-F986-4342-9EBB-DA76E17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탐지와 수정은 의도적으로 분리됩니다</a:t>
            </a:r>
          </a:p>
        </p:txBody>
      </p:sp>
      <p:sp>
        <p:nvSpPr>
          <p:cNvPr id="4" name="page-6-subtitle">
            <a:extLst xmlns:a="http://schemas.openxmlformats.org/drawingml/2006/main">
              <a:ext uri="{FF2B5EF4-FFF2-40B4-BE49-F238E27FC236}">
                <a16:creationId xmlns:a16="http://schemas.microsoft.com/office/drawing/2014/main" id="{9F50A036-44F8-40E1-BD88-CDAE1242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자동 분석은 검토 가능한 근거를 만들고, 사람이 승인한 결과만 별도 편집본과 통제된 운영 반영 단계로 이동합니다.</a:t>
            </a:r>
          </a:p>
        </p:txBody>
      </p:sp>
      <p:sp>
        <p:nvSpPr>
          <p:cNvPr id="5" name="page-6-top-rule">
            <a:extLst xmlns:a="http://schemas.openxmlformats.org/drawingml/2006/main">
              <a:ext uri="{FF2B5EF4-FFF2-40B4-BE49-F238E27FC236}">
                <a16:creationId xmlns:a16="http://schemas.microsoft.com/office/drawing/2014/main" id="{1D7D76E7-9719-48EA-BB1D-24A84D3F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6-footer-rule">
            <a:extLst xmlns:a="http://schemas.openxmlformats.org/drawingml/2006/main">
              <a:ext uri="{FF2B5EF4-FFF2-40B4-BE49-F238E27FC236}">
                <a16:creationId xmlns:a16="http://schemas.microsoft.com/office/drawing/2014/main" id="{4DECD29B-3962-479B-9D2D-9EBE1A2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6-footer-name">
            <a:extLst xmlns:a="http://schemas.openxmlformats.org/drawingml/2006/main">
              <a:ext uri="{FF2B5EF4-FFF2-40B4-BE49-F238E27FC236}">
                <a16:creationId xmlns:a16="http://schemas.microsoft.com/office/drawing/2014/main" id="{73E7C66F-6AB7-4F06-A311-6F467E14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6-footer-number">
            <a:extLst xmlns:a="http://schemas.openxmlformats.org/drawingml/2006/main">
              <a:ext uri="{FF2B5EF4-FFF2-40B4-BE49-F238E27FC236}">
                <a16:creationId xmlns:a16="http://schemas.microsoft.com/office/drawing/2014/main" id="{909F1E21-C359-481A-AAA0-C4F63DC6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p6-center">
            <a:extLst xmlns:a="http://schemas.openxmlformats.org/drawingml/2006/main">
              <a:ext uri="{FF2B5EF4-FFF2-40B4-BE49-F238E27FC236}">
                <a16:creationId xmlns:a16="http://schemas.microsoft.com/office/drawing/2014/main" id="{9CFCF811-B0EA-4D10-ADD3-B7CE05F1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241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자동화는 후보를 만들고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5255A"/>
                </a:solidFill>
                <a:latin typeface="Malgun Gothic"/>
                <a:ea typeface="Malgun Gothic"/>
                <a:cs typeface="Malgun Gothic"/>
              </a:rPr>
              <a:t>운영 변경은 통제를 통과합니다</a:t>
            </a:r>
          </a:p>
        </p:txBody>
      </p:sp>
      <p:sp>
        <p:nvSpPr>
          <p:cNvPr id="10" name="p6-card-0">
            <a:extLst xmlns:a="http://schemas.openxmlformats.org/drawingml/2006/main">
              <a:ext uri="{FF2B5EF4-FFF2-40B4-BE49-F238E27FC236}">
                <a16:creationId xmlns:a16="http://schemas.microsoft.com/office/drawing/2014/main" id="{338A2966-B82E-41D0-B87F-A7291248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" name="p6-num-0-circle">
            <a:extLst xmlns:a="http://schemas.openxmlformats.org/drawingml/2006/main">
              <a:ext uri="{FF2B5EF4-FFF2-40B4-BE49-F238E27FC236}">
                <a16:creationId xmlns:a16="http://schemas.microsoft.com/office/drawing/2014/main" id="{3A9A782C-33CB-4F9F-B513-1AA0135D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2" name="p6-num-0-number">
            <a:extLst xmlns:a="http://schemas.openxmlformats.org/drawingml/2006/main">
              <a:ext uri="{FF2B5EF4-FFF2-40B4-BE49-F238E27FC236}">
                <a16:creationId xmlns:a16="http://schemas.microsoft.com/office/drawing/2014/main" id="{90E329BD-523C-4619-A482-F863AC5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p6-title-0">
            <a:extLst xmlns:a="http://schemas.openxmlformats.org/drawingml/2006/main">
              <a:ext uri="{FF2B5EF4-FFF2-40B4-BE49-F238E27FC236}">
                <a16:creationId xmlns:a16="http://schemas.microsoft.com/office/drawing/2014/main" id="{AB1D3CE7-58AD-4862-935B-6480C59A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Run 기반 추적</a:t>
            </a:r>
          </a:p>
        </p:txBody>
      </p:sp>
      <p:sp>
        <p:nvSpPr>
          <p:cNvPr id="14" name="p6-body-0">
            <a:extLst xmlns:a="http://schemas.openxmlformats.org/drawingml/2006/main">
              <a:ext uri="{FF2B5EF4-FFF2-40B4-BE49-F238E27FC236}">
                <a16:creationId xmlns:a16="http://schemas.microsoft.com/office/drawing/2014/main" id="{F1B0C8F5-98CF-43A6-B5E2-568E86DC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실제 파라미터, 노드 상태, 결과 아티팩트를 Flow Run과 Node Run 단위로 연결합니다.</a:t>
            </a:r>
          </a:p>
        </p:txBody>
      </p:sp>
      <p:sp>
        <p:nvSpPr>
          <p:cNvPr id="15" name="p6-card-1">
            <a:extLst xmlns:a="http://schemas.openxmlformats.org/drawingml/2006/main">
              <a:ext uri="{FF2B5EF4-FFF2-40B4-BE49-F238E27FC236}">
                <a16:creationId xmlns:a16="http://schemas.microsoft.com/office/drawing/2014/main" id="{D7441AF4-0BC9-4B56-A688-FFCB6BF3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6" name="p6-num-1-circle">
            <a:extLst xmlns:a="http://schemas.openxmlformats.org/drawingml/2006/main">
              <a:ext uri="{FF2B5EF4-FFF2-40B4-BE49-F238E27FC236}">
                <a16:creationId xmlns:a16="http://schemas.microsoft.com/office/drawing/2014/main" id="{65FEBD36-4E2A-432E-AA8B-6554876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4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7" name="p6-num-1-number">
            <a:extLst xmlns:a="http://schemas.openxmlformats.org/drawingml/2006/main">
              <a:ext uri="{FF2B5EF4-FFF2-40B4-BE49-F238E27FC236}">
                <a16:creationId xmlns:a16="http://schemas.microsoft.com/office/drawing/2014/main" id="{ABD5B72E-7D47-432D-B62B-957B8A3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67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p6-title-1">
            <a:extLst xmlns:a="http://schemas.openxmlformats.org/drawingml/2006/main">
              <a:ext uri="{FF2B5EF4-FFF2-40B4-BE49-F238E27FC236}">
                <a16:creationId xmlns:a16="http://schemas.microsoft.com/office/drawing/2014/main" id="{00C97465-7C9D-47DB-B714-5500932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67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탐지와 수정 분리</a:t>
            </a:r>
          </a:p>
        </p:txBody>
      </p:sp>
      <p:sp>
        <p:nvSpPr>
          <p:cNvPr id="19" name="p6-body-1">
            <a:extLst xmlns:a="http://schemas.openxmlformats.org/drawingml/2006/main">
              <a:ext uri="{FF2B5EF4-FFF2-40B4-BE49-F238E27FC236}">
                <a16:creationId xmlns:a16="http://schemas.microsoft.com/office/drawing/2014/main" id="{15D927DA-3CCD-4A16-9ED1-D0B7609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7246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위반 탐지는 검토 자료를 만들 뿐 원본 데이터를 자동으로 수정하지 않습니다.</a:t>
            </a:r>
          </a:p>
        </p:txBody>
      </p:sp>
      <p:sp>
        <p:nvSpPr>
          <p:cNvPr id="20" name="p6-card-2">
            <a:extLst xmlns:a="http://schemas.openxmlformats.org/drawingml/2006/main">
              <a:ext uri="{FF2B5EF4-FFF2-40B4-BE49-F238E27FC236}">
                <a16:creationId xmlns:a16="http://schemas.microsoft.com/office/drawing/2014/main" id="{4F3F72CD-6DAE-4467-998A-D86C1488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6381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1" name="p6-num-2-circle">
            <a:extLst xmlns:a="http://schemas.openxmlformats.org/drawingml/2006/main">
              <a:ext uri="{FF2B5EF4-FFF2-40B4-BE49-F238E27FC236}">
                <a16:creationId xmlns:a16="http://schemas.microsoft.com/office/drawing/2014/main" id="{3DC88654-CBE5-428B-BB08-D5CD76D9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01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2" name="p6-num-2-number">
            <a:extLst xmlns:a="http://schemas.openxmlformats.org/drawingml/2006/main">
              <a:ext uri="{FF2B5EF4-FFF2-40B4-BE49-F238E27FC236}">
                <a16:creationId xmlns:a16="http://schemas.microsoft.com/office/drawing/2014/main" id="{73F62D47-30BF-49B3-AC85-D0F3B0C9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200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p6-title-2">
            <a:extLst xmlns:a="http://schemas.openxmlformats.org/drawingml/2006/main">
              <a:ext uri="{FF2B5EF4-FFF2-40B4-BE49-F238E27FC236}">
                <a16:creationId xmlns:a16="http://schemas.microsoft.com/office/drawing/2014/main" id="{99DAD2E4-FC06-44F2-B6B1-FDE02EF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200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운영 반영 통제</a:t>
            </a:r>
          </a:p>
        </p:txBody>
      </p:sp>
      <p:sp>
        <p:nvSpPr>
          <p:cNvPr id="24" name="p6-body-2">
            <a:extLst xmlns:a="http://schemas.openxmlformats.org/drawingml/2006/main">
              <a:ext uri="{FF2B5EF4-FFF2-40B4-BE49-F238E27FC236}">
                <a16:creationId xmlns:a16="http://schemas.microsoft.com/office/drawing/2014/main" id="{C7286095-D697-40E7-9F55-900C23D0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4772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수정본 효과 검증, DML 검증, 실행 전 확인과 감사 이력을 순서대로 통과합니다.</a:t>
            </a:r>
          </a:p>
        </p:txBody>
      </p:sp>
      <p:sp>
        <p:nvSpPr>
          <p:cNvPr id="25" name="p6-callout-fill">
            <a:extLst xmlns:a="http://schemas.openxmlformats.org/drawingml/2006/main">
              <a:ext uri="{FF2B5EF4-FFF2-40B4-BE49-F238E27FC236}">
                <a16:creationId xmlns:a16="http://schemas.microsoft.com/office/drawing/2014/main" id="{3850EE75-BDF1-4DCA-B161-AA85379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638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6" name="p6-callout-accent">
            <a:extLst xmlns:a="http://schemas.openxmlformats.org/drawingml/2006/main">
              <a:ext uri="{FF2B5EF4-FFF2-40B4-BE49-F238E27FC236}">
                <a16:creationId xmlns:a16="http://schemas.microsoft.com/office/drawing/2014/main" id="{4EF40191-9B27-40EB-B9F0-FD3555C4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7" name="p6-callout-text">
            <a:extLst xmlns:a="http://schemas.openxmlformats.org/drawingml/2006/main">
              <a:ext uri="{FF2B5EF4-FFF2-40B4-BE49-F238E27FC236}">
                <a16:creationId xmlns:a16="http://schemas.microsoft.com/office/drawing/2014/main" id="{8CE64779-C819-44DF-81D0-7981F530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SUCCESS는 실행이 끝났다는 뜻입니다. 규칙의 품질과 데이터 변경의 적절성은 별도의 지표와 사람의 검토로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968725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7-rail">
            <a:extLst xmlns:a="http://schemas.openxmlformats.org/drawingml/2006/main">
              <a:ext uri="{FF2B5EF4-FFF2-40B4-BE49-F238E27FC236}">
                <a16:creationId xmlns:a16="http://schemas.microsoft.com/office/drawing/2014/main" id="{971FAD26-98E1-46B4-A927-2BA25EB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7-chapter">
            <a:extLst xmlns:a="http://schemas.openxmlformats.org/drawingml/2006/main">
              <a:ext uri="{FF2B5EF4-FFF2-40B4-BE49-F238E27FC236}">
                <a16:creationId xmlns:a16="http://schemas.microsoft.com/office/drawing/2014/main" id="{46D4C83C-0C79-4C77-957B-7ECE4423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02 · FOUR-STAGE DISCOVERY · STEP 1</a:t>
            </a:r>
          </a:p>
        </p:txBody>
      </p:sp>
      <p:sp>
        <p:nvSpPr>
          <p:cNvPr id="3" name="page-7-title">
            <a:extLst xmlns:a="http://schemas.openxmlformats.org/drawingml/2006/main">
              <a:ext uri="{FF2B5EF4-FFF2-40B4-BE49-F238E27FC236}">
                <a16:creationId xmlns:a16="http://schemas.microsoft.com/office/drawing/2014/main" id="{88003ACF-040A-4D85-91C4-F0F9495C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유형은 프로파일·Rule·Model을 함께 봅니다</a:t>
            </a:r>
          </a:p>
        </p:txBody>
      </p:sp>
      <p:sp>
        <p:nvSpPr>
          <p:cNvPr id="4" name="page-7-subtitle">
            <a:extLst xmlns:a="http://schemas.openxmlformats.org/drawingml/2006/main">
              <a:ext uri="{FF2B5EF4-FFF2-40B4-BE49-F238E27FC236}">
                <a16:creationId xmlns:a16="http://schemas.microsoft.com/office/drawing/2014/main" id="{5E8857E3-E6EA-43C3-A100-5FE30143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데이터 타입만으로 연속형을 단정하지 않고, 분포와 컬럼명 의미를 포함한 Rule 결과와 활성 모델 판단을 호환성 가드에서 결합합니다.</a:t>
            </a:r>
          </a:p>
        </p:txBody>
      </p:sp>
      <p:sp>
        <p:nvSpPr>
          <p:cNvPr id="5" name="page-7-top-rule">
            <a:extLst xmlns:a="http://schemas.openxmlformats.org/drawingml/2006/main">
              <a:ext uri="{FF2B5EF4-FFF2-40B4-BE49-F238E27FC236}">
                <a16:creationId xmlns:a16="http://schemas.microsoft.com/office/drawing/2014/main" id="{CA9A8D5F-E863-4113-B1E3-029FFE3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7-footer-rule">
            <a:extLst xmlns:a="http://schemas.openxmlformats.org/drawingml/2006/main">
              <a:ext uri="{FF2B5EF4-FFF2-40B4-BE49-F238E27FC236}">
                <a16:creationId xmlns:a16="http://schemas.microsoft.com/office/drawing/2014/main" id="{595849C5-CE02-45B8-A57D-D51CA1D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7-footer-name">
            <a:extLst xmlns:a="http://schemas.openxmlformats.org/drawingml/2006/main">
              <a:ext uri="{FF2B5EF4-FFF2-40B4-BE49-F238E27FC236}">
                <a16:creationId xmlns:a16="http://schemas.microsoft.com/office/drawing/2014/main" id="{0552409D-7A9D-459D-8F42-D86CF1D6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7-footer-number">
            <a:extLst xmlns:a="http://schemas.openxmlformats.org/drawingml/2006/main">
              <a:ext uri="{FF2B5EF4-FFF2-40B4-BE49-F238E27FC236}">
                <a16:creationId xmlns:a16="http://schemas.microsoft.com/office/drawing/2014/main" id="{984C2D3D-348D-48DB-AA10-743C0FA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9" name="step1-node-1">
            <a:extLst xmlns:a="http://schemas.openxmlformats.org/drawingml/2006/main">
              <a:ext uri="{FF2B5EF4-FFF2-40B4-BE49-F238E27FC236}">
                <a16:creationId xmlns:a16="http://schemas.microsoft.com/office/drawing/2014/main" id="{0FFB66F8-4A6F-4B0A-8262-5315CF4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step1-num-1-circle">
            <a:extLst xmlns:a="http://schemas.openxmlformats.org/drawingml/2006/main">
              <a:ext uri="{FF2B5EF4-FFF2-40B4-BE49-F238E27FC236}">
                <a16:creationId xmlns:a16="http://schemas.microsoft.com/office/drawing/2014/main" id="{86E7A018-0AAC-41E2-A608-B03A074C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step1-num-1-number">
            <a:extLst xmlns:a="http://schemas.openxmlformats.org/drawingml/2006/main">
              <a:ext uri="{FF2B5EF4-FFF2-40B4-BE49-F238E27FC236}">
                <a16:creationId xmlns:a16="http://schemas.microsoft.com/office/drawing/2014/main" id="{6A2E346F-3931-400E-9DEC-4E781705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step1-title-1">
            <a:extLst xmlns:a="http://schemas.openxmlformats.org/drawingml/2006/main">
              <a:ext uri="{FF2B5EF4-FFF2-40B4-BE49-F238E27FC236}">
                <a16:creationId xmlns:a16="http://schemas.microsoft.com/office/drawing/2014/main" id="{BA7F925B-8425-449E-AF92-EBAA0A30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프로파일</a:t>
            </a:r>
          </a:p>
        </p:txBody>
      </p:sp>
      <p:sp>
        <p:nvSpPr>
          <p:cNvPr id="13" name="step1-kicker-1">
            <a:extLst xmlns:a="http://schemas.openxmlformats.org/drawingml/2006/main">
              <a:ext uri="{FF2B5EF4-FFF2-40B4-BE49-F238E27FC236}">
                <a16:creationId xmlns:a16="http://schemas.microsoft.com/office/drawing/2014/main" id="{893B0C2C-F2ED-446B-B1D4-69D4D3C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57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INPUT</a:t>
            </a:r>
          </a:p>
        </p:txBody>
      </p:sp>
      <p:sp>
        <p:nvSpPr>
          <p:cNvPr id="14" name="step1-body-1">
            <a:extLst xmlns:a="http://schemas.openxmlformats.org/drawingml/2006/main">
              <a:ext uri="{FF2B5EF4-FFF2-40B4-BE49-F238E27FC236}">
                <a16:creationId xmlns:a16="http://schemas.microsoft.com/office/drawing/2014/main" id="{CB944A91-F3A0-43CB-85F7-B018CFD5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NULL·DISTINCT·비율, 최소·최대, 길이, 소수·정수 비율, 엔트로피·분포와 컬럼명 힌트를 수집합니다.</a:t>
            </a:r>
          </a:p>
        </p:txBody>
      </p:sp>
      <p:sp>
        <p:nvSpPr>
          <p:cNvPr id="15" name="step1-node-2">
            <a:extLst xmlns:a="http://schemas.openxmlformats.org/drawingml/2006/main">
              <a:ext uri="{FF2B5EF4-FFF2-40B4-BE49-F238E27FC236}">
                <a16:creationId xmlns:a16="http://schemas.microsoft.com/office/drawing/2014/main" id="{96E5A983-9C91-4733-8D61-35633C2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16" name="step1-num-2-circle">
            <a:extLst xmlns:a="http://schemas.openxmlformats.org/drawingml/2006/main">
              <a:ext uri="{FF2B5EF4-FFF2-40B4-BE49-F238E27FC236}">
                <a16:creationId xmlns:a16="http://schemas.microsoft.com/office/drawing/2014/main" id="{3B660532-B260-4102-8BDF-B298F6EB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7" name="step1-num-2-number">
            <a:extLst xmlns:a="http://schemas.openxmlformats.org/drawingml/2006/main">
              <a:ext uri="{FF2B5EF4-FFF2-40B4-BE49-F238E27FC236}">
                <a16:creationId xmlns:a16="http://schemas.microsoft.com/office/drawing/2014/main" id="{6A380E26-019D-43F0-94A7-DECDD9A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step1-title-2">
            <a:extLst xmlns:a="http://schemas.openxmlformats.org/drawingml/2006/main">
              <a:ext uri="{FF2B5EF4-FFF2-40B4-BE49-F238E27FC236}">
                <a16:creationId xmlns:a16="http://schemas.microsoft.com/office/drawing/2014/main" id="{E7049348-AD0D-4134-BBDE-4CC95DEC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Rule·Model 판정</a:t>
            </a:r>
          </a:p>
        </p:txBody>
      </p:sp>
      <p:sp>
        <p:nvSpPr>
          <p:cNvPr id="19" name="step1-kicker-2">
            <a:extLst xmlns:a="http://schemas.openxmlformats.org/drawingml/2006/main">
              <a:ext uri="{FF2B5EF4-FFF2-40B4-BE49-F238E27FC236}">
                <a16:creationId xmlns:a16="http://schemas.microsoft.com/office/drawing/2014/main" id="{508C2656-B7FE-4DBA-B98F-5E43803A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PARALLEL EVIDENCE</a:t>
            </a:r>
          </a:p>
        </p:txBody>
      </p:sp>
      <p:sp>
        <p:nvSpPr>
          <p:cNvPr id="20" name="step1-body-2">
            <a:extLst xmlns:a="http://schemas.openxmlformats.org/drawingml/2006/main">
              <a:ext uri="{FF2B5EF4-FFF2-40B4-BE49-F238E27FC236}">
                <a16:creationId xmlns:a16="http://schemas.microsoft.com/office/drawing/2014/main" id="{BB0D48D3-F86B-4030-B125-2E83DA3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529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V3 Rule 함수가 세부 유형과 근거를 만들고, 활성 OML 모델은 기존 계약과 파라미터를 유지한 채 독립적으로 판단합니다.</a:t>
            </a:r>
          </a:p>
        </p:txBody>
      </p:sp>
      <p:sp>
        <p:nvSpPr>
          <p:cNvPr id="21" name="step1-node-3">
            <a:extLst xmlns:a="http://schemas.openxmlformats.org/drawingml/2006/main">
              <a:ext uri="{FF2B5EF4-FFF2-40B4-BE49-F238E27FC236}">
                <a16:creationId xmlns:a16="http://schemas.microsoft.com/office/drawing/2014/main" id="{D7FFD6C6-55CC-45E7-8F91-29AEE2A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22" name="step1-num-3-circle">
            <a:extLst xmlns:a="http://schemas.openxmlformats.org/drawingml/2006/main">
              <a:ext uri="{FF2B5EF4-FFF2-40B4-BE49-F238E27FC236}">
                <a16:creationId xmlns:a16="http://schemas.microsoft.com/office/drawing/2014/main" id="{E3B13584-96FC-4323-A83B-DFC687F6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3" name="step1-num-3-number">
            <a:extLst xmlns:a="http://schemas.openxmlformats.org/drawingml/2006/main">
              <a:ext uri="{FF2B5EF4-FFF2-40B4-BE49-F238E27FC236}">
                <a16:creationId xmlns:a16="http://schemas.microsoft.com/office/drawing/2014/main" id="{AB43DB23-9C42-457D-A1C3-D21529FD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step1-title-3">
            <a:extLst xmlns:a="http://schemas.openxmlformats.org/drawingml/2006/main">
              <a:ext uri="{FF2B5EF4-FFF2-40B4-BE49-F238E27FC236}">
                <a16:creationId xmlns:a16="http://schemas.microsoft.com/office/drawing/2014/main" id="{C3CDC7C4-D3A2-4619-8BF0-C45CE630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29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최종 호환성 가드</a:t>
            </a:r>
          </a:p>
        </p:txBody>
      </p:sp>
      <p:sp>
        <p:nvSpPr>
          <p:cNvPr id="25" name="step1-kicker-3">
            <a:extLst xmlns:a="http://schemas.openxmlformats.org/drawingml/2006/main">
              <a:ext uri="{FF2B5EF4-FFF2-40B4-BE49-F238E27FC236}">
                <a16:creationId xmlns:a16="http://schemas.microsoft.com/office/drawing/2014/main" id="{B66707C4-7712-4542-8906-1F8F2073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912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FINAL SELECTION</a:t>
            </a:r>
          </a:p>
        </p:txBody>
      </p:sp>
      <p:sp>
        <p:nvSpPr>
          <p:cNvPr id="26" name="step1-body-3">
            <a:extLst xmlns:a="http://schemas.openxmlformats.org/drawingml/2006/main">
              <a:ext uri="{FF2B5EF4-FFF2-40B4-BE49-F238E27FC236}">
                <a16:creationId xmlns:a16="http://schemas.microsoft.com/office/drawing/2014/main" id="{5CFFFD6C-5E3D-446A-8273-1FD520F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1975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일치·누락·신뢰도·그룹 호환성을 평가하고 연속형→범주형 오분류를 차단하며 식별자·자유 텍스트를 보호합니다.</a:t>
            </a:r>
          </a:p>
        </p:txBody>
      </p:sp>
      <p:sp>
        <p:nvSpPr>
          <p:cNvPr id="27" name="step1-node-4">
            <a:extLst xmlns:a="http://schemas.openxmlformats.org/drawingml/2006/main">
              <a:ext uri="{FF2B5EF4-FFF2-40B4-BE49-F238E27FC236}">
                <a16:creationId xmlns:a16="http://schemas.microsoft.com/office/drawing/2014/main" id="{73ADFA43-20F0-4E17-A373-24E68FD5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1515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8" name="step1-num-4-circle">
            <a:extLst xmlns:a="http://schemas.openxmlformats.org/drawingml/2006/main">
              <a:ext uri="{FF2B5EF4-FFF2-40B4-BE49-F238E27FC236}">
                <a16:creationId xmlns:a16="http://schemas.microsoft.com/office/drawing/2014/main" id="{433814A2-CE78-4C2A-B0A0-C03078D3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9" name="step1-num-4-number">
            <a:extLst xmlns:a="http://schemas.openxmlformats.org/drawingml/2006/main">
              <a:ext uri="{FF2B5EF4-FFF2-40B4-BE49-F238E27FC236}">
                <a16:creationId xmlns:a16="http://schemas.microsoft.com/office/drawing/2014/main" id="{8E1618C2-ED55-4C62-B402-019CD173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step1-title-4">
            <a:extLst xmlns:a="http://schemas.openxmlformats.org/drawingml/2006/main">
              <a:ext uri="{FF2B5EF4-FFF2-40B4-BE49-F238E27FC236}">
                <a16:creationId xmlns:a16="http://schemas.microsoft.com/office/drawing/2014/main" id="{F10245BC-96D8-4727-8B1E-6717F24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96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Run·최종 유형</a:t>
            </a:r>
          </a:p>
        </p:txBody>
      </p:sp>
      <p:sp>
        <p:nvSpPr>
          <p:cNvPr id="31" name="step1-kicker-4">
            <a:extLst xmlns:a="http://schemas.openxmlformats.org/drawingml/2006/main">
              <a:ext uri="{FF2B5EF4-FFF2-40B4-BE49-F238E27FC236}">
                <a16:creationId xmlns:a16="http://schemas.microsoft.com/office/drawing/2014/main" id="{0047A807-878C-4A88-94D5-2B6E4B74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58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OUTPUT</a:t>
            </a:r>
          </a:p>
        </p:txBody>
      </p:sp>
      <p:sp>
        <p:nvSpPr>
          <p:cNvPr id="32" name="step1-body-4">
            <a:extLst xmlns:a="http://schemas.openxmlformats.org/drawingml/2006/main">
              <a:ext uri="{FF2B5EF4-FFF2-40B4-BE49-F238E27FC236}">
                <a16:creationId xmlns:a16="http://schemas.microsoft.com/office/drawing/2014/main" id="{21CE0B0D-FAE1-4A4C-8A45-B668789A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086600"/>
            <a:ext cx="3219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RULE·MODEL·FINAL 유형과 근거를 저장하고 사용자 확정값을 보존한 최신 최종 유형을 M03002에 제공합니다.</a:t>
            </a:r>
          </a:p>
        </p:txBody>
      </p:sp>
      <p:cxnSp>
        <p:nvCxnSpPr>
          <p:cNvPr id="72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7719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5238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7056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sp>
        <p:nvSpPr>
          <p:cNvPr id="36" name="p7-functions-fill">
            <a:extLst xmlns:a="http://schemas.openxmlformats.org/drawingml/2006/main">
              <a:ext uri="{FF2B5EF4-FFF2-40B4-BE49-F238E27FC236}">
                <a16:creationId xmlns:a16="http://schemas.microsoft.com/office/drawing/2014/main" id="{C425854D-2CA8-4F86-8C5A-8BCADB4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638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37" name="p7-functions-accent">
            <a:extLst xmlns:a="http://schemas.openxmlformats.org/drawingml/2006/main">
              <a:ext uri="{FF2B5EF4-FFF2-40B4-BE49-F238E27FC236}">
                <a16:creationId xmlns:a16="http://schemas.microsoft.com/office/drawing/2014/main" id="{36DEA354-24B1-4036-AE03-8096850B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38" name="p7-functions-text">
            <a:extLst xmlns:a="http://schemas.openxmlformats.org/drawingml/2006/main">
              <a:ext uri="{FF2B5EF4-FFF2-40B4-BE49-F238E27FC236}">
                <a16:creationId xmlns:a16="http://schemas.microsoft.com/office/drawing/2014/main" id="{CA0EF4AC-E532-4F80-BB8D-8D9603C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439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Rule 근거 · INIT$_FN_PREDICT_BASE_TYPE_V3 / INIT$_FN_PREDICT_BASE_REASON_V3</a:t>
            </a:r>
          </a:p>
        </p:txBody>
      </p:sp>
      <p:sp>
        <p:nvSpPr>
          <p:cNvPr id="39" name="p7-note">
            <a:extLst xmlns:a="http://schemas.openxmlformats.org/drawingml/2006/main">
              <a:ext uri="{FF2B5EF4-FFF2-40B4-BE49-F238E27FC236}">
                <a16:creationId xmlns:a16="http://schemas.microsoft.com/office/drawing/2014/main" id="{7022207C-4ABD-404C-A357-BA4B131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77375"/>
            <a:ext cx="603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모델 판단 로직 자체는 변경하지 않습니다. 개선은 Rule의 설명력과 최종 선택의 호환성 검증에 집중합니다.</a:t>
            </a:r>
          </a:p>
        </p:txBody>
      </p:sp>
    </p:spTree>
    <p:extLst>
      <p:ext uri="{BB962C8B-B14F-4D97-AF65-F5344CB8AC3E}">
        <p14:creationId xmlns:p14="http://schemas.microsoft.com/office/powerpoint/2010/main" val="529192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8-rail">
            <a:extLst xmlns:a="http://schemas.openxmlformats.org/drawingml/2006/main">
              <a:ext uri="{FF2B5EF4-FFF2-40B4-BE49-F238E27FC236}">
                <a16:creationId xmlns:a16="http://schemas.microsoft.com/office/drawing/2014/main" id="{E42221F8-1806-4523-B302-0AEE680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8-chapter">
            <a:extLst xmlns:a="http://schemas.openxmlformats.org/drawingml/2006/main">
              <a:ext uri="{FF2B5EF4-FFF2-40B4-BE49-F238E27FC236}">
                <a16:creationId xmlns:a16="http://schemas.microsoft.com/office/drawing/2014/main" id="{638EA544-2C5E-4C33-B9AA-7C7935A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02 · FOUR-STAGE DISCOVERY · STEP 2</a:t>
            </a:r>
          </a:p>
        </p:txBody>
      </p:sp>
      <p:sp>
        <p:nvSpPr>
          <p:cNvPr id="3" name="page-8-title">
            <a:extLst xmlns:a="http://schemas.openxmlformats.org/drawingml/2006/main">
              <a:ext uri="{FF2B5EF4-FFF2-40B4-BE49-F238E27FC236}">
                <a16:creationId xmlns:a16="http://schemas.microsoft.com/office/drawing/2014/main" id="{EAFC12F7-6B9A-400C-9284-7423597F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관계 지표는 컬럼 유형 조합에 따라 달라집니다</a:t>
            </a:r>
          </a:p>
        </p:txBody>
      </p:sp>
      <p:sp>
        <p:nvSpPr>
          <p:cNvPr id="4" name="page-8-subtitle">
            <a:extLst xmlns:a="http://schemas.openxmlformats.org/drawingml/2006/main">
              <a:ext uri="{FF2B5EF4-FFF2-40B4-BE49-F238E27FC236}">
                <a16:creationId xmlns:a16="http://schemas.microsoft.com/office/drawing/2014/main" id="{63D18E99-1E33-4A58-B943-F2B79BD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1단계의 최신 확정 유형을 기준으로 적합한 지표를 계산하고, 통과 관계를 네트워크·군집으로 확장합니다.</a:t>
            </a:r>
          </a:p>
        </p:txBody>
      </p:sp>
      <p:sp>
        <p:nvSpPr>
          <p:cNvPr id="5" name="page-8-top-rule">
            <a:extLst xmlns:a="http://schemas.openxmlformats.org/drawingml/2006/main">
              <a:ext uri="{FF2B5EF4-FFF2-40B4-BE49-F238E27FC236}">
                <a16:creationId xmlns:a16="http://schemas.microsoft.com/office/drawing/2014/main" id="{8877368E-600D-41BF-AAE6-6A84DE3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8-footer-rule">
            <a:extLst xmlns:a="http://schemas.openxmlformats.org/drawingml/2006/main">
              <a:ext uri="{FF2B5EF4-FFF2-40B4-BE49-F238E27FC236}">
                <a16:creationId xmlns:a16="http://schemas.microsoft.com/office/drawing/2014/main" id="{839F9E43-8EBC-420A-9F2A-C929DBE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8-footer-name">
            <a:extLst xmlns:a="http://schemas.openxmlformats.org/drawingml/2006/main">
              <a:ext uri="{FF2B5EF4-FFF2-40B4-BE49-F238E27FC236}">
                <a16:creationId xmlns:a16="http://schemas.microsoft.com/office/drawing/2014/main" id="{EBF5C46D-FB3F-42AD-BAE8-FB5E7F5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8-footer-number">
            <a:extLst xmlns:a="http://schemas.openxmlformats.org/drawingml/2006/main">
              <a:ext uri="{FF2B5EF4-FFF2-40B4-BE49-F238E27FC236}">
                <a16:creationId xmlns:a16="http://schemas.microsoft.com/office/drawing/2014/main" id="{5FE83DEF-A606-4204-83F0-6AE8EB18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9" name="p8-metric-0">
            <a:extLst xmlns:a="http://schemas.openxmlformats.org/drawingml/2006/main">
              <a:ext uri="{FF2B5EF4-FFF2-40B4-BE49-F238E27FC236}">
                <a16:creationId xmlns:a16="http://schemas.microsoft.com/office/drawing/2014/main" id="{650D18EB-9E6D-4D30-B5B8-57303DE7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38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8-pair-0">
            <a:extLst xmlns:a="http://schemas.openxmlformats.org/drawingml/2006/main">
              <a:ext uri="{FF2B5EF4-FFF2-40B4-BE49-F238E27FC236}">
                <a16:creationId xmlns:a16="http://schemas.microsoft.com/office/drawing/2014/main" id="{71574F77-01F6-4C53-8FC3-0999AA8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범주형 × 범주형</a:t>
            </a:r>
          </a:p>
        </p:txBody>
      </p:sp>
      <p:sp>
        <p:nvSpPr>
          <p:cNvPr id="11" name="p8-metric-name-0">
            <a:extLst xmlns:a="http://schemas.openxmlformats.org/drawingml/2006/main">
              <a:ext uri="{FF2B5EF4-FFF2-40B4-BE49-F238E27FC236}">
                <a16:creationId xmlns:a16="http://schemas.microsoft.com/office/drawing/2014/main" id="{127FC4E5-AC87-4D8C-A557-3F3E2BB3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Cramér's V</a:t>
            </a:r>
          </a:p>
        </p:txBody>
      </p:sp>
      <p:sp>
        <p:nvSpPr>
          <p:cNvPr id="12" name="p8-desc-0">
            <a:extLst xmlns:a="http://schemas.openxmlformats.org/drawingml/2006/main">
              <a:ext uri="{FF2B5EF4-FFF2-40B4-BE49-F238E27FC236}">
                <a16:creationId xmlns:a16="http://schemas.microsoft.com/office/drawing/2014/main" id="{BE88734A-578C-499B-A842-F1040C0B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051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 간 결합 강도와 p-value</a:t>
            </a:r>
          </a:p>
        </p:txBody>
      </p:sp>
      <p:sp>
        <p:nvSpPr>
          <p:cNvPr id="13" name="p8-metric-1">
            <a:extLst xmlns:a="http://schemas.openxmlformats.org/drawingml/2006/main">
              <a:ext uri="{FF2B5EF4-FFF2-40B4-BE49-F238E27FC236}">
                <a16:creationId xmlns:a16="http://schemas.microsoft.com/office/drawing/2014/main" id="{5A0F1E39-9AFF-4001-91C0-971FC4E3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638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4" name="p8-pair-1">
            <a:extLst xmlns:a="http://schemas.openxmlformats.org/drawingml/2006/main">
              <a:ext uri="{FF2B5EF4-FFF2-40B4-BE49-F238E27FC236}">
                <a16:creationId xmlns:a16="http://schemas.microsoft.com/office/drawing/2014/main" id="{EE2B9D0A-09C0-491E-AD31-D3F8853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연속형 × 연속형</a:t>
            </a:r>
          </a:p>
        </p:txBody>
      </p:sp>
      <p:sp>
        <p:nvSpPr>
          <p:cNvPr id="15" name="p8-metric-name-1">
            <a:extLst xmlns:a="http://schemas.openxmlformats.org/drawingml/2006/main">
              <a:ext uri="{FF2B5EF4-FFF2-40B4-BE49-F238E27FC236}">
                <a16:creationId xmlns:a16="http://schemas.microsoft.com/office/drawing/2014/main" id="{14F05F96-4991-4FCE-A2C7-0E96BD9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Pearson / Spearman</a:t>
            </a:r>
          </a:p>
        </p:txBody>
      </p:sp>
      <p:sp>
        <p:nvSpPr>
          <p:cNvPr id="16" name="p8-desc-1">
            <a:extLst xmlns:a="http://schemas.openxmlformats.org/drawingml/2006/main">
              <a:ext uri="{FF2B5EF4-FFF2-40B4-BE49-F238E27FC236}">
                <a16:creationId xmlns:a16="http://schemas.microsoft.com/office/drawing/2014/main" id="{D4407FFF-E5E1-40A2-A477-2CB81B5E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148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선형 또는 순위 관계와 p-value</a:t>
            </a:r>
          </a:p>
        </p:txBody>
      </p:sp>
      <p:sp>
        <p:nvSpPr>
          <p:cNvPr id="17" name="p8-metric-2">
            <a:extLst xmlns:a="http://schemas.openxmlformats.org/drawingml/2006/main">
              <a:ext uri="{FF2B5EF4-FFF2-40B4-BE49-F238E27FC236}">
                <a16:creationId xmlns:a16="http://schemas.microsoft.com/office/drawing/2014/main" id="{4A13BF25-9671-427F-9E6D-F3A4E843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38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8" name="p8-pair-2">
            <a:extLst xmlns:a="http://schemas.openxmlformats.org/drawingml/2006/main">
              <a:ext uri="{FF2B5EF4-FFF2-40B4-BE49-F238E27FC236}">
                <a16:creationId xmlns:a16="http://schemas.microsoft.com/office/drawing/2014/main" id="{8B7A47DD-061C-4550-89F2-643C3E6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범주형 × 연속형</a:t>
            </a:r>
          </a:p>
        </p:txBody>
      </p:sp>
      <p:sp>
        <p:nvSpPr>
          <p:cNvPr id="19" name="p8-metric-name-2">
            <a:extLst xmlns:a="http://schemas.openxmlformats.org/drawingml/2006/main">
              <a:ext uri="{FF2B5EF4-FFF2-40B4-BE49-F238E27FC236}">
                <a16:creationId xmlns:a16="http://schemas.microsoft.com/office/drawing/2014/main" id="{2B69A91A-4527-4FD3-B92E-B7E08B87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Eta Squared</a:t>
            </a:r>
          </a:p>
        </p:txBody>
      </p:sp>
      <p:sp>
        <p:nvSpPr>
          <p:cNvPr id="20" name="p8-desc-2">
            <a:extLst xmlns:a="http://schemas.openxmlformats.org/drawingml/2006/main">
              <a:ext uri="{FF2B5EF4-FFF2-40B4-BE49-F238E27FC236}">
                <a16:creationId xmlns:a16="http://schemas.microsoft.com/office/drawing/2014/main" id="{23FC6B67-7CD2-4409-98BE-99861F0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24525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집단이 연속값 변동을 설명하는 정도</a:t>
            </a:r>
          </a:p>
        </p:txBody>
      </p:sp>
      <p:sp>
        <p:nvSpPr>
          <p:cNvPr id="21" name="p8-network-label-bar">
            <a:extLst xmlns:a="http://schemas.openxmlformats.org/drawingml/2006/main">
              <a:ext uri="{FF2B5EF4-FFF2-40B4-BE49-F238E27FC236}">
                <a16:creationId xmlns:a16="http://schemas.microsoft.com/office/drawing/2014/main" id="{17A198F5-FD4D-498A-802C-9E9CF454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104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2" name="p8-network-label">
            <a:extLst xmlns:a="http://schemas.openxmlformats.org/drawingml/2006/main">
              <a:ext uri="{FF2B5EF4-FFF2-40B4-BE49-F238E27FC236}">
                <a16:creationId xmlns:a16="http://schemas.microsoft.com/office/drawing/2014/main" id="{D9A64FED-CC3B-4614-BDC8-9259D37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통과 관계를 네트워크와 군집으로 재구성</a:t>
            </a:r>
          </a:p>
        </p:txBody>
      </p:sp>
      <p:sp>
        <p:nvSpPr>
          <p:cNvPr id="23" name="p8-network-bullets">
            <a:extLst xmlns:a="http://schemas.openxmlformats.org/drawingml/2006/main">
              <a:ext uri="{FF2B5EF4-FFF2-40B4-BE49-F238E27FC236}">
                <a16:creationId xmlns:a16="http://schemas.microsoft.com/office/drawing/2014/main" id="{D2BC6993-952E-4A21-9ECC-4F412F12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0450"/>
            <a:ext cx="6229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실제 Run 임계값으로 PASS 여부를 저장하고 강한 관계를 weighted edge로 선택합니다.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결정적 community, degree, centrality를 계산해 3단계 규칙 발굴의 선택적 보조 입력으로 사용합니다.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LATEST_MASTER 유형과 Target 테이블·유의수준·강도·샘플·edge 제한을 함께 기록합니다.</a:t>
            </a:r>
          </a:p>
        </p:txBody>
      </p:sp>
      <p:sp>
        <p:nvSpPr>
          <p:cNvPr id="24" name="p8-warning-fill">
            <a:extLst xmlns:a="http://schemas.openxmlformats.org/drawingml/2006/main">
              <a:ext uri="{FF2B5EF4-FFF2-40B4-BE49-F238E27FC236}">
                <a16:creationId xmlns:a16="http://schemas.microsoft.com/office/drawing/2014/main" id="{4EFDC270-6BA3-4BC9-A8F5-83E66A0F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638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5" name="p8-warning-accent">
            <a:extLst xmlns:a="http://schemas.openxmlformats.org/drawingml/2006/main">
              <a:ext uri="{FF2B5EF4-FFF2-40B4-BE49-F238E27FC236}">
                <a16:creationId xmlns:a16="http://schemas.microsoft.com/office/drawing/2014/main" id="{9025B12A-207D-415E-B81D-B1D883A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6" name="p8-warning-text">
            <a:extLst xmlns:a="http://schemas.openxmlformats.org/drawingml/2006/main">
              <a:ext uri="{FF2B5EF4-FFF2-40B4-BE49-F238E27FC236}">
                <a16:creationId xmlns:a16="http://schemas.microsoft.com/office/drawing/2014/main" id="{EA2CF456-EF4A-4720-89F3-4758BA30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086850"/>
            <a:ext cx="598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해석 주의 · 관계 통과는 인과관계나 최종 업무 규칙을 뜻하지 않습니다. 기준 미달 관계도 다변량 수식 후보에 필요할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49238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age-9-rail">
            <a:extLst xmlns:a="http://schemas.openxmlformats.org/drawingml/2006/main">
              <a:ext uri="{FF2B5EF4-FFF2-40B4-BE49-F238E27FC236}">
                <a16:creationId xmlns:a16="http://schemas.microsoft.com/office/drawing/2014/main" id="{22373D29-8A8D-4B22-8830-5033F967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9-chapter">
            <a:extLst xmlns:a="http://schemas.openxmlformats.org/drawingml/2006/main">
              <a:ext uri="{FF2B5EF4-FFF2-40B4-BE49-F238E27FC236}">
                <a16:creationId xmlns:a16="http://schemas.microsoft.com/office/drawing/2014/main" id="{8A8DC20C-54B7-48CA-96B2-95210800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02 · FOUR-STAGE DISCOVERY · STEP 3</a:t>
            </a:r>
          </a:p>
        </p:txBody>
      </p:sp>
      <p:sp>
        <p:nvSpPr>
          <p:cNvPr id="3" name="page-9-title">
            <a:extLst xmlns:a="http://schemas.openxmlformats.org/drawingml/2006/main">
              <a:ext uri="{FF2B5EF4-FFF2-40B4-BE49-F238E27FC236}">
                <a16:creationId xmlns:a16="http://schemas.microsoft.com/office/drawing/2014/main" id="{2B375EC8-2771-4817-9D15-F0183F9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범주형과 연속형 규칙을 독립적으로 발굴합니다</a:t>
            </a:r>
          </a:p>
        </p:txBody>
      </p:sp>
      <p:sp>
        <p:nvSpPr>
          <p:cNvPr id="4" name="page-9-subtitle">
            <a:extLst xmlns:a="http://schemas.openxmlformats.org/drawingml/2006/main">
              <a:ext uri="{FF2B5EF4-FFF2-40B4-BE49-F238E27FC236}">
                <a16:creationId xmlns:a16="http://schemas.microsoft.com/office/drawing/2014/main" id="{334841D0-A877-46DE-ACAA-4F2695C4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통합 실행은 두 분석 경로를 함께 호출하지만, 결과는 자동 확정이 아니라 사람이 검토할 규칙 후보입니다.</a:t>
            </a:r>
          </a:p>
        </p:txBody>
      </p:sp>
      <p:sp>
        <p:nvSpPr>
          <p:cNvPr id="5" name="page-9-top-rule">
            <a:extLst xmlns:a="http://schemas.openxmlformats.org/drawingml/2006/main">
              <a:ext uri="{FF2B5EF4-FFF2-40B4-BE49-F238E27FC236}">
                <a16:creationId xmlns:a16="http://schemas.microsoft.com/office/drawing/2014/main" id="{395035FC-0718-4C60-BB4B-B0DF5BC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9-footer-rule">
            <a:extLst xmlns:a="http://schemas.openxmlformats.org/drawingml/2006/main">
              <a:ext uri="{FF2B5EF4-FFF2-40B4-BE49-F238E27FC236}">
                <a16:creationId xmlns:a16="http://schemas.microsoft.com/office/drawing/2014/main" id="{BC07F297-89C1-4B46-8545-88877B3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9-footer-name">
            <a:extLst xmlns:a="http://schemas.openxmlformats.org/drawingml/2006/main">
              <a:ext uri="{FF2B5EF4-FFF2-40B4-BE49-F238E27FC236}">
                <a16:creationId xmlns:a16="http://schemas.microsoft.com/office/drawing/2014/main" id="{1A7A601E-EA75-4A16-9F41-6304ED0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9-footer-number">
            <a:extLst xmlns:a="http://schemas.openxmlformats.org/drawingml/2006/main">
              <a:ext uri="{FF2B5EF4-FFF2-40B4-BE49-F238E27FC236}">
                <a16:creationId xmlns:a16="http://schemas.microsoft.com/office/drawing/2014/main" id="{479E3AA6-25F4-45F9-A80A-F8917591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9" name="p9-left">
            <a:extLst xmlns:a="http://schemas.openxmlformats.org/drawingml/2006/main">
              <a:ext uri="{FF2B5EF4-FFF2-40B4-BE49-F238E27FC236}">
                <a16:creationId xmlns:a16="http://schemas.microsoft.com/office/drawing/2014/main" id="{0D0EB4EE-0DB6-4BD8-BE24-97EB6B1E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3076575" cy="4572000"/>
          </a:xfrm>
          <a:prstGeom xmlns:a="http://schemas.openxmlformats.org/drawingml/2006/main" prst="roundRect">
            <a:avLst>
              <a:gd name="adj" fmla="val 371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9-left-kicker">
            <a:extLst xmlns:a="http://schemas.openxmlformats.org/drawingml/2006/main">
              <a:ext uri="{FF2B5EF4-FFF2-40B4-BE49-F238E27FC236}">
                <a16:creationId xmlns:a16="http://schemas.microsoft.com/office/drawing/2014/main" id="{436A589E-5AF3-45E2-8DAC-764C9F4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CATEGORICAL</a:t>
            </a:r>
          </a:p>
        </p:txBody>
      </p:sp>
      <p:sp>
        <p:nvSpPr>
          <p:cNvPr id="11" name="p9-left-title">
            <a:extLst xmlns:a="http://schemas.openxmlformats.org/drawingml/2006/main">
              <a:ext uri="{FF2B5EF4-FFF2-40B4-BE49-F238E27FC236}">
                <a16:creationId xmlns:a16="http://schemas.microsoft.com/office/drawing/2014/main" id="{C2A02E69-FE17-48DC-917B-3690FA5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Apriori 연관 규칙</a:t>
            </a:r>
          </a:p>
        </p:txBody>
      </p:sp>
      <p:sp>
        <p:nvSpPr>
          <p:cNvPr id="12" name="p9-left-desc">
            <a:extLst xmlns:a="http://schemas.openxmlformats.org/drawingml/2006/main">
              <a:ext uri="{FF2B5EF4-FFF2-40B4-BE49-F238E27FC236}">
                <a16:creationId xmlns:a16="http://schemas.microsoft.com/office/drawing/2014/main" id="{81BA4308-6B90-4CB5-A23D-7F813DF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조건–결과 형태의 사람이 읽을 수 있는 IF/THEN 후보를 만듭니다.</a:t>
            </a:r>
          </a:p>
        </p:txBody>
      </p:sp>
      <p:sp>
        <p:nvSpPr>
          <p:cNvPr id="13" name="p9-left-bullets">
            <a:extLst xmlns:a="http://schemas.openxmlformats.org/drawingml/2006/main">
              <a:ext uri="{FF2B5EF4-FFF2-40B4-BE49-F238E27FC236}">
                <a16:creationId xmlns:a16="http://schemas.microsoft.com/office/drawing/2014/main" id="{8791B8CF-8049-4495-BC46-5397BB8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619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최소 support·confidence 적용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길이와 조합 예산 제한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Oracle ML 모델과 요약 동시 생성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lift와 표본 건수 함께 저장</a:t>
            </a:r>
          </a:p>
        </p:txBody>
      </p:sp>
      <p:sp>
        <p:nvSpPr>
          <p:cNvPr id="14" name="p9-right">
            <a:extLst xmlns:a="http://schemas.openxmlformats.org/drawingml/2006/main">
              <a:ext uri="{FF2B5EF4-FFF2-40B4-BE49-F238E27FC236}">
                <a16:creationId xmlns:a16="http://schemas.microsoft.com/office/drawing/2014/main" id="{85A82636-7579-4931-AA09-3A1FC36B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90800"/>
            <a:ext cx="3076575" cy="4572000"/>
          </a:xfrm>
          <a:prstGeom xmlns:a="http://schemas.openxmlformats.org/drawingml/2006/main" prst="roundRect">
            <a:avLst>
              <a:gd name="adj" fmla="val 3715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5" name="p9-right-kicker">
            <a:extLst xmlns:a="http://schemas.openxmlformats.org/drawingml/2006/main">
              <a:ext uri="{FF2B5EF4-FFF2-40B4-BE49-F238E27FC236}">
                <a16:creationId xmlns:a16="http://schemas.microsoft.com/office/drawing/2014/main" id="{84F3D05D-3268-4B1C-960B-94E4E4F6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38450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CONTINUOUS</a:t>
            </a:r>
          </a:p>
        </p:txBody>
      </p:sp>
      <p:sp>
        <p:nvSpPr>
          <p:cNvPr id="16" name="p9-right-title">
            <a:extLst xmlns:a="http://schemas.openxmlformats.org/drawingml/2006/main">
              <a:ext uri="{FF2B5EF4-FFF2-40B4-BE49-F238E27FC236}">
                <a16:creationId xmlns:a16="http://schemas.microsoft.com/office/drawing/2014/main" id="{7701DE93-2A41-498B-9057-DFD6DE70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LASSO + Symbolic</a:t>
            </a:r>
          </a:p>
        </p:txBody>
      </p:sp>
      <p:sp>
        <p:nvSpPr>
          <p:cNvPr id="17" name="p9-right-desc">
            <a:extLst xmlns:a="http://schemas.openxmlformats.org/drawingml/2006/main">
              <a:ext uri="{FF2B5EF4-FFF2-40B4-BE49-F238E27FC236}">
                <a16:creationId xmlns:a16="http://schemas.microsoft.com/office/drawing/2014/main" id="{45E9CB49-C4B9-4BB1-8A1A-53C300D4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6957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중요변수를 압축하고 설명 가능한 f(x)=y 수식 후보를 비교합니다.</a:t>
            </a:r>
          </a:p>
        </p:txBody>
      </p:sp>
      <p:sp>
        <p:nvSpPr>
          <p:cNvPr id="18" name="p9-right-bullets">
            <a:extLst xmlns:a="http://schemas.openxmlformats.org/drawingml/2006/main">
              <a:ext uri="{FF2B5EF4-FFF2-40B4-BE49-F238E27FC236}">
                <a16:creationId xmlns:a16="http://schemas.microsoft.com/office/drawing/2014/main" id="{3FAE325C-2A28-4B62-B277-A94F02E7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629150"/>
            <a:ext cx="2619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결측 중앙값 보정과 표준화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교차검증 또는 계수로 변수 선택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선형·강건·비율·다항·PySR 비교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Oracle-safe 수식과 R² 저장</a:t>
            </a:r>
          </a:p>
        </p:txBody>
      </p:sp>
      <p:sp>
        <p:nvSpPr>
          <p:cNvPr id="19" name="p9-partial-label-bar">
            <a:extLst xmlns:a="http://schemas.openxmlformats.org/drawingml/2006/main">
              <a:ext uri="{FF2B5EF4-FFF2-40B4-BE49-F238E27FC236}">
                <a16:creationId xmlns:a16="http://schemas.microsoft.com/office/drawing/2014/main" id="{523EA343-8998-433A-AD0F-0C24EA9C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819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0" name="p9-partial-label">
            <a:extLst xmlns:a="http://schemas.openxmlformats.org/drawingml/2006/main">
              <a:ext uri="{FF2B5EF4-FFF2-40B4-BE49-F238E27FC236}">
                <a16:creationId xmlns:a16="http://schemas.microsoft.com/office/drawing/2014/main" id="{7BFD5069-3B73-4683-945E-B9D5B4A8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438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부분 완료도 검토 가능한 결과로 남깁니다</a:t>
            </a:r>
          </a:p>
        </p:txBody>
      </p:sp>
      <p:sp>
        <p:nvSpPr>
          <p:cNvPr id="21" name="p9-partial">
            <a:extLst xmlns:a="http://schemas.openxmlformats.org/drawingml/2006/main">
              <a:ext uri="{FF2B5EF4-FFF2-40B4-BE49-F238E27FC236}">
                <a16:creationId xmlns:a16="http://schemas.microsoft.com/office/drawing/2014/main" id="{ECBAFBBF-3920-4D6C-A854-8F24AFA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81950"/>
            <a:ext cx="6229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범주형·연속형 하위 작업의 성공과 실패를 독립적으로 확인합니다.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일부만 완료되면 성공 결과와 실패 메시지를 함께 반환합니다.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Node는 FAILED로 기록될 수 있으므로 메시지와 생성된 결과를 함께 읽습니다.</a:t>
            </a:r>
          </a:p>
        </p:txBody>
      </p:sp>
      <p:sp>
        <p:nvSpPr>
          <p:cNvPr id="22" name="p9-callout-fill">
            <a:extLst xmlns:a="http://schemas.openxmlformats.org/drawingml/2006/main">
              <a:ext uri="{FF2B5EF4-FFF2-40B4-BE49-F238E27FC236}">
                <a16:creationId xmlns:a16="http://schemas.microsoft.com/office/drawing/2014/main" id="{4E6B7F37-F165-4379-8505-D48126C8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638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3" name="p9-callout-accent">
            <a:extLst xmlns:a="http://schemas.openxmlformats.org/drawingml/2006/main">
              <a:ext uri="{FF2B5EF4-FFF2-40B4-BE49-F238E27FC236}">
                <a16:creationId xmlns:a16="http://schemas.microsoft.com/office/drawing/2014/main" id="{EA03FE32-8E51-48FF-BB1A-01687F6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4" name="p9-callout-text">
            <a:extLst xmlns:a="http://schemas.openxmlformats.org/drawingml/2006/main">
              <a:ext uri="{FF2B5EF4-FFF2-40B4-BE49-F238E27FC236}">
                <a16:creationId xmlns:a16="http://schemas.microsoft.com/office/drawing/2014/main" id="{3A206AA8-7A5A-465B-84C7-9074EB6C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598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중요변수 결과와 최종 수식 채택 결과는 서로 다른 판단 단계입니다.</a:t>
            </a:r>
          </a:p>
        </p:txBody>
      </p:sp>
    </p:spTree>
    <p:extLst>
      <p:ext uri="{BB962C8B-B14F-4D97-AF65-F5344CB8AC3E}">
        <p14:creationId xmlns:p14="http://schemas.microsoft.com/office/powerpoint/2010/main" val="9893329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10-rail">
            <a:extLst xmlns:a="http://schemas.openxmlformats.org/drawingml/2006/main">
              <a:ext uri="{FF2B5EF4-FFF2-40B4-BE49-F238E27FC236}">
                <a16:creationId xmlns:a16="http://schemas.microsoft.com/office/drawing/2014/main" id="{0309AADD-2E02-4043-AC6D-6CF2F551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" name="page-10-chapter">
            <a:extLst xmlns:a="http://schemas.openxmlformats.org/drawingml/2006/main">
              <a:ext uri="{FF2B5EF4-FFF2-40B4-BE49-F238E27FC236}">
                <a16:creationId xmlns:a16="http://schemas.microsoft.com/office/drawing/2014/main" id="{AE6B177F-E607-4324-8B4E-F59777C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02 · FOUR-STAGE DISCOVERY · STEP 4</a:t>
            </a:r>
          </a:p>
        </p:txBody>
      </p:sp>
      <p:sp>
        <p:nvSpPr>
          <p:cNvPr id="3" name="page-10-title">
            <a:extLst xmlns:a="http://schemas.openxmlformats.org/drawingml/2006/main">
              <a:ext uri="{FF2B5EF4-FFF2-40B4-BE49-F238E27FC236}">
                <a16:creationId xmlns:a16="http://schemas.microsoft.com/office/drawing/2014/main" id="{ACFB70C0-4FE8-49B0-B0D3-FC3590F7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탐지는 같은 Run의 규칙만 적용합니다</a:t>
            </a:r>
          </a:p>
        </p:txBody>
      </p:sp>
      <p:sp>
        <p:nvSpPr>
          <p:cNvPr id="4" name="page-10-subtitle">
            <a:extLst xmlns:a="http://schemas.openxmlformats.org/drawingml/2006/main">
              <a:ext uri="{FF2B5EF4-FFF2-40B4-BE49-F238E27FC236}">
                <a16:creationId xmlns:a16="http://schemas.microsoft.com/office/drawing/2014/main" id="{01111293-5F28-4183-945E-2410CE59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 연관 규칙과 연속형 Symbolic 수식을 SAME_RUN 계약으로 받아 위반 후보와 상세 행을 저장합니다.</a:t>
            </a:r>
          </a:p>
        </p:txBody>
      </p:sp>
      <p:sp>
        <p:nvSpPr>
          <p:cNvPr id="5" name="page-10-top-rule">
            <a:extLst xmlns:a="http://schemas.openxmlformats.org/drawingml/2006/main">
              <a:ext uri="{FF2B5EF4-FFF2-40B4-BE49-F238E27FC236}">
                <a16:creationId xmlns:a16="http://schemas.microsoft.com/office/drawing/2014/main" id="{487FAB23-9114-4568-AAB9-B03E39F5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0-footer-rule">
            <a:extLst xmlns:a="http://schemas.openxmlformats.org/drawingml/2006/main">
              <a:ext uri="{FF2B5EF4-FFF2-40B4-BE49-F238E27FC236}">
                <a16:creationId xmlns:a16="http://schemas.microsoft.com/office/drawing/2014/main" id="{185AE8BE-2F4C-4BE4-AD3A-D880082B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0-footer-name">
            <a:extLst xmlns:a="http://schemas.openxmlformats.org/drawingml/2006/main">
              <a:ext uri="{FF2B5EF4-FFF2-40B4-BE49-F238E27FC236}">
                <a16:creationId xmlns:a16="http://schemas.microsoft.com/office/drawing/2014/main" id="{979278B4-20F9-434A-B04A-588D3EA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0-footer-number">
            <a:extLst xmlns:a="http://schemas.openxmlformats.org/drawingml/2006/main">
              <a:ext uri="{FF2B5EF4-FFF2-40B4-BE49-F238E27FC236}">
                <a16:creationId xmlns:a16="http://schemas.microsoft.com/office/drawing/2014/main" id="{79296A76-8062-41B6-9A20-6E2483F0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9" name="p10-input-fill">
            <a:extLst xmlns:a="http://schemas.openxmlformats.org/drawingml/2006/main">
              <a:ext uri="{FF2B5EF4-FFF2-40B4-BE49-F238E27FC236}">
                <a16:creationId xmlns:a16="http://schemas.microsoft.com/office/drawing/2014/main" id="{19CE72CD-7BF1-4CE6-BC01-E8C36DBA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6381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10" name="p10-input-accent">
            <a:extLst xmlns:a="http://schemas.openxmlformats.org/drawingml/2006/main">
              <a:ext uri="{FF2B5EF4-FFF2-40B4-BE49-F238E27FC236}">
                <a16:creationId xmlns:a16="http://schemas.microsoft.com/office/drawing/2014/main" id="{F8AF614B-2DDC-46B5-8926-5B2D18FA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1" name="p10-input-text">
            <a:extLst xmlns:a="http://schemas.openxmlformats.org/drawingml/2006/main">
              <a:ext uri="{FF2B5EF4-FFF2-40B4-BE49-F238E27FC236}">
                <a16:creationId xmlns:a16="http://schemas.microsoft.com/office/drawing/2014/main" id="{F4DE42A7-69DB-45B5-88C5-0F5FEEA0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98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필수 입력 · 같은 Flow Run에서 성공한 연관 모델·범주형 규칙 요약·Symbolic 규칙</a:t>
            </a:r>
          </a:p>
        </p:txBody>
      </p:sp>
      <p:sp>
        <p:nvSpPr>
          <p:cNvPr id="12" name="p10-cat">
            <a:extLst xmlns:a="http://schemas.openxmlformats.org/drawingml/2006/main">
              <a:ext uri="{FF2B5EF4-FFF2-40B4-BE49-F238E27FC236}">
                <a16:creationId xmlns:a16="http://schemas.microsoft.com/office/drawing/2014/main" id="{80E7EC22-177E-42DB-856D-37798194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067050" cy="381000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3" name="p10-cat-title">
            <a:extLst xmlns:a="http://schemas.openxmlformats.org/drawingml/2006/main">
              <a:ext uri="{FF2B5EF4-FFF2-40B4-BE49-F238E27FC236}">
                <a16:creationId xmlns:a16="http://schemas.microsoft.com/office/drawing/2014/main" id="{36189C96-B6E3-4C4D-AA5A-9A6D340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260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범주형 위반</a:t>
            </a:r>
          </a:p>
        </p:txBody>
      </p:sp>
      <p:sp>
        <p:nvSpPr>
          <p:cNvPr id="14" name="p10-cat-desc">
            <a:extLst xmlns:a="http://schemas.openxmlformats.org/drawingml/2006/main">
              <a:ext uri="{FF2B5EF4-FFF2-40B4-BE49-F238E27FC236}">
                <a16:creationId xmlns:a16="http://schemas.microsoft.com/office/drawing/2014/main" id="{37C82E72-5265-4EBB-8A50-ACE3EF92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조건이 일치하지만 결과가 NULL이거나 예상값과 다른 행을 찾습니다.</a:t>
            </a:r>
          </a:p>
        </p:txBody>
      </p:sp>
      <p:sp>
        <p:nvSpPr>
          <p:cNvPr id="15" name="p10-cat-bullets">
            <a:extLst xmlns:a="http://schemas.openxmlformats.org/drawingml/2006/main">
              <a:ext uri="{FF2B5EF4-FFF2-40B4-BE49-F238E27FC236}">
                <a16:creationId xmlns:a16="http://schemas.microsoft.com/office/drawing/2014/main" id="{1436F779-010A-4513-8E26-FCD8A6FA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57825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confidence·lift를 보조 점수로 사용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규칙별 저장·스캔 제한 적용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위반 후보와 근거를 함께 보존</a:t>
            </a:r>
          </a:p>
        </p:txBody>
      </p:sp>
      <p:sp>
        <p:nvSpPr>
          <p:cNvPr id="16" name="p10-num">
            <a:extLst xmlns:a="http://schemas.openxmlformats.org/drawingml/2006/main">
              <a:ext uri="{FF2B5EF4-FFF2-40B4-BE49-F238E27FC236}">
                <a16:creationId xmlns:a16="http://schemas.microsoft.com/office/drawing/2014/main" id="{1F2E9E4B-25A2-4E7B-B704-2972B70B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3067050" cy="381000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7" name="p10-num-title">
            <a:extLst xmlns:a="http://schemas.openxmlformats.org/drawingml/2006/main">
              <a:ext uri="{FF2B5EF4-FFF2-40B4-BE49-F238E27FC236}">
                <a16:creationId xmlns:a16="http://schemas.microsoft.com/office/drawing/2014/main" id="{01F83492-DF17-4F4F-92CB-84CA1B44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95725"/>
            <a:ext cx="260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연속형 위반</a:t>
            </a:r>
          </a:p>
        </p:txBody>
      </p:sp>
      <p:sp>
        <p:nvSpPr>
          <p:cNvPr id="18" name="p10-num-desc">
            <a:extLst xmlns:a="http://schemas.openxmlformats.org/drawingml/2006/main">
              <a:ext uri="{FF2B5EF4-FFF2-40B4-BE49-F238E27FC236}">
                <a16:creationId xmlns:a16="http://schemas.microsoft.com/office/drawing/2014/main" id="{7537CE65-603D-47D5-8D35-2C5F831D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91025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허용된 수식으로 예측값을 계산하고 실제값과의 상대·절대 오차를 평가합니다.</a:t>
            </a:r>
          </a:p>
        </p:txBody>
      </p:sp>
      <p:sp>
        <p:nvSpPr>
          <p:cNvPr id="19" name="p10-num-bullets">
            <a:extLst xmlns:a="http://schemas.openxmlformats.org/drawingml/2006/main">
              <a:ext uri="{FF2B5EF4-FFF2-40B4-BE49-F238E27FC236}">
                <a16:creationId xmlns:a16="http://schemas.microsoft.com/office/drawing/2014/main" id="{0F2692FF-0AAB-4FA2-8358-08098834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57825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허용 feature와 수식만 안전하게 평가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상대·절대 오차 임계값 적용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12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실제·예측·오차를 상세 저장</a:t>
            </a:r>
          </a:p>
        </p:txBody>
      </p:sp>
      <p:sp>
        <p:nvSpPr>
          <p:cNvPr id="20" name="p10-result-fill">
            <a:extLst xmlns:a="http://schemas.openxmlformats.org/drawingml/2006/main">
              <a:ext uri="{FF2B5EF4-FFF2-40B4-BE49-F238E27FC236}">
                <a16:creationId xmlns:a16="http://schemas.microsoft.com/office/drawing/2014/main" id="{718BE28D-F5BE-42C5-98DF-982ABFEE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72400"/>
            <a:ext cx="638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1" name="p10-result-accent">
            <a:extLst xmlns:a="http://schemas.openxmlformats.org/drawingml/2006/main">
              <a:ext uri="{FF2B5EF4-FFF2-40B4-BE49-F238E27FC236}">
                <a16:creationId xmlns:a16="http://schemas.microsoft.com/office/drawing/2014/main" id="{FEB365BD-FD24-4ACF-8799-3E76928D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724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2" name="p10-result-title">
            <a:extLst xmlns:a="http://schemas.openxmlformats.org/drawingml/2006/main">
              <a:ext uri="{FF2B5EF4-FFF2-40B4-BE49-F238E27FC236}">
                <a16:creationId xmlns:a16="http://schemas.microsoft.com/office/drawing/2014/main" id="{432B0528-68CB-4B02-BF7E-C16BD12A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8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결과를 이렇게 읽습니다</a:t>
            </a:r>
          </a:p>
        </p:txBody>
      </p:sp>
      <p:sp>
        <p:nvSpPr>
          <p:cNvPr id="23" name="p10-result-body">
            <a:extLst xmlns:a="http://schemas.openxmlformats.org/drawingml/2006/main">
              <a:ext uri="{FF2B5EF4-FFF2-40B4-BE49-F238E27FC236}">
                <a16:creationId xmlns:a16="http://schemas.microsoft.com/office/drawing/2014/main" id="{902C10C5-4CE7-4BE3-A192-3B94CEC3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981950"/>
            <a:ext cx="331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SUCCESS이면서 0건이면 정상 결과일 수 있습니다. FAILED이면 범주형·연속형의 성공 여부를 부분 완료 메시지로 나누어 확인합니다.</a:t>
            </a:r>
          </a:p>
        </p:txBody>
      </p:sp>
      <p:sp>
        <p:nvSpPr>
          <p:cNvPr id="24" name="p10-warning-fill">
            <a:extLst xmlns:a="http://schemas.openxmlformats.org/drawingml/2006/main">
              <a:ext uri="{FF2B5EF4-FFF2-40B4-BE49-F238E27FC236}">
                <a16:creationId xmlns:a16="http://schemas.microsoft.com/office/drawing/2014/main" id="{2987CBB2-71FB-4233-A3B6-EAC517CF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01150"/>
            <a:ext cx="6381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25" name="p10-warning-accent">
            <a:extLst xmlns:a="http://schemas.openxmlformats.org/drawingml/2006/main">
              <a:ext uri="{FF2B5EF4-FFF2-40B4-BE49-F238E27FC236}">
                <a16:creationId xmlns:a16="http://schemas.microsoft.com/office/drawing/2014/main" id="{86C9B513-E7F8-4ABF-85CA-3281D14D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0115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6" name="p10-warning-text">
            <a:extLst xmlns:a="http://schemas.openxmlformats.org/drawingml/2006/main">
              <a:ext uri="{FF2B5EF4-FFF2-40B4-BE49-F238E27FC236}">
                <a16:creationId xmlns:a16="http://schemas.microsoft.com/office/drawing/2014/main" id="{76F826AB-0D95-450B-A816-DFE3508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72600"/>
            <a:ext cx="598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탐지는 원본을 수정하지 않습니다. 실제 오류 수정은 M05002의 별도 편집 테이블에서 수행합니다.</a:t>
            </a:r>
          </a:p>
        </p:txBody>
      </p:sp>
    </p:spTree>
    <p:extLst>
      <p:ext uri="{BB962C8B-B14F-4D97-AF65-F5344CB8AC3E}">
        <p14:creationId xmlns:p14="http://schemas.microsoft.com/office/powerpoint/2010/main" val="1419198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11-rail">
            <a:extLst xmlns:a="http://schemas.openxmlformats.org/drawingml/2006/main">
              <a:ext uri="{FF2B5EF4-FFF2-40B4-BE49-F238E27FC236}">
                <a16:creationId xmlns:a16="http://schemas.microsoft.com/office/drawing/2014/main" id="{023B2EDF-E7D1-4CD7-9354-2FF2259B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11-chapter">
            <a:extLst xmlns:a="http://schemas.openxmlformats.org/drawingml/2006/main">
              <a:ext uri="{FF2B5EF4-FFF2-40B4-BE49-F238E27FC236}">
                <a16:creationId xmlns:a16="http://schemas.microsoft.com/office/drawing/2014/main" id="{2889A13D-3552-4803-A8B5-36E7B8DB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02 · FOUR-STAGE DISCOVERY · RUN CONTRACT</a:t>
            </a:r>
          </a:p>
        </p:txBody>
      </p:sp>
      <p:sp>
        <p:nvSpPr>
          <p:cNvPr id="3" name="page-11-title">
            <a:extLst xmlns:a="http://schemas.openxmlformats.org/drawingml/2006/main">
              <a:ext uri="{FF2B5EF4-FFF2-40B4-BE49-F238E27FC236}">
                <a16:creationId xmlns:a16="http://schemas.microsoft.com/office/drawing/2014/main" id="{C8234858-E1B3-4B82-B37F-F54760A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4단계는 같은 Run 안에서 계약으로 이어집니다</a:t>
            </a:r>
          </a:p>
        </p:txBody>
      </p:sp>
      <p:sp>
        <p:nvSpPr>
          <p:cNvPr id="4" name="page-11-subtitle">
            <a:extLst xmlns:a="http://schemas.openxmlformats.org/drawingml/2006/main">
              <a:ext uri="{FF2B5EF4-FFF2-40B4-BE49-F238E27FC236}">
                <a16:creationId xmlns:a16="http://schemas.microsoft.com/office/drawing/2014/main" id="{890FFB55-44B7-43DC-B6D3-4C87F05D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각 단계는 결과 테이블만 넘기는 것이 아니라, 어떤 기준과 Run을 참조할지 명시한 아티팩트 계약으로 연결됩니다.</a:t>
            </a:r>
          </a:p>
        </p:txBody>
      </p:sp>
      <p:sp>
        <p:nvSpPr>
          <p:cNvPr id="5" name="page-11-top-rule">
            <a:extLst xmlns:a="http://schemas.openxmlformats.org/drawingml/2006/main">
              <a:ext uri="{FF2B5EF4-FFF2-40B4-BE49-F238E27FC236}">
                <a16:creationId xmlns:a16="http://schemas.microsoft.com/office/drawing/2014/main" id="{E1F47A93-BCA5-4D16-B5CE-6BAF0693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1-footer-rule">
            <a:extLst xmlns:a="http://schemas.openxmlformats.org/drawingml/2006/main">
              <a:ext uri="{FF2B5EF4-FFF2-40B4-BE49-F238E27FC236}">
                <a16:creationId xmlns:a16="http://schemas.microsoft.com/office/drawing/2014/main" id="{C751B745-83D0-4253-90F3-C1671821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1-footer-name">
            <a:extLst xmlns:a="http://schemas.openxmlformats.org/drawingml/2006/main">
              <a:ext uri="{FF2B5EF4-FFF2-40B4-BE49-F238E27FC236}">
                <a16:creationId xmlns:a16="http://schemas.microsoft.com/office/drawing/2014/main" id="{037D344C-DFD1-48F2-9C4D-7B5F458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1-footer-number">
            <a:extLst xmlns:a="http://schemas.openxmlformats.org/drawingml/2006/main">
              <a:ext uri="{FF2B5EF4-FFF2-40B4-BE49-F238E27FC236}">
                <a16:creationId xmlns:a16="http://schemas.microsoft.com/office/drawing/2014/main" id="{DCA2FE0F-E851-4289-BD0E-9F388CE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9" name="p11-node-0">
            <a:extLst xmlns:a="http://schemas.openxmlformats.org/drawingml/2006/main">
              <a:ext uri="{FF2B5EF4-FFF2-40B4-BE49-F238E27FC236}">
                <a16:creationId xmlns:a16="http://schemas.microsoft.com/office/drawing/2014/main" id="{94466272-AFC3-4B71-ADCB-D2520B10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p11-num-0-circle">
            <a:extLst xmlns:a="http://schemas.openxmlformats.org/drawingml/2006/main">
              <a:ext uri="{FF2B5EF4-FFF2-40B4-BE49-F238E27FC236}">
                <a16:creationId xmlns:a16="http://schemas.microsoft.com/office/drawing/2014/main" id="{8AD302C8-05CD-4179-AEFD-AA89576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11-num-0-number">
            <a:extLst xmlns:a="http://schemas.openxmlformats.org/drawingml/2006/main">
              <a:ext uri="{FF2B5EF4-FFF2-40B4-BE49-F238E27FC236}">
                <a16:creationId xmlns:a16="http://schemas.microsoft.com/office/drawing/2014/main" id="{FA399F6B-69BC-4584-A636-10B05B19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p11-title-0">
            <a:extLst xmlns:a="http://schemas.openxmlformats.org/drawingml/2006/main">
              <a:ext uri="{FF2B5EF4-FFF2-40B4-BE49-F238E27FC236}">
                <a16:creationId xmlns:a16="http://schemas.microsoft.com/office/drawing/2014/main" id="{A67A647B-46F3-473C-9509-EA568F84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76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유형</a:t>
            </a:r>
          </a:p>
        </p:txBody>
      </p:sp>
      <p:sp>
        <p:nvSpPr>
          <p:cNvPr id="13" name="p11-body-0">
            <a:extLst xmlns:a="http://schemas.openxmlformats.org/drawingml/2006/main">
              <a:ext uri="{FF2B5EF4-FFF2-40B4-BE49-F238E27FC236}">
                <a16:creationId xmlns:a16="http://schemas.microsoft.com/office/drawing/2014/main" id="{3AFEFA6F-4792-45D5-8931-50B9D35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8612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RULE · MODEL · FINAL 유형과 사용자 확정 기준</a:t>
            </a:r>
          </a:p>
        </p:txBody>
      </p:sp>
      <p:sp>
        <p:nvSpPr>
          <p:cNvPr id="14" name="p11-latest">
            <a:extLst xmlns:a="http://schemas.openxmlformats.org/drawingml/2006/main">
              <a:ext uri="{FF2B5EF4-FFF2-40B4-BE49-F238E27FC236}">
                <a16:creationId xmlns:a16="http://schemas.microsoft.com/office/drawing/2014/main" id="{51A3CE29-DEE2-4A2E-8ECE-B433BFB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19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LATEST_MASTER</a:t>
            </a:r>
          </a:p>
        </p:txBody>
      </p:sp>
      <p:sp>
        <p:nvSpPr>
          <p:cNvPr id="15" name="p11-node-1">
            <a:extLst xmlns:a="http://schemas.openxmlformats.org/drawingml/2006/main">
              <a:ext uri="{FF2B5EF4-FFF2-40B4-BE49-F238E27FC236}">
                <a16:creationId xmlns:a16="http://schemas.microsoft.com/office/drawing/2014/main" id="{3C3764D6-4D75-4387-B85F-306FEBA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16" name="p11-num-1-circle">
            <a:extLst xmlns:a="http://schemas.openxmlformats.org/drawingml/2006/main">
              <a:ext uri="{FF2B5EF4-FFF2-40B4-BE49-F238E27FC236}">
                <a16:creationId xmlns:a16="http://schemas.microsoft.com/office/drawing/2014/main" id="{D24D11EE-7C0F-46DB-823A-04B1EB67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7" name="p11-num-1-number">
            <a:extLst xmlns:a="http://schemas.openxmlformats.org/drawingml/2006/main">
              <a:ext uri="{FF2B5EF4-FFF2-40B4-BE49-F238E27FC236}">
                <a16:creationId xmlns:a16="http://schemas.microsoft.com/office/drawing/2014/main" id="{D1033AAA-332A-4698-A177-ED8672F6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p11-title-1">
            <a:extLst xmlns:a="http://schemas.openxmlformats.org/drawingml/2006/main">
              <a:ext uri="{FF2B5EF4-FFF2-40B4-BE49-F238E27FC236}">
                <a16:creationId xmlns:a16="http://schemas.microsoft.com/office/drawing/2014/main" id="{C410CEDA-080F-4D27-8F23-909A99DC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19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관계·군집</a:t>
            </a:r>
          </a:p>
        </p:txBody>
      </p:sp>
      <p:sp>
        <p:nvSpPr>
          <p:cNvPr id="19" name="p11-body-1">
            <a:extLst xmlns:a="http://schemas.openxmlformats.org/drawingml/2006/main">
              <a:ext uri="{FF2B5EF4-FFF2-40B4-BE49-F238E27FC236}">
                <a16:creationId xmlns:a16="http://schemas.microsoft.com/office/drawing/2014/main" id="{016D4A39-CEE3-43BB-A6B5-D375DB58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291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유형별 지표, PASS 관계, 네트워크와 community</a:t>
            </a:r>
          </a:p>
        </p:txBody>
      </p:sp>
      <p:sp>
        <p:nvSpPr>
          <p:cNvPr id="20" name="p11-same-1">
            <a:extLst xmlns:a="http://schemas.openxmlformats.org/drawingml/2006/main">
              <a:ext uri="{FF2B5EF4-FFF2-40B4-BE49-F238E27FC236}">
                <a16:creationId xmlns:a16="http://schemas.microsoft.com/office/drawing/2014/main" id="{F6EA440D-B1C1-4DF2-A428-9D395940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62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sp>
        <p:nvSpPr>
          <p:cNvPr id="21" name="p11-node-2">
            <a:extLst xmlns:a="http://schemas.openxmlformats.org/drawingml/2006/main">
              <a:ext uri="{FF2B5EF4-FFF2-40B4-BE49-F238E27FC236}">
                <a16:creationId xmlns:a16="http://schemas.microsoft.com/office/drawing/2014/main" id="{4D5E6CB2-C297-4AAE-B2A1-15BE0AB4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2" name="p11-num-2-circle">
            <a:extLst xmlns:a="http://schemas.openxmlformats.org/drawingml/2006/main">
              <a:ext uri="{FF2B5EF4-FFF2-40B4-BE49-F238E27FC236}">
                <a16:creationId xmlns:a16="http://schemas.microsoft.com/office/drawing/2014/main" id="{8E89043E-FB04-4E42-86A9-32C79D25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8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3" name="p11-num-2-number">
            <a:extLst xmlns:a="http://schemas.openxmlformats.org/drawingml/2006/main">
              <a:ext uri="{FF2B5EF4-FFF2-40B4-BE49-F238E27FC236}">
                <a16:creationId xmlns:a16="http://schemas.microsoft.com/office/drawing/2014/main" id="{417F4EC3-CBC5-4F2F-8F18-0F307B58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055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p11-title-2">
            <a:extLst xmlns:a="http://schemas.openxmlformats.org/drawingml/2006/main">
              <a:ext uri="{FF2B5EF4-FFF2-40B4-BE49-F238E27FC236}">
                <a16:creationId xmlns:a16="http://schemas.microsoft.com/office/drawing/2014/main" id="{8E1CD391-DBF7-43A4-A442-4A1E0CA8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62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발굴</a:t>
            </a:r>
          </a:p>
        </p:txBody>
      </p:sp>
      <p:sp>
        <p:nvSpPr>
          <p:cNvPr id="25" name="p11-body-2">
            <a:extLst xmlns:a="http://schemas.openxmlformats.org/drawingml/2006/main">
              <a:ext uri="{FF2B5EF4-FFF2-40B4-BE49-F238E27FC236}">
                <a16:creationId xmlns:a16="http://schemas.microsoft.com/office/drawing/2014/main" id="{BE52C52E-38DA-42A6-9F6C-694DD5D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7222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Apriori 규칙, LASSO 중요변수, Symbolic 수식</a:t>
            </a:r>
          </a:p>
        </p:txBody>
      </p:sp>
      <p:sp>
        <p:nvSpPr>
          <p:cNvPr id="26" name="p11-same-2">
            <a:extLst xmlns:a="http://schemas.openxmlformats.org/drawingml/2006/main">
              <a:ext uri="{FF2B5EF4-FFF2-40B4-BE49-F238E27FC236}">
                <a16:creationId xmlns:a16="http://schemas.microsoft.com/office/drawing/2014/main" id="{CE3B7F0D-82F1-4112-BFD0-76280C5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055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sp>
        <p:nvSpPr>
          <p:cNvPr id="27" name="p11-node-3">
            <a:extLst xmlns:a="http://schemas.openxmlformats.org/drawingml/2006/main">
              <a:ext uri="{FF2B5EF4-FFF2-40B4-BE49-F238E27FC236}">
                <a16:creationId xmlns:a16="http://schemas.microsoft.com/office/drawing/2014/main" id="{0E2A8437-AAF8-43DD-B2FA-C781111C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77100"/>
            <a:ext cx="5848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28" name="p11-num-3-circle">
            <a:extLst xmlns:a="http://schemas.openxmlformats.org/drawingml/2006/main">
              <a:ext uri="{FF2B5EF4-FFF2-40B4-BE49-F238E27FC236}">
                <a16:creationId xmlns:a16="http://schemas.microsoft.com/office/drawing/2014/main" id="{F91857BC-D8BC-4CF3-B20B-D5B88F6C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9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9" name="p11-num-3-number">
            <a:extLst xmlns:a="http://schemas.openxmlformats.org/drawingml/2006/main">
              <a:ext uri="{FF2B5EF4-FFF2-40B4-BE49-F238E27FC236}">
                <a16:creationId xmlns:a16="http://schemas.microsoft.com/office/drawing/2014/main" id="{D94AAD82-75B0-4E56-A21A-0797734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485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p11-title-3">
            <a:extLst xmlns:a="http://schemas.openxmlformats.org/drawingml/2006/main">
              <a:ext uri="{FF2B5EF4-FFF2-40B4-BE49-F238E27FC236}">
                <a16:creationId xmlns:a16="http://schemas.microsoft.com/office/drawing/2014/main" id="{F9587105-F07F-4355-A021-CCE2F01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50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탐지</a:t>
            </a:r>
          </a:p>
        </p:txBody>
      </p:sp>
      <p:sp>
        <p:nvSpPr>
          <p:cNvPr id="31" name="p11-body-3">
            <a:extLst xmlns:a="http://schemas.openxmlformats.org/drawingml/2006/main">
              <a:ext uri="{FF2B5EF4-FFF2-40B4-BE49-F238E27FC236}">
                <a16:creationId xmlns:a16="http://schemas.microsoft.com/office/drawing/2014/main" id="{B88F7840-B1F3-4AF3-A438-42546A6B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9152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범주형·연속형 위반 후보와 상세 행</a:t>
            </a:r>
          </a:p>
        </p:txBody>
      </p:sp>
      <p:sp>
        <p:nvSpPr>
          <p:cNvPr id="32" name="p11-same-3">
            <a:extLst xmlns:a="http://schemas.openxmlformats.org/drawingml/2006/main">
              <a:ext uri="{FF2B5EF4-FFF2-40B4-BE49-F238E27FC236}">
                <a16:creationId xmlns:a16="http://schemas.microsoft.com/office/drawing/2014/main" id="{2CAC88D2-20D0-4EE8-AB6A-C29798FD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485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cxnSp>
        <p:nvCxnSpPr>
          <p:cNvPr id="7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8290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62A8"/>
            </a:solidFill>
            <a:prstDash val="solid"/>
            <a:tailEnd type="arrow" w="med" len="med"/>
          </a:ln>
        </p:spPr>
      </p:cxnSp>
      <p:sp>
        <p:nvSpPr>
          <p:cNvPr id="34" name="p11-link-label-0">
            <a:extLst xmlns:a="http://schemas.openxmlformats.org/drawingml/2006/main">
              <a:ext uri="{FF2B5EF4-FFF2-40B4-BE49-F238E27FC236}">
                <a16:creationId xmlns:a16="http://schemas.microsoft.com/office/drawing/2014/main" id="{058429EE-1B58-4ABD-AE41-095F2222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290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최신 확정 유형</a:t>
            </a:r>
          </a:p>
        </p:txBody>
      </p:sp>
      <p:cxnSp>
        <p:nvCxnSpPr>
          <p:cNvPr id="76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53721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62A8"/>
            </a:solidFill>
            <a:prstDash val="solid"/>
            <a:tailEnd type="arrow" w="med" len="med"/>
          </a:ln>
        </p:spPr>
      </p:cxnSp>
      <p:sp>
        <p:nvSpPr>
          <p:cNvPr id="36" name="p11-link-label-1">
            <a:extLst xmlns:a="http://schemas.openxmlformats.org/drawingml/2006/main">
              <a:ext uri="{FF2B5EF4-FFF2-40B4-BE49-F238E27FC236}">
                <a16:creationId xmlns:a16="http://schemas.microsoft.com/office/drawing/2014/main" id="{3B72D21E-ABAB-4377-997F-3C9349CF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721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같은 Run의 선행 아티팩트</a:t>
            </a:r>
          </a:p>
        </p:txBody>
      </p:sp>
      <p:cxnSp>
        <p:nvCxnSpPr>
          <p:cNvPr id="78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915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E62A8"/>
            </a:solidFill>
            <a:prstDash val="solid"/>
            <a:tailEnd type="arrow" w="med" len="med"/>
          </a:ln>
        </p:spPr>
      </p:cxnSp>
      <p:sp>
        <p:nvSpPr>
          <p:cNvPr id="38" name="p11-link-label-2">
            <a:extLst xmlns:a="http://schemas.openxmlformats.org/drawingml/2006/main">
              <a:ext uri="{FF2B5EF4-FFF2-40B4-BE49-F238E27FC236}">
                <a16:creationId xmlns:a16="http://schemas.microsoft.com/office/drawing/2014/main" id="{3AD6CF73-5DD6-4AEF-BBEC-B9EFD544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9151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같은 Run의 선행 아티팩트</a:t>
            </a:r>
          </a:p>
        </p:txBody>
      </p:sp>
      <p:sp>
        <p:nvSpPr>
          <p:cNvPr id="39" name="p11-callout-fill">
            <a:extLst xmlns:a="http://schemas.openxmlformats.org/drawingml/2006/main">
              <a:ext uri="{FF2B5EF4-FFF2-40B4-BE49-F238E27FC236}">
                <a16:creationId xmlns:a16="http://schemas.microsoft.com/office/drawing/2014/main" id="{2588DD4C-13CA-41D3-84E1-6E5DD62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10650"/>
            <a:ext cx="6381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40" name="p11-callout-accent">
            <a:extLst xmlns:a="http://schemas.openxmlformats.org/drawingml/2006/main">
              <a:ext uri="{FF2B5EF4-FFF2-40B4-BE49-F238E27FC236}">
                <a16:creationId xmlns:a16="http://schemas.microsoft.com/office/drawing/2014/main" id="{16D4E508-488C-4099-9974-3755831F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106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41" name="p11-callout-text">
            <a:extLst xmlns:a="http://schemas.openxmlformats.org/drawingml/2006/main">
              <a:ext uri="{FF2B5EF4-FFF2-40B4-BE49-F238E27FC236}">
                <a16:creationId xmlns:a16="http://schemas.microsoft.com/office/drawing/2014/main" id="{AEBAF404-DF43-4B8D-9DD5-A0841C3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8210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Flow 분석에서는 단계별 결과뿐 아니라 실제 Run 파라미터와 선행 아티팩트가 같은 실행 맥락인지 함께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3542182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ge-12-rail">
            <a:extLst xmlns:a="http://schemas.openxmlformats.org/drawingml/2006/main">
              <a:ext uri="{FF2B5EF4-FFF2-40B4-BE49-F238E27FC236}">
                <a16:creationId xmlns:a16="http://schemas.microsoft.com/office/drawing/2014/main" id="{10268241-D241-426D-8092-A99A5D1E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12-chapter">
            <a:extLst xmlns:a="http://schemas.openxmlformats.org/drawingml/2006/main">
              <a:ext uri="{FF2B5EF4-FFF2-40B4-BE49-F238E27FC236}">
                <a16:creationId xmlns:a16="http://schemas.microsoft.com/office/drawing/2014/main" id="{9E92979D-1FE5-429C-AF88-064ECC41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03 · FLOW ORCHESTRATION</a:t>
            </a:r>
          </a:p>
        </p:txBody>
      </p:sp>
      <p:sp>
        <p:nvSpPr>
          <p:cNvPr id="3" name="page-12-title">
            <a:extLst xmlns:a="http://schemas.openxmlformats.org/drawingml/2006/main">
              <a:ext uri="{FF2B5EF4-FFF2-40B4-BE49-F238E27FC236}">
                <a16:creationId xmlns:a16="http://schemas.microsoft.com/office/drawing/2014/main" id="{9E66C17C-3376-4929-A8C4-468E81C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저장된 Job을 검증 가능한 DAG로 실행합니다</a:t>
            </a:r>
          </a:p>
        </p:txBody>
      </p:sp>
      <p:sp>
        <p:nvSpPr>
          <p:cNvPr id="4" name="page-12-subtitle">
            <a:extLst xmlns:a="http://schemas.openxmlformats.org/drawingml/2006/main">
              <a:ext uri="{FF2B5EF4-FFF2-40B4-BE49-F238E27FC236}">
                <a16:creationId xmlns:a16="http://schemas.microsoft.com/office/drawing/2014/main" id="{C847C9B5-9E96-4C98-B67B-AD32F5C0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M04001의 Flow는 그림이 아니라 저장·검증·실행 가능한 실행 계획이며, 각 노드 상태와 출력을 같은 Flow Run에 기록합니다.</a:t>
            </a:r>
          </a:p>
        </p:txBody>
      </p:sp>
      <p:sp>
        <p:nvSpPr>
          <p:cNvPr id="5" name="page-12-top-rule">
            <a:extLst xmlns:a="http://schemas.openxmlformats.org/drawingml/2006/main">
              <a:ext uri="{FF2B5EF4-FFF2-40B4-BE49-F238E27FC236}">
                <a16:creationId xmlns:a16="http://schemas.microsoft.com/office/drawing/2014/main" id="{5B795174-3C41-43A7-95D4-1ED13AE1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2-footer-rule">
            <a:extLst xmlns:a="http://schemas.openxmlformats.org/drawingml/2006/main">
              <a:ext uri="{FF2B5EF4-FFF2-40B4-BE49-F238E27FC236}">
                <a16:creationId xmlns:a16="http://schemas.microsoft.com/office/drawing/2014/main" id="{41DF2E40-0C08-4E0B-A2CF-2C96B8B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2-footer-name">
            <a:extLst xmlns:a="http://schemas.openxmlformats.org/drawingml/2006/main">
              <a:ext uri="{FF2B5EF4-FFF2-40B4-BE49-F238E27FC236}">
                <a16:creationId xmlns:a16="http://schemas.microsoft.com/office/drawing/2014/main" id="{545E8595-3D77-4738-AF9A-FC1B588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2-footer-number">
            <a:extLst xmlns:a="http://schemas.openxmlformats.org/drawingml/2006/main">
              <a:ext uri="{FF2B5EF4-FFF2-40B4-BE49-F238E27FC236}">
                <a16:creationId xmlns:a16="http://schemas.microsoft.com/office/drawing/2014/main" id="{F83F260F-19C9-4D71-AA39-60EEA713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9" name="dag-node-1">
            <a:extLst xmlns:a="http://schemas.openxmlformats.org/drawingml/2006/main">
              <a:ext uri="{FF2B5EF4-FFF2-40B4-BE49-F238E27FC236}">
                <a16:creationId xmlns:a16="http://schemas.microsoft.com/office/drawing/2014/main" id="{C366102E-AFF4-43DA-B816-5F854502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dag-num-1-circle">
            <a:extLst xmlns:a="http://schemas.openxmlformats.org/drawingml/2006/main">
              <a:ext uri="{FF2B5EF4-FFF2-40B4-BE49-F238E27FC236}">
                <a16:creationId xmlns:a16="http://schemas.microsoft.com/office/drawing/2014/main" id="{1B977386-FE51-46DA-89B9-388369DA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dag-num-1-number">
            <a:extLst xmlns:a="http://schemas.openxmlformats.org/drawingml/2006/main">
              <a:ext uri="{FF2B5EF4-FFF2-40B4-BE49-F238E27FC236}">
                <a16:creationId xmlns:a16="http://schemas.microsoft.com/office/drawing/2014/main" id="{84D2A290-6C07-43B8-8887-F9077C3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dag-title-1">
            <a:extLst xmlns:a="http://schemas.openxmlformats.org/drawingml/2006/main">
              <a:ext uri="{FF2B5EF4-FFF2-40B4-BE49-F238E27FC236}">
                <a16:creationId xmlns:a16="http://schemas.microsoft.com/office/drawing/2014/main" id="{A72C66F2-6000-418D-BCB9-7AD48E50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Job 배치·연결</a:t>
            </a:r>
          </a:p>
        </p:txBody>
      </p:sp>
      <p:sp>
        <p:nvSpPr>
          <p:cNvPr id="13" name="dag-kicker-1">
            <a:extLst xmlns:a="http://schemas.openxmlformats.org/drawingml/2006/main">
              <a:ext uri="{FF2B5EF4-FFF2-40B4-BE49-F238E27FC236}">
                <a16:creationId xmlns:a16="http://schemas.microsoft.com/office/drawing/2014/main" id="{03F33DB8-7182-4695-8198-483561F7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01 · DESIGN</a:t>
            </a:r>
          </a:p>
        </p:txBody>
      </p:sp>
      <p:sp>
        <p:nvSpPr>
          <p:cNvPr id="14" name="dag-body-1">
            <a:extLst xmlns:a="http://schemas.openxmlformats.org/drawingml/2006/main">
              <a:ext uri="{FF2B5EF4-FFF2-40B4-BE49-F238E27FC236}">
                <a16:creationId xmlns:a16="http://schemas.microsoft.com/office/drawing/2014/main" id="{47531C6E-6FA1-46FD-BF7F-538C47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저장한 4단계 Job과 확장 리소스를 노드·엣지로 구성합니다.</a:t>
            </a:r>
          </a:p>
        </p:txBody>
      </p:sp>
      <p:sp>
        <p:nvSpPr>
          <p:cNvPr id="15" name="dag-node-2">
            <a:extLst xmlns:a="http://schemas.openxmlformats.org/drawingml/2006/main">
              <a:ext uri="{FF2B5EF4-FFF2-40B4-BE49-F238E27FC236}">
                <a16:creationId xmlns:a16="http://schemas.microsoft.com/office/drawing/2014/main" id="{35AC58B9-BBF3-44D9-B7B4-78154C60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9525">
            <a:solidFill>
              <a:srgbClr val="158D91"/>
            </a:solidFill>
            <a:prstDash val="solid"/>
          </a:ln>
        </p:spPr>
      </p:sp>
      <p:sp>
        <p:nvSpPr>
          <p:cNvPr id="16" name="dag-num-2-circle">
            <a:extLst xmlns:a="http://schemas.openxmlformats.org/drawingml/2006/main">
              <a:ext uri="{FF2B5EF4-FFF2-40B4-BE49-F238E27FC236}">
                <a16:creationId xmlns:a16="http://schemas.microsoft.com/office/drawing/2014/main" id="{66BB97C5-80E0-489C-A70C-7547491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7" name="dag-num-2-number">
            <a:extLst xmlns:a="http://schemas.openxmlformats.org/drawingml/2006/main">
              <a:ext uri="{FF2B5EF4-FFF2-40B4-BE49-F238E27FC236}">
                <a16:creationId xmlns:a16="http://schemas.microsoft.com/office/drawing/2014/main" id="{C4386D27-F41D-4D4F-A1A3-813FA453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dag-title-2">
            <a:extLst xmlns:a="http://schemas.openxmlformats.org/drawingml/2006/main">
              <a:ext uri="{FF2B5EF4-FFF2-40B4-BE49-F238E27FC236}">
                <a16:creationId xmlns:a16="http://schemas.microsoft.com/office/drawing/2014/main" id="{F9CB9AF6-0734-406A-8AE6-CFB99C8C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구조·계약 검증</a:t>
            </a:r>
          </a:p>
        </p:txBody>
      </p:sp>
      <p:sp>
        <p:nvSpPr>
          <p:cNvPr id="19" name="dag-kicker-2">
            <a:extLst xmlns:a="http://schemas.openxmlformats.org/drawingml/2006/main">
              <a:ext uri="{FF2B5EF4-FFF2-40B4-BE49-F238E27FC236}">
                <a16:creationId xmlns:a16="http://schemas.microsoft.com/office/drawing/2014/main" id="{6E4D14AE-AFC6-4F1D-AD3D-ED1F31A4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02 · VALIDATE</a:t>
            </a:r>
          </a:p>
        </p:txBody>
      </p:sp>
      <p:sp>
        <p:nvSpPr>
          <p:cNvPr id="20" name="dag-body-2">
            <a:extLst xmlns:a="http://schemas.openxmlformats.org/drawingml/2006/main">
              <a:ext uri="{FF2B5EF4-FFF2-40B4-BE49-F238E27FC236}">
                <a16:creationId xmlns:a16="http://schemas.microsoft.com/office/drawing/2014/main" id="{DAF07189-2205-4F7A-AAF8-DED892FA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95725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순환, 역방향 단계, 포트·아티팩트와 SAME_RUN 입력을 확인합니다.</a:t>
            </a:r>
          </a:p>
        </p:txBody>
      </p:sp>
      <p:sp>
        <p:nvSpPr>
          <p:cNvPr id="21" name="dag-node-3">
            <a:extLst xmlns:a="http://schemas.openxmlformats.org/drawingml/2006/main">
              <a:ext uri="{FF2B5EF4-FFF2-40B4-BE49-F238E27FC236}">
                <a16:creationId xmlns:a16="http://schemas.microsoft.com/office/drawing/2014/main" id="{5195AE14-B294-4A34-8A32-7F738F90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22" name="dag-num-3-circle">
            <a:extLst xmlns:a="http://schemas.openxmlformats.org/drawingml/2006/main">
              <a:ext uri="{FF2B5EF4-FFF2-40B4-BE49-F238E27FC236}">
                <a16:creationId xmlns:a16="http://schemas.microsoft.com/office/drawing/2014/main" id="{3D57C031-A6FB-4683-B325-CCFD2ABD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3" name="dag-num-3-number">
            <a:extLst xmlns:a="http://schemas.openxmlformats.org/drawingml/2006/main">
              <a:ext uri="{FF2B5EF4-FFF2-40B4-BE49-F238E27FC236}">
                <a16:creationId xmlns:a16="http://schemas.microsoft.com/office/drawing/2014/main" id="{8CF42D01-1AC7-484C-827A-2B22427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dag-title-3">
            <a:extLst xmlns:a="http://schemas.openxmlformats.org/drawingml/2006/main">
              <a:ext uri="{FF2B5EF4-FFF2-40B4-BE49-F238E27FC236}">
                <a16:creationId xmlns:a16="http://schemas.microsoft.com/office/drawing/2014/main" id="{B650EDCB-76E6-4FA5-A068-2DC3CE2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53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런타임 값 확정</a:t>
            </a:r>
          </a:p>
        </p:txBody>
      </p:sp>
      <p:sp>
        <p:nvSpPr>
          <p:cNvPr id="25" name="dag-kicker-3">
            <a:extLst xmlns:a="http://schemas.openxmlformats.org/drawingml/2006/main">
              <a:ext uri="{FF2B5EF4-FFF2-40B4-BE49-F238E27FC236}">
                <a16:creationId xmlns:a16="http://schemas.microsoft.com/office/drawing/2014/main" id="{0D6A52BD-ABBC-49B8-9A80-47E4361A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03 · BIND</a:t>
            </a:r>
          </a:p>
        </p:txBody>
      </p:sp>
      <p:sp>
        <p:nvSpPr>
          <p:cNvPr id="26" name="dag-body-3">
            <a:extLst xmlns:a="http://schemas.openxmlformats.org/drawingml/2006/main">
              <a:ext uri="{FF2B5EF4-FFF2-40B4-BE49-F238E27FC236}">
                <a16:creationId xmlns:a16="http://schemas.microsoft.com/office/drawing/2014/main" id="{D987E6BB-B2B8-4179-B7AA-601F351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4350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Target, Result, 선행 출력, Run ID와 실제 파라미터를 결합합니다.</a:t>
            </a:r>
          </a:p>
        </p:txBody>
      </p:sp>
      <p:sp>
        <p:nvSpPr>
          <p:cNvPr id="27" name="dag-node-4">
            <a:extLst xmlns:a="http://schemas.openxmlformats.org/drawingml/2006/main">
              <a:ext uri="{FF2B5EF4-FFF2-40B4-BE49-F238E27FC236}">
                <a16:creationId xmlns:a16="http://schemas.microsoft.com/office/drawing/2014/main" id="{2D4C1A0D-B107-4CE9-BE6B-3C843600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8" name="dag-num-4-circle">
            <a:extLst xmlns:a="http://schemas.openxmlformats.org/drawingml/2006/main">
              <a:ext uri="{FF2B5EF4-FFF2-40B4-BE49-F238E27FC236}">
                <a16:creationId xmlns:a16="http://schemas.microsoft.com/office/drawing/2014/main" id="{FAC1AD0C-AAB2-4858-A0B6-E1CBB5BF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67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9" name="dag-num-4-number">
            <a:extLst xmlns:a="http://schemas.openxmlformats.org/drawingml/2006/main">
              <a:ext uri="{FF2B5EF4-FFF2-40B4-BE49-F238E27FC236}">
                <a16:creationId xmlns:a16="http://schemas.microsoft.com/office/drawing/2014/main" id="{49A7B063-408D-4A9F-9B98-C9026F07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dag-title-4">
            <a:extLst xmlns:a="http://schemas.openxmlformats.org/drawingml/2006/main">
              <a:ext uri="{FF2B5EF4-FFF2-40B4-BE49-F238E27FC236}">
                <a16:creationId xmlns:a16="http://schemas.microsoft.com/office/drawing/2014/main" id="{3C23370C-0748-4854-A5FF-2679A206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00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경로 선택</a:t>
            </a:r>
          </a:p>
        </p:txBody>
      </p:sp>
      <p:sp>
        <p:nvSpPr>
          <p:cNvPr id="31" name="dag-kicker-4">
            <a:extLst xmlns:a="http://schemas.openxmlformats.org/drawingml/2006/main">
              <a:ext uri="{FF2B5EF4-FFF2-40B4-BE49-F238E27FC236}">
                <a16:creationId xmlns:a16="http://schemas.microsoft.com/office/drawing/2014/main" id="{4DEBCB56-74AF-4F6C-BE56-D66B168C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04 · EXECUTE</a:t>
            </a:r>
          </a:p>
        </p:txBody>
      </p:sp>
      <p:sp>
        <p:nvSpPr>
          <p:cNvPr id="32" name="dag-body-4">
            <a:extLst xmlns:a="http://schemas.openxmlformats.org/drawingml/2006/main">
              <a:ext uri="{FF2B5EF4-FFF2-40B4-BE49-F238E27FC236}">
                <a16:creationId xmlns:a16="http://schemas.microsoft.com/office/drawing/2014/main" id="{EA0AE106-6D24-44FA-B8A4-21A4628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91275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저장된 EXEC_SOURCE_TYPE에 맞는 실행 어댑터를 한 개 선택합니다.</a:t>
            </a:r>
          </a:p>
        </p:txBody>
      </p:sp>
      <p:sp>
        <p:nvSpPr>
          <p:cNvPr id="33" name="dag-node-5">
            <a:extLst xmlns:a="http://schemas.openxmlformats.org/drawingml/2006/main">
              <a:ext uri="{FF2B5EF4-FFF2-40B4-BE49-F238E27FC236}">
                <a16:creationId xmlns:a16="http://schemas.microsoft.com/office/drawing/2014/main" id="{9B63A55E-4024-4A16-BDFC-B8A70AC1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676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34" name="dag-num-5-circle">
            <a:extLst xmlns:a="http://schemas.openxmlformats.org/drawingml/2006/main">
              <a:ext uri="{FF2B5EF4-FFF2-40B4-BE49-F238E27FC236}">
                <a16:creationId xmlns:a16="http://schemas.microsoft.com/office/drawing/2014/main" id="{77D180D2-287B-4C7C-9372-3BFDFA9D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35" name="dag-num-5-number">
            <a:extLst xmlns:a="http://schemas.openxmlformats.org/drawingml/2006/main">
              <a:ext uri="{FF2B5EF4-FFF2-40B4-BE49-F238E27FC236}">
                <a16:creationId xmlns:a16="http://schemas.microsoft.com/office/drawing/2014/main" id="{DD7AEEAA-8530-4A51-9090-FF18180A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dag-title-5">
            <a:extLst xmlns:a="http://schemas.openxmlformats.org/drawingml/2006/main">
              <a:ext uri="{FF2B5EF4-FFF2-40B4-BE49-F238E27FC236}">
                <a16:creationId xmlns:a16="http://schemas.microsoft.com/office/drawing/2014/main" id="{DEFF9C90-07A3-4594-8E3A-CFB36C24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48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정규화</a:t>
            </a:r>
          </a:p>
        </p:txBody>
      </p:sp>
      <p:sp>
        <p:nvSpPr>
          <p:cNvPr id="37" name="dag-kicker-5">
            <a:extLst xmlns:a="http://schemas.openxmlformats.org/drawingml/2006/main">
              <a:ext uri="{FF2B5EF4-FFF2-40B4-BE49-F238E27FC236}">
                <a16:creationId xmlns:a16="http://schemas.microsoft.com/office/drawing/2014/main" id="{CE35C8A6-2918-439C-9B0D-D407AC2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10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05 · MATERIALIZE</a:t>
            </a:r>
          </a:p>
        </p:txBody>
      </p:sp>
      <p:sp>
        <p:nvSpPr>
          <p:cNvPr id="38" name="dag-body-5">
            <a:extLst xmlns:a="http://schemas.openxmlformats.org/drawingml/2006/main">
              <a:ext uri="{FF2B5EF4-FFF2-40B4-BE49-F238E27FC236}">
                <a16:creationId xmlns:a16="http://schemas.microsoft.com/office/drawing/2014/main" id="{62FFC469-51A4-449B-BAD8-4FBAA42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6390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출력 계약과 메시지를 Run·Node 결과 아티팩트로 저장합니다.</a:t>
            </a:r>
          </a:p>
        </p:txBody>
      </p:sp>
      <p:cxnSp>
        <p:nvCxnSpPr>
          <p:cNvPr id="8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5433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47910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0388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781425" y="72866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sp>
        <p:nvSpPr>
          <p:cNvPr id="43" name="p12-callout-fill">
            <a:extLst xmlns:a="http://schemas.openxmlformats.org/drawingml/2006/main">
              <a:ext uri="{FF2B5EF4-FFF2-40B4-BE49-F238E27FC236}">
                <a16:creationId xmlns:a16="http://schemas.microsoft.com/office/drawing/2014/main" id="{F660DB98-0794-4243-9075-713F83F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44" name="p12-callout-accent">
            <a:extLst xmlns:a="http://schemas.openxmlformats.org/drawingml/2006/main">
              <a:ext uri="{FF2B5EF4-FFF2-40B4-BE49-F238E27FC236}">
                <a16:creationId xmlns:a16="http://schemas.microsoft.com/office/drawing/2014/main" id="{D652C844-B71D-4E1D-9FF2-C782C013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45" name="p12-callout-text">
            <a:extLst xmlns:a="http://schemas.openxmlformats.org/drawingml/2006/main">
              <a:ext uri="{FF2B5EF4-FFF2-40B4-BE49-F238E27FC236}">
                <a16:creationId xmlns:a16="http://schemas.microsoft.com/office/drawing/2014/main" id="{738089FC-5ED0-4307-91C2-A5D1FA5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08685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Validate를 통과하지 못한 연결은 실행하지 않습니다. 필수 선행 노드는 SUCCESS가 되어야 후행 노드가 진행됩니다.</a:t>
            </a:r>
          </a:p>
        </p:txBody>
      </p:sp>
    </p:spTree>
    <p:extLst>
      <p:ext uri="{BB962C8B-B14F-4D97-AF65-F5344CB8AC3E}">
        <p14:creationId xmlns:p14="http://schemas.microsoft.com/office/powerpoint/2010/main" val="1422395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13-rail">
            <a:extLst xmlns:a="http://schemas.openxmlformats.org/drawingml/2006/main">
              <a:ext uri="{FF2B5EF4-FFF2-40B4-BE49-F238E27FC236}">
                <a16:creationId xmlns:a16="http://schemas.microsoft.com/office/drawing/2014/main" id="{96A3E9FD-3BAE-4B7E-AEDA-F41E3EF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13-chapter">
            <a:extLst xmlns:a="http://schemas.openxmlformats.org/drawingml/2006/main">
              <a:ext uri="{FF2B5EF4-FFF2-40B4-BE49-F238E27FC236}">
                <a16:creationId xmlns:a16="http://schemas.microsoft.com/office/drawing/2014/main" id="{767C1794-4672-43D3-90AD-6BB772D2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03 · EXECUTION RESOURCE ROUTING</a:t>
            </a:r>
          </a:p>
        </p:txBody>
      </p:sp>
      <p:sp>
        <p:nvSpPr>
          <p:cNvPr id="3" name="page-13-title">
            <a:extLst xmlns:a="http://schemas.openxmlformats.org/drawingml/2006/main">
              <a:ext uri="{FF2B5EF4-FFF2-40B4-BE49-F238E27FC236}">
                <a16:creationId xmlns:a16="http://schemas.microsoft.com/office/drawing/2014/main" id="{3F8F060D-5FA5-45AB-97C7-178FE098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리소스는 세 경로로 라우팅됩니다</a:t>
            </a:r>
          </a:p>
        </p:txBody>
      </p:sp>
      <p:sp>
        <p:nvSpPr>
          <p:cNvPr id="4" name="page-13-subtitle">
            <a:extLst xmlns:a="http://schemas.openxmlformats.org/drawingml/2006/main">
              <a:ext uri="{FF2B5EF4-FFF2-40B4-BE49-F238E27FC236}">
                <a16:creationId xmlns:a16="http://schemas.microsoft.com/office/drawing/2014/main" id="{63F9BE8F-8AB6-4F83-A6C8-17F7D18C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Job에 저장된 실행 유형과 결과 계약을 기준으로 Target DB, OML Python, 내부·외부 API 경로 중 하나를 선택합니다.</a:t>
            </a:r>
          </a:p>
        </p:txBody>
      </p:sp>
      <p:sp>
        <p:nvSpPr>
          <p:cNvPr id="5" name="page-13-top-rule">
            <a:extLst xmlns:a="http://schemas.openxmlformats.org/drawingml/2006/main">
              <a:ext uri="{FF2B5EF4-FFF2-40B4-BE49-F238E27FC236}">
                <a16:creationId xmlns:a16="http://schemas.microsoft.com/office/drawing/2014/main" id="{DD4D2386-7A00-47C9-B570-7B122563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3-footer-rule">
            <a:extLst xmlns:a="http://schemas.openxmlformats.org/drawingml/2006/main">
              <a:ext uri="{FF2B5EF4-FFF2-40B4-BE49-F238E27FC236}">
                <a16:creationId xmlns:a16="http://schemas.microsoft.com/office/drawing/2014/main" id="{44B3B587-A4F9-4D01-BCED-E77BE005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3-footer-name">
            <a:extLst xmlns:a="http://schemas.openxmlformats.org/drawingml/2006/main">
              <a:ext uri="{FF2B5EF4-FFF2-40B4-BE49-F238E27FC236}">
                <a16:creationId xmlns:a16="http://schemas.microsoft.com/office/drawing/2014/main" id="{97D2CA71-C35C-4663-9BC1-73A5E739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3-footer-number">
            <a:extLst xmlns:a="http://schemas.openxmlformats.org/drawingml/2006/main">
              <a:ext uri="{FF2B5EF4-FFF2-40B4-BE49-F238E27FC236}">
                <a16:creationId xmlns:a16="http://schemas.microsoft.com/office/drawing/2014/main" id="{C0575294-9E0A-40EF-9F3D-B63C29BC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9" name="p13-db-fill">
            <a:extLst xmlns:a="http://schemas.openxmlformats.org/drawingml/2006/main">
              <a:ext uri="{FF2B5EF4-FFF2-40B4-BE49-F238E27FC236}">
                <a16:creationId xmlns:a16="http://schemas.microsoft.com/office/drawing/2014/main" id="{D523DBA9-D342-4D28-B03C-6131387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13-db-accent">
            <a:extLst xmlns:a="http://schemas.openxmlformats.org/drawingml/2006/main">
              <a:ext uri="{FF2B5EF4-FFF2-40B4-BE49-F238E27FC236}">
                <a16:creationId xmlns:a16="http://schemas.microsoft.com/office/drawing/2014/main" id="{47EB34E4-904E-4191-87D2-380C160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13-db-kicker">
            <a:extLst xmlns:a="http://schemas.openxmlformats.org/drawingml/2006/main">
              <a:ext uri="{FF2B5EF4-FFF2-40B4-BE49-F238E27FC236}">
                <a16:creationId xmlns:a16="http://schemas.microsoft.com/office/drawing/2014/main" id="{D896F36F-4F63-47F6-A89C-02EB029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DB_OBJECT · M90001</a:t>
            </a:r>
          </a:p>
        </p:txBody>
      </p:sp>
      <p:sp>
        <p:nvSpPr>
          <p:cNvPr id="12" name="p13-db-title">
            <a:extLst xmlns:a="http://schemas.openxmlformats.org/drawingml/2006/main">
              <a:ext uri="{FF2B5EF4-FFF2-40B4-BE49-F238E27FC236}">
                <a16:creationId xmlns:a16="http://schemas.microsoft.com/office/drawing/2014/main" id="{3C4BB242-07F4-4FB1-AA5B-B7B9875B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Target DB 실행 객체</a:t>
            </a:r>
          </a:p>
        </p:txBody>
      </p:sp>
      <p:sp>
        <p:nvSpPr>
          <p:cNvPr id="13" name="p13-db-body">
            <a:extLst xmlns:a="http://schemas.openxmlformats.org/drawingml/2006/main">
              <a:ext uri="{FF2B5EF4-FFF2-40B4-BE49-F238E27FC236}">
                <a16:creationId xmlns:a16="http://schemas.microsoft.com/office/drawing/2014/main" id="{1AF62D1E-BE74-4885-B3F6-D7E82E8E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등록된 프로시저·패키지·Oracle ML 모델을 서버 세션의 검증된 Target DB 연결에서 실행합니다. 객체명·파라미터·결과 계약이 실제 DB 정의와 일치해야 합니다.</a:t>
            </a:r>
          </a:p>
        </p:txBody>
      </p:sp>
      <p:sp>
        <p:nvSpPr>
          <p:cNvPr id="14" name="p13-oml-fill">
            <a:extLst xmlns:a="http://schemas.openxmlformats.org/drawingml/2006/main">
              <a:ext uri="{FF2B5EF4-FFF2-40B4-BE49-F238E27FC236}">
                <a16:creationId xmlns:a16="http://schemas.microsoft.com/office/drawing/2014/main" id="{055187BE-55ED-4207-971B-AE44455E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5" name="p13-oml-accent">
            <a:extLst xmlns:a="http://schemas.openxmlformats.org/drawingml/2006/main">
              <a:ext uri="{FF2B5EF4-FFF2-40B4-BE49-F238E27FC236}">
                <a16:creationId xmlns:a16="http://schemas.microsoft.com/office/drawing/2014/main" id="{A49D73E7-D8F3-4146-9BDB-6D04A913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6" name="p13-oml-kicker">
            <a:extLst xmlns:a="http://schemas.openxmlformats.org/drawingml/2006/main">
              <a:ext uri="{FF2B5EF4-FFF2-40B4-BE49-F238E27FC236}">
                <a16:creationId xmlns:a16="http://schemas.microsoft.com/office/drawing/2014/main" id="{96B758C3-62D5-45C6-B849-8900F8C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OML_PYTHON · OML4PY</a:t>
            </a:r>
          </a:p>
        </p:txBody>
      </p:sp>
      <p:sp>
        <p:nvSpPr>
          <p:cNvPr id="17" name="p13-oml-title">
            <a:extLst xmlns:a="http://schemas.openxmlformats.org/drawingml/2006/main">
              <a:ext uri="{FF2B5EF4-FFF2-40B4-BE49-F238E27FC236}">
                <a16:creationId xmlns:a16="http://schemas.microsoft.com/office/drawing/2014/main" id="{472B8B21-9DBC-45B1-A68A-0F954818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OML Python SQL API</a:t>
            </a:r>
          </a:p>
        </p:txBody>
      </p:sp>
      <p:sp>
        <p:nvSpPr>
          <p:cNvPr id="18" name="p13-oml-body">
            <a:extLst xmlns:a="http://schemas.openxmlformats.org/drawingml/2006/main">
              <a:ext uri="{FF2B5EF4-FFF2-40B4-BE49-F238E27FC236}">
                <a16:creationId xmlns:a16="http://schemas.microsoft.com/office/drawing/2014/main" id="{647D1F79-A2D2-4F49-A040-0AA3D867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053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OML4Py Script Repository와 pyqEval·pyqTableEval·pyqRowEval·pyqGroupEval·pyqIndexEval 계약을 사용하고 결과를 표준 출력 형식으로 정규화합니다.</a:t>
            </a:r>
          </a:p>
        </p:txBody>
      </p:sp>
      <p:sp>
        <p:nvSpPr>
          <p:cNvPr id="19" name="p13-api-fill">
            <a:extLst xmlns:a="http://schemas.openxmlformats.org/drawingml/2006/main">
              <a:ext uri="{FF2B5EF4-FFF2-40B4-BE49-F238E27FC236}">
                <a16:creationId xmlns:a16="http://schemas.microsoft.com/office/drawing/2014/main" id="{A7B93BE4-C576-47E4-AFAD-82DDCEF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638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20" name="p13-api-accent">
            <a:extLst xmlns:a="http://schemas.openxmlformats.org/drawingml/2006/main">
              <a:ext uri="{FF2B5EF4-FFF2-40B4-BE49-F238E27FC236}">
                <a16:creationId xmlns:a16="http://schemas.microsoft.com/office/drawing/2014/main" id="{9BED2F7C-61AB-4EE8-B5A2-A2DB9A00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1" name="p13-api-kicker">
            <a:extLst xmlns:a="http://schemas.openxmlformats.org/drawingml/2006/main">
              <a:ext uri="{FF2B5EF4-FFF2-40B4-BE49-F238E27FC236}">
                <a16:creationId xmlns:a16="http://schemas.microsoft.com/office/drawing/2014/main" id="{7114FA62-AD53-4591-820F-3C48C65B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10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WEB_API · M90002</a:t>
            </a:r>
          </a:p>
        </p:txBody>
      </p:sp>
      <p:sp>
        <p:nvSpPr>
          <p:cNvPr id="22" name="p13-api-title">
            <a:extLst xmlns:a="http://schemas.openxmlformats.org/drawingml/2006/main">
              <a:ext uri="{FF2B5EF4-FFF2-40B4-BE49-F238E27FC236}">
                <a16:creationId xmlns:a16="http://schemas.microsoft.com/office/drawing/2014/main" id="{FE667AEB-28F0-4305-8545-77FA0AC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내부 Python·외부 JSON API</a:t>
            </a:r>
          </a:p>
        </p:txBody>
      </p:sp>
      <p:sp>
        <p:nvSpPr>
          <p:cNvPr id="23" name="p13-api-body">
            <a:extLst xmlns:a="http://schemas.openxmlformats.org/drawingml/2006/main">
              <a:ext uri="{FF2B5EF4-FFF2-40B4-BE49-F238E27FC236}">
                <a16:creationId xmlns:a16="http://schemas.microsoft.com/office/drawing/2014/main" id="{73FD55E3-F1A1-449E-B65C-61875E74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648450"/>
            <a:ext cx="3314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기본 2~4단계는 INTERNAL_API가 같은 WAS 함수를 직접 호출합니다. 사용자가 EXTERNAL_API를 등록한 경우에만 원격 HTTP JSON endpoint를 호출합니다.</a:t>
            </a:r>
          </a:p>
        </p:txBody>
      </p:sp>
      <p:sp>
        <p:nvSpPr>
          <p:cNvPr id="24" name="p13-check-label-bar">
            <a:extLst xmlns:a="http://schemas.openxmlformats.org/drawingml/2006/main">
              <a:ext uri="{FF2B5EF4-FFF2-40B4-BE49-F238E27FC236}">
                <a16:creationId xmlns:a16="http://schemas.microsoft.com/office/drawing/2014/main" id="{41E39B26-C70F-434E-B3EC-002C3A9F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5" name="p13-check-label">
            <a:extLst xmlns:a="http://schemas.openxmlformats.org/drawingml/2006/main">
              <a:ext uri="{FF2B5EF4-FFF2-40B4-BE49-F238E27FC236}">
                <a16:creationId xmlns:a16="http://schemas.microsoft.com/office/drawing/2014/main" id="{758E707B-05B9-4DB8-90FB-717EB7D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344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공통 검증 항목</a:t>
            </a:r>
          </a:p>
        </p:txBody>
      </p:sp>
      <p:sp>
        <p:nvSpPr>
          <p:cNvPr id="26" name="p13-check">
            <a:extLst xmlns:a="http://schemas.openxmlformats.org/drawingml/2006/main">
              <a:ext uri="{FF2B5EF4-FFF2-40B4-BE49-F238E27FC236}">
                <a16:creationId xmlns:a16="http://schemas.microsoft.com/office/drawing/2014/main" id="{3E9ED665-1FE3-4FF5-9357-EB7D2B6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0"/>
            <a:ext cx="622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Target·Result·Run 바인드와 출력 계약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권한·ACL·시간·응답 크기·유효 JSON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대용량 처리 범위, 병렬 자원과 커밋 단위</a:t>
            </a:r>
          </a:p>
        </p:txBody>
      </p:sp>
    </p:spTree>
    <p:extLst>
      <p:ext uri="{BB962C8B-B14F-4D97-AF65-F5344CB8AC3E}">
        <p14:creationId xmlns:p14="http://schemas.microsoft.com/office/powerpoint/2010/main" val="238750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ge-14-rail">
            <a:extLst xmlns:a="http://schemas.openxmlformats.org/drawingml/2006/main">
              <a:ext uri="{FF2B5EF4-FFF2-40B4-BE49-F238E27FC236}">
                <a16:creationId xmlns:a16="http://schemas.microsoft.com/office/drawing/2014/main" id="{BEFCC81E-2DAB-4487-96EB-ECD4F202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14-chapter">
            <a:extLst xmlns:a="http://schemas.openxmlformats.org/drawingml/2006/main">
              <a:ext uri="{FF2B5EF4-FFF2-40B4-BE49-F238E27FC236}">
                <a16:creationId xmlns:a16="http://schemas.microsoft.com/office/drawing/2014/main" id="{ED510F85-CE4E-4E67-A48D-658F66B2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03 · RUN &amp; NODE STATUS</a:t>
            </a:r>
          </a:p>
        </p:txBody>
      </p:sp>
      <p:sp>
        <p:nvSpPr>
          <p:cNvPr id="3" name="page-14-title">
            <a:extLst xmlns:a="http://schemas.openxmlformats.org/drawingml/2006/main">
              <a:ext uri="{FF2B5EF4-FFF2-40B4-BE49-F238E27FC236}">
                <a16:creationId xmlns:a16="http://schemas.microsoft.com/office/drawing/2014/main" id="{6DDB56E5-1567-4FDA-9B35-6F92DFCE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SUCCESS와 좋은 결과는 같은 말이 아닙니다</a:t>
            </a:r>
          </a:p>
        </p:txBody>
      </p:sp>
      <p:sp>
        <p:nvSpPr>
          <p:cNvPr id="4" name="page-14-subtitle">
            <a:extLst xmlns:a="http://schemas.openxmlformats.org/drawingml/2006/main">
              <a:ext uri="{FF2B5EF4-FFF2-40B4-BE49-F238E27FC236}">
                <a16:creationId xmlns:a16="http://schemas.microsoft.com/office/drawing/2014/main" id="{D740C51B-3032-40C1-A907-F18715F7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상태는 프로세스가 어떻게 종료되었는지를 나타냅니다. 규칙 품질과 업무 승인 여부는 결과 지표·표본·메시지를 별도로 확인해야 합니다.</a:t>
            </a:r>
          </a:p>
        </p:txBody>
      </p:sp>
      <p:sp>
        <p:nvSpPr>
          <p:cNvPr id="5" name="page-14-top-rule">
            <a:extLst xmlns:a="http://schemas.openxmlformats.org/drawingml/2006/main">
              <a:ext uri="{FF2B5EF4-FFF2-40B4-BE49-F238E27FC236}">
                <a16:creationId xmlns:a16="http://schemas.microsoft.com/office/drawing/2014/main" id="{ED901B9F-FD8E-4050-AF54-35820C5D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4-footer-rule">
            <a:extLst xmlns:a="http://schemas.openxmlformats.org/drawingml/2006/main">
              <a:ext uri="{FF2B5EF4-FFF2-40B4-BE49-F238E27FC236}">
                <a16:creationId xmlns:a16="http://schemas.microsoft.com/office/drawing/2014/main" id="{94BE0B71-D886-440B-BB15-BC5E85CF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4-footer-name">
            <a:extLst xmlns:a="http://schemas.openxmlformats.org/drawingml/2006/main">
              <a:ext uri="{FF2B5EF4-FFF2-40B4-BE49-F238E27FC236}">
                <a16:creationId xmlns:a16="http://schemas.microsoft.com/office/drawing/2014/main" id="{4823ADA2-E286-42BE-9DE0-8430B49A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4-footer-number">
            <a:extLst xmlns:a="http://schemas.openxmlformats.org/drawingml/2006/main">
              <a:ext uri="{FF2B5EF4-FFF2-40B4-BE49-F238E27FC236}">
                <a16:creationId xmlns:a16="http://schemas.microsoft.com/office/drawing/2014/main" id="{C58657D2-A246-40ED-ADAA-222FD6CD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9" name="p14-row-0">
            <a:extLst xmlns:a="http://schemas.openxmlformats.org/drawingml/2006/main">
              <a:ext uri="{FF2B5EF4-FFF2-40B4-BE49-F238E27FC236}">
                <a16:creationId xmlns:a16="http://schemas.microsoft.com/office/drawing/2014/main" id="{4D0A36C6-E911-4038-B90C-1CE77B6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38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10" name="p14-status-0">
            <a:extLst xmlns:a="http://schemas.openxmlformats.org/drawingml/2006/main">
              <a:ext uri="{FF2B5EF4-FFF2-40B4-BE49-F238E27FC236}">
                <a16:creationId xmlns:a16="http://schemas.microsoft.com/office/drawing/2014/main" id="{813873EC-C365-4410-8406-87C3B8A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SUCCESS</a:t>
            </a:r>
          </a:p>
        </p:txBody>
      </p:sp>
      <p:sp>
        <p:nvSpPr>
          <p:cNvPr id="11" name="p14-meaning-title-0">
            <a:extLst xmlns:a="http://schemas.openxmlformats.org/drawingml/2006/main">
              <a:ext uri="{FF2B5EF4-FFF2-40B4-BE49-F238E27FC236}">
                <a16:creationId xmlns:a16="http://schemas.microsoft.com/office/drawing/2014/main" id="{5AB7F14B-0A09-4878-819E-582B504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62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실행 의미</a:t>
            </a:r>
          </a:p>
        </p:txBody>
      </p:sp>
      <p:sp>
        <p:nvSpPr>
          <p:cNvPr id="12" name="p14-meaning-0">
            <a:extLst xmlns:a="http://schemas.openxmlformats.org/drawingml/2006/main">
              <a:ext uri="{FF2B5EF4-FFF2-40B4-BE49-F238E27FC236}">
                <a16:creationId xmlns:a16="http://schemas.microsoft.com/office/drawing/2014/main" id="{8F1ADC28-699F-485A-A47E-FC949EF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384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노드 실행과 결과 계약 저장 완료</a:t>
            </a:r>
          </a:p>
        </p:txBody>
      </p:sp>
      <p:sp>
        <p:nvSpPr>
          <p:cNvPr id="13" name="p14-reading-title-0">
            <a:extLst xmlns:a="http://schemas.openxmlformats.org/drawingml/2006/main">
              <a:ext uri="{FF2B5EF4-FFF2-40B4-BE49-F238E27FC236}">
                <a16:creationId xmlns:a16="http://schemas.microsoft.com/office/drawing/2014/main" id="{CFAD9B61-54FD-4486-8AB2-EA78E971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5147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14" name="p14-reading-0">
            <a:extLst xmlns:a="http://schemas.openxmlformats.org/drawingml/2006/main">
              <a:ext uri="{FF2B5EF4-FFF2-40B4-BE49-F238E27FC236}">
                <a16:creationId xmlns:a16="http://schemas.microsoft.com/office/drawing/2014/main" id="{830EBE49-7013-4BEB-89D3-7B98FFD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861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업무 승인이나 규칙 품질을 뜻하지 않습니다. 실제 지표와 표본을 확인합니다.</a:t>
            </a:r>
          </a:p>
        </p:txBody>
      </p:sp>
      <p:sp>
        <p:nvSpPr>
          <p:cNvPr id="15" name="p14-row-1">
            <a:extLst xmlns:a="http://schemas.openxmlformats.org/drawingml/2006/main">
              <a:ext uri="{FF2B5EF4-FFF2-40B4-BE49-F238E27FC236}">
                <a16:creationId xmlns:a16="http://schemas.microsoft.com/office/drawing/2014/main" id="{F27122E9-81C0-4497-9CC9-2A9B00F1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638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0">
            <a:solidFill>
              <a:srgbClr val="F9ECEE"/>
            </a:solidFill>
            <a:prstDash val="solid"/>
          </a:ln>
        </p:spPr>
      </p:sp>
      <p:sp>
        <p:nvSpPr>
          <p:cNvPr id="16" name="p14-status-1">
            <a:extLst xmlns:a="http://schemas.openxmlformats.org/drawingml/2006/main">
              <a:ext uri="{FF2B5EF4-FFF2-40B4-BE49-F238E27FC236}">
                <a16:creationId xmlns:a16="http://schemas.microsoft.com/office/drawing/2014/main" id="{5904F92E-0ECA-4259-BD96-C8A74EEC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FAILED</a:t>
            </a:r>
          </a:p>
        </p:txBody>
      </p:sp>
      <p:sp>
        <p:nvSpPr>
          <p:cNvPr id="17" name="p14-meaning-title-1">
            <a:extLst xmlns:a="http://schemas.openxmlformats.org/drawingml/2006/main">
              <a:ext uri="{FF2B5EF4-FFF2-40B4-BE49-F238E27FC236}">
                <a16:creationId xmlns:a16="http://schemas.microsoft.com/office/drawing/2014/main" id="{4C780A57-63DD-4DAB-BF7C-6CBF9993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실행 의미</a:t>
            </a:r>
          </a:p>
        </p:txBody>
      </p:sp>
      <p:sp>
        <p:nvSpPr>
          <p:cNvPr id="18" name="p14-meaning-1">
            <a:extLst xmlns:a="http://schemas.openxmlformats.org/drawingml/2006/main">
              <a:ext uri="{FF2B5EF4-FFF2-40B4-BE49-F238E27FC236}">
                <a16:creationId xmlns:a16="http://schemas.microsoft.com/office/drawing/2014/main" id="{6638659D-8A7E-4821-8697-E5BC7BE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4822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오류 또는 검토가 필요한 부분 완료</a:t>
            </a:r>
          </a:p>
        </p:txBody>
      </p:sp>
      <p:sp>
        <p:nvSpPr>
          <p:cNvPr id="19" name="p14-reading-title-1">
            <a:extLst xmlns:a="http://schemas.openxmlformats.org/drawingml/2006/main">
              <a:ext uri="{FF2B5EF4-FFF2-40B4-BE49-F238E27FC236}">
                <a16:creationId xmlns:a16="http://schemas.microsoft.com/office/drawing/2014/main" id="{6EB973C1-A03F-43D4-ADC4-EF3FA608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24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20" name="p14-reading-1">
            <a:extLst xmlns:a="http://schemas.openxmlformats.org/drawingml/2006/main">
              <a:ext uri="{FF2B5EF4-FFF2-40B4-BE49-F238E27FC236}">
                <a16:creationId xmlns:a16="http://schemas.microsoft.com/office/drawing/2014/main" id="{C00235D6-CA2E-4791-8FD0-86E78E3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29590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메시지에서 성공한 하위 작업과 실패한 작업을 유형별로 나누어 확인합니다.</a:t>
            </a:r>
          </a:p>
        </p:txBody>
      </p:sp>
      <p:sp>
        <p:nvSpPr>
          <p:cNvPr id="21" name="p14-row-2">
            <a:extLst xmlns:a="http://schemas.openxmlformats.org/drawingml/2006/main">
              <a:ext uri="{FF2B5EF4-FFF2-40B4-BE49-F238E27FC236}">
                <a16:creationId xmlns:a16="http://schemas.microsoft.com/office/drawing/2014/main" id="{A1CE587F-2575-4502-8661-47AA7021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638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solidFill>
              <a:srgbClr val="F2F6FA"/>
            </a:solidFill>
            <a:prstDash val="solid"/>
          </a:ln>
        </p:spPr>
      </p:sp>
      <p:sp>
        <p:nvSpPr>
          <p:cNvPr id="22" name="p14-status-2">
            <a:extLst xmlns:a="http://schemas.openxmlformats.org/drawingml/2006/main">
              <a:ext uri="{FF2B5EF4-FFF2-40B4-BE49-F238E27FC236}">
                <a16:creationId xmlns:a16="http://schemas.microsoft.com/office/drawing/2014/main" id="{5B90234C-59A8-4283-AD9E-8D60CBFB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D7A8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6D7A8D"/>
                </a:solidFill>
                <a:latin typeface="Consolas"/>
                <a:ea typeface="Consolas"/>
                <a:cs typeface="Consolas"/>
              </a:rPr>
              <a:t>SKIPPED</a:t>
            </a:r>
          </a:p>
        </p:txBody>
      </p:sp>
      <p:sp>
        <p:nvSpPr>
          <p:cNvPr id="23" name="p14-meaning-title-2">
            <a:extLst xmlns:a="http://schemas.openxmlformats.org/drawingml/2006/main">
              <a:ext uri="{FF2B5EF4-FFF2-40B4-BE49-F238E27FC236}">
                <a16:creationId xmlns:a16="http://schemas.microsoft.com/office/drawing/2014/main" id="{89C9EB5B-0227-4DB8-9A49-0CEE4E2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381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실행 의미</a:t>
            </a:r>
          </a:p>
        </p:txBody>
      </p:sp>
      <p:sp>
        <p:nvSpPr>
          <p:cNvPr id="24" name="p14-meaning-2">
            <a:extLst xmlns:a="http://schemas.openxmlformats.org/drawingml/2006/main">
              <a:ext uri="{FF2B5EF4-FFF2-40B4-BE49-F238E27FC236}">
                <a16:creationId xmlns:a16="http://schemas.microsoft.com/office/drawing/2014/main" id="{951C4EAD-1B23-48BC-A2D7-792B867B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657975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의존 조건 미충족 또는 실행 대상 제외</a:t>
            </a:r>
          </a:p>
        </p:txBody>
      </p:sp>
      <p:sp>
        <p:nvSpPr>
          <p:cNvPr id="25" name="p14-reading-title-2">
            <a:extLst xmlns:a="http://schemas.openxmlformats.org/drawingml/2006/main">
              <a:ext uri="{FF2B5EF4-FFF2-40B4-BE49-F238E27FC236}">
                <a16:creationId xmlns:a16="http://schemas.microsoft.com/office/drawing/2014/main" id="{44AE8B9D-BC1A-4958-99D4-8255015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134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운영 해석</a:t>
            </a:r>
          </a:p>
        </p:txBody>
      </p:sp>
      <p:sp>
        <p:nvSpPr>
          <p:cNvPr id="26" name="p14-reading-2">
            <a:extLst xmlns:a="http://schemas.openxmlformats.org/drawingml/2006/main">
              <a:ext uri="{FF2B5EF4-FFF2-40B4-BE49-F238E27FC236}">
                <a16:creationId xmlns:a16="http://schemas.microsoft.com/office/drawing/2014/main" id="{60E3DFFF-8DB8-4804-B4A5-BE04B927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105650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필수 선행 노드 상태와 ON_COMPLETE 등 엣지 조건을 확인합니다.</a:t>
            </a:r>
          </a:p>
        </p:txBody>
      </p:sp>
      <p:sp>
        <p:nvSpPr>
          <p:cNvPr id="27" name="p14-callout-fill">
            <a:extLst xmlns:a="http://schemas.openxmlformats.org/drawingml/2006/main">
              <a:ext uri="{FF2B5EF4-FFF2-40B4-BE49-F238E27FC236}">
                <a16:creationId xmlns:a16="http://schemas.microsoft.com/office/drawing/2014/main" id="{45950822-07AE-443F-A2C1-4736AF54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29600"/>
            <a:ext cx="6381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8" name="p14-callout-accent">
            <a:extLst xmlns:a="http://schemas.openxmlformats.org/drawingml/2006/main">
              <a:ext uri="{FF2B5EF4-FFF2-40B4-BE49-F238E27FC236}">
                <a16:creationId xmlns:a16="http://schemas.microsoft.com/office/drawing/2014/main" id="{763892C5-6430-4048-B70A-E5E835D2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296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9" name="p14-callout-text">
            <a:extLst xmlns:a="http://schemas.openxmlformats.org/drawingml/2006/main">
              <a:ext uri="{FF2B5EF4-FFF2-40B4-BE49-F238E27FC236}">
                <a16:creationId xmlns:a16="http://schemas.microsoft.com/office/drawing/2014/main" id="{E653AD4E-F026-4333-B800-E5BEED23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01050"/>
            <a:ext cx="598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위반 0건은 오류가 아닐 수 있습니다. 반대로 SUCCESS라도 규칙 표본과 설명력이 충분한지는 별도로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683988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age-15-rail">
            <a:extLst xmlns:a="http://schemas.openxmlformats.org/drawingml/2006/main">
              <a:ext uri="{FF2B5EF4-FFF2-40B4-BE49-F238E27FC236}">
                <a16:creationId xmlns:a16="http://schemas.microsoft.com/office/drawing/2014/main" id="{1ABDF01A-7CF8-4FF3-90AE-6872C64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15-chapter">
            <a:extLst xmlns:a="http://schemas.openxmlformats.org/drawingml/2006/main">
              <a:ext uri="{FF2B5EF4-FFF2-40B4-BE49-F238E27FC236}">
                <a16:creationId xmlns:a16="http://schemas.microsoft.com/office/drawing/2014/main" id="{32125355-F282-41EA-89F9-36FA1656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04 · REVIEW TO CHANGE</a:t>
            </a:r>
          </a:p>
        </p:txBody>
      </p:sp>
      <p:sp>
        <p:nvSpPr>
          <p:cNvPr id="3" name="page-15-title">
            <a:extLst xmlns:a="http://schemas.openxmlformats.org/drawingml/2006/main">
              <a:ext uri="{FF2B5EF4-FFF2-40B4-BE49-F238E27FC236}">
                <a16:creationId xmlns:a16="http://schemas.microsoft.com/office/drawing/2014/main" id="{4F3273CB-74F1-441F-B1F0-2A7809A4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분석 결과는 다섯 책임 단계를 거쳐 변경됩니다</a:t>
            </a:r>
          </a:p>
        </p:txBody>
      </p:sp>
      <p:sp>
        <p:nvSpPr>
          <p:cNvPr id="4" name="page-15-subtitle">
            <a:extLst xmlns:a="http://schemas.openxmlformats.org/drawingml/2006/main">
              <a:ext uri="{FF2B5EF4-FFF2-40B4-BE49-F238E27FC236}">
                <a16:creationId xmlns:a16="http://schemas.microsoft.com/office/drawing/2014/main" id="{D5EE367F-F21D-4A70-9875-D9C823AE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발굴 결과를 곧바로 원본에 적용하지 않고, 해석·결정·편집·효과 검증·보고를 서로 다른 작업 화면과 책임으로 분리합니다.</a:t>
            </a:r>
          </a:p>
        </p:txBody>
      </p:sp>
      <p:sp>
        <p:nvSpPr>
          <p:cNvPr id="5" name="page-15-top-rule">
            <a:extLst xmlns:a="http://schemas.openxmlformats.org/drawingml/2006/main">
              <a:ext uri="{FF2B5EF4-FFF2-40B4-BE49-F238E27FC236}">
                <a16:creationId xmlns:a16="http://schemas.microsoft.com/office/drawing/2014/main" id="{2597C5AA-D6B2-4483-94E1-B6A29DB9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5-footer-rule">
            <a:extLst xmlns:a="http://schemas.openxmlformats.org/drawingml/2006/main">
              <a:ext uri="{FF2B5EF4-FFF2-40B4-BE49-F238E27FC236}">
                <a16:creationId xmlns:a16="http://schemas.microsoft.com/office/drawing/2014/main" id="{D5695148-37C6-471E-8D30-AD91C47E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5-footer-name">
            <a:extLst xmlns:a="http://schemas.openxmlformats.org/drawingml/2006/main">
              <a:ext uri="{FF2B5EF4-FFF2-40B4-BE49-F238E27FC236}">
                <a16:creationId xmlns:a16="http://schemas.microsoft.com/office/drawing/2014/main" id="{5F7DC0EC-3A94-4FDA-B902-8E842A54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5-footer-number">
            <a:extLst xmlns:a="http://schemas.openxmlformats.org/drawingml/2006/main">
              <a:ext uri="{FF2B5EF4-FFF2-40B4-BE49-F238E27FC236}">
                <a16:creationId xmlns:a16="http://schemas.microsoft.com/office/drawing/2014/main" id="{95C248D5-45C2-48CA-8932-F47C261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9" name="change-node-1">
            <a:extLst xmlns:a="http://schemas.openxmlformats.org/drawingml/2006/main">
              <a:ext uri="{FF2B5EF4-FFF2-40B4-BE49-F238E27FC236}">
                <a16:creationId xmlns:a16="http://schemas.microsoft.com/office/drawing/2014/main" id="{3B433555-6C94-480E-9D32-FF0140F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change-num-1-circle">
            <a:extLst xmlns:a="http://schemas.openxmlformats.org/drawingml/2006/main">
              <a:ext uri="{FF2B5EF4-FFF2-40B4-BE49-F238E27FC236}">
                <a16:creationId xmlns:a16="http://schemas.microsoft.com/office/drawing/2014/main" id="{265E633C-1A52-43EA-BFDC-D5E7F45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change-num-1-number">
            <a:extLst xmlns:a="http://schemas.openxmlformats.org/drawingml/2006/main">
              <a:ext uri="{FF2B5EF4-FFF2-40B4-BE49-F238E27FC236}">
                <a16:creationId xmlns:a16="http://schemas.microsoft.com/office/drawing/2014/main" id="{F617A4F4-FD9B-4F04-81C2-76E235E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change-title-1">
            <a:extLst xmlns:a="http://schemas.openxmlformats.org/drawingml/2006/main">
              <a:ext uri="{FF2B5EF4-FFF2-40B4-BE49-F238E27FC236}">
                <a16:creationId xmlns:a16="http://schemas.microsoft.com/office/drawing/2014/main" id="{030D8DEA-CE98-43E6-934D-ADF58A6A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분석</a:t>
            </a:r>
          </a:p>
        </p:txBody>
      </p:sp>
      <p:sp>
        <p:nvSpPr>
          <p:cNvPr id="13" name="change-kicker-1">
            <a:extLst xmlns:a="http://schemas.openxmlformats.org/drawingml/2006/main">
              <a:ext uri="{FF2B5EF4-FFF2-40B4-BE49-F238E27FC236}">
                <a16:creationId xmlns:a16="http://schemas.microsoft.com/office/drawing/2014/main" id="{902168E7-F0DC-45EC-B7EA-E2CC27CD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M04002</a:t>
            </a:r>
          </a:p>
        </p:txBody>
      </p:sp>
      <p:sp>
        <p:nvSpPr>
          <p:cNvPr id="14" name="change-body-1">
            <a:extLst xmlns:a="http://schemas.openxmlformats.org/drawingml/2006/main">
              <a:ext uri="{FF2B5EF4-FFF2-40B4-BE49-F238E27FC236}">
                <a16:creationId xmlns:a16="http://schemas.microsoft.com/office/drawing/2014/main" id="{D358A10F-CF88-40A2-A785-B79343C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유형, 관계·군집, 규칙, 위반과 실제 Run 파라미터를 함께 해석합니다.</a:t>
            </a:r>
          </a:p>
        </p:txBody>
      </p:sp>
      <p:sp>
        <p:nvSpPr>
          <p:cNvPr id="15" name="change-node-2">
            <a:extLst xmlns:a="http://schemas.openxmlformats.org/drawingml/2006/main">
              <a:ext uri="{FF2B5EF4-FFF2-40B4-BE49-F238E27FC236}">
                <a16:creationId xmlns:a16="http://schemas.microsoft.com/office/drawing/2014/main" id="{47121FAD-9568-4770-8B79-27940053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9525">
            <a:solidFill>
              <a:srgbClr val="6E62A8"/>
            </a:solidFill>
            <a:prstDash val="solid"/>
          </a:ln>
        </p:spPr>
      </p:sp>
      <p:sp>
        <p:nvSpPr>
          <p:cNvPr id="16" name="change-num-2-circle">
            <a:extLst xmlns:a="http://schemas.openxmlformats.org/drawingml/2006/main">
              <a:ext uri="{FF2B5EF4-FFF2-40B4-BE49-F238E27FC236}">
                <a16:creationId xmlns:a16="http://schemas.microsoft.com/office/drawing/2014/main" id="{EB66C601-A6B7-4F9D-A98E-001BC9D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7" name="change-num-2-number">
            <a:extLst xmlns:a="http://schemas.openxmlformats.org/drawingml/2006/main">
              <a:ext uri="{FF2B5EF4-FFF2-40B4-BE49-F238E27FC236}">
                <a16:creationId xmlns:a16="http://schemas.microsoft.com/office/drawing/2014/main" id="{D24B926B-22F5-41ED-BC33-89DC1B85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change-title-2">
            <a:extLst xmlns:a="http://schemas.openxmlformats.org/drawingml/2006/main">
              <a:ext uri="{FF2B5EF4-FFF2-40B4-BE49-F238E27FC236}">
                <a16:creationId xmlns:a16="http://schemas.microsoft.com/office/drawing/2014/main" id="{DBEB21F1-2271-47A9-A3D5-C1DE8381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결정</a:t>
            </a:r>
          </a:p>
        </p:txBody>
      </p:sp>
      <p:sp>
        <p:nvSpPr>
          <p:cNvPr id="19" name="change-kicker-2">
            <a:extLst xmlns:a="http://schemas.openxmlformats.org/drawingml/2006/main">
              <a:ext uri="{FF2B5EF4-FFF2-40B4-BE49-F238E27FC236}">
                <a16:creationId xmlns:a16="http://schemas.microsoft.com/office/drawing/2014/main" id="{3C536F66-D134-4690-9A61-95FD3F39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M05001</a:t>
            </a:r>
          </a:p>
        </p:txBody>
      </p:sp>
      <p:sp>
        <p:nvSpPr>
          <p:cNvPr id="20" name="change-body-2">
            <a:extLst xmlns:a="http://schemas.openxmlformats.org/drawingml/2006/main">
              <a:ext uri="{FF2B5EF4-FFF2-40B4-BE49-F238E27FC236}">
                <a16:creationId xmlns:a16="http://schemas.microsoft.com/office/drawing/2014/main" id="{8395A08C-A2C0-4FEF-B796-18BE782C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발굴 후보를 선정·제외하고 사용자 규칙을 검증해 규칙 마스터를 관리합니다.</a:t>
            </a:r>
          </a:p>
        </p:txBody>
      </p:sp>
      <p:sp>
        <p:nvSpPr>
          <p:cNvPr id="21" name="change-node-3">
            <a:extLst xmlns:a="http://schemas.openxmlformats.org/drawingml/2006/main">
              <a:ext uri="{FF2B5EF4-FFF2-40B4-BE49-F238E27FC236}">
                <a16:creationId xmlns:a16="http://schemas.microsoft.com/office/drawing/2014/main" id="{4D4D8C56-DB32-45E5-96FC-04D48B6E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22" name="change-num-3-circle">
            <a:extLst xmlns:a="http://schemas.openxmlformats.org/drawingml/2006/main">
              <a:ext uri="{FF2B5EF4-FFF2-40B4-BE49-F238E27FC236}">
                <a16:creationId xmlns:a16="http://schemas.microsoft.com/office/drawing/2014/main" id="{AFD4196C-2CC4-4D9F-839D-F647B2D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3" name="change-num-3-number">
            <a:extLst xmlns:a="http://schemas.openxmlformats.org/drawingml/2006/main">
              <a:ext uri="{FF2B5EF4-FFF2-40B4-BE49-F238E27FC236}">
                <a16:creationId xmlns:a16="http://schemas.microsoft.com/office/drawing/2014/main" id="{B64F6BC1-9881-4802-AB6D-966FC626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change-title-3">
            <a:extLst xmlns:a="http://schemas.openxmlformats.org/drawingml/2006/main">
              <a:ext uri="{FF2B5EF4-FFF2-40B4-BE49-F238E27FC236}">
                <a16:creationId xmlns:a16="http://schemas.microsoft.com/office/drawing/2014/main" id="{93EA137C-DA06-43CD-8D9E-DF04E6F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7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오류 수정</a:t>
            </a:r>
          </a:p>
        </p:txBody>
      </p:sp>
      <p:sp>
        <p:nvSpPr>
          <p:cNvPr id="25" name="change-kicker-3">
            <a:extLst xmlns:a="http://schemas.openxmlformats.org/drawingml/2006/main">
              <a:ext uri="{FF2B5EF4-FFF2-40B4-BE49-F238E27FC236}">
                <a16:creationId xmlns:a16="http://schemas.microsoft.com/office/drawing/2014/main" id="{95EDD811-2E91-449A-9298-DB9E3F5B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34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M05002</a:t>
            </a:r>
          </a:p>
        </p:txBody>
      </p:sp>
      <p:sp>
        <p:nvSpPr>
          <p:cNvPr id="26" name="change-body-3">
            <a:extLst xmlns:a="http://schemas.openxmlformats.org/drawingml/2006/main">
              <a:ext uri="{FF2B5EF4-FFF2-40B4-BE49-F238E27FC236}">
                <a16:creationId xmlns:a16="http://schemas.microsoft.com/office/drawing/2014/main" id="{61523056-0FAB-4E57-BCCA-3371145C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625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원본 기준 작업본을 검사하고 INITDN$ 편집본에서 셀 값을 수정합니다.</a:t>
            </a:r>
          </a:p>
        </p:txBody>
      </p:sp>
      <p:sp>
        <p:nvSpPr>
          <p:cNvPr id="27" name="change-node-4">
            <a:extLst xmlns:a="http://schemas.openxmlformats.org/drawingml/2006/main">
              <a:ext uri="{FF2B5EF4-FFF2-40B4-BE49-F238E27FC236}">
                <a16:creationId xmlns:a16="http://schemas.microsoft.com/office/drawing/2014/main" id="{ECB439CB-8CFB-47A3-AE4D-52C4169A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28" name="change-num-4-circle">
            <a:extLst xmlns:a="http://schemas.openxmlformats.org/drawingml/2006/main">
              <a:ext uri="{FF2B5EF4-FFF2-40B4-BE49-F238E27FC236}">
                <a16:creationId xmlns:a16="http://schemas.microsoft.com/office/drawing/2014/main" id="{1DF286A9-1951-4007-AD1D-2B1C581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9" name="change-num-4-number">
            <a:extLst xmlns:a="http://schemas.openxmlformats.org/drawingml/2006/main">
              <a:ext uri="{FF2B5EF4-FFF2-40B4-BE49-F238E27FC236}">
                <a16:creationId xmlns:a16="http://schemas.microsoft.com/office/drawing/2014/main" id="{0E712904-8736-4C4D-852C-0BE142C2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change-title-4">
            <a:extLst xmlns:a="http://schemas.openxmlformats.org/drawingml/2006/main">
              <a:ext uri="{FF2B5EF4-FFF2-40B4-BE49-F238E27FC236}">
                <a16:creationId xmlns:a16="http://schemas.microsoft.com/office/drawing/2014/main" id="{08608D99-163E-44E1-97F9-70A0545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29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효과·DML</a:t>
            </a:r>
          </a:p>
        </p:txBody>
      </p:sp>
      <p:sp>
        <p:nvSpPr>
          <p:cNvPr id="31" name="change-kicker-4">
            <a:extLst xmlns:a="http://schemas.openxmlformats.org/drawingml/2006/main">
              <a:ext uri="{FF2B5EF4-FFF2-40B4-BE49-F238E27FC236}">
                <a16:creationId xmlns:a16="http://schemas.microsoft.com/office/drawing/2014/main" id="{D6509144-4D46-4F43-9DA9-BBDD7300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91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M05003</a:t>
            </a:r>
          </a:p>
        </p:txBody>
      </p:sp>
      <p:sp>
        <p:nvSpPr>
          <p:cNvPr id="32" name="change-body-4">
            <a:extLst xmlns:a="http://schemas.openxmlformats.org/drawingml/2006/main">
              <a:ext uri="{FF2B5EF4-FFF2-40B4-BE49-F238E27FC236}">
                <a16:creationId xmlns:a16="http://schemas.microsoft.com/office/drawing/2014/main" id="{1952D5B9-7EB0-4888-95C5-E54451A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4198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 전후 효과를 비교하고 버전 관리된 운영 반영 DML을 검증·실행합니다.</a:t>
            </a:r>
          </a:p>
        </p:txBody>
      </p:sp>
      <p:sp>
        <p:nvSpPr>
          <p:cNvPr id="33" name="change-node-5">
            <a:extLst xmlns:a="http://schemas.openxmlformats.org/drawingml/2006/main">
              <a:ext uri="{FF2B5EF4-FFF2-40B4-BE49-F238E27FC236}">
                <a16:creationId xmlns:a16="http://schemas.microsoft.com/office/drawing/2014/main" id="{59E73AE3-B1EC-456A-AEC7-4B567D3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05700"/>
            <a:ext cx="6381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34" name="change-num-5-circle">
            <a:extLst xmlns:a="http://schemas.openxmlformats.org/drawingml/2006/main">
              <a:ext uri="{FF2B5EF4-FFF2-40B4-BE49-F238E27FC236}">
                <a16:creationId xmlns:a16="http://schemas.microsoft.com/office/drawing/2014/main" id="{3960AD8B-C608-4F9B-AD25-4A38604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53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35" name="change-num-5-number">
            <a:extLst xmlns:a="http://schemas.openxmlformats.org/drawingml/2006/main">
              <a:ext uri="{FF2B5EF4-FFF2-40B4-BE49-F238E27FC236}">
                <a16:creationId xmlns:a16="http://schemas.microsoft.com/office/drawing/2014/main" id="{68799821-77AB-43D0-8F5F-DC572CB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724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6" name="change-title-5">
            <a:extLst xmlns:a="http://schemas.openxmlformats.org/drawingml/2006/main">
              <a:ext uri="{FF2B5EF4-FFF2-40B4-BE49-F238E27FC236}">
                <a16:creationId xmlns:a16="http://schemas.microsoft.com/office/drawing/2014/main" id="{DBAC7C69-E12B-4A77-8AF7-25A2088A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686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결과 보고</a:t>
            </a:r>
          </a:p>
        </p:txBody>
      </p:sp>
      <p:sp>
        <p:nvSpPr>
          <p:cNvPr id="37" name="change-kicker-5">
            <a:extLst xmlns:a="http://schemas.openxmlformats.org/drawingml/2006/main">
              <a:ext uri="{FF2B5EF4-FFF2-40B4-BE49-F238E27FC236}">
                <a16:creationId xmlns:a16="http://schemas.microsoft.com/office/drawing/2014/main" id="{0F896610-8580-4CA3-85D9-45D863DC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0486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M06001 · M06002</a:t>
            </a:r>
          </a:p>
        </p:txBody>
      </p:sp>
      <p:sp>
        <p:nvSpPr>
          <p:cNvPr id="38" name="change-body-5">
            <a:extLst xmlns:a="http://schemas.openxmlformats.org/drawingml/2006/main">
              <a:ext uri="{FF2B5EF4-FFF2-40B4-BE49-F238E27FC236}">
                <a16:creationId xmlns:a16="http://schemas.microsoft.com/office/drawing/2014/main" id="{D70845FF-42CE-4F04-AAA6-E3024617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677150"/>
            <a:ext cx="321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고정형·통합 또는 맞춤형 보고서로 분석과 에디팅 이력을 공유합니다.</a:t>
            </a:r>
          </a:p>
        </p:txBody>
      </p:sp>
      <p:cxnSp>
        <p:nvCxnSpPr>
          <p:cNvPr id="84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781425" y="35433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781425" y="48006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6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81425" y="60579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781425" y="73152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E0EA"/>
            </a:solidFill>
            <a:prstDash val="solid"/>
            <a:tailEnd type="arrow" w="sm" len="sm"/>
          </a:ln>
        </p:spPr>
      </p:cxnSp>
      <p:sp>
        <p:nvSpPr>
          <p:cNvPr id="43" name="p15-callout-fill">
            <a:extLst xmlns:a="http://schemas.openxmlformats.org/drawingml/2006/main">
              <a:ext uri="{FF2B5EF4-FFF2-40B4-BE49-F238E27FC236}">
                <a16:creationId xmlns:a16="http://schemas.microsoft.com/office/drawing/2014/main" id="{AF0C04CC-147C-4A2B-A11A-1CB80B94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72550"/>
            <a:ext cx="638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44" name="p15-callout-accent">
            <a:extLst xmlns:a="http://schemas.openxmlformats.org/drawingml/2006/main">
              <a:ext uri="{FF2B5EF4-FFF2-40B4-BE49-F238E27FC236}">
                <a16:creationId xmlns:a16="http://schemas.microsoft.com/office/drawing/2014/main" id="{68F0FDE5-6283-40D1-BF31-F5261164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725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45" name="p15-callout-text">
            <a:extLst xmlns:a="http://schemas.openxmlformats.org/drawingml/2006/main">
              <a:ext uri="{FF2B5EF4-FFF2-40B4-BE49-F238E27FC236}">
                <a16:creationId xmlns:a16="http://schemas.microsoft.com/office/drawing/2014/main" id="{268DA9D7-D5F8-4E3A-ABC7-816A106B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0"/>
            <a:ext cx="598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각 단계가 분리되어 있기 때문에 규칙 후보의 품질 문제와 실제 데이터 변경 위험을 서로 다른 지점에서 통제할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185182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16-rail">
            <a:extLst xmlns:a="http://schemas.openxmlformats.org/drawingml/2006/main">
              <a:ext uri="{FF2B5EF4-FFF2-40B4-BE49-F238E27FC236}">
                <a16:creationId xmlns:a16="http://schemas.microsoft.com/office/drawing/2014/main" id="{BED13C62-DE91-4717-BCD8-767EC9C0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" name="page-16-chapter">
            <a:extLst xmlns:a="http://schemas.openxmlformats.org/drawingml/2006/main">
              <a:ext uri="{FF2B5EF4-FFF2-40B4-BE49-F238E27FC236}">
                <a16:creationId xmlns:a16="http://schemas.microsoft.com/office/drawing/2014/main" id="{A1067C6D-B725-4329-9DF6-EB6D354B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04 · EDITING &amp; OPERATIONAL APPLY</a:t>
            </a:r>
          </a:p>
        </p:txBody>
      </p:sp>
      <p:sp>
        <p:nvSpPr>
          <p:cNvPr id="3" name="page-16-title">
            <a:extLst xmlns:a="http://schemas.openxmlformats.org/drawingml/2006/main">
              <a:ext uri="{FF2B5EF4-FFF2-40B4-BE49-F238E27FC236}">
                <a16:creationId xmlns:a16="http://schemas.microsoft.com/office/drawing/2014/main" id="{1302E2F0-EA83-4BFB-ABF0-A1BC9EAD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원본·편집본·운영 반영을 세 층으로 분리합니다</a:t>
            </a:r>
          </a:p>
        </p:txBody>
      </p:sp>
      <p:sp>
        <p:nvSpPr>
          <p:cNvPr id="4" name="page-16-subtitle">
            <a:extLst xmlns:a="http://schemas.openxmlformats.org/drawingml/2006/main">
              <a:ext uri="{FF2B5EF4-FFF2-40B4-BE49-F238E27FC236}">
                <a16:creationId xmlns:a16="http://schemas.microsoft.com/office/drawing/2014/main" id="{BCE18A13-6B73-434F-BD44-F79D4D6C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탐지 결과가 원본을 직접 바꾸지 않도록 검사 기준, 사용자 편집, 운영 반영을 서로 다른 데이터와 승인 단계로 관리합니다.</a:t>
            </a:r>
          </a:p>
        </p:txBody>
      </p:sp>
      <p:sp>
        <p:nvSpPr>
          <p:cNvPr id="5" name="page-16-top-rule">
            <a:extLst xmlns:a="http://schemas.openxmlformats.org/drawingml/2006/main">
              <a:ext uri="{FF2B5EF4-FFF2-40B4-BE49-F238E27FC236}">
                <a16:creationId xmlns:a16="http://schemas.microsoft.com/office/drawing/2014/main" id="{24B4F1EE-228E-4508-9CB9-5E34AF2A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6-footer-rule">
            <a:extLst xmlns:a="http://schemas.openxmlformats.org/drawingml/2006/main">
              <a:ext uri="{FF2B5EF4-FFF2-40B4-BE49-F238E27FC236}">
                <a16:creationId xmlns:a16="http://schemas.microsoft.com/office/drawing/2014/main" id="{AF3FBF8E-B7A7-48DD-9476-9F422628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6-footer-name">
            <a:extLst xmlns:a="http://schemas.openxmlformats.org/drawingml/2006/main">
              <a:ext uri="{FF2B5EF4-FFF2-40B4-BE49-F238E27FC236}">
                <a16:creationId xmlns:a16="http://schemas.microsoft.com/office/drawing/2014/main" id="{336E8EDD-AC1A-4BA4-ABF3-34837A29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6-footer-number">
            <a:extLst xmlns:a="http://schemas.openxmlformats.org/drawingml/2006/main">
              <a:ext uri="{FF2B5EF4-FFF2-40B4-BE49-F238E27FC236}">
                <a16:creationId xmlns:a16="http://schemas.microsoft.com/office/drawing/2014/main" id="{57373B67-A5B7-4E77-959D-2D5E6D1B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p16-node-0">
            <a:extLst xmlns:a="http://schemas.openxmlformats.org/drawingml/2006/main">
              <a:ext uri="{FF2B5EF4-FFF2-40B4-BE49-F238E27FC236}">
                <a16:creationId xmlns:a16="http://schemas.microsoft.com/office/drawing/2014/main" id="{DAB300A1-B713-4D27-A0DA-CE62E033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5467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F6FB5"/>
            </a:solidFill>
            <a:prstDash val="solid"/>
          </a:ln>
        </p:spPr>
      </p:sp>
      <p:sp>
        <p:nvSpPr>
          <p:cNvPr id="10" name="p16-label-0">
            <a:extLst xmlns:a="http://schemas.openxmlformats.org/drawingml/2006/main">
              <a:ext uri="{FF2B5EF4-FFF2-40B4-BE49-F238E27FC236}">
                <a16:creationId xmlns:a16="http://schemas.microsoft.com/office/drawing/2014/main" id="{18D7A63B-15D9-4D8A-A4CD-4C9A170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기준 작업본</a:t>
            </a:r>
          </a:p>
        </p:txBody>
      </p:sp>
      <p:sp>
        <p:nvSpPr>
          <p:cNvPr id="11" name="p16-code-0">
            <a:extLst xmlns:a="http://schemas.openxmlformats.org/drawingml/2006/main">
              <a:ext uri="{FF2B5EF4-FFF2-40B4-BE49-F238E27FC236}">
                <a16:creationId xmlns:a16="http://schemas.microsoft.com/office/drawing/2014/main" id="{B6EA40B7-5F2C-4EE8-8F20-F61EB24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INITUP$</a:t>
            </a:r>
          </a:p>
        </p:txBody>
      </p:sp>
      <p:sp>
        <p:nvSpPr>
          <p:cNvPr id="12" name="p16-desc-0">
            <a:extLst xmlns:a="http://schemas.openxmlformats.org/drawingml/2006/main">
              <a:ext uri="{FF2B5EF4-FFF2-40B4-BE49-F238E27FC236}">
                <a16:creationId xmlns:a16="http://schemas.microsoft.com/office/drawing/2014/main" id="{D5A0F9E4-5BEF-49F7-84A9-CE42F68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규칙을 적용해 현재 위반 여부를 검사하는 원본 기준 스냅샷</a:t>
            </a:r>
          </a:p>
        </p:txBody>
      </p:sp>
      <p:sp>
        <p:nvSpPr>
          <p:cNvPr id="13" name="p16-node-1">
            <a:extLst xmlns:a="http://schemas.openxmlformats.org/drawingml/2006/main">
              <a:ext uri="{FF2B5EF4-FFF2-40B4-BE49-F238E27FC236}">
                <a16:creationId xmlns:a16="http://schemas.microsoft.com/office/drawing/2014/main" id="{C0B52C12-E239-415F-B14F-53A7A4C1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5467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14" name="p16-label-1">
            <a:extLst xmlns:a="http://schemas.openxmlformats.org/drawingml/2006/main">
              <a:ext uri="{FF2B5EF4-FFF2-40B4-BE49-F238E27FC236}">
                <a16:creationId xmlns:a16="http://schemas.microsoft.com/office/drawing/2014/main" id="{233B0E9E-09C1-4C2C-A401-93927DC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사용자 편집본</a:t>
            </a:r>
          </a:p>
        </p:txBody>
      </p:sp>
      <p:sp>
        <p:nvSpPr>
          <p:cNvPr id="15" name="p16-code-1">
            <a:extLst xmlns:a="http://schemas.openxmlformats.org/drawingml/2006/main">
              <a:ext uri="{FF2B5EF4-FFF2-40B4-BE49-F238E27FC236}">
                <a16:creationId xmlns:a16="http://schemas.microsoft.com/office/drawing/2014/main" id="{32986CD6-9328-4FA8-A0C9-B3D1EFAE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81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INITDN$</a:t>
            </a:r>
          </a:p>
        </p:txBody>
      </p:sp>
      <p:sp>
        <p:nvSpPr>
          <p:cNvPr id="16" name="p16-desc-1">
            <a:extLst xmlns:a="http://schemas.openxmlformats.org/drawingml/2006/main">
              <a:ext uri="{FF2B5EF4-FFF2-40B4-BE49-F238E27FC236}">
                <a16:creationId xmlns:a16="http://schemas.microsoft.com/office/drawing/2014/main" id="{41CEB0D7-CDAE-49C5-A3C0-53321481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006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검토자가 오류 값을 수정하고 변경 사유와 세션을 기록하는 편집 테이블</a:t>
            </a:r>
          </a:p>
        </p:txBody>
      </p:sp>
      <p:sp>
        <p:nvSpPr>
          <p:cNvPr id="17" name="p16-node-2">
            <a:extLst xmlns:a="http://schemas.openxmlformats.org/drawingml/2006/main">
              <a:ext uri="{FF2B5EF4-FFF2-40B4-BE49-F238E27FC236}">
                <a16:creationId xmlns:a16="http://schemas.microsoft.com/office/drawing/2014/main" id="{6088F928-3864-4EA4-8940-1A51D58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77050"/>
            <a:ext cx="5467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18" name="p16-label-2">
            <a:extLst xmlns:a="http://schemas.openxmlformats.org/drawingml/2006/main">
              <a:ext uri="{FF2B5EF4-FFF2-40B4-BE49-F238E27FC236}">
                <a16:creationId xmlns:a16="http://schemas.microsoft.com/office/drawing/2014/main" id="{858235E2-B425-43B9-A9D2-295A40F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105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운영 반영</a:t>
            </a:r>
          </a:p>
        </p:txBody>
      </p:sp>
      <p:sp>
        <p:nvSpPr>
          <p:cNvPr id="19" name="p16-code-2">
            <a:extLst xmlns:a="http://schemas.openxmlformats.org/drawingml/2006/main">
              <a:ext uri="{FF2B5EF4-FFF2-40B4-BE49-F238E27FC236}">
                <a16:creationId xmlns:a16="http://schemas.microsoft.com/office/drawing/2014/main" id="{4087950F-1F89-4AF8-A6AB-B44B9391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458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233C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14233C"/>
                </a:solidFill>
                <a:latin typeface="Consolas"/>
                <a:ea typeface="Consolas"/>
                <a:cs typeface="Consolas"/>
              </a:rPr>
              <a:t>VERSIONED DML</a:t>
            </a:r>
          </a:p>
        </p:txBody>
      </p:sp>
      <p:sp>
        <p:nvSpPr>
          <p:cNvPr id="20" name="p16-desc-2">
            <a:extLst xmlns:a="http://schemas.openxmlformats.org/drawingml/2006/main">
              <a:ext uri="{FF2B5EF4-FFF2-40B4-BE49-F238E27FC236}">
                <a16:creationId xmlns:a16="http://schemas.microsoft.com/office/drawing/2014/main" id="{A8D5B34B-3FAE-4F00-8BE5-77082266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2771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효과 검증을 통과한 변경만 버전 DML로 생성·검증·승인 후 실행</a:t>
            </a:r>
          </a:p>
        </p:txBody>
      </p:sp>
      <p:cxnSp>
        <p:nvCxnSpPr>
          <p:cNvPr id="48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781425" y="43815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7316"/>
            </a:solidFill>
            <a:prstDash val="solid"/>
            <a:tailEnd type="arrow" w="med" len="med"/>
          </a:ln>
        </p:spPr>
      </p:cxnSp>
      <p:sp>
        <p:nvSpPr>
          <p:cNvPr id="22" name="p16-gate-0">
            <a:extLst xmlns:a="http://schemas.openxmlformats.org/drawingml/2006/main">
              <a:ext uri="{FF2B5EF4-FFF2-40B4-BE49-F238E27FC236}">
                <a16:creationId xmlns:a16="http://schemas.microsoft.com/office/drawing/2014/main" id="{29E99365-AC63-405B-8616-F8963B4B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사람의 검토·수정</a:t>
            </a:r>
          </a:p>
        </p:txBody>
      </p:sp>
      <p:cxnSp>
        <p:nvCxnSpPr>
          <p:cNvPr id="50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781425" y="64579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7316"/>
            </a:solidFill>
            <a:prstDash val="solid"/>
            <a:tailEnd type="arrow" w="med" len="med"/>
          </a:ln>
        </p:spPr>
      </p:cxnSp>
      <p:sp>
        <p:nvSpPr>
          <p:cNvPr id="24" name="p16-gate-1">
            <a:extLst xmlns:a="http://schemas.openxmlformats.org/drawingml/2006/main">
              <a:ext uri="{FF2B5EF4-FFF2-40B4-BE49-F238E27FC236}">
                <a16:creationId xmlns:a16="http://schemas.microsoft.com/office/drawing/2014/main" id="{CB9B7E74-9D3D-48EC-B671-EDF178DD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400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효과 검증·권한·실행 확인</a:t>
            </a:r>
          </a:p>
        </p:txBody>
      </p:sp>
      <p:sp>
        <p:nvSpPr>
          <p:cNvPr id="25" name="p16-audit-fill">
            <a:extLst xmlns:a="http://schemas.openxmlformats.org/drawingml/2006/main">
              <a:ext uri="{FF2B5EF4-FFF2-40B4-BE49-F238E27FC236}">
                <a16:creationId xmlns:a16="http://schemas.microsoft.com/office/drawing/2014/main" id="{DDA30FFD-009A-499C-99E8-63F44EE9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10650"/>
            <a:ext cx="638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6" name="p16-audit-accent">
            <a:extLst xmlns:a="http://schemas.openxmlformats.org/drawingml/2006/main">
              <a:ext uri="{FF2B5EF4-FFF2-40B4-BE49-F238E27FC236}">
                <a16:creationId xmlns:a16="http://schemas.microsoft.com/office/drawing/2014/main" id="{8DECCAF6-1625-4639-B4FB-C8268671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106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7" name="p16-audit-text">
            <a:extLst xmlns:a="http://schemas.openxmlformats.org/drawingml/2006/main">
              <a:ext uri="{FF2B5EF4-FFF2-40B4-BE49-F238E27FC236}">
                <a16:creationId xmlns:a16="http://schemas.microsoft.com/office/drawing/2014/main" id="{A182968B-C8EF-4854-994E-EBE9AC9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82100"/>
            <a:ext cx="598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감사 이력 · 편집 세션, 수정 전후 값, 규칙 근거, DML 버전과 실행 결과를 다시 추적할 수 있어야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4816437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17-rail">
            <a:extLst xmlns:a="http://schemas.openxmlformats.org/drawingml/2006/main">
              <a:ext uri="{FF2B5EF4-FFF2-40B4-BE49-F238E27FC236}">
                <a16:creationId xmlns:a16="http://schemas.microsoft.com/office/drawing/2014/main" id="{07F0B27B-D116-4548-91C5-2A5E5B33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17-chapter">
            <a:extLst xmlns:a="http://schemas.openxmlformats.org/drawingml/2006/main">
              <a:ext uri="{FF2B5EF4-FFF2-40B4-BE49-F238E27FC236}">
                <a16:creationId xmlns:a16="http://schemas.microsoft.com/office/drawing/2014/main" id="{7DAA7824-2382-4A1D-8A7E-E33EFB67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05 · MENU MAP</a:t>
            </a:r>
          </a:p>
        </p:txBody>
      </p:sp>
      <p:sp>
        <p:nvSpPr>
          <p:cNvPr id="3" name="page-17-title">
            <a:extLst xmlns:a="http://schemas.openxmlformats.org/drawingml/2006/main">
              <a:ext uri="{FF2B5EF4-FFF2-40B4-BE49-F238E27FC236}">
                <a16:creationId xmlns:a16="http://schemas.microsoft.com/office/drawing/2014/main" id="{D2542B2F-C667-4635-943A-5A3CE85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24개 업무 메뉴는 네 책임 영역으로 구성됩니다</a:t>
            </a:r>
          </a:p>
        </p:txBody>
      </p:sp>
      <p:sp>
        <p:nvSpPr>
          <p:cNvPr id="4" name="page-17-subtitle">
            <a:extLst xmlns:a="http://schemas.openxmlformats.org/drawingml/2006/main">
              <a:ext uri="{FF2B5EF4-FFF2-40B4-BE49-F238E27FC236}">
                <a16:creationId xmlns:a16="http://schemas.microsoft.com/office/drawing/2014/main" id="{3C06CE6B-17F3-4255-BCE5-C2898C70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메인 홈을 제외한 활성 업무 화면을 업무 단계에 따라 묶었습니다. 관리자 메뉴 노출과 API 실행 권한은 서버 역할 검사를 기준으로 합니다.</a:t>
            </a:r>
          </a:p>
        </p:txBody>
      </p:sp>
      <p:sp>
        <p:nvSpPr>
          <p:cNvPr id="5" name="page-17-top-rule">
            <a:extLst xmlns:a="http://schemas.openxmlformats.org/drawingml/2006/main">
              <a:ext uri="{FF2B5EF4-FFF2-40B4-BE49-F238E27FC236}">
                <a16:creationId xmlns:a16="http://schemas.microsoft.com/office/drawing/2014/main" id="{96DAE6CD-E3AA-4BB8-B30F-F352D0F4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7-footer-rule">
            <a:extLst xmlns:a="http://schemas.openxmlformats.org/drawingml/2006/main">
              <a:ext uri="{FF2B5EF4-FFF2-40B4-BE49-F238E27FC236}">
                <a16:creationId xmlns:a16="http://schemas.microsoft.com/office/drawing/2014/main" id="{DDAEC360-26DF-48BF-9D91-5D1DD7E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7-footer-name">
            <a:extLst xmlns:a="http://schemas.openxmlformats.org/drawingml/2006/main">
              <a:ext uri="{FF2B5EF4-FFF2-40B4-BE49-F238E27FC236}">
                <a16:creationId xmlns:a16="http://schemas.microsoft.com/office/drawing/2014/main" id="{7C549658-D8AA-4C3B-8536-F607D9AA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7-footer-number">
            <a:extLst xmlns:a="http://schemas.openxmlformats.org/drawingml/2006/main">
              <a:ext uri="{FF2B5EF4-FFF2-40B4-BE49-F238E27FC236}">
                <a16:creationId xmlns:a16="http://schemas.microsoft.com/office/drawing/2014/main" id="{7FAFB533-4AD8-4D8D-B1A4-B200C035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9" name="p17-group-0">
            <a:extLst xmlns:a="http://schemas.openxmlformats.org/drawingml/2006/main">
              <a:ext uri="{FF2B5EF4-FFF2-40B4-BE49-F238E27FC236}">
                <a16:creationId xmlns:a16="http://schemas.microsoft.com/office/drawing/2014/main" id="{EED81E17-7E9C-4055-B17B-F74032D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17-num-0-circle">
            <a:extLst xmlns:a="http://schemas.openxmlformats.org/drawingml/2006/main">
              <a:ext uri="{FF2B5EF4-FFF2-40B4-BE49-F238E27FC236}">
                <a16:creationId xmlns:a16="http://schemas.microsoft.com/office/drawing/2014/main" id="{EED56CCB-B69F-47F4-B278-CBB26359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17-num-0-number">
            <a:extLst xmlns:a="http://schemas.openxmlformats.org/drawingml/2006/main">
              <a:ext uri="{FF2B5EF4-FFF2-40B4-BE49-F238E27FC236}">
                <a16:creationId xmlns:a16="http://schemas.microsoft.com/office/drawing/2014/main" id="{7E4FA7AE-A971-4483-9BA0-CDDF1A25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p17-title-0">
            <a:extLst xmlns:a="http://schemas.openxmlformats.org/drawingml/2006/main">
              <a:ext uri="{FF2B5EF4-FFF2-40B4-BE49-F238E27FC236}">
                <a16:creationId xmlns:a16="http://schemas.microsoft.com/office/drawing/2014/main" id="{E7011C44-57BA-4F71-BDD2-2E9382E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설계·대상 준비</a:t>
            </a:r>
          </a:p>
        </p:txBody>
      </p:sp>
      <p:sp>
        <p:nvSpPr>
          <p:cNvPr id="13" name="p17-desc-0">
            <a:extLst xmlns:a="http://schemas.openxmlformats.org/drawingml/2006/main">
              <a:ext uri="{FF2B5EF4-FFF2-40B4-BE49-F238E27FC236}">
                <a16:creationId xmlns:a16="http://schemas.microsoft.com/office/drawing/2014/main" id="{E66C854B-1E35-4121-B19A-CBDE6A1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432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프로젝트·시나리오·파일·Target 테이블</a:t>
            </a:r>
          </a:p>
        </p:txBody>
      </p:sp>
      <p:sp>
        <p:nvSpPr>
          <p:cNvPr id="14" name="p17-count-0">
            <a:extLst xmlns:a="http://schemas.openxmlformats.org/drawingml/2006/main">
              <a:ext uri="{FF2B5EF4-FFF2-40B4-BE49-F238E27FC236}">
                <a16:creationId xmlns:a16="http://schemas.microsoft.com/office/drawing/2014/main" id="{C3C58CC4-51C9-4EB6-91E3-A333F1FB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p17-count-label-0">
            <a:extLst xmlns:a="http://schemas.openxmlformats.org/drawingml/2006/main">
              <a:ext uri="{FF2B5EF4-FFF2-40B4-BE49-F238E27FC236}">
                <a16:creationId xmlns:a16="http://schemas.microsoft.com/office/drawing/2014/main" id="{069F51BE-4B81-4DFA-A4C7-D6C4B30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24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16" name="p17-group-1">
            <a:extLst xmlns:a="http://schemas.openxmlformats.org/drawingml/2006/main">
              <a:ext uri="{FF2B5EF4-FFF2-40B4-BE49-F238E27FC236}">
                <a16:creationId xmlns:a16="http://schemas.microsoft.com/office/drawing/2014/main" id="{B38BC9B2-841C-4A15-879A-19570111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7" name="p17-num-1-circle">
            <a:extLst xmlns:a="http://schemas.openxmlformats.org/drawingml/2006/main">
              <a:ext uri="{FF2B5EF4-FFF2-40B4-BE49-F238E27FC236}">
                <a16:creationId xmlns:a16="http://schemas.microsoft.com/office/drawing/2014/main" id="{B2436A57-8731-4687-9EED-5316AB49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18" name="p17-num-1-number">
            <a:extLst xmlns:a="http://schemas.openxmlformats.org/drawingml/2006/main">
              <a:ext uri="{FF2B5EF4-FFF2-40B4-BE49-F238E27FC236}">
                <a16:creationId xmlns:a16="http://schemas.microsoft.com/office/drawing/2014/main" id="{FB934194-48E8-4C8C-9B2D-9B1677F4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p17-title-1">
            <a:extLst xmlns:a="http://schemas.openxmlformats.org/drawingml/2006/main">
              <a:ext uri="{FF2B5EF4-FFF2-40B4-BE49-F238E27FC236}">
                <a16:creationId xmlns:a16="http://schemas.microsoft.com/office/drawing/2014/main" id="{A2D65A4E-D285-4EF9-B7AE-C5FCC1C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모델 설정·통합 실행</a:t>
            </a:r>
          </a:p>
        </p:txBody>
      </p:sp>
      <p:sp>
        <p:nvSpPr>
          <p:cNvPr id="20" name="p17-desc-1">
            <a:extLst xmlns:a="http://schemas.openxmlformats.org/drawingml/2006/main">
              <a:ext uri="{FF2B5EF4-FFF2-40B4-BE49-F238E27FC236}">
                <a16:creationId xmlns:a16="http://schemas.microsoft.com/office/drawing/2014/main" id="{72DC8551-1146-4B3D-9D1F-2970E8F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4단계 Job, Flow 설계와 Run 분석</a:t>
            </a:r>
          </a:p>
        </p:txBody>
      </p:sp>
      <p:sp>
        <p:nvSpPr>
          <p:cNvPr id="21" name="p17-count-1">
            <a:extLst xmlns:a="http://schemas.openxmlformats.org/drawingml/2006/main">
              <a:ext uri="{FF2B5EF4-FFF2-40B4-BE49-F238E27FC236}">
                <a16:creationId xmlns:a16="http://schemas.microsoft.com/office/drawing/2014/main" id="{1BEF3B01-B653-4F2D-9588-D0280C2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2" name="p17-count-label-1">
            <a:extLst xmlns:a="http://schemas.openxmlformats.org/drawingml/2006/main">
              <a:ext uri="{FF2B5EF4-FFF2-40B4-BE49-F238E27FC236}">
                <a16:creationId xmlns:a16="http://schemas.microsoft.com/office/drawing/2014/main" id="{DF0CE846-0D5B-44DB-A03C-40914252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6732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23" name="p17-group-2">
            <a:extLst xmlns:a="http://schemas.openxmlformats.org/drawingml/2006/main">
              <a:ext uri="{FF2B5EF4-FFF2-40B4-BE49-F238E27FC236}">
                <a16:creationId xmlns:a16="http://schemas.microsoft.com/office/drawing/2014/main" id="{42AB1FC9-1AE1-4795-A7D7-579F787F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4" name="p17-num-2-circle">
            <a:extLst xmlns:a="http://schemas.openxmlformats.org/drawingml/2006/main">
              <a:ext uri="{FF2B5EF4-FFF2-40B4-BE49-F238E27FC236}">
                <a16:creationId xmlns:a16="http://schemas.microsoft.com/office/drawing/2014/main" id="{47163C02-04D2-4934-A7F9-2F0EAC8D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5" name="p17-num-2-number">
            <a:extLst xmlns:a="http://schemas.openxmlformats.org/drawingml/2006/main">
              <a:ext uri="{FF2B5EF4-FFF2-40B4-BE49-F238E27FC236}">
                <a16:creationId xmlns:a16="http://schemas.microsoft.com/office/drawing/2014/main" id="{6E3F0835-4F98-4B8E-937F-BDCED1C7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6" name="p17-title-2">
            <a:extLst xmlns:a="http://schemas.openxmlformats.org/drawingml/2006/main">
              <a:ext uri="{FF2B5EF4-FFF2-40B4-BE49-F238E27FC236}">
                <a16:creationId xmlns:a16="http://schemas.microsoft.com/office/drawing/2014/main" id="{0DACCD53-128F-49F5-8C02-B496D001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531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결정·수정·보고</a:t>
            </a:r>
          </a:p>
        </p:txBody>
      </p:sp>
      <p:sp>
        <p:nvSpPr>
          <p:cNvPr id="27" name="p17-desc-2">
            <a:extLst xmlns:a="http://schemas.openxmlformats.org/drawingml/2006/main">
              <a:ext uri="{FF2B5EF4-FFF2-40B4-BE49-F238E27FC236}">
                <a16:creationId xmlns:a16="http://schemas.microsoft.com/office/drawing/2014/main" id="{AE1CEA9E-D00F-445B-AA21-1C982636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2942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규칙 마스터, 편집, 운영 반영, 보고서</a:t>
            </a:r>
          </a:p>
        </p:txBody>
      </p:sp>
      <p:sp>
        <p:nvSpPr>
          <p:cNvPr id="28" name="p17-count-2">
            <a:extLst xmlns:a="http://schemas.openxmlformats.org/drawingml/2006/main">
              <a:ext uri="{FF2B5EF4-FFF2-40B4-BE49-F238E27FC236}">
                <a16:creationId xmlns:a16="http://schemas.microsoft.com/office/drawing/2014/main" id="{B02BF6E2-F1CD-4650-BC80-2EE95CC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38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9" name="p17-count-label-2">
            <a:extLst xmlns:a="http://schemas.openxmlformats.org/drawingml/2006/main">
              <a:ext uri="{FF2B5EF4-FFF2-40B4-BE49-F238E27FC236}">
                <a16:creationId xmlns:a16="http://schemas.microsoft.com/office/drawing/2014/main" id="{0108A549-39D0-41C0-B2C1-DBF45BF2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0104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30" name="p17-group-3">
            <a:extLst xmlns:a="http://schemas.openxmlformats.org/drawingml/2006/main">
              <a:ext uri="{FF2B5EF4-FFF2-40B4-BE49-F238E27FC236}">
                <a16:creationId xmlns:a16="http://schemas.microsoft.com/office/drawing/2014/main" id="{F3185D37-5BE7-4329-AA24-83C5F826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58125"/>
            <a:ext cx="638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31" name="p17-num-3-circle">
            <a:extLst xmlns:a="http://schemas.openxmlformats.org/drawingml/2006/main">
              <a:ext uri="{FF2B5EF4-FFF2-40B4-BE49-F238E27FC236}">
                <a16:creationId xmlns:a16="http://schemas.microsoft.com/office/drawing/2014/main" id="{6BDF7967-F258-4E7F-822D-779B3D3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34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32" name="p17-num-3-number">
            <a:extLst xmlns:a="http://schemas.openxmlformats.org/drawingml/2006/main">
              <a:ext uri="{FF2B5EF4-FFF2-40B4-BE49-F238E27FC236}">
                <a16:creationId xmlns:a16="http://schemas.microsoft.com/office/drawing/2014/main" id="{C14CD3F5-C6BB-4579-83D1-DEDF6113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53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3" name="p17-title-3">
            <a:extLst xmlns:a="http://schemas.openxmlformats.org/drawingml/2006/main">
              <a:ext uri="{FF2B5EF4-FFF2-40B4-BE49-F238E27FC236}">
                <a16:creationId xmlns:a16="http://schemas.microsoft.com/office/drawing/2014/main" id="{BE3916B2-8FBC-4E28-BFA0-098AF03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96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리소스·개인·관리자 운영</a:t>
            </a:r>
          </a:p>
        </p:txBody>
      </p:sp>
      <p:sp>
        <p:nvSpPr>
          <p:cNvPr id="34" name="p17-desc-3">
            <a:extLst xmlns:a="http://schemas.openxmlformats.org/drawingml/2006/main">
              <a:ext uri="{FF2B5EF4-FFF2-40B4-BE49-F238E27FC236}">
                <a16:creationId xmlns:a16="http://schemas.microsoft.com/office/drawing/2014/main" id="{E29087A9-8076-4E8E-B4B8-8B4E8025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572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모델/API, 개인 설정, DB·시스템·공지</a:t>
            </a:r>
          </a:p>
        </p:txBody>
      </p:sp>
      <p:sp>
        <p:nvSpPr>
          <p:cNvPr id="35" name="p17-count-3">
            <a:extLst xmlns:a="http://schemas.openxmlformats.org/drawingml/2006/main">
              <a:ext uri="{FF2B5EF4-FFF2-40B4-BE49-F238E27FC236}">
                <a16:creationId xmlns:a16="http://schemas.microsoft.com/office/drawing/2014/main" id="{35BCB3DF-31B7-4714-9F3D-544A565C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1819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85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6" name="p17-count-label-3">
            <a:extLst xmlns:a="http://schemas.openxmlformats.org/drawingml/2006/main">
              <a:ext uri="{FF2B5EF4-FFF2-40B4-BE49-F238E27FC236}">
                <a16:creationId xmlns:a16="http://schemas.microsoft.com/office/drawing/2014/main" id="{49FAFDD9-B2EC-4EA8-8700-87F5329A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7534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개 메뉴</a:t>
            </a:r>
          </a:p>
        </p:txBody>
      </p:sp>
      <p:sp>
        <p:nvSpPr>
          <p:cNvPr id="37" name="p17-auth-fill">
            <a:extLst xmlns:a="http://schemas.openxmlformats.org/drawingml/2006/main">
              <a:ext uri="{FF2B5EF4-FFF2-40B4-BE49-F238E27FC236}">
                <a16:creationId xmlns:a16="http://schemas.microsoft.com/office/drawing/2014/main" id="{7D2D7812-1A74-41AE-8733-42899F45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53550"/>
            <a:ext cx="638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9525">
            <a:solidFill>
              <a:srgbClr val="B54D58"/>
            </a:solidFill>
            <a:prstDash val="solid"/>
          </a:ln>
        </p:spPr>
      </p:sp>
      <p:sp>
        <p:nvSpPr>
          <p:cNvPr id="38" name="p17-auth-accent">
            <a:extLst xmlns:a="http://schemas.openxmlformats.org/drawingml/2006/main">
              <a:ext uri="{FF2B5EF4-FFF2-40B4-BE49-F238E27FC236}">
                <a16:creationId xmlns:a16="http://schemas.microsoft.com/office/drawing/2014/main" id="{B8F3F6E2-BC38-4337-BD82-2B50AA72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53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39" name="p17-auth-text">
            <a:extLst xmlns:a="http://schemas.openxmlformats.org/drawingml/2006/main">
              <a:ext uri="{FF2B5EF4-FFF2-40B4-BE49-F238E27FC236}">
                <a16:creationId xmlns:a16="http://schemas.microsoft.com/office/drawing/2014/main" id="{B7F5B824-4013-4C6E-BDB9-78D816FE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보안 경계 · 화면에서 메뉴를 숨기는 것은 편의 기능입니다. 실제 관리자 기능은 서버의 관리자 역할 검사를 통과해야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1146300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18-rail">
            <a:extLst xmlns:a="http://schemas.openxmlformats.org/drawingml/2006/main">
              <a:ext uri="{FF2B5EF4-FFF2-40B4-BE49-F238E27FC236}">
                <a16:creationId xmlns:a16="http://schemas.microsoft.com/office/drawing/2014/main" id="{629E2DDF-964E-46C5-A2B6-D0675DAE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2" name="page-18-chapter">
            <a:extLst xmlns:a="http://schemas.openxmlformats.org/drawingml/2006/main">
              <a:ext uri="{FF2B5EF4-FFF2-40B4-BE49-F238E27FC236}">
                <a16:creationId xmlns:a16="http://schemas.microsoft.com/office/drawing/2014/main" id="{3C0175F0-9938-4AEE-9E73-653EB6D6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05 · MENU MAP · 1/3</a:t>
            </a:r>
          </a:p>
        </p:txBody>
      </p:sp>
      <p:sp>
        <p:nvSpPr>
          <p:cNvPr id="3" name="page-18-title">
            <a:extLst xmlns:a="http://schemas.openxmlformats.org/drawingml/2006/main">
              <a:ext uri="{FF2B5EF4-FFF2-40B4-BE49-F238E27FC236}">
                <a16:creationId xmlns:a16="http://schemas.microsoft.com/office/drawing/2014/main" id="{ED8A4B37-3AE9-41EE-81FC-C1CDEEF8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범위와 4단계 모델 작업을 준비합니다</a:t>
            </a:r>
          </a:p>
        </p:txBody>
      </p:sp>
      <p:sp>
        <p:nvSpPr>
          <p:cNvPr id="4" name="page-18-subtitle">
            <a:extLst xmlns:a="http://schemas.openxmlformats.org/drawingml/2006/main">
              <a:ext uri="{FF2B5EF4-FFF2-40B4-BE49-F238E27FC236}">
                <a16:creationId xmlns:a16="http://schemas.microsoft.com/office/drawing/2014/main" id="{DCF216E4-2B46-45D9-8DC1-326CF40A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프로젝트·시나리오·대상 데이터 준비에서 규칙 발굴 4단계 Job 설정까지의 메뉴입니다.</a:t>
            </a:r>
          </a:p>
        </p:txBody>
      </p:sp>
      <p:sp>
        <p:nvSpPr>
          <p:cNvPr id="5" name="page-18-top-rule">
            <a:extLst xmlns:a="http://schemas.openxmlformats.org/drawingml/2006/main">
              <a:ext uri="{FF2B5EF4-FFF2-40B4-BE49-F238E27FC236}">
                <a16:creationId xmlns:a16="http://schemas.microsoft.com/office/drawing/2014/main" id="{A98A97F3-F2EF-4A16-9D61-3012B710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8-footer-rule">
            <a:extLst xmlns:a="http://schemas.openxmlformats.org/drawingml/2006/main">
              <a:ext uri="{FF2B5EF4-FFF2-40B4-BE49-F238E27FC236}">
                <a16:creationId xmlns:a16="http://schemas.microsoft.com/office/drawing/2014/main" id="{BC450276-E54C-42AA-870C-B5D5DB9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8-footer-name">
            <a:extLst xmlns:a="http://schemas.openxmlformats.org/drawingml/2006/main">
              <a:ext uri="{FF2B5EF4-FFF2-40B4-BE49-F238E27FC236}">
                <a16:creationId xmlns:a16="http://schemas.microsoft.com/office/drawing/2014/main" id="{2213E7E6-581B-4B41-B591-0A2B037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8-footer-number">
            <a:extLst xmlns:a="http://schemas.openxmlformats.org/drawingml/2006/main">
              <a:ext uri="{FF2B5EF4-FFF2-40B4-BE49-F238E27FC236}">
                <a16:creationId xmlns:a16="http://schemas.microsoft.com/office/drawing/2014/main" id="{8CDE3E92-A984-4F02-8D0E-20EACBF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F6FB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9" name="p18-menu-0-row">
            <a:extLst xmlns:a="http://schemas.openxmlformats.org/drawingml/2006/main">
              <a:ext uri="{FF2B5EF4-FFF2-40B4-BE49-F238E27FC236}">
                <a16:creationId xmlns:a16="http://schemas.microsoft.com/office/drawing/2014/main" id="{B6FBE1EE-64FF-496B-91B7-56A29FC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p18-menu-0-code">
            <a:extLst xmlns:a="http://schemas.openxmlformats.org/drawingml/2006/main">
              <a:ext uri="{FF2B5EF4-FFF2-40B4-BE49-F238E27FC236}">
                <a16:creationId xmlns:a16="http://schemas.microsoft.com/office/drawing/2014/main" id="{3B4F1E92-C8FE-493A-9992-C3B80AB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M01001</a:t>
            </a:r>
          </a:p>
        </p:txBody>
      </p:sp>
      <p:sp>
        <p:nvSpPr>
          <p:cNvPr id="11" name="p18-menu-0-title">
            <a:extLst xmlns:a="http://schemas.openxmlformats.org/drawingml/2006/main">
              <a:ext uri="{FF2B5EF4-FFF2-40B4-BE49-F238E27FC236}">
                <a16:creationId xmlns:a16="http://schemas.microsoft.com/office/drawing/2014/main" id="{06A3E548-53AA-4C50-9193-D3ED4161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57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프로젝트 설정</a:t>
            </a:r>
          </a:p>
        </p:txBody>
      </p:sp>
      <p:sp>
        <p:nvSpPr>
          <p:cNvPr id="12" name="p18-menu-0-desc">
            <a:extLst xmlns:a="http://schemas.openxmlformats.org/drawingml/2006/main">
              <a:ext uri="{FF2B5EF4-FFF2-40B4-BE49-F238E27FC236}">
                <a16:creationId xmlns:a16="http://schemas.microsoft.com/office/drawing/2014/main" id="{4A735F47-DF73-44CD-B7B0-C3B01C97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데이터 에디팅 업무의 최상위 범위를 등록·조회·수정합니다.</a:t>
            </a:r>
          </a:p>
        </p:txBody>
      </p:sp>
      <p:sp>
        <p:nvSpPr>
          <p:cNvPr id="13" name="p18-menu-1-row">
            <a:extLst xmlns:a="http://schemas.openxmlformats.org/drawingml/2006/main">
              <a:ext uri="{FF2B5EF4-FFF2-40B4-BE49-F238E27FC236}">
                <a16:creationId xmlns:a16="http://schemas.microsoft.com/office/drawing/2014/main" id="{8B085FB1-B98D-4943-86D2-90E15EBD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p18-menu-1-code">
            <a:extLst xmlns:a="http://schemas.openxmlformats.org/drawingml/2006/main">
              <a:ext uri="{FF2B5EF4-FFF2-40B4-BE49-F238E27FC236}">
                <a16:creationId xmlns:a16="http://schemas.microsoft.com/office/drawing/2014/main" id="{93B18CAF-8BBB-428C-9CED-1F75E90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M01002</a:t>
            </a:r>
          </a:p>
        </p:txBody>
      </p:sp>
      <p:sp>
        <p:nvSpPr>
          <p:cNvPr id="15" name="p18-menu-1-title">
            <a:extLst xmlns:a="http://schemas.openxmlformats.org/drawingml/2006/main">
              <a:ext uri="{FF2B5EF4-FFF2-40B4-BE49-F238E27FC236}">
                <a16:creationId xmlns:a16="http://schemas.microsoft.com/office/drawing/2014/main" id="{61A2B0EA-8BFF-4AFD-BD5D-E899A8C9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시나리오 정의</a:t>
            </a:r>
          </a:p>
        </p:txBody>
      </p:sp>
      <p:sp>
        <p:nvSpPr>
          <p:cNvPr id="16" name="p18-menu-1-desc">
            <a:extLst xmlns:a="http://schemas.openxmlformats.org/drawingml/2006/main">
              <a:ext uri="{FF2B5EF4-FFF2-40B4-BE49-F238E27FC236}">
                <a16:creationId xmlns:a16="http://schemas.microsoft.com/office/drawing/2014/main" id="{20FCD679-CB8A-4A89-9DDD-C8E5BE8D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766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 안의 실행 목적·설명·기준을 관리합니다.</a:t>
            </a:r>
          </a:p>
        </p:txBody>
      </p:sp>
      <p:sp>
        <p:nvSpPr>
          <p:cNvPr id="17" name="p18-menu-2-row">
            <a:extLst xmlns:a="http://schemas.openxmlformats.org/drawingml/2006/main">
              <a:ext uri="{FF2B5EF4-FFF2-40B4-BE49-F238E27FC236}">
                <a16:creationId xmlns:a16="http://schemas.microsoft.com/office/drawing/2014/main" id="{CDC7860D-7993-4F43-84D1-80FF947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p18-menu-2-code">
            <a:extLst xmlns:a="http://schemas.openxmlformats.org/drawingml/2006/main">
              <a:ext uri="{FF2B5EF4-FFF2-40B4-BE49-F238E27FC236}">
                <a16:creationId xmlns:a16="http://schemas.microsoft.com/office/drawing/2014/main" id="{138E4D9D-2D24-4C86-A644-641E9A3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M02001</a:t>
            </a:r>
          </a:p>
        </p:txBody>
      </p:sp>
      <p:sp>
        <p:nvSpPr>
          <p:cNvPr id="19" name="p18-menu-2-title">
            <a:extLst xmlns:a="http://schemas.openxmlformats.org/drawingml/2006/main">
              <a:ext uri="{FF2B5EF4-FFF2-40B4-BE49-F238E27FC236}">
                <a16:creationId xmlns:a16="http://schemas.microsoft.com/office/drawing/2014/main" id="{47FF4FEA-B11D-4622-B2F5-01F666F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파일 업로드 관리</a:t>
            </a:r>
          </a:p>
        </p:txBody>
      </p:sp>
      <p:sp>
        <p:nvSpPr>
          <p:cNvPr id="20" name="p18-menu-2-desc">
            <a:extLst xmlns:a="http://schemas.openxmlformats.org/drawingml/2006/main">
              <a:ext uri="{FF2B5EF4-FFF2-40B4-BE49-F238E27FC236}">
                <a16:creationId xmlns:a16="http://schemas.microsoft.com/office/drawing/2014/main" id="{11C6537E-F9D2-4229-BD17-74F45153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CSV·Excel을 Target DB 작업 테이블로 적재하고 구조를 확인합니다.</a:t>
            </a:r>
          </a:p>
        </p:txBody>
      </p:sp>
      <p:sp>
        <p:nvSpPr>
          <p:cNvPr id="21" name="p18-menu-3-row">
            <a:extLst xmlns:a="http://schemas.openxmlformats.org/drawingml/2006/main">
              <a:ext uri="{FF2B5EF4-FFF2-40B4-BE49-F238E27FC236}">
                <a16:creationId xmlns:a16="http://schemas.microsoft.com/office/drawing/2014/main" id="{A0DD45B7-BC00-4C09-A2E0-250957D0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p18-menu-3-code">
            <a:extLst xmlns:a="http://schemas.openxmlformats.org/drawingml/2006/main">
              <a:ext uri="{FF2B5EF4-FFF2-40B4-BE49-F238E27FC236}">
                <a16:creationId xmlns:a16="http://schemas.microsoft.com/office/drawing/2014/main" id="{B0EC188A-CD9A-4B9F-B5E0-3F6A2C0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M02002</a:t>
            </a:r>
          </a:p>
        </p:txBody>
      </p:sp>
      <p:sp>
        <p:nvSpPr>
          <p:cNvPr id="23" name="p18-menu-3-title">
            <a:extLst xmlns:a="http://schemas.openxmlformats.org/drawingml/2006/main">
              <a:ext uri="{FF2B5EF4-FFF2-40B4-BE49-F238E27FC236}">
                <a16:creationId xmlns:a16="http://schemas.microsoft.com/office/drawing/2014/main" id="{EB465CB5-DD7C-4873-B55B-FDB6FD63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72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대상 테이블 선정</a:t>
            </a:r>
          </a:p>
        </p:txBody>
      </p:sp>
      <p:sp>
        <p:nvSpPr>
          <p:cNvPr id="24" name="p18-menu-3-desc">
            <a:extLst xmlns:a="http://schemas.openxmlformats.org/drawingml/2006/main">
              <a:ext uri="{FF2B5EF4-FFF2-40B4-BE49-F238E27FC236}">
                <a16:creationId xmlns:a16="http://schemas.microsoft.com/office/drawing/2014/main" id="{82324D65-0A77-4D56-8B42-2EBC51A9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530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 DB 테이블을 관리 대상으로 등록하고 기본 Job·Flow를 준비합니다.</a:t>
            </a:r>
          </a:p>
        </p:txBody>
      </p:sp>
      <p:sp>
        <p:nvSpPr>
          <p:cNvPr id="25" name="p18-menu-4-row">
            <a:extLst xmlns:a="http://schemas.openxmlformats.org/drawingml/2006/main">
              <a:ext uri="{FF2B5EF4-FFF2-40B4-BE49-F238E27FC236}">
                <a16:creationId xmlns:a16="http://schemas.microsoft.com/office/drawing/2014/main" id="{DCEA8DB3-0EB7-46F1-8A27-49566782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p18-menu-4-code">
            <a:extLst xmlns:a="http://schemas.openxmlformats.org/drawingml/2006/main">
              <a:ext uri="{FF2B5EF4-FFF2-40B4-BE49-F238E27FC236}">
                <a16:creationId xmlns:a16="http://schemas.microsoft.com/office/drawing/2014/main" id="{03649B65-BF27-4B7E-A1F5-08F2A4C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M03001</a:t>
            </a:r>
          </a:p>
        </p:txBody>
      </p:sp>
      <p:sp>
        <p:nvSpPr>
          <p:cNvPr id="27" name="p18-menu-4-title">
            <a:extLst xmlns:a="http://schemas.openxmlformats.org/drawingml/2006/main">
              <a:ext uri="{FF2B5EF4-FFF2-40B4-BE49-F238E27FC236}">
                <a16:creationId xmlns:a16="http://schemas.microsoft.com/office/drawing/2014/main" id="{F4967E53-8498-422F-950F-26FE34D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10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유형 분석</a:t>
            </a:r>
          </a:p>
        </p:txBody>
      </p:sp>
      <p:sp>
        <p:nvSpPr>
          <p:cNvPr id="28" name="p18-menu-4-desc">
            <a:extLst xmlns:a="http://schemas.openxmlformats.org/drawingml/2006/main">
              <a:ext uri="{FF2B5EF4-FFF2-40B4-BE49-F238E27FC236}">
                <a16:creationId xmlns:a16="http://schemas.microsoft.com/office/drawing/2014/main" id="{E2E98561-D7F5-4971-AE88-A2654E7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912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RULE·MODEL·FINAL과 사용자 확정 최종 유형을 구분합니다.</a:t>
            </a:r>
          </a:p>
        </p:txBody>
      </p:sp>
      <p:sp>
        <p:nvSpPr>
          <p:cNvPr id="29" name="p18-menu-5-row">
            <a:extLst xmlns:a="http://schemas.openxmlformats.org/drawingml/2006/main">
              <a:ext uri="{FF2B5EF4-FFF2-40B4-BE49-F238E27FC236}">
                <a16:creationId xmlns:a16="http://schemas.microsoft.com/office/drawing/2014/main" id="{35CDDE70-E846-477B-B8D1-F55BAAF1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056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p18-menu-5-code">
            <a:extLst xmlns:a="http://schemas.openxmlformats.org/drawingml/2006/main">
              <a:ext uri="{FF2B5EF4-FFF2-40B4-BE49-F238E27FC236}">
                <a16:creationId xmlns:a16="http://schemas.microsoft.com/office/drawing/2014/main" id="{046877E3-E77C-45B6-819B-8A99DCCE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M03002</a:t>
            </a:r>
          </a:p>
        </p:txBody>
      </p:sp>
      <p:sp>
        <p:nvSpPr>
          <p:cNvPr id="31" name="p18-menu-5-title">
            <a:extLst xmlns:a="http://schemas.openxmlformats.org/drawingml/2006/main">
              <a:ext uri="{FF2B5EF4-FFF2-40B4-BE49-F238E27FC236}">
                <a16:creationId xmlns:a16="http://schemas.microsoft.com/office/drawing/2014/main" id="{337B421A-055F-43F7-9F6E-8AD9ABEB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848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컬럼 상관 분석</a:t>
            </a:r>
          </a:p>
        </p:txBody>
      </p:sp>
      <p:sp>
        <p:nvSpPr>
          <p:cNvPr id="32" name="p18-menu-5-desc">
            <a:extLst xmlns:a="http://schemas.openxmlformats.org/drawingml/2006/main">
              <a:ext uri="{FF2B5EF4-FFF2-40B4-BE49-F238E27FC236}">
                <a16:creationId xmlns:a16="http://schemas.microsoft.com/office/drawing/2014/main" id="{820C1CEC-3EB2-4240-8B3B-F0BD18DE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8294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유형별 지표, 관계 매트릭스, 네트워크와 군집을 생성합니다.</a:t>
            </a:r>
          </a:p>
        </p:txBody>
      </p:sp>
      <p:sp>
        <p:nvSpPr>
          <p:cNvPr id="33" name="p18-menu-6-row">
            <a:extLst xmlns:a="http://schemas.openxmlformats.org/drawingml/2006/main">
              <a:ext uri="{FF2B5EF4-FFF2-40B4-BE49-F238E27FC236}">
                <a16:creationId xmlns:a16="http://schemas.microsoft.com/office/drawing/2014/main" id="{7C1AC6FB-625A-4B03-8AB8-C718F6E5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438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p18-menu-6-code">
            <a:extLst xmlns:a="http://schemas.openxmlformats.org/drawingml/2006/main">
              <a:ext uri="{FF2B5EF4-FFF2-40B4-BE49-F238E27FC236}">
                <a16:creationId xmlns:a16="http://schemas.microsoft.com/office/drawing/2014/main" id="{D6F6CE7C-7AFB-47A9-9D05-5AA4862A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M03003</a:t>
            </a:r>
          </a:p>
        </p:txBody>
      </p:sp>
      <p:sp>
        <p:nvSpPr>
          <p:cNvPr id="35" name="p18-menu-6-title">
            <a:extLst xmlns:a="http://schemas.openxmlformats.org/drawingml/2006/main">
              <a:ext uri="{FF2B5EF4-FFF2-40B4-BE49-F238E27FC236}">
                <a16:creationId xmlns:a16="http://schemas.microsoft.com/office/drawing/2014/main" id="{0B24BAC9-8EE7-4478-B6DB-9AC07747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686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자동 규칙 발굴</a:t>
            </a:r>
          </a:p>
        </p:txBody>
      </p:sp>
      <p:sp>
        <p:nvSpPr>
          <p:cNvPr id="36" name="p18-menu-6-desc">
            <a:extLst xmlns:a="http://schemas.openxmlformats.org/drawingml/2006/main">
              <a:ext uri="{FF2B5EF4-FFF2-40B4-BE49-F238E27FC236}">
                <a16:creationId xmlns:a16="http://schemas.microsoft.com/office/drawing/2014/main" id="{13AD8818-B94F-4CFB-9A0A-8FAB9D48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6676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Apriori와 LASSO·Symbolic 규칙 후보를 발굴합니다.</a:t>
            </a:r>
          </a:p>
        </p:txBody>
      </p:sp>
      <p:sp>
        <p:nvSpPr>
          <p:cNvPr id="37" name="p18-menu-7-row">
            <a:extLst xmlns:a="http://schemas.openxmlformats.org/drawingml/2006/main">
              <a:ext uri="{FF2B5EF4-FFF2-40B4-BE49-F238E27FC236}">
                <a16:creationId xmlns:a16="http://schemas.microsoft.com/office/drawing/2014/main" id="{A1C23CA5-86DB-475A-AB99-B9F8C8B4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p18-menu-7-code">
            <a:extLst xmlns:a="http://schemas.openxmlformats.org/drawingml/2006/main">
              <a:ext uri="{FF2B5EF4-FFF2-40B4-BE49-F238E27FC236}">
                <a16:creationId xmlns:a16="http://schemas.microsoft.com/office/drawing/2014/main" id="{9AA1FFA7-95F8-4C99-A2A0-E4C47D1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53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M03004</a:t>
            </a:r>
          </a:p>
        </p:txBody>
      </p:sp>
      <p:sp>
        <p:nvSpPr>
          <p:cNvPr id="39" name="p18-menu-7-title">
            <a:extLst xmlns:a="http://schemas.openxmlformats.org/drawingml/2006/main">
              <a:ext uri="{FF2B5EF4-FFF2-40B4-BE49-F238E27FC236}">
                <a16:creationId xmlns:a16="http://schemas.microsoft.com/office/drawing/2014/main" id="{10D62A76-590D-4DBF-90D5-81C3968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524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위반 탐지</a:t>
            </a:r>
          </a:p>
        </p:txBody>
      </p:sp>
      <p:sp>
        <p:nvSpPr>
          <p:cNvPr id="40" name="p18-menu-7-desc">
            <a:extLst xmlns:a="http://schemas.openxmlformats.org/drawingml/2006/main">
              <a:ext uri="{FF2B5EF4-FFF2-40B4-BE49-F238E27FC236}">
                <a16:creationId xmlns:a16="http://schemas.microsoft.com/office/drawing/2014/main" id="{3A256BB4-671F-422A-A9B8-DC8E534E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5058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범주형·연속형 규칙의 위반 후보와 상세 행을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7600781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19-rail">
            <a:extLst xmlns:a="http://schemas.openxmlformats.org/drawingml/2006/main">
              <a:ext uri="{FF2B5EF4-FFF2-40B4-BE49-F238E27FC236}">
                <a16:creationId xmlns:a16="http://schemas.microsoft.com/office/drawing/2014/main" id="{D336D6FA-C5E5-4B58-9681-BD6C517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" name="page-19-chapter">
            <a:extLst xmlns:a="http://schemas.openxmlformats.org/drawingml/2006/main">
              <a:ext uri="{FF2B5EF4-FFF2-40B4-BE49-F238E27FC236}">
                <a16:creationId xmlns:a16="http://schemas.microsoft.com/office/drawing/2014/main" id="{BAB35460-5977-4C72-84BC-805B25B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05 · MENU MAP · 2/3</a:t>
            </a:r>
          </a:p>
        </p:txBody>
      </p:sp>
      <p:sp>
        <p:nvSpPr>
          <p:cNvPr id="3" name="page-19-title">
            <a:extLst xmlns:a="http://schemas.openxmlformats.org/drawingml/2006/main">
              <a:ext uri="{FF2B5EF4-FFF2-40B4-BE49-F238E27FC236}">
                <a16:creationId xmlns:a16="http://schemas.microsoft.com/office/drawing/2014/main" id="{CFC5E914-2C29-45C3-A540-10236E8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결과를 결정·수정·보고로 연결합니다</a:t>
            </a:r>
          </a:p>
        </p:txBody>
      </p:sp>
      <p:sp>
        <p:nvSpPr>
          <p:cNvPr id="4" name="page-19-subtitle">
            <a:extLst xmlns:a="http://schemas.openxmlformats.org/drawingml/2006/main">
              <a:ext uri="{FF2B5EF4-FFF2-40B4-BE49-F238E27FC236}">
                <a16:creationId xmlns:a16="http://schemas.microsoft.com/office/drawing/2014/main" id="{843CE444-460D-4426-95A7-E8A9164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실행과 결과 분석, 규칙 결정, 편집, 운영 반영과 보고서 메뉴입니다.</a:t>
            </a:r>
          </a:p>
        </p:txBody>
      </p:sp>
      <p:sp>
        <p:nvSpPr>
          <p:cNvPr id="5" name="page-19-top-rule">
            <a:extLst xmlns:a="http://schemas.openxmlformats.org/drawingml/2006/main">
              <a:ext uri="{FF2B5EF4-FFF2-40B4-BE49-F238E27FC236}">
                <a16:creationId xmlns:a16="http://schemas.microsoft.com/office/drawing/2014/main" id="{015130FA-EB45-4A8F-886A-D5F410FE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19-footer-rule">
            <a:extLst xmlns:a="http://schemas.openxmlformats.org/drawingml/2006/main">
              <a:ext uri="{FF2B5EF4-FFF2-40B4-BE49-F238E27FC236}">
                <a16:creationId xmlns:a16="http://schemas.microsoft.com/office/drawing/2014/main" id="{739B29FF-1D7B-4148-AC70-08BB037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19-footer-name">
            <a:extLst xmlns:a="http://schemas.openxmlformats.org/drawingml/2006/main">
              <a:ext uri="{FF2B5EF4-FFF2-40B4-BE49-F238E27FC236}">
                <a16:creationId xmlns:a16="http://schemas.microsoft.com/office/drawing/2014/main" id="{D1E0A295-C7E5-412F-85EA-5A908529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19-footer-number">
            <a:extLst xmlns:a="http://schemas.openxmlformats.org/drawingml/2006/main">
              <a:ext uri="{FF2B5EF4-FFF2-40B4-BE49-F238E27FC236}">
                <a16:creationId xmlns:a16="http://schemas.microsoft.com/office/drawing/2014/main" id="{ED730D9E-E2F1-45A3-9D91-475063C9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9731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9" name="p19-menu-0-row">
            <a:extLst xmlns:a="http://schemas.openxmlformats.org/drawingml/2006/main">
              <a:ext uri="{FF2B5EF4-FFF2-40B4-BE49-F238E27FC236}">
                <a16:creationId xmlns:a16="http://schemas.microsoft.com/office/drawing/2014/main" id="{DCA01462-691F-4548-B541-C05C7482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p19-menu-0-code">
            <a:extLst xmlns:a="http://schemas.openxmlformats.org/drawingml/2006/main">
              <a:ext uri="{FF2B5EF4-FFF2-40B4-BE49-F238E27FC236}">
                <a16:creationId xmlns:a16="http://schemas.microsoft.com/office/drawing/2014/main" id="{578AFB3A-542F-40CF-A598-1DB25CE7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M04001</a:t>
            </a:r>
          </a:p>
        </p:txBody>
      </p:sp>
      <p:sp>
        <p:nvSpPr>
          <p:cNvPr id="11" name="p19-menu-0-title">
            <a:extLst xmlns:a="http://schemas.openxmlformats.org/drawingml/2006/main">
              <a:ext uri="{FF2B5EF4-FFF2-40B4-BE49-F238E27FC236}">
                <a16:creationId xmlns:a16="http://schemas.microsoft.com/office/drawing/2014/main" id="{8BACBA5E-905D-4017-ADCE-68EA84A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발굴 실행</a:t>
            </a:r>
          </a:p>
        </p:txBody>
      </p:sp>
      <p:sp>
        <p:nvSpPr>
          <p:cNvPr id="12" name="p19-menu-0-desc">
            <a:extLst xmlns:a="http://schemas.openxmlformats.org/drawingml/2006/main">
              <a:ext uri="{FF2B5EF4-FFF2-40B4-BE49-F238E27FC236}">
                <a16:creationId xmlns:a16="http://schemas.microsoft.com/office/drawing/2014/main" id="{F22855C3-2831-45D4-85BE-B68D8D7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95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Job을 DAG로 연결해 통합 Flow를 설계·검증·실행합니다.</a:t>
            </a:r>
          </a:p>
        </p:txBody>
      </p:sp>
      <p:sp>
        <p:nvSpPr>
          <p:cNvPr id="13" name="p19-menu-1-row">
            <a:extLst xmlns:a="http://schemas.openxmlformats.org/drawingml/2006/main">
              <a:ext uri="{FF2B5EF4-FFF2-40B4-BE49-F238E27FC236}">
                <a16:creationId xmlns:a16="http://schemas.microsoft.com/office/drawing/2014/main" id="{740CDEAE-73C5-446F-8E3D-D3A588C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p19-menu-1-code">
            <a:extLst xmlns:a="http://schemas.openxmlformats.org/drawingml/2006/main">
              <a:ext uri="{FF2B5EF4-FFF2-40B4-BE49-F238E27FC236}">
                <a16:creationId xmlns:a16="http://schemas.microsoft.com/office/drawing/2014/main" id="{8068FE7D-35DF-492C-A212-6D1D5C9A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M04002</a:t>
            </a:r>
          </a:p>
        </p:txBody>
      </p:sp>
      <p:sp>
        <p:nvSpPr>
          <p:cNvPr id="15" name="p19-menu-1-title">
            <a:extLst xmlns:a="http://schemas.openxmlformats.org/drawingml/2006/main">
              <a:ext uri="{FF2B5EF4-FFF2-40B4-BE49-F238E27FC236}">
                <a16:creationId xmlns:a16="http://schemas.microsoft.com/office/drawing/2014/main" id="{667809F1-E5A2-4137-B000-F24DEC02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57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규칙 발굴 분석</a:t>
            </a:r>
          </a:p>
        </p:txBody>
      </p:sp>
      <p:sp>
        <p:nvSpPr>
          <p:cNvPr id="16" name="p19-menu-1-desc">
            <a:extLst xmlns:a="http://schemas.openxmlformats.org/drawingml/2006/main">
              <a:ext uri="{FF2B5EF4-FFF2-40B4-BE49-F238E27FC236}">
                <a16:creationId xmlns:a16="http://schemas.microsoft.com/office/drawing/2014/main" id="{C6325A6B-5212-4869-812E-D5D9F379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Run의 4단계 결과와 실제 실행 맥락을 해석합니다.</a:t>
            </a:r>
          </a:p>
        </p:txBody>
      </p:sp>
      <p:sp>
        <p:nvSpPr>
          <p:cNvPr id="17" name="p19-menu-2-row">
            <a:extLst xmlns:a="http://schemas.openxmlformats.org/drawingml/2006/main">
              <a:ext uri="{FF2B5EF4-FFF2-40B4-BE49-F238E27FC236}">
                <a16:creationId xmlns:a16="http://schemas.microsoft.com/office/drawing/2014/main" id="{D68C1597-4F93-456D-BA44-0B8FF3E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p19-menu-2-code">
            <a:extLst xmlns:a="http://schemas.openxmlformats.org/drawingml/2006/main">
              <a:ext uri="{FF2B5EF4-FFF2-40B4-BE49-F238E27FC236}">
                <a16:creationId xmlns:a16="http://schemas.microsoft.com/office/drawing/2014/main" id="{0AE2F48A-CC9A-454C-B021-0D264B9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M05001</a:t>
            </a:r>
          </a:p>
        </p:txBody>
      </p:sp>
      <p:sp>
        <p:nvSpPr>
          <p:cNvPr id="19" name="p19-menu-2-title">
            <a:extLst xmlns:a="http://schemas.openxmlformats.org/drawingml/2006/main">
              <a:ext uri="{FF2B5EF4-FFF2-40B4-BE49-F238E27FC236}">
                <a16:creationId xmlns:a16="http://schemas.microsoft.com/office/drawing/2014/main" id="{D547C926-CB4C-4418-A3FA-FE552C9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00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규칙 관리</a:t>
            </a:r>
          </a:p>
        </p:txBody>
      </p:sp>
      <p:sp>
        <p:nvSpPr>
          <p:cNvPr id="20" name="p19-menu-2-desc">
            <a:extLst xmlns:a="http://schemas.openxmlformats.org/drawingml/2006/main">
              <a:ext uri="{FF2B5EF4-FFF2-40B4-BE49-F238E27FC236}">
                <a16:creationId xmlns:a16="http://schemas.microsoft.com/office/drawing/2014/main" id="{8A4DC529-1B79-4FFD-9599-C52EA4DC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815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발굴 후보를 선정·제외하고 최종·사용자 규칙을 관리합니다.</a:t>
            </a:r>
          </a:p>
        </p:txBody>
      </p:sp>
      <p:sp>
        <p:nvSpPr>
          <p:cNvPr id="21" name="p19-menu-3-row">
            <a:extLst xmlns:a="http://schemas.openxmlformats.org/drawingml/2006/main">
              <a:ext uri="{FF2B5EF4-FFF2-40B4-BE49-F238E27FC236}">
                <a16:creationId xmlns:a16="http://schemas.microsoft.com/office/drawing/2014/main" id="{A57E47DA-1C16-4F54-BC73-DA071505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p19-menu-3-code">
            <a:extLst xmlns:a="http://schemas.openxmlformats.org/drawingml/2006/main">
              <a:ext uri="{FF2B5EF4-FFF2-40B4-BE49-F238E27FC236}">
                <a16:creationId xmlns:a16="http://schemas.microsoft.com/office/drawing/2014/main" id="{09541A08-3327-4EA6-A349-3D93F92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M05002</a:t>
            </a:r>
          </a:p>
        </p:txBody>
      </p:sp>
      <p:sp>
        <p:nvSpPr>
          <p:cNvPr id="23" name="p19-menu-3-title">
            <a:extLst xmlns:a="http://schemas.openxmlformats.org/drawingml/2006/main">
              <a:ext uri="{FF2B5EF4-FFF2-40B4-BE49-F238E27FC236}">
                <a16:creationId xmlns:a16="http://schemas.microsoft.com/office/drawing/2014/main" id="{66DA0BED-B7CE-4509-97A4-FC628F33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오류 수정</a:t>
            </a:r>
          </a:p>
        </p:txBody>
      </p:sp>
      <p:sp>
        <p:nvSpPr>
          <p:cNvPr id="24" name="p19-menu-3-desc">
            <a:extLst xmlns:a="http://schemas.openxmlformats.org/drawingml/2006/main">
              <a:ext uri="{FF2B5EF4-FFF2-40B4-BE49-F238E27FC236}">
                <a16:creationId xmlns:a16="http://schemas.microsoft.com/office/drawing/2014/main" id="{FF509F16-D813-4008-BD97-628D922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24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활성 규칙으로 기준본을 검사하고 편집본의 오류 값을 수정합니다.</a:t>
            </a:r>
          </a:p>
        </p:txBody>
      </p:sp>
      <p:sp>
        <p:nvSpPr>
          <p:cNvPr id="25" name="p19-menu-4-row">
            <a:extLst xmlns:a="http://schemas.openxmlformats.org/drawingml/2006/main">
              <a:ext uri="{FF2B5EF4-FFF2-40B4-BE49-F238E27FC236}">
                <a16:creationId xmlns:a16="http://schemas.microsoft.com/office/drawing/2014/main" id="{6D15958C-FE94-4E86-AE19-14FBA31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p19-menu-4-code">
            <a:extLst xmlns:a="http://schemas.openxmlformats.org/drawingml/2006/main">
              <a:ext uri="{FF2B5EF4-FFF2-40B4-BE49-F238E27FC236}">
                <a16:creationId xmlns:a16="http://schemas.microsoft.com/office/drawing/2014/main" id="{6BD4C359-66E4-4E84-AF24-B71F9DD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151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M05003</a:t>
            </a:r>
          </a:p>
        </p:txBody>
      </p:sp>
      <p:sp>
        <p:nvSpPr>
          <p:cNvPr id="27" name="p19-menu-4-title">
            <a:extLst xmlns:a="http://schemas.openxmlformats.org/drawingml/2006/main">
              <a:ext uri="{FF2B5EF4-FFF2-40B4-BE49-F238E27FC236}">
                <a16:creationId xmlns:a16="http://schemas.microsoft.com/office/drawing/2014/main" id="{F55DF9C5-A999-4372-8B9C-C7AF971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486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에디팅 운영 반영</a:t>
            </a:r>
          </a:p>
        </p:txBody>
      </p:sp>
      <p:sp>
        <p:nvSpPr>
          <p:cNvPr id="28" name="p19-menu-4-desc">
            <a:extLst xmlns:a="http://schemas.openxmlformats.org/drawingml/2006/main">
              <a:ext uri="{FF2B5EF4-FFF2-40B4-BE49-F238E27FC236}">
                <a16:creationId xmlns:a16="http://schemas.microsoft.com/office/drawing/2014/main" id="{96B9449B-1931-4EBD-BC09-027280DC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4674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 효과, 버전 DML, 실행과 감사 이력을 관리합니다.</a:t>
            </a:r>
          </a:p>
        </p:txBody>
      </p:sp>
      <p:sp>
        <p:nvSpPr>
          <p:cNvPr id="29" name="p19-menu-5-row">
            <a:extLst xmlns:a="http://schemas.openxmlformats.org/drawingml/2006/main">
              <a:ext uri="{FF2B5EF4-FFF2-40B4-BE49-F238E27FC236}">
                <a16:creationId xmlns:a16="http://schemas.microsoft.com/office/drawing/2014/main" id="{596A5B1F-4DA7-4328-9F2C-C0809AFE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866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p19-menu-5-code">
            <a:extLst xmlns:a="http://schemas.openxmlformats.org/drawingml/2006/main">
              <a:ext uri="{FF2B5EF4-FFF2-40B4-BE49-F238E27FC236}">
                <a16:creationId xmlns:a16="http://schemas.microsoft.com/office/drawing/2014/main" id="{8385C521-EA67-483F-8D95-2E2D865F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8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M06001</a:t>
            </a:r>
          </a:p>
        </p:txBody>
      </p:sp>
      <p:sp>
        <p:nvSpPr>
          <p:cNvPr id="31" name="p19-menu-5-title">
            <a:extLst xmlns:a="http://schemas.openxmlformats.org/drawingml/2006/main">
              <a:ext uri="{FF2B5EF4-FFF2-40B4-BE49-F238E27FC236}">
                <a16:creationId xmlns:a16="http://schemas.microsoft.com/office/drawing/2014/main" id="{C8E25077-0834-4A8A-A218-DC26BC7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429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기본형 보고서</a:t>
            </a:r>
          </a:p>
        </p:txBody>
      </p:sp>
      <p:sp>
        <p:nvSpPr>
          <p:cNvPr id="32" name="p19-menu-5-desc">
            <a:extLst xmlns:a="http://schemas.openxmlformats.org/drawingml/2006/main">
              <a:ext uri="{FF2B5EF4-FFF2-40B4-BE49-F238E27FC236}">
                <a16:creationId xmlns:a16="http://schemas.microsoft.com/office/drawing/2014/main" id="{26AA0242-A733-49D0-80E7-FF730DA0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410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설계·분석·에디팅 결과를 고정형·통합 보고서로 제공합니다.</a:t>
            </a:r>
          </a:p>
        </p:txBody>
      </p:sp>
      <p:sp>
        <p:nvSpPr>
          <p:cNvPr id="33" name="p19-menu-6-row">
            <a:extLst xmlns:a="http://schemas.openxmlformats.org/drawingml/2006/main">
              <a:ext uri="{FF2B5EF4-FFF2-40B4-BE49-F238E27FC236}">
                <a16:creationId xmlns:a16="http://schemas.microsoft.com/office/drawing/2014/main" id="{D0421CD9-569E-4E43-81B4-484C3F3F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296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p19-menu-6-code">
            <a:extLst xmlns:a="http://schemas.openxmlformats.org/drawingml/2006/main">
              <a:ext uri="{FF2B5EF4-FFF2-40B4-BE49-F238E27FC236}">
                <a16:creationId xmlns:a16="http://schemas.microsoft.com/office/drawing/2014/main" id="{FE71295C-3AE0-4BDB-9F2A-F41113E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401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M06002</a:t>
            </a:r>
          </a:p>
        </p:txBody>
      </p:sp>
      <p:sp>
        <p:nvSpPr>
          <p:cNvPr id="35" name="p19-menu-6-title">
            <a:extLst xmlns:a="http://schemas.openxmlformats.org/drawingml/2006/main">
              <a:ext uri="{FF2B5EF4-FFF2-40B4-BE49-F238E27FC236}">
                <a16:creationId xmlns:a16="http://schemas.microsoft.com/office/drawing/2014/main" id="{DBCBBA90-C0F5-4344-BEE2-67DE524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372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맞춤형 보고서</a:t>
            </a:r>
          </a:p>
        </p:txBody>
      </p:sp>
      <p:sp>
        <p:nvSpPr>
          <p:cNvPr id="36" name="p19-menu-6-desc">
            <a:extLst xmlns:a="http://schemas.openxmlformats.org/drawingml/2006/main">
              <a:ext uri="{FF2B5EF4-FFF2-40B4-BE49-F238E27FC236}">
                <a16:creationId xmlns:a16="http://schemas.microsoft.com/office/drawing/2014/main" id="{C9FC2BEA-DA63-451C-8757-FCF02B2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3534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보고 블록을 용지와 순서에 맞춰 재사용 가능한 템플릿으로 만듭니다.</a:t>
            </a:r>
          </a:p>
        </p:txBody>
      </p:sp>
      <p:sp>
        <p:nvSpPr>
          <p:cNvPr id="37" name="p19-callout-fill">
            <a:extLst xmlns:a="http://schemas.openxmlformats.org/drawingml/2006/main">
              <a:ext uri="{FF2B5EF4-FFF2-40B4-BE49-F238E27FC236}">
                <a16:creationId xmlns:a16="http://schemas.microsoft.com/office/drawing/2014/main" id="{7A72D465-2A39-4C0E-85A4-5B2292FA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05900"/>
            <a:ext cx="6381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9525">
            <a:solidFill>
              <a:srgbClr val="B97316"/>
            </a:solidFill>
            <a:prstDash val="solid"/>
          </a:ln>
        </p:spPr>
      </p:sp>
      <p:sp>
        <p:nvSpPr>
          <p:cNvPr id="38" name="p19-callout-accent">
            <a:extLst xmlns:a="http://schemas.openxmlformats.org/drawingml/2006/main">
              <a:ext uri="{FF2B5EF4-FFF2-40B4-BE49-F238E27FC236}">
                <a16:creationId xmlns:a16="http://schemas.microsoft.com/office/drawing/2014/main" id="{F84C3056-59E0-481F-810E-1C3B3ABC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059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39" name="p19-callout-text">
            <a:extLst xmlns:a="http://schemas.openxmlformats.org/drawingml/2006/main">
              <a:ext uri="{FF2B5EF4-FFF2-40B4-BE49-F238E27FC236}">
                <a16:creationId xmlns:a16="http://schemas.microsoft.com/office/drawing/2014/main" id="{F728A89B-5D0D-4E50-B77A-A85A6EC5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277350"/>
            <a:ext cx="598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업무 승인·데이터 수정·운영 실행·결과 공유는 서로 다른 메뉴와 이력으로 분리됩니다.</a:t>
            </a:r>
          </a:p>
        </p:txBody>
      </p:sp>
    </p:spTree>
    <p:extLst>
      <p:ext uri="{BB962C8B-B14F-4D97-AF65-F5344CB8AC3E}">
        <p14:creationId xmlns:p14="http://schemas.microsoft.com/office/powerpoint/2010/main" val="15515256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20-rail">
            <a:extLst xmlns:a="http://schemas.openxmlformats.org/drawingml/2006/main">
              <a:ext uri="{FF2B5EF4-FFF2-40B4-BE49-F238E27FC236}">
                <a16:creationId xmlns:a16="http://schemas.microsoft.com/office/drawing/2014/main" id="{7D653387-B8A5-4E9C-AEE6-7C068778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2" name="page-20-chapter">
            <a:extLst xmlns:a="http://schemas.openxmlformats.org/drawingml/2006/main">
              <a:ext uri="{FF2B5EF4-FFF2-40B4-BE49-F238E27FC236}">
                <a16:creationId xmlns:a16="http://schemas.microsoft.com/office/drawing/2014/main" id="{C38077D9-5B4B-4143-A1C8-04B78362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05 · MENU MAP · 3/3</a:t>
            </a:r>
          </a:p>
        </p:txBody>
      </p:sp>
      <p:sp>
        <p:nvSpPr>
          <p:cNvPr id="3" name="page-20-title">
            <a:extLst xmlns:a="http://schemas.openxmlformats.org/drawingml/2006/main">
              <a:ext uri="{FF2B5EF4-FFF2-40B4-BE49-F238E27FC236}">
                <a16:creationId xmlns:a16="http://schemas.microsoft.com/office/drawing/2014/main" id="{C2720A39-4DDD-470A-A60F-21D9C85E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리소스·개인 환경·관리자 기능을 운영합니다</a:t>
            </a:r>
          </a:p>
        </p:txBody>
      </p:sp>
      <p:sp>
        <p:nvSpPr>
          <p:cNvPr id="4" name="page-20-subtitle">
            <a:extLst xmlns:a="http://schemas.openxmlformats.org/drawingml/2006/main">
              <a:ext uri="{FF2B5EF4-FFF2-40B4-BE49-F238E27FC236}">
                <a16:creationId xmlns:a16="http://schemas.microsoft.com/office/drawing/2014/main" id="{5186F52D-CF56-4F23-996A-6F397750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리소스와 모델 학습, 개인 설정, Target DB·시스템·공지 관리 메뉴입니다.</a:t>
            </a:r>
          </a:p>
        </p:txBody>
      </p:sp>
      <p:sp>
        <p:nvSpPr>
          <p:cNvPr id="5" name="page-20-top-rule">
            <a:extLst xmlns:a="http://schemas.openxmlformats.org/drawingml/2006/main">
              <a:ext uri="{FF2B5EF4-FFF2-40B4-BE49-F238E27FC236}">
                <a16:creationId xmlns:a16="http://schemas.microsoft.com/office/drawing/2014/main" id="{0BAE8198-2C33-45D1-BEC8-6A666630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0-footer-rule">
            <a:extLst xmlns:a="http://schemas.openxmlformats.org/drawingml/2006/main">
              <a:ext uri="{FF2B5EF4-FFF2-40B4-BE49-F238E27FC236}">
                <a16:creationId xmlns:a16="http://schemas.microsoft.com/office/drawing/2014/main" id="{8759F32A-86FD-4057-8B6B-01CA973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0-footer-name">
            <a:extLst xmlns:a="http://schemas.openxmlformats.org/drawingml/2006/main">
              <a:ext uri="{FF2B5EF4-FFF2-40B4-BE49-F238E27FC236}">
                <a16:creationId xmlns:a16="http://schemas.microsoft.com/office/drawing/2014/main" id="{AA71DBDE-C516-4297-9F63-60C2E132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0-footer-number">
            <a:extLst xmlns:a="http://schemas.openxmlformats.org/drawingml/2006/main">
              <a:ext uri="{FF2B5EF4-FFF2-40B4-BE49-F238E27FC236}">
                <a16:creationId xmlns:a16="http://schemas.microsoft.com/office/drawing/2014/main" id="{86258D49-00E4-4C06-8D6B-CC78AA8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E62A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9" name="p20-menu-0-row">
            <a:extLst xmlns:a="http://schemas.openxmlformats.org/drawingml/2006/main">
              <a:ext uri="{FF2B5EF4-FFF2-40B4-BE49-F238E27FC236}">
                <a16:creationId xmlns:a16="http://schemas.microsoft.com/office/drawing/2014/main" id="{E482FEE9-0555-469F-AC57-48C9DC95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p20-menu-0-code">
            <a:extLst xmlns:a="http://schemas.openxmlformats.org/drawingml/2006/main">
              <a:ext uri="{FF2B5EF4-FFF2-40B4-BE49-F238E27FC236}">
                <a16:creationId xmlns:a16="http://schemas.microsoft.com/office/drawing/2014/main" id="{BCDAE6CD-7575-4A2D-8D8F-BC90BAD1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M90001</a:t>
            </a:r>
          </a:p>
        </p:txBody>
      </p:sp>
      <p:sp>
        <p:nvSpPr>
          <p:cNvPr id="11" name="p20-menu-0-title">
            <a:extLst xmlns:a="http://schemas.openxmlformats.org/drawingml/2006/main">
              <a:ext uri="{FF2B5EF4-FFF2-40B4-BE49-F238E27FC236}">
                <a16:creationId xmlns:a16="http://schemas.microsoft.com/office/drawing/2014/main" id="{281FCB38-2997-4143-B399-CA1A027F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내부 모델 등록</a:t>
            </a:r>
          </a:p>
        </p:txBody>
      </p:sp>
      <p:sp>
        <p:nvSpPr>
          <p:cNvPr id="12" name="p20-menu-0-desc">
            <a:extLst xmlns:a="http://schemas.openxmlformats.org/drawingml/2006/main">
              <a:ext uri="{FF2B5EF4-FFF2-40B4-BE49-F238E27FC236}">
                <a16:creationId xmlns:a16="http://schemas.microsoft.com/office/drawing/2014/main" id="{F14F4ECC-744D-4C4A-B665-31C1B214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03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 DB 프로시저·패키지·모델 객체를 실행 리소스로 등록합니다.</a:t>
            </a:r>
          </a:p>
        </p:txBody>
      </p:sp>
      <p:sp>
        <p:nvSpPr>
          <p:cNvPr id="13" name="p20-menu-1-row">
            <a:extLst xmlns:a="http://schemas.openxmlformats.org/drawingml/2006/main">
              <a:ext uri="{FF2B5EF4-FFF2-40B4-BE49-F238E27FC236}">
                <a16:creationId xmlns:a16="http://schemas.microsoft.com/office/drawing/2014/main" id="{2F311223-6B4F-4F8E-8B1C-90F6AA9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p20-menu-1-code">
            <a:extLst xmlns:a="http://schemas.openxmlformats.org/drawingml/2006/main">
              <a:ext uri="{FF2B5EF4-FFF2-40B4-BE49-F238E27FC236}">
                <a16:creationId xmlns:a16="http://schemas.microsoft.com/office/drawing/2014/main" id="{F268898D-57BA-49DF-BAFD-6944AA92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M90002</a:t>
            </a:r>
          </a:p>
        </p:txBody>
      </p:sp>
      <p:sp>
        <p:nvSpPr>
          <p:cNvPr id="15" name="p20-menu-1-title">
            <a:extLst xmlns:a="http://schemas.openxmlformats.org/drawingml/2006/main">
              <a:ext uri="{FF2B5EF4-FFF2-40B4-BE49-F238E27FC236}">
                <a16:creationId xmlns:a16="http://schemas.microsoft.com/office/drawing/2014/main" id="{91EA1562-EBE9-4731-B163-A08941C7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71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외부 모델 등록</a:t>
            </a:r>
          </a:p>
        </p:txBody>
      </p:sp>
      <p:sp>
        <p:nvSpPr>
          <p:cNvPr id="16" name="p20-menu-1-desc">
            <a:extLst xmlns:a="http://schemas.openxmlformats.org/drawingml/2006/main">
              <a:ext uri="{FF2B5EF4-FFF2-40B4-BE49-F238E27FC236}">
                <a16:creationId xmlns:a16="http://schemas.microsoft.com/office/drawing/2014/main" id="{72164043-FD1D-421B-B5AD-2D1D488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내부 Python·외부 JSON API·OML 리소스 계약을 관리합니다.</a:t>
            </a:r>
          </a:p>
        </p:txBody>
      </p:sp>
      <p:sp>
        <p:nvSpPr>
          <p:cNvPr id="17" name="p20-menu-2-row">
            <a:extLst xmlns:a="http://schemas.openxmlformats.org/drawingml/2006/main">
              <a:ext uri="{FF2B5EF4-FFF2-40B4-BE49-F238E27FC236}">
                <a16:creationId xmlns:a16="http://schemas.microsoft.com/office/drawing/2014/main" id="{BB8528DF-C465-4806-ACA6-B451A17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p20-menu-2-code">
            <a:extLst xmlns:a="http://schemas.openxmlformats.org/drawingml/2006/main">
              <a:ext uri="{FF2B5EF4-FFF2-40B4-BE49-F238E27FC236}">
                <a16:creationId xmlns:a16="http://schemas.microsoft.com/office/drawing/2014/main" id="{CA6099D4-F619-4B62-8F93-B2F5BE2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M90003</a:t>
            </a:r>
          </a:p>
        </p:txBody>
      </p:sp>
      <p:sp>
        <p:nvSpPr>
          <p:cNvPr id="19" name="p20-menu-2-title">
            <a:extLst xmlns:a="http://schemas.openxmlformats.org/drawingml/2006/main">
              <a:ext uri="{FF2B5EF4-FFF2-40B4-BE49-F238E27FC236}">
                <a16:creationId xmlns:a16="http://schemas.microsoft.com/office/drawing/2014/main" id="{47CEDE4E-5BD4-472E-BBE3-2B0774E3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24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모델 학습 관리</a:t>
            </a:r>
          </a:p>
        </p:txBody>
      </p:sp>
      <p:sp>
        <p:nvSpPr>
          <p:cNvPr id="20" name="p20-menu-2-desc">
            <a:extLst xmlns:a="http://schemas.openxmlformats.org/drawingml/2006/main">
              <a:ext uri="{FF2B5EF4-FFF2-40B4-BE49-F238E27FC236}">
                <a16:creationId xmlns:a16="http://schemas.microsoft.com/office/drawing/2014/main" id="{F39DF1AA-BB83-4400-BA37-2E461ACB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052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공통 OML 모델의 학습·검증·활성화·롤백 이력을 관리합니다.</a:t>
            </a:r>
          </a:p>
        </p:txBody>
      </p:sp>
      <p:sp>
        <p:nvSpPr>
          <p:cNvPr id="21" name="p20-menu-3-row">
            <a:extLst xmlns:a="http://schemas.openxmlformats.org/drawingml/2006/main">
              <a:ext uri="{FF2B5EF4-FFF2-40B4-BE49-F238E27FC236}">
                <a16:creationId xmlns:a16="http://schemas.microsoft.com/office/drawing/2014/main" id="{A3C5DF0F-A148-43FA-8E97-DDBC354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p20-menu-3-code">
            <a:extLst xmlns:a="http://schemas.openxmlformats.org/drawingml/2006/main">
              <a:ext uri="{FF2B5EF4-FFF2-40B4-BE49-F238E27FC236}">
                <a16:creationId xmlns:a16="http://schemas.microsoft.com/office/drawing/2014/main" id="{8121DAFB-1410-4AB4-A21E-A5A60F41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M91001</a:t>
            </a:r>
          </a:p>
        </p:txBody>
      </p:sp>
      <p:sp>
        <p:nvSpPr>
          <p:cNvPr id="23" name="p20-menu-3-title">
            <a:extLst xmlns:a="http://schemas.openxmlformats.org/drawingml/2006/main">
              <a:ext uri="{FF2B5EF4-FFF2-40B4-BE49-F238E27FC236}">
                <a16:creationId xmlns:a16="http://schemas.microsoft.com/office/drawing/2014/main" id="{D5EBE44D-11A4-4EE0-8EAA-271AAAD3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나의 회원정보</a:t>
            </a:r>
          </a:p>
        </p:txBody>
      </p:sp>
      <p:sp>
        <p:nvSpPr>
          <p:cNvPr id="24" name="p20-menu-3-desc">
            <a:extLst xmlns:a="http://schemas.openxmlformats.org/drawingml/2006/main">
              <a:ext uri="{FF2B5EF4-FFF2-40B4-BE49-F238E27FC236}">
                <a16:creationId xmlns:a16="http://schemas.microsoft.com/office/drawing/2014/main" id="{5CD269A9-C562-4A62-8CF7-EC59A4F2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계정 정보와 개인 API Key 상태를 관리합니다.</a:t>
            </a:r>
          </a:p>
        </p:txBody>
      </p:sp>
      <p:sp>
        <p:nvSpPr>
          <p:cNvPr id="25" name="p20-menu-4-row">
            <a:extLst xmlns:a="http://schemas.openxmlformats.org/drawingml/2006/main">
              <a:ext uri="{FF2B5EF4-FFF2-40B4-BE49-F238E27FC236}">
                <a16:creationId xmlns:a16="http://schemas.microsoft.com/office/drawing/2014/main" id="{F49A2C01-4B96-46A0-9DC6-5E4A8FBD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p20-menu-4-code">
            <a:extLst xmlns:a="http://schemas.openxmlformats.org/drawingml/2006/main">
              <a:ext uri="{FF2B5EF4-FFF2-40B4-BE49-F238E27FC236}">
                <a16:creationId xmlns:a16="http://schemas.microsoft.com/office/drawing/2014/main" id="{E886B420-7490-49A2-8F24-E362CEB7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M91002</a:t>
            </a:r>
          </a:p>
        </p:txBody>
      </p:sp>
      <p:sp>
        <p:nvSpPr>
          <p:cNvPr id="27" name="p20-menu-4-title">
            <a:extLst xmlns:a="http://schemas.openxmlformats.org/drawingml/2006/main">
              <a:ext uri="{FF2B5EF4-FFF2-40B4-BE49-F238E27FC236}">
                <a16:creationId xmlns:a16="http://schemas.microsoft.com/office/drawing/2014/main" id="{D9F66734-6094-4FB2-95A7-CD6FAE1D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29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내 시스템 설정</a:t>
            </a:r>
          </a:p>
        </p:txBody>
      </p:sp>
      <p:sp>
        <p:nvSpPr>
          <p:cNvPr id="28" name="p20-menu-4-desc">
            <a:extLst xmlns:a="http://schemas.openxmlformats.org/drawingml/2006/main">
              <a:ext uri="{FF2B5EF4-FFF2-40B4-BE49-F238E27FC236}">
                <a16:creationId xmlns:a16="http://schemas.microsoft.com/office/drawing/2014/main" id="{7775A813-55D8-4683-A137-0B93865C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102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언어·표시·계정과 사용자별 설정을 관리합니다.</a:t>
            </a:r>
          </a:p>
        </p:txBody>
      </p:sp>
      <p:sp>
        <p:nvSpPr>
          <p:cNvPr id="29" name="p20-menu-5-row">
            <a:extLst xmlns:a="http://schemas.openxmlformats.org/drawingml/2006/main">
              <a:ext uri="{FF2B5EF4-FFF2-40B4-BE49-F238E27FC236}">
                <a16:creationId xmlns:a16="http://schemas.microsoft.com/office/drawing/2014/main" id="{6F788E93-A285-4BBE-800C-FD71AF0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p20-menu-5-code">
            <a:extLst xmlns:a="http://schemas.openxmlformats.org/drawingml/2006/main">
              <a:ext uri="{FF2B5EF4-FFF2-40B4-BE49-F238E27FC236}">
                <a16:creationId xmlns:a16="http://schemas.microsoft.com/office/drawing/2014/main" id="{EA946D80-34F0-4660-98FB-34682D33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03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M99001</a:t>
            </a:r>
          </a:p>
        </p:txBody>
      </p:sp>
      <p:sp>
        <p:nvSpPr>
          <p:cNvPr id="31" name="p20-menu-5-title">
            <a:extLst xmlns:a="http://schemas.openxmlformats.org/drawingml/2006/main">
              <a:ext uri="{FF2B5EF4-FFF2-40B4-BE49-F238E27FC236}">
                <a16:creationId xmlns:a16="http://schemas.microsoft.com/office/drawing/2014/main" id="{FF9C53FA-0D99-40DA-83B7-3109398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DB 접속 정보 설정</a:t>
            </a:r>
          </a:p>
        </p:txBody>
      </p:sp>
      <p:sp>
        <p:nvSpPr>
          <p:cNvPr id="32" name="p20-menu-5-desc">
            <a:extLst xmlns:a="http://schemas.openxmlformats.org/drawingml/2006/main">
              <a:ext uri="{FF2B5EF4-FFF2-40B4-BE49-F238E27FC236}">
                <a16:creationId xmlns:a16="http://schemas.microsoft.com/office/drawing/2014/main" id="{6B71664B-0238-4296-85A3-4ED7D8B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3627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관리자가 Target DB 연결을 등록·테스트·초기화합니다.</a:t>
            </a:r>
          </a:p>
        </p:txBody>
      </p:sp>
      <p:sp>
        <p:nvSpPr>
          <p:cNvPr id="33" name="p20-menu-6-row">
            <a:extLst xmlns:a="http://schemas.openxmlformats.org/drawingml/2006/main">
              <a:ext uri="{FF2B5EF4-FFF2-40B4-BE49-F238E27FC236}">
                <a16:creationId xmlns:a16="http://schemas.microsoft.com/office/drawing/2014/main" id="{3336ABE0-B246-4811-BA14-5CE8236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9135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4" name="p20-menu-6-code">
            <a:extLst xmlns:a="http://schemas.openxmlformats.org/drawingml/2006/main">
              <a:ext uri="{FF2B5EF4-FFF2-40B4-BE49-F238E27FC236}">
                <a16:creationId xmlns:a16="http://schemas.microsoft.com/office/drawing/2014/main" id="{CB41495F-E035-4A15-A76C-FC0E44D0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M99002</a:t>
            </a:r>
          </a:p>
        </p:txBody>
      </p:sp>
      <p:sp>
        <p:nvSpPr>
          <p:cNvPr id="35" name="p20-menu-6-title">
            <a:extLst xmlns:a="http://schemas.openxmlformats.org/drawingml/2006/main">
              <a:ext uri="{FF2B5EF4-FFF2-40B4-BE49-F238E27FC236}">
                <a16:creationId xmlns:a16="http://schemas.microsoft.com/office/drawing/2014/main" id="{183C1B29-82C3-4229-90C9-3C4473F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134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데이터베이스관리</a:t>
            </a:r>
          </a:p>
        </p:txBody>
      </p:sp>
      <p:sp>
        <p:nvSpPr>
          <p:cNvPr id="36" name="p20-menu-6-desc">
            <a:extLst xmlns:a="http://schemas.openxmlformats.org/drawingml/2006/main">
              <a:ext uri="{FF2B5EF4-FFF2-40B4-BE49-F238E27FC236}">
                <a16:creationId xmlns:a16="http://schemas.microsoft.com/office/drawing/2014/main" id="{F586519D-FCD3-4D97-862B-A9F961B0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1151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Target DB 객체·데이터·컬럼·소스·SQL을 탐색합니다.</a:t>
            </a:r>
          </a:p>
        </p:txBody>
      </p:sp>
      <p:sp>
        <p:nvSpPr>
          <p:cNvPr id="37" name="p20-menu-7-row">
            <a:extLst xmlns:a="http://schemas.openxmlformats.org/drawingml/2006/main">
              <a:ext uri="{FF2B5EF4-FFF2-40B4-BE49-F238E27FC236}">
                <a16:creationId xmlns:a16="http://schemas.microsoft.com/office/drawing/2014/main" id="{5EDF6FAA-A0AA-4649-B304-5AF541E2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43825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p20-menu-7-code">
            <a:extLst xmlns:a="http://schemas.openxmlformats.org/drawingml/2006/main">
              <a:ext uri="{FF2B5EF4-FFF2-40B4-BE49-F238E27FC236}">
                <a16:creationId xmlns:a16="http://schemas.microsoft.com/office/drawing/2014/main" id="{BF1EDBCE-94EE-4F4E-B4D1-C2A5BAB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M99003</a:t>
            </a:r>
          </a:p>
        </p:txBody>
      </p:sp>
      <p:sp>
        <p:nvSpPr>
          <p:cNvPr id="39" name="p20-menu-7-title">
            <a:extLst xmlns:a="http://schemas.openxmlformats.org/drawingml/2006/main">
              <a:ext uri="{FF2B5EF4-FFF2-40B4-BE49-F238E27FC236}">
                <a16:creationId xmlns:a16="http://schemas.microsoft.com/office/drawing/2014/main" id="{8A55B706-BED3-42D7-A502-755D68A2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88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System Management</a:t>
            </a:r>
          </a:p>
        </p:txBody>
      </p:sp>
      <p:sp>
        <p:nvSpPr>
          <p:cNvPr id="40" name="p20-menu-7-desc">
            <a:extLst xmlns:a="http://schemas.openxmlformats.org/drawingml/2006/main">
              <a:ext uri="{FF2B5EF4-FFF2-40B4-BE49-F238E27FC236}">
                <a16:creationId xmlns:a16="http://schemas.microsoft.com/office/drawing/2014/main" id="{6D6EAAF0-D534-465D-B446-FE116B8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8676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초기화·테이블 점검·사용자 승인 등 시스템을 운영합니다.</a:t>
            </a:r>
          </a:p>
        </p:txBody>
      </p:sp>
      <p:sp>
        <p:nvSpPr>
          <p:cNvPr id="41" name="p20-menu-8-row">
            <a:extLst xmlns:a="http://schemas.openxmlformats.org/drawingml/2006/main">
              <a:ext uri="{FF2B5EF4-FFF2-40B4-BE49-F238E27FC236}">
                <a16:creationId xmlns:a16="http://schemas.microsoft.com/office/drawing/2014/main" id="{0EA34229-A723-48DE-A381-D0232FFA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96300"/>
            <a:ext cx="638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p20-menu-8-code">
            <a:extLst xmlns:a="http://schemas.openxmlformats.org/drawingml/2006/main">
              <a:ext uri="{FF2B5EF4-FFF2-40B4-BE49-F238E27FC236}">
                <a16:creationId xmlns:a16="http://schemas.microsoft.com/office/drawing/2014/main" id="{F82C82B2-2DF5-4CF8-893E-FEE07871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M99004</a:t>
            </a:r>
          </a:p>
        </p:txBody>
      </p:sp>
      <p:sp>
        <p:nvSpPr>
          <p:cNvPr id="43" name="p20-menu-8-title">
            <a:extLst xmlns:a="http://schemas.openxmlformats.org/drawingml/2006/main">
              <a:ext uri="{FF2B5EF4-FFF2-40B4-BE49-F238E27FC236}">
                <a16:creationId xmlns:a16="http://schemas.microsoft.com/office/drawing/2014/main" id="{01B4A108-DA63-4314-9B64-226B339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8639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공지사항 관리</a:t>
            </a:r>
          </a:p>
        </p:txBody>
      </p:sp>
      <p:sp>
        <p:nvSpPr>
          <p:cNvPr id="44" name="p20-menu-8-desc">
            <a:extLst xmlns:a="http://schemas.openxmlformats.org/drawingml/2006/main">
              <a:ext uri="{FF2B5EF4-FFF2-40B4-BE49-F238E27FC236}">
                <a16:creationId xmlns:a16="http://schemas.microsoft.com/office/drawing/2014/main" id="{11758937-C934-4902-9F62-930AB61A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6201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공지와 첨부 파일을 등록·수정·삭제합니다.</a:t>
            </a:r>
          </a:p>
        </p:txBody>
      </p:sp>
    </p:spTree>
    <p:extLst>
      <p:ext uri="{BB962C8B-B14F-4D97-AF65-F5344CB8AC3E}">
        <p14:creationId xmlns:p14="http://schemas.microsoft.com/office/powerpoint/2010/main" val="13296842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21-rail">
            <a:extLst xmlns:a="http://schemas.openxmlformats.org/drawingml/2006/main">
              <a:ext uri="{FF2B5EF4-FFF2-40B4-BE49-F238E27FC236}">
                <a16:creationId xmlns:a16="http://schemas.microsoft.com/office/drawing/2014/main" id="{5A85404D-3DBF-48C7-BB94-D3FE767C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" name="page-21-chapter">
            <a:extLst xmlns:a="http://schemas.openxmlformats.org/drawingml/2006/main">
              <a:ext uri="{FF2B5EF4-FFF2-40B4-BE49-F238E27FC236}">
                <a16:creationId xmlns:a16="http://schemas.microsoft.com/office/drawing/2014/main" id="{234820E8-9086-4A95-82BA-EE1115C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06 · SAFE OPERATION</a:t>
            </a:r>
          </a:p>
        </p:txBody>
      </p:sp>
      <p:sp>
        <p:nvSpPr>
          <p:cNvPr id="3" name="page-21-title">
            <a:extLst xmlns:a="http://schemas.openxmlformats.org/drawingml/2006/main">
              <a:ext uri="{FF2B5EF4-FFF2-40B4-BE49-F238E27FC236}">
                <a16:creationId xmlns:a16="http://schemas.microsoft.com/office/drawing/2014/main" id="{A785C3F1-D4F0-4878-9891-1835BE8F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전후에 세 가지 기준을 확인합니다</a:t>
            </a:r>
          </a:p>
        </p:txBody>
      </p:sp>
      <p:sp>
        <p:nvSpPr>
          <p:cNvPr id="4" name="page-21-subtitle">
            <a:extLst xmlns:a="http://schemas.openxmlformats.org/drawingml/2006/main">
              <a:ext uri="{FF2B5EF4-FFF2-40B4-BE49-F238E27FC236}">
                <a16:creationId xmlns:a16="http://schemas.microsoft.com/office/drawing/2014/main" id="{28E28675-8ACF-4379-9235-1B02A87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컨텍스트, 상태와 품질, 수정·반영 안전성을 분리해 점검하면 잘못된 대상 실행과 성급한 운영 변경을 줄일 수 있습니다.</a:t>
            </a:r>
          </a:p>
        </p:txBody>
      </p:sp>
      <p:sp>
        <p:nvSpPr>
          <p:cNvPr id="5" name="page-21-top-rule">
            <a:extLst xmlns:a="http://schemas.openxmlformats.org/drawingml/2006/main">
              <a:ext uri="{FF2B5EF4-FFF2-40B4-BE49-F238E27FC236}">
                <a16:creationId xmlns:a16="http://schemas.microsoft.com/office/drawing/2014/main" id="{271B9625-ADAA-46BE-BE29-0EF102B5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1-footer-rule">
            <a:extLst xmlns:a="http://schemas.openxmlformats.org/drawingml/2006/main">
              <a:ext uri="{FF2B5EF4-FFF2-40B4-BE49-F238E27FC236}">
                <a16:creationId xmlns:a16="http://schemas.microsoft.com/office/drawing/2014/main" id="{F397AA10-6E0B-43BA-AD3E-6546C3E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1-footer-name">
            <a:extLst xmlns:a="http://schemas.openxmlformats.org/drawingml/2006/main">
              <a:ext uri="{FF2B5EF4-FFF2-40B4-BE49-F238E27FC236}">
                <a16:creationId xmlns:a16="http://schemas.microsoft.com/office/drawing/2014/main" id="{00885E44-3C2C-4DB7-92F9-5F9D144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1-footer-number">
            <a:extLst xmlns:a="http://schemas.openxmlformats.org/drawingml/2006/main">
              <a:ext uri="{FF2B5EF4-FFF2-40B4-BE49-F238E27FC236}">
                <a16:creationId xmlns:a16="http://schemas.microsoft.com/office/drawing/2014/main" id="{B92425E8-DA7D-4B10-8400-F916937E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3E8D65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9" name="p21-card-0">
            <a:extLst xmlns:a="http://schemas.openxmlformats.org/drawingml/2006/main">
              <a:ext uri="{FF2B5EF4-FFF2-40B4-BE49-F238E27FC236}">
                <a16:creationId xmlns:a16="http://schemas.microsoft.com/office/drawing/2014/main" id="{65CF83B8-5ACA-4E46-8583-AE55733E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381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21-num-0-circle">
            <a:extLst xmlns:a="http://schemas.openxmlformats.org/drawingml/2006/main">
              <a:ext uri="{FF2B5EF4-FFF2-40B4-BE49-F238E27FC236}">
                <a16:creationId xmlns:a16="http://schemas.microsoft.com/office/drawing/2014/main" id="{D8D18D52-2902-4594-B014-3F3DC2F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21-num-0-number">
            <a:extLst xmlns:a="http://schemas.openxmlformats.org/drawingml/2006/main">
              <a:ext uri="{FF2B5EF4-FFF2-40B4-BE49-F238E27FC236}">
                <a16:creationId xmlns:a16="http://schemas.microsoft.com/office/drawing/2014/main" id="{092E92C0-E364-47C5-9EF9-562ACE12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p21-title-0">
            <a:extLst xmlns:a="http://schemas.openxmlformats.org/drawingml/2006/main">
              <a:ext uri="{FF2B5EF4-FFF2-40B4-BE49-F238E27FC236}">
                <a16:creationId xmlns:a16="http://schemas.microsoft.com/office/drawing/2014/main" id="{B04E97B2-201C-48B1-A1CA-1AEE2B3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실행 전 컨텍스트</a:t>
            </a:r>
          </a:p>
        </p:txBody>
      </p:sp>
      <p:sp>
        <p:nvSpPr>
          <p:cNvPr id="13" name="p21-bullets-0">
            <a:extLst xmlns:a="http://schemas.openxmlformats.org/drawingml/2006/main">
              <a:ext uri="{FF2B5EF4-FFF2-40B4-BE49-F238E27FC236}">
                <a16:creationId xmlns:a16="http://schemas.microsoft.com/office/drawing/2014/main" id="{3F499094-C9C1-4868-9C67-4C385603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510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현재 사용자, 역할과 Target DB 확인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프로젝트·시나리오·대상 테이블 범위 확인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Flow Validate의 단계·포트·SAME_RUN 확인</a:t>
            </a:r>
          </a:p>
        </p:txBody>
      </p:sp>
      <p:sp>
        <p:nvSpPr>
          <p:cNvPr id="14" name="p21-card-1">
            <a:extLst xmlns:a="http://schemas.openxmlformats.org/drawingml/2006/main">
              <a:ext uri="{FF2B5EF4-FFF2-40B4-BE49-F238E27FC236}">
                <a16:creationId xmlns:a16="http://schemas.microsoft.com/office/drawing/2014/main" id="{5A0A9F61-C1C8-4E3C-A0FC-7E92ABA2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6381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15" name="p21-num-1-circle">
            <a:extLst xmlns:a="http://schemas.openxmlformats.org/drawingml/2006/main">
              <a:ext uri="{FF2B5EF4-FFF2-40B4-BE49-F238E27FC236}">
                <a16:creationId xmlns:a16="http://schemas.microsoft.com/office/drawing/2014/main" id="{F5A4E41E-1126-4703-89A7-49B4FAC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16" name="p21-num-1-number">
            <a:extLst xmlns:a="http://schemas.openxmlformats.org/drawingml/2006/main">
              <a:ext uri="{FF2B5EF4-FFF2-40B4-BE49-F238E27FC236}">
                <a16:creationId xmlns:a16="http://schemas.microsoft.com/office/drawing/2014/main" id="{E09D13F2-C92D-4354-8FF2-FB17CB4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p21-title-1">
            <a:extLst xmlns:a="http://schemas.openxmlformats.org/drawingml/2006/main">
              <a:ext uri="{FF2B5EF4-FFF2-40B4-BE49-F238E27FC236}">
                <a16:creationId xmlns:a16="http://schemas.microsoft.com/office/drawing/2014/main" id="{F71DE6B8-CBA6-4D47-9E14-F517FB1E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53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상태와 품질 분리</a:t>
            </a:r>
          </a:p>
        </p:txBody>
      </p:sp>
      <p:sp>
        <p:nvSpPr>
          <p:cNvPr id="18" name="p21-bullets-1">
            <a:extLst xmlns:a="http://schemas.openxmlformats.org/drawingml/2006/main">
              <a:ext uri="{FF2B5EF4-FFF2-40B4-BE49-F238E27FC236}">
                <a16:creationId xmlns:a16="http://schemas.microsoft.com/office/drawing/2014/main" id="{A032F372-E5AD-49F7-874A-CEC1F38D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510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SUCCESS와 업무 승인을 구분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FAILED의 부분 완료 메시지를 유형별 확인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위반 0건이 정상 결과일 가능성 확인</a:t>
            </a:r>
          </a:p>
        </p:txBody>
      </p:sp>
      <p:sp>
        <p:nvSpPr>
          <p:cNvPr id="19" name="p21-card-2">
            <a:extLst xmlns:a="http://schemas.openxmlformats.org/drawingml/2006/main">
              <a:ext uri="{FF2B5EF4-FFF2-40B4-BE49-F238E27FC236}">
                <a16:creationId xmlns:a16="http://schemas.microsoft.com/office/drawing/2014/main" id="{C40EF7C6-D092-42B5-81CC-53C78D0C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05650"/>
            <a:ext cx="6381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0" name="p21-num-2-circle">
            <a:extLst xmlns:a="http://schemas.openxmlformats.org/drawingml/2006/main">
              <a:ext uri="{FF2B5EF4-FFF2-40B4-BE49-F238E27FC236}">
                <a16:creationId xmlns:a16="http://schemas.microsoft.com/office/drawing/2014/main" id="{9ACC607D-2431-4290-A207-8F41C3FC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72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1" name="p21-num-2-number">
            <a:extLst xmlns:a="http://schemas.openxmlformats.org/drawingml/2006/main">
              <a:ext uri="{FF2B5EF4-FFF2-40B4-BE49-F238E27FC236}">
                <a16:creationId xmlns:a16="http://schemas.microsoft.com/office/drawing/2014/main" id="{07495B54-9122-4B42-B4AF-DC3D239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p21-title-2">
            <a:extLst xmlns:a="http://schemas.openxmlformats.org/drawingml/2006/main">
              <a:ext uri="{FF2B5EF4-FFF2-40B4-BE49-F238E27FC236}">
                <a16:creationId xmlns:a16="http://schemas.microsoft.com/office/drawing/2014/main" id="{B3C169E0-3E6D-42B7-88E2-ECD789E7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400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수정·반영 안전성</a:t>
            </a:r>
          </a:p>
        </p:txBody>
      </p:sp>
      <p:sp>
        <p:nvSpPr>
          <p:cNvPr id="23" name="p21-bullets-2">
            <a:extLst xmlns:a="http://schemas.openxmlformats.org/drawingml/2006/main">
              <a:ext uri="{FF2B5EF4-FFF2-40B4-BE49-F238E27FC236}">
                <a16:creationId xmlns:a16="http://schemas.microsoft.com/office/drawing/2014/main" id="{2696227F-9D38-4744-BEC9-36FBEE0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943850"/>
            <a:ext cx="510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탐지 결과가 원본을 자동 수정하지 않음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수정본 효과 검증 후 버전 DML 검증</a:t>
            </a:r>
          </a:p>
          <a:p xmlns:a="http://schemas.openxmlformats.org/drawingml/2006/main">
            <a:pPr marL="21" indent="-13" algn="l">
              <a:lnSpc>
                <a:spcPct val="116000"/>
              </a:lnSpc>
              <a:spcAft>
                <a:spcPts val="8"/>
              </a:spcAft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운영 반영 전 권한·실행 확인·감사 이력 점검</a:t>
            </a:r>
          </a:p>
        </p:txBody>
      </p:sp>
      <p:sp>
        <p:nvSpPr>
          <p:cNvPr id="24" name="p21-callout-fill">
            <a:extLst xmlns:a="http://schemas.openxmlformats.org/drawingml/2006/main">
              <a:ext uri="{FF2B5EF4-FFF2-40B4-BE49-F238E27FC236}">
                <a16:creationId xmlns:a16="http://schemas.microsoft.com/office/drawing/2014/main" id="{F6008C84-9F4C-40B6-A98B-5E6F06B9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39250"/>
            <a:ext cx="6381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15255A"/>
            </a:solidFill>
            <a:prstDash val="solid"/>
          </a:ln>
        </p:spPr>
      </p:sp>
      <p:sp>
        <p:nvSpPr>
          <p:cNvPr id="25" name="p21-callout-accent">
            <a:extLst xmlns:a="http://schemas.openxmlformats.org/drawingml/2006/main">
              <a:ext uri="{FF2B5EF4-FFF2-40B4-BE49-F238E27FC236}">
                <a16:creationId xmlns:a16="http://schemas.microsoft.com/office/drawing/2014/main" id="{89B1D5A6-0CD9-485B-BDA2-39B9321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392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5A"/>
          </a:solidFill>
          <a:ln xmlns:a="http://schemas.openxmlformats.org/drawingml/2006/main" w="0">
            <a:solidFill>
              <a:srgbClr val="15255A"/>
            </a:solidFill>
            <a:prstDash val="solid"/>
          </a:ln>
        </p:spPr>
      </p:sp>
      <p:sp>
        <p:nvSpPr>
          <p:cNvPr id="26" name="p21-callout-text">
            <a:extLst xmlns:a="http://schemas.openxmlformats.org/drawingml/2006/main">
              <a:ext uri="{FF2B5EF4-FFF2-40B4-BE49-F238E27FC236}">
                <a16:creationId xmlns:a16="http://schemas.microsoft.com/office/drawing/2014/main" id="{95EB276B-3201-4BD4-848F-E40257C3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10700"/>
            <a:ext cx="598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운영 체크는 오류 대응 절차가 아니라 실행 전에 범위와 책임을 확정하는 기본 업무 절차입니다.</a:t>
            </a:r>
          </a:p>
        </p:txBody>
      </p:sp>
    </p:spTree>
    <p:extLst>
      <p:ext uri="{BB962C8B-B14F-4D97-AF65-F5344CB8AC3E}">
        <p14:creationId xmlns:p14="http://schemas.microsoft.com/office/powerpoint/2010/main" val="2291735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22-rail">
            <a:extLst xmlns:a="http://schemas.openxmlformats.org/drawingml/2006/main">
              <a:ext uri="{FF2B5EF4-FFF2-40B4-BE49-F238E27FC236}">
                <a16:creationId xmlns:a16="http://schemas.microsoft.com/office/drawing/2014/main" id="{08BC2945-8C2E-4C40-8438-18FBD10E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2" name="page-22-chapter">
            <a:extLst xmlns:a="http://schemas.openxmlformats.org/drawingml/2006/main">
              <a:ext uri="{FF2B5EF4-FFF2-40B4-BE49-F238E27FC236}">
                <a16:creationId xmlns:a16="http://schemas.microsoft.com/office/drawing/2014/main" id="{C7065670-DD9D-424E-A279-FF0011F9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06 · SECURITY BOUNDARIES</a:t>
            </a:r>
          </a:p>
        </p:txBody>
      </p:sp>
      <p:sp>
        <p:nvSpPr>
          <p:cNvPr id="3" name="page-22-title">
            <a:extLst xmlns:a="http://schemas.openxmlformats.org/drawingml/2006/main">
              <a:ext uri="{FF2B5EF4-FFF2-40B4-BE49-F238E27FC236}">
                <a16:creationId xmlns:a16="http://schemas.microsoft.com/office/drawing/2014/main" id="{684BA767-B9A5-41F4-A43A-BC01BB6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인증·권한·비밀 값은 서버 경계에서 판단합니다</a:t>
            </a:r>
          </a:p>
        </p:txBody>
      </p:sp>
      <p:sp>
        <p:nvSpPr>
          <p:cNvPr id="4" name="page-22-subtitle">
            <a:extLst xmlns:a="http://schemas.openxmlformats.org/drawingml/2006/main">
              <a:ext uri="{FF2B5EF4-FFF2-40B4-BE49-F238E27FC236}">
                <a16:creationId xmlns:a16="http://schemas.microsoft.com/office/drawing/2014/main" id="{B6B49479-D1B8-4A95-B482-A938C9B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브라우저 저장 값이나 메뉴 숨김을 보안 근거로 사용하지 않고, 서버 세션과 시스템 DB 조회를 기준으로 사용자와 관리자 권한을 확인합니다.</a:t>
            </a:r>
          </a:p>
        </p:txBody>
      </p:sp>
      <p:sp>
        <p:nvSpPr>
          <p:cNvPr id="5" name="page-22-top-rule">
            <a:extLst xmlns:a="http://schemas.openxmlformats.org/drawingml/2006/main">
              <a:ext uri="{FF2B5EF4-FFF2-40B4-BE49-F238E27FC236}">
                <a16:creationId xmlns:a16="http://schemas.microsoft.com/office/drawing/2014/main" id="{B30C2000-F442-46D8-878B-BF21CB39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2-footer-rule">
            <a:extLst xmlns:a="http://schemas.openxmlformats.org/drawingml/2006/main">
              <a:ext uri="{FF2B5EF4-FFF2-40B4-BE49-F238E27FC236}">
                <a16:creationId xmlns:a16="http://schemas.microsoft.com/office/drawing/2014/main" id="{D32FCB85-FCC4-407F-8461-D8E8172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2-footer-name">
            <a:extLst xmlns:a="http://schemas.openxmlformats.org/drawingml/2006/main">
              <a:ext uri="{FF2B5EF4-FFF2-40B4-BE49-F238E27FC236}">
                <a16:creationId xmlns:a16="http://schemas.microsoft.com/office/drawing/2014/main" id="{842F3DFE-F2C4-41AE-B566-7C88E7D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2-footer-number">
            <a:extLst xmlns:a="http://schemas.openxmlformats.org/drawingml/2006/main">
              <a:ext uri="{FF2B5EF4-FFF2-40B4-BE49-F238E27FC236}">
                <a16:creationId xmlns:a16="http://schemas.microsoft.com/office/drawing/2014/main" id="{D294C95C-0FF1-4471-8949-6EFD78F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B54D58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9" name="p22-auth-fill">
            <a:extLst xmlns:a="http://schemas.openxmlformats.org/drawingml/2006/main">
              <a:ext uri="{FF2B5EF4-FFF2-40B4-BE49-F238E27FC236}">
                <a16:creationId xmlns:a16="http://schemas.microsoft.com/office/drawing/2014/main" id="{D99ACF0D-2EDE-4C84-8F55-8192749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22-auth-accent">
            <a:extLst xmlns:a="http://schemas.openxmlformats.org/drawingml/2006/main">
              <a:ext uri="{FF2B5EF4-FFF2-40B4-BE49-F238E27FC236}">
                <a16:creationId xmlns:a16="http://schemas.microsoft.com/office/drawing/2014/main" id="{A592188A-5FD5-4402-B08C-78FE37AB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5"/>
          </a:solidFill>
          <a:ln xmlns:a="http://schemas.openxmlformats.org/drawingml/2006/main" w="0">
            <a:solidFill>
              <a:srgbClr val="2F6FB5"/>
            </a:solidFill>
            <a:prstDash val="solid"/>
          </a:ln>
        </p:spPr>
      </p:sp>
      <p:sp>
        <p:nvSpPr>
          <p:cNvPr id="11" name="p22-auth-title">
            <a:extLst xmlns:a="http://schemas.openxmlformats.org/drawingml/2006/main">
              <a:ext uri="{FF2B5EF4-FFF2-40B4-BE49-F238E27FC236}">
                <a16:creationId xmlns:a16="http://schemas.microsoft.com/office/drawing/2014/main" id="{9E838011-11E7-4CD7-93DB-B81B34C6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인증·인가 기준</a:t>
            </a:r>
          </a:p>
        </p:txBody>
      </p:sp>
      <p:sp>
        <p:nvSpPr>
          <p:cNvPr id="12" name="p22-auth-body">
            <a:extLst xmlns:a="http://schemas.openxmlformats.org/drawingml/2006/main">
              <a:ext uri="{FF2B5EF4-FFF2-40B4-BE49-F238E27FC236}">
                <a16:creationId xmlns:a16="http://schemas.microsoft.com/office/drawing/2014/main" id="{9ED3E465-F3CA-43E9-A438-4A64416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서버 세션 쿠키와 시스템 DB 조회가 사용자 ID와 역할의 기준입니다. GET/POST 파라미터, 임의 헤더, sessionStorage·localStorage는 권한 근거가 아닙니다.</a:t>
            </a:r>
          </a:p>
        </p:txBody>
      </p:sp>
      <p:sp>
        <p:nvSpPr>
          <p:cNvPr id="13" name="p22-admin-fill">
            <a:extLst xmlns:a="http://schemas.openxmlformats.org/drawingml/2006/main">
              <a:ext uri="{FF2B5EF4-FFF2-40B4-BE49-F238E27FC236}">
                <a16:creationId xmlns:a16="http://schemas.microsoft.com/office/drawing/2014/main" id="{842877EE-BFA5-46D2-A124-B4ED2EC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381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4" name="p22-admin-accent">
            <a:extLst xmlns:a="http://schemas.openxmlformats.org/drawingml/2006/main">
              <a:ext uri="{FF2B5EF4-FFF2-40B4-BE49-F238E27FC236}">
                <a16:creationId xmlns:a16="http://schemas.microsoft.com/office/drawing/2014/main" id="{2F02D2C8-152A-4B92-B8B1-2275937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62A8"/>
          </a:solidFill>
          <a:ln xmlns:a="http://schemas.openxmlformats.org/drawingml/2006/main" w="0">
            <a:solidFill>
              <a:srgbClr val="6E62A8"/>
            </a:solidFill>
            <a:prstDash val="solid"/>
          </a:ln>
        </p:spPr>
      </p:sp>
      <p:sp>
        <p:nvSpPr>
          <p:cNvPr id="15" name="p22-admin-title">
            <a:extLst xmlns:a="http://schemas.openxmlformats.org/drawingml/2006/main">
              <a:ext uri="{FF2B5EF4-FFF2-40B4-BE49-F238E27FC236}">
                <a16:creationId xmlns:a16="http://schemas.microsoft.com/office/drawing/2014/main" id="{7A26816D-22C3-4249-94CE-65F0CE55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관리자 기능</a:t>
            </a:r>
          </a:p>
        </p:txBody>
      </p:sp>
      <p:sp>
        <p:nvSpPr>
          <p:cNvPr id="16" name="p22-admin-body">
            <a:extLst xmlns:a="http://schemas.openxmlformats.org/drawingml/2006/main">
              <a:ext uri="{FF2B5EF4-FFF2-40B4-BE49-F238E27FC236}">
                <a16:creationId xmlns:a16="http://schemas.microsoft.com/office/drawing/2014/main" id="{A2C94BB3-5798-4DFB-A8F1-BF2C4F6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3314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관리자 메뉴 숨김은 보조 UI일 뿐입니다. 관리자 API는 서버의 관리자 역할 검사 또는 전역 관리자 정책을 통과해야 합니다.</a:t>
            </a:r>
          </a:p>
        </p:txBody>
      </p:sp>
      <p:sp>
        <p:nvSpPr>
          <p:cNvPr id="17" name="p22-secret-fill">
            <a:extLst xmlns:a="http://schemas.openxmlformats.org/drawingml/2006/main">
              <a:ext uri="{FF2B5EF4-FFF2-40B4-BE49-F238E27FC236}">
                <a16:creationId xmlns:a16="http://schemas.microsoft.com/office/drawing/2014/main" id="{4C55F115-007F-43A1-A875-C36CEB8E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0">
            <a:solidFill>
              <a:srgbClr val="F9ECEE"/>
            </a:solidFill>
            <a:prstDash val="solid"/>
          </a:ln>
        </p:spPr>
      </p:sp>
      <p:sp>
        <p:nvSpPr>
          <p:cNvPr id="18" name="p22-secret-accent">
            <a:extLst xmlns:a="http://schemas.openxmlformats.org/drawingml/2006/main">
              <a:ext uri="{FF2B5EF4-FFF2-40B4-BE49-F238E27FC236}">
                <a16:creationId xmlns:a16="http://schemas.microsoft.com/office/drawing/2014/main" id="{A7BEA48D-32FB-412F-BDE1-A523B27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D58"/>
          </a:solidFill>
          <a:ln xmlns:a="http://schemas.openxmlformats.org/drawingml/2006/main" w="0">
            <a:solidFill>
              <a:srgbClr val="B54D58"/>
            </a:solidFill>
            <a:prstDash val="solid"/>
          </a:ln>
        </p:spPr>
      </p:sp>
      <p:sp>
        <p:nvSpPr>
          <p:cNvPr id="19" name="p22-secret-title">
            <a:extLst xmlns:a="http://schemas.openxmlformats.org/drawingml/2006/main">
              <a:ext uri="{FF2B5EF4-FFF2-40B4-BE49-F238E27FC236}">
                <a16:creationId xmlns:a16="http://schemas.microsoft.com/office/drawing/2014/main" id="{A1CE7D9E-9FD0-4819-9026-6E610784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비밀번호·키·지갑</a:t>
            </a:r>
          </a:p>
        </p:txBody>
      </p:sp>
      <p:sp>
        <p:nvSpPr>
          <p:cNvPr id="20" name="p22-secret-body">
            <a:extLst xmlns:a="http://schemas.openxmlformats.org/drawingml/2006/main">
              <a:ext uri="{FF2B5EF4-FFF2-40B4-BE49-F238E27FC236}">
                <a16:creationId xmlns:a16="http://schemas.microsoft.com/office/drawing/2014/main" id="{E6C5CDB2-8882-479D-996C-5140B5DD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7695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DB·지갑 비밀번호, 외부 API Key, 관리자 인증 값은 암호화·세션·권한 경계에서 처리하며 도움말·브라우저 응답·JS에 남기지 않습니다.</a:t>
            </a:r>
          </a:p>
        </p:txBody>
      </p:sp>
      <p:sp>
        <p:nvSpPr>
          <p:cNvPr id="21" name="p22-external-fill">
            <a:extLst xmlns:a="http://schemas.openxmlformats.org/drawingml/2006/main">
              <a:ext uri="{FF2B5EF4-FFF2-40B4-BE49-F238E27FC236}">
                <a16:creationId xmlns:a16="http://schemas.microsoft.com/office/drawing/2014/main" id="{A7FB94E7-5816-45D1-BE96-D08E2B68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00950"/>
            <a:ext cx="6381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2" name="p22-external-accent">
            <a:extLst xmlns:a="http://schemas.openxmlformats.org/drawingml/2006/main">
              <a:ext uri="{FF2B5EF4-FFF2-40B4-BE49-F238E27FC236}">
                <a16:creationId xmlns:a16="http://schemas.microsoft.com/office/drawing/2014/main" id="{19BB1CAF-F6C8-4F4A-A5DA-0B9F603A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0095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316"/>
          </a:solidFill>
          <a:ln xmlns:a="http://schemas.openxmlformats.org/drawingml/2006/main" w="0">
            <a:solidFill>
              <a:srgbClr val="B97316"/>
            </a:solidFill>
            <a:prstDash val="solid"/>
          </a:ln>
        </p:spPr>
      </p:sp>
      <p:sp>
        <p:nvSpPr>
          <p:cNvPr id="23" name="p22-external-title">
            <a:extLst xmlns:a="http://schemas.openxmlformats.org/drawingml/2006/main">
              <a:ext uri="{FF2B5EF4-FFF2-40B4-BE49-F238E27FC236}">
                <a16:creationId xmlns:a16="http://schemas.microsoft.com/office/drawing/2014/main" id="{72FF71AE-838A-465D-9CF6-97BCF1F8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105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EXTERNAL_API 인증 값</a:t>
            </a:r>
          </a:p>
        </p:txBody>
      </p:sp>
      <p:sp>
        <p:nvSpPr>
          <p:cNvPr id="24" name="p22-external-body">
            <a:extLst xmlns:a="http://schemas.openxmlformats.org/drawingml/2006/main">
              <a:ext uri="{FF2B5EF4-FFF2-40B4-BE49-F238E27FC236}">
                <a16:creationId xmlns:a16="http://schemas.microsoft.com/office/drawing/2014/main" id="{6EE4EF9B-12E2-473D-B9CC-CB0F894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81050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런타임 바인드 화면에서 입력되어 브라우저 메모리와 실행 요청에 포함됩니다. 현재 경로는 서버 비밀 저장소의 값을 자동으로 조회하지 않습니다.</a:t>
            </a:r>
          </a:p>
        </p:txBody>
      </p:sp>
      <p:sp>
        <p:nvSpPr>
          <p:cNvPr id="25" name="p22-callout-fill">
            <a:extLst xmlns:a="http://schemas.openxmlformats.org/drawingml/2006/main">
              <a:ext uri="{FF2B5EF4-FFF2-40B4-BE49-F238E27FC236}">
                <a16:creationId xmlns:a16="http://schemas.microsoft.com/office/drawing/2014/main" id="{6DF5C30F-80E8-469D-8D4D-AFA72F05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638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9525">
            <a:solidFill>
              <a:srgbClr val="3E8D65"/>
            </a:solidFill>
            <a:prstDash val="solid"/>
          </a:ln>
        </p:spPr>
      </p:sp>
      <p:sp>
        <p:nvSpPr>
          <p:cNvPr id="26" name="p22-callout-accent">
            <a:extLst xmlns:a="http://schemas.openxmlformats.org/drawingml/2006/main">
              <a:ext uri="{FF2B5EF4-FFF2-40B4-BE49-F238E27FC236}">
                <a16:creationId xmlns:a16="http://schemas.microsoft.com/office/drawing/2014/main" id="{72CBF56E-39FE-47A4-95C3-48A1DDBB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D65"/>
          </a:solidFill>
          <a:ln xmlns:a="http://schemas.openxmlformats.org/drawingml/2006/main" w="0">
            <a:solidFill>
              <a:srgbClr val="3E8D65"/>
            </a:solidFill>
            <a:prstDash val="solid"/>
          </a:ln>
        </p:spPr>
      </p:sp>
      <p:sp>
        <p:nvSpPr>
          <p:cNvPr id="27" name="p22-callout-text">
            <a:extLst xmlns:a="http://schemas.openxmlformats.org/drawingml/2006/main">
              <a:ext uri="{FF2B5EF4-FFF2-40B4-BE49-F238E27FC236}">
                <a16:creationId xmlns:a16="http://schemas.microsoft.com/office/drawing/2014/main" id="{3F4E7C15-772A-4BDB-B189-0FAC376E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공개 도움말과 소개서는 논리적인 흐름만 설명하며 실제 DB 접속 정보, 내부 비밀 값과 인증 자격 증명을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981090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age-23-rail">
            <a:extLst xmlns:a="http://schemas.openxmlformats.org/drawingml/2006/main">
              <a:ext uri="{FF2B5EF4-FFF2-40B4-BE49-F238E27FC236}">
                <a16:creationId xmlns:a16="http://schemas.microsoft.com/office/drawing/2014/main" id="{803CA755-E4F6-4717-9157-F314622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page-23-chapter">
            <a:extLst xmlns:a="http://schemas.openxmlformats.org/drawingml/2006/main">
              <a:ext uri="{FF2B5EF4-FFF2-40B4-BE49-F238E27FC236}">
                <a16:creationId xmlns:a16="http://schemas.microsoft.com/office/drawing/2014/main" id="{71383675-7A90-44D8-9FFE-865A15A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06 · GLOSSARY</a:t>
            </a:r>
          </a:p>
        </p:txBody>
      </p:sp>
      <p:sp>
        <p:nvSpPr>
          <p:cNvPr id="3" name="page-23-title">
            <a:extLst xmlns:a="http://schemas.openxmlformats.org/drawingml/2006/main">
              <a:ext uri="{FF2B5EF4-FFF2-40B4-BE49-F238E27FC236}">
                <a16:creationId xmlns:a16="http://schemas.microsoft.com/office/drawing/2014/main" id="{C0C77D6C-D4EC-4095-B2B7-BE3F979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38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핵심 용어는 실행 맥락과 변경 책임을 설명합니다</a:t>
            </a:r>
          </a:p>
        </p:txBody>
      </p:sp>
      <p:sp>
        <p:nvSpPr>
          <p:cNvPr id="4" name="page-23-subtitle">
            <a:extLst xmlns:a="http://schemas.openxmlformats.org/drawingml/2006/main">
              <a:ext uri="{FF2B5EF4-FFF2-40B4-BE49-F238E27FC236}">
                <a16:creationId xmlns:a16="http://schemas.microsoft.com/office/drawing/2014/main" id="{CA9C6A47-47BD-4248-B44C-6A7649FF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화면과 결과를 읽을 때 반복해서 등장하는 여섯 용어를 하나의 기준으로 정리했습니다.</a:t>
            </a:r>
          </a:p>
        </p:txBody>
      </p:sp>
      <p:sp>
        <p:nvSpPr>
          <p:cNvPr id="5" name="page-23-top-rule">
            <a:extLst xmlns:a="http://schemas.openxmlformats.org/drawingml/2006/main">
              <a:ext uri="{FF2B5EF4-FFF2-40B4-BE49-F238E27FC236}">
                <a16:creationId xmlns:a16="http://schemas.microsoft.com/office/drawing/2014/main" id="{B1E55EC5-7025-4358-B7B2-03759F6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6" name="page-23-footer-rule">
            <a:extLst xmlns:a="http://schemas.openxmlformats.org/drawingml/2006/main">
              <a:ext uri="{FF2B5EF4-FFF2-40B4-BE49-F238E27FC236}">
                <a16:creationId xmlns:a16="http://schemas.microsoft.com/office/drawing/2014/main" id="{00251815-CD75-49B9-9829-219E5AA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1631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page-23-footer-name">
            <a:extLst xmlns:a="http://schemas.openxmlformats.org/drawingml/2006/main">
              <a:ext uri="{FF2B5EF4-FFF2-40B4-BE49-F238E27FC236}">
                <a16:creationId xmlns:a16="http://schemas.microsoft.com/office/drawing/2014/main" id="{10C23606-F7A4-4ACA-9DB4-9CDF813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D7A8D"/>
                </a:solidFill>
                <a:latin typeface="Malgun Gothic"/>
                <a:ea typeface="Malgun Gothic"/>
                <a:cs typeface="Malgun Gothic"/>
              </a:rPr>
              <a:t>IN-DEPS 시스템 소개서</a:t>
            </a:r>
          </a:p>
        </p:txBody>
      </p:sp>
      <p:sp>
        <p:nvSpPr>
          <p:cNvPr id="8" name="page-23-footer-number">
            <a:extLst xmlns:a="http://schemas.openxmlformats.org/drawingml/2006/main">
              <a:ext uri="{FF2B5EF4-FFF2-40B4-BE49-F238E27FC236}">
                <a16:creationId xmlns:a16="http://schemas.microsoft.com/office/drawing/2014/main" id="{6BCAED5D-7E22-432E-894B-4FB54EBF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26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58D91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9" name="p23-term-0">
            <a:extLst xmlns:a="http://schemas.openxmlformats.org/drawingml/2006/main">
              <a:ext uri="{FF2B5EF4-FFF2-40B4-BE49-F238E27FC236}">
                <a16:creationId xmlns:a16="http://schemas.microsoft.com/office/drawing/2014/main" id="{5DB4245B-2640-4C6B-B308-84CCC49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0" name="p23-code-0">
            <a:extLst xmlns:a="http://schemas.openxmlformats.org/drawingml/2006/main">
              <a:ext uri="{FF2B5EF4-FFF2-40B4-BE49-F238E27FC236}">
                <a16:creationId xmlns:a16="http://schemas.microsoft.com/office/drawing/2014/main" id="{695EED71-E9E9-4E82-BDB8-E5D3B534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F6FB5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F6FB5"/>
                </a:solidFill>
                <a:latin typeface="Consolas"/>
                <a:ea typeface="Consolas"/>
                <a:cs typeface="Consolas"/>
              </a:rPr>
              <a:t>JOB</a:t>
            </a:r>
          </a:p>
        </p:txBody>
      </p:sp>
      <p:sp>
        <p:nvSpPr>
          <p:cNvPr id="11" name="p23-title-0">
            <a:extLst xmlns:a="http://schemas.openxmlformats.org/drawingml/2006/main">
              <a:ext uri="{FF2B5EF4-FFF2-40B4-BE49-F238E27FC236}">
                <a16:creationId xmlns:a16="http://schemas.microsoft.com/office/drawing/2014/main" id="{BDD898DA-694F-4B83-8854-F7021B3A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데이터 작업</a:t>
            </a:r>
          </a:p>
        </p:txBody>
      </p:sp>
      <p:sp>
        <p:nvSpPr>
          <p:cNvPr id="12" name="p23-desc-0">
            <a:extLst xmlns:a="http://schemas.openxmlformats.org/drawingml/2006/main">
              <a:ext uri="{FF2B5EF4-FFF2-40B4-BE49-F238E27FC236}">
                <a16:creationId xmlns:a16="http://schemas.microsoft.com/office/drawing/2014/main" id="{E4050A25-6D05-47C1-A638-2381CC91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실행 객체와 파라미터, 대상·결과 계약을 저장한 재사용 실행 단위</a:t>
            </a:r>
          </a:p>
        </p:txBody>
      </p:sp>
      <p:sp>
        <p:nvSpPr>
          <p:cNvPr id="13" name="p23-term-1">
            <a:extLst xmlns:a="http://schemas.openxmlformats.org/drawingml/2006/main">
              <a:ext uri="{FF2B5EF4-FFF2-40B4-BE49-F238E27FC236}">
                <a16:creationId xmlns:a16="http://schemas.microsoft.com/office/drawing/2014/main" id="{87C1EC44-49B9-49F6-AECB-3261DE07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EFF8"/>
          </a:solidFill>
          <a:ln xmlns:a="http://schemas.openxmlformats.org/drawingml/2006/main" w="0">
            <a:solidFill>
              <a:srgbClr val="F1EFF8"/>
            </a:solidFill>
            <a:prstDash val="solid"/>
          </a:ln>
        </p:spPr>
      </p:sp>
      <p:sp>
        <p:nvSpPr>
          <p:cNvPr id="14" name="p23-code-1">
            <a:extLst xmlns:a="http://schemas.openxmlformats.org/drawingml/2006/main">
              <a:ext uri="{FF2B5EF4-FFF2-40B4-BE49-F238E27FC236}">
                <a16:creationId xmlns:a16="http://schemas.microsoft.com/office/drawing/2014/main" id="{1D2EB672-C4D9-457E-B7C7-36222BA7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E62A8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6E62A8"/>
                </a:solidFill>
                <a:latin typeface="Consolas"/>
                <a:ea typeface="Consolas"/>
                <a:cs typeface="Consolas"/>
              </a:rPr>
              <a:t>FLOW RUN</a:t>
            </a:r>
          </a:p>
        </p:txBody>
      </p:sp>
      <p:sp>
        <p:nvSpPr>
          <p:cNvPr id="15" name="p23-title-1">
            <a:extLst xmlns:a="http://schemas.openxmlformats.org/drawingml/2006/main">
              <a:ext uri="{FF2B5EF4-FFF2-40B4-BE49-F238E27FC236}">
                <a16:creationId xmlns:a16="http://schemas.microsoft.com/office/drawing/2014/main" id="{46C5EC86-62BD-4B74-A5A3-1EB6745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통합 실행 맥락</a:t>
            </a:r>
          </a:p>
        </p:txBody>
      </p:sp>
      <p:sp>
        <p:nvSpPr>
          <p:cNvPr id="16" name="p23-desc-1">
            <a:extLst xmlns:a="http://schemas.openxmlformats.org/drawingml/2006/main">
              <a:ext uri="{FF2B5EF4-FFF2-40B4-BE49-F238E27FC236}">
                <a16:creationId xmlns:a16="http://schemas.microsoft.com/office/drawing/2014/main" id="{C3A8DF5C-DD98-4DBA-B339-EC47BE2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하나의 DAG 실행에서 실제 파라미터와 모든 Node Run을 묶는 추적 기준</a:t>
            </a:r>
          </a:p>
        </p:txBody>
      </p:sp>
      <p:sp>
        <p:nvSpPr>
          <p:cNvPr id="17" name="p23-term-2">
            <a:extLst xmlns:a="http://schemas.openxmlformats.org/drawingml/2006/main">
              <a:ext uri="{FF2B5EF4-FFF2-40B4-BE49-F238E27FC236}">
                <a16:creationId xmlns:a16="http://schemas.microsoft.com/office/drawing/2014/main" id="{DA50D28B-9DB2-4CD0-97B1-BA93C1D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9F5F4"/>
          </a:solidFill>
          <a:ln xmlns:a="http://schemas.openxmlformats.org/drawingml/2006/main" w="0">
            <a:solidFill>
              <a:srgbClr val="E9F5F4"/>
            </a:solidFill>
            <a:prstDash val="solid"/>
          </a:ln>
        </p:spPr>
      </p:sp>
      <p:sp>
        <p:nvSpPr>
          <p:cNvPr id="18" name="p23-code-2">
            <a:extLst xmlns:a="http://schemas.openxmlformats.org/drawingml/2006/main">
              <a:ext uri="{FF2B5EF4-FFF2-40B4-BE49-F238E27FC236}">
                <a16:creationId xmlns:a16="http://schemas.microsoft.com/office/drawing/2014/main" id="{1157955B-46CB-436C-AF02-604B27B0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58D9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58D91"/>
                </a:solidFill>
                <a:latin typeface="Consolas"/>
                <a:ea typeface="Consolas"/>
                <a:cs typeface="Consolas"/>
              </a:rPr>
              <a:t>ARTIFACT</a:t>
            </a:r>
          </a:p>
        </p:txBody>
      </p:sp>
      <p:sp>
        <p:nvSpPr>
          <p:cNvPr id="19" name="p23-title-2">
            <a:extLst xmlns:a="http://schemas.openxmlformats.org/drawingml/2006/main">
              <a:ext uri="{FF2B5EF4-FFF2-40B4-BE49-F238E27FC236}">
                <a16:creationId xmlns:a16="http://schemas.microsoft.com/office/drawing/2014/main" id="{E99FE28F-3532-4C4E-8C67-B669CD6D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단계 결과 계약</a:t>
            </a:r>
          </a:p>
        </p:txBody>
      </p:sp>
      <p:sp>
        <p:nvSpPr>
          <p:cNvPr id="20" name="p23-desc-2">
            <a:extLst xmlns:a="http://schemas.openxmlformats.org/drawingml/2006/main">
              <a:ext uri="{FF2B5EF4-FFF2-40B4-BE49-F238E27FC236}">
                <a16:creationId xmlns:a16="http://schemas.microsoft.com/office/drawing/2014/main" id="{9CB118A2-5383-4471-94DE-6A85A15F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후행 노드와 분석·보고가 참조할 테이블, 모델, JSON과 실행 메시지</a:t>
            </a:r>
          </a:p>
        </p:txBody>
      </p:sp>
      <p:sp>
        <p:nvSpPr>
          <p:cNvPr id="21" name="p23-term-3">
            <a:extLst xmlns:a="http://schemas.openxmlformats.org/drawingml/2006/main">
              <a:ext uri="{FF2B5EF4-FFF2-40B4-BE49-F238E27FC236}">
                <a16:creationId xmlns:a16="http://schemas.microsoft.com/office/drawing/2014/main" id="{CCB5B56A-A209-49A7-A76A-2C15C10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F5EF"/>
          </a:solidFill>
          <a:ln xmlns:a="http://schemas.openxmlformats.org/drawingml/2006/main" w="0">
            <a:solidFill>
              <a:srgbClr val="ECF5EF"/>
            </a:solidFill>
            <a:prstDash val="solid"/>
          </a:ln>
        </p:spPr>
      </p:sp>
      <p:sp>
        <p:nvSpPr>
          <p:cNvPr id="22" name="p23-code-3">
            <a:extLst xmlns:a="http://schemas.openxmlformats.org/drawingml/2006/main">
              <a:ext uri="{FF2B5EF4-FFF2-40B4-BE49-F238E27FC236}">
                <a16:creationId xmlns:a16="http://schemas.microsoft.com/office/drawing/2014/main" id="{9D858056-C8F7-457D-ADB1-5B2CCF05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3E8D65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3E8D65"/>
                </a:solidFill>
                <a:latin typeface="Consolas"/>
                <a:ea typeface="Consolas"/>
                <a:cs typeface="Consolas"/>
              </a:rPr>
              <a:t>LATEST_MASTER</a:t>
            </a:r>
          </a:p>
        </p:txBody>
      </p:sp>
      <p:sp>
        <p:nvSpPr>
          <p:cNvPr id="23" name="p23-title-3">
            <a:extLst xmlns:a="http://schemas.openxmlformats.org/drawingml/2006/main">
              <a:ext uri="{FF2B5EF4-FFF2-40B4-BE49-F238E27FC236}">
                <a16:creationId xmlns:a16="http://schemas.microsoft.com/office/drawing/2014/main" id="{F0044A3C-D932-4DBA-B0A1-D7B98A95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67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최신 확정 기준</a:t>
            </a:r>
          </a:p>
        </p:txBody>
      </p:sp>
      <p:sp>
        <p:nvSpPr>
          <p:cNvPr id="24" name="p23-desc-3">
            <a:extLst xmlns:a="http://schemas.openxmlformats.org/drawingml/2006/main">
              <a:ext uri="{FF2B5EF4-FFF2-40B4-BE49-F238E27FC236}">
                <a16:creationId xmlns:a16="http://schemas.microsoft.com/office/drawing/2014/main" id="{237E0D21-1699-4677-AA92-87529642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53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사용자 확정값을 보존한 최신 컬럼 유형 등 단계가 참조하는 마스터</a:t>
            </a:r>
          </a:p>
        </p:txBody>
      </p:sp>
      <p:sp>
        <p:nvSpPr>
          <p:cNvPr id="25" name="p23-term-4">
            <a:extLst xmlns:a="http://schemas.openxmlformats.org/drawingml/2006/main">
              <a:ext uri="{FF2B5EF4-FFF2-40B4-BE49-F238E27FC236}">
                <a16:creationId xmlns:a16="http://schemas.microsoft.com/office/drawing/2014/main" id="{342D9544-C045-4AE0-8641-31ACEDF2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05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AF2E6"/>
          </a:solidFill>
          <a:ln xmlns:a="http://schemas.openxmlformats.org/drawingml/2006/main" w="0">
            <a:solidFill>
              <a:srgbClr val="FAF2E6"/>
            </a:solidFill>
            <a:prstDash val="solid"/>
          </a:ln>
        </p:spPr>
      </p:sp>
      <p:sp>
        <p:nvSpPr>
          <p:cNvPr id="26" name="p23-code-4">
            <a:extLst xmlns:a="http://schemas.openxmlformats.org/drawingml/2006/main">
              <a:ext uri="{FF2B5EF4-FFF2-40B4-BE49-F238E27FC236}">
                <a16:creationId xmlns:a16="http://schemas.microsoft.com/office/drawing/2014/main" id="{D96AD663-D162-405C-BEC3-D0B6714D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77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B9731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97316"/>
                </a:solidFill>
                <a:latin typeface="Consolas"/>
                <a:ea typeface="Consolas"/>
                <a:cs typeface="Consolas"/>
              </a:rPr>
              <a:t>SAME_RUN</a:t>
            </a:r>
          </a:p>
        </p:txBody>
      </p:sp>
      <p:sp>
        <p:nvSpPr>
          <p:cNvPr id="27" name="p23-title-4">
            <a:extLst xmlns:a="http://schemas.openxmlformats.org/drawingml/2006/main">
              <a:ext uri="{FF2B5EF4-FFF2-40B4-BE49-F238E27FC236}">
                <a16:creationId xmlns:a16="http://schemas.microsoft.com/office/drawing/2014/main" id="{8402595A-0B44-4722-8978-77651F0A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10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동일 Run 의존</a:t>
            </a:r>
          </a:p>
        </p:txBody>
      </p:sp>
      <p:sp>
        <p:nvSpPr>
          <p:cNvPr id="28" name="p23-desc-4">
            <a:extLst xmlns:a="http://schemas.openxmlformats.org/drawingml/2006/main">
              <a:ext uri="{FF2B5EF4-FFF2-40B4-BE49-F238E27FC236}">
                <a16:creationId xmlns:a16="http://schemas.microsoft.com/office/drawing/2014/main" id="{CB381875-CC7E-4AB2-B208-1584E9B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296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현재 Flow Run에서 성공한 선행 노드 아티팩트만 필수 입력으로 사용하는 계약</a:t>
            </a:r>
          </a:p>
        </p:txBody>
      </p:sp>
      <p:sp>
        <p:nvSpPr>
          <p:cNvPr id="29" name="p23-term-5">
            <a:extLst xmlns:a="http://schemas.openxmlformats.org/drawingml/2006/main">
              <a:ext uri="{FF2B5EF4-FFF2-40B4-BE49-F238E27FC236}">
                <a16:creationId xmlns:a16="http://schemas.microsoft.com/office/drawing/2014/main" id="{9CE02DFD-673B-4B58-92B3-F3723733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48650"/>
            <a:ext cx="638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9ECEE"/>
          </a:solidFill>
          <a:ln xmlns:a="http://schemas.openxmlformats.org/drawingml/2006/main" w="0">
            <a:solidFill>
              <a:srgbClr val="F9ECEE"/>
            </a:solidFill>
            <a:prstDash val="solid"/>
          </a:ln>
        </p:spPr>
      </p:sp>
      <p:sp>
        <p:nvSpPr>
          <p:cNvPr id="30" name="p23-code-5">
            <a:extLst xmlns:a="http://schemas.openxmlformats.org/drawingml/2006/main">
              <a:ext uri="{FF2B5EF4-FFF2-40B4-BE49-F238E27FC236}">
                <a16:creationId xmlns:a16="http://schemas.microsoft.com/office/drawing/2014/main" id="{95CE689A-F73D-422D-8F82-9F6EBAB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20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B54D58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B54D58"/>
                </a:solidFill>
                <a:latin typeface="Consolas"/>
                <a:ea typeface="Consolas"/>
                <a:cs typeface="Consolas"/>
              </a:rPr>
              <a:t>INITUP$ / INITDN$</a:t>
            </a:r>
          </a:p>
        </p:txBody>
      </p:sp>
      <p:sp>
        <p:nvSpPr>
          <p:cNvPr id="31" name="p23-title-5">
            <a:extLst xmlns:a="http://schemas.openxmlformats.org/drawingml/2006/main">
              <a:ext uri="{FF2B5EF4-FFF2-40B4-BE49-F238E27FC236}">
                <a16:creationId xmlns:a16="http://schemas.microsoft.com/office/drawing/2014/main" id="{254780D6-322B-4A75-B868-7AF15283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53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3C"/>
                </a:solidFill>
                <a:latin typeface="Malgun Gothic"/>
                <a:ea typeface="Malgun Gothic"/>
                <a:cs typeface="Malgun Gothic"/>
              </a:rPr>
              <a:t>원본 기준본 / 편집본</a:t>
            </a:r>
          </a:p>
        </p:txBody>
      </p:sp>
      <p:sp>
        <p:nvSpPr>
          <p:cNvPr id="32" name="p23-desc-5">
            <a:extLst xmlns:a="http://schemas.openxmlformats.org/drawingml/2006/main">
              <a:ext uri="{FF2B5EF4-FFF2-40B4-BE49-F238E27FC236}">
                <a16:creationId xmlns:a16="http://schemas.microsoft.com/office/drawing/2014/main" id="{7740AC4A-B3B6-4133-9956-C7B7CBD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439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F4F65"/>
                </a:solidFill>
                <a:latin typeface="Malgun Gothic"/>
                <a:ea typeface="Malgun Gothic"/>
                <a:cs typeface="Malgun Gothic"/>
              </a:rPr>
              <a:t>검사 기준 작업본과 사용자 수정이 이루어지는 편집 테이블을 분리하는 패턴</a:t>
            </a:r>
          </a:p>
        </p:txBody>
      </p:sp>
    </p:spTree>
    <p:extLst>
      <p:ext uri="{BB962C8B-B14F-4D97-AF65-F5344CB8AC3E}">
        <p14:creationId xmlns:p14="http://schemas.microsoft.com/office/powerpoint/2010/main" val="16999237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525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ack-left">
            <a:extLst xmlns:a="http://schemas.openxmlformats.org/drawingml/2006/main">
              <a:ext uri="{FF2B5EF4-FFF2-40B4-BE49-F238E27FC236}">
                <a16:creationId xmlns:a16="http://schemas.microsoft.com/office/drawing/2014/main" id="{C072D79B-A3FD-4D33-9F2B-4E93EB12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91"/>
          </a:solidFill>
          <a:ln xmlns:a="http://schemas.openxmlformats.org/drawingml/2006/main" w="0">
            <a:solidFill>
              <a:srgbClr val="158D91"/>
            </a:solidFill>
            <a:prstDash val="solid"/>
          </a:ln>
        </p:spPr>
      </p:sp>
      <p:sp>
        <p:nvSpPr>
          <p:cNvPr id="2" name="back-logo-panel">
            <a:extLst xmlns:a="http://schemas.openxmlformats.org/drawingml/2006/main">
              <a:ext uri="{FF2B5EF4-FFF2-40B4-BE49-F238E27FC236}">
                <a16:creationId xmlns:a16="http://schemas.microsoft.com/office/drawing/2014/main" id="{41394CA0-C0BB-4D70-849B-277B3C8D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4762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6ddc752fb49a2"/>
          <a:stretch xmlns:a="http://schemas.openxmlformats.org/drawingml/2006/main"/>
        </p:blipFill>
        <p:spPr>
          <a:xfrm xmlns:a="http://schemas.openxmlformats.org/drawingml/2006/main">
            <a:off x="991510" y="781050"/>
            <a:ext cx="3960579" cy="1238250"/>
          </a:xfrm>
          <a:prstGeom xmlns:a="http://schemas.openxmlformats.org/drawingml/2006/main" prst="rect">
            <a:avLst/>
          </a:prstGeom>
        </p:spPr>
      </p:pic>
      <p:sp>
        <p:nvSpPr>
          <p:cNvPr id="4" name="back-kicker">
            <a:extLst xmlns:a="http://schemas.openxmlformats.org/drawingml/2006/main">
              <a:ext uri="{FF2B5EF4-FFF2-40B4-BE49-F238E27FC236}">
                <a16:creationId xmlns:a16="http://schemas.microsoft.com/office/drawing/2014/main" id="{6BE1F5A7-1BD6-4674-8716-4EF3C4E5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AC7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AC7D0"/>
                </a:solidFill>
                <a:latin typeface="Malgun Gothic"/>
                <a:ea typeface="Malgun Gothic"/>
                <a:cs typeface="Malgun Gothic"/>
              </a:rPr>
              <a:t>THE IN-DEPS OPERATING MODEL</a:t>
            </a:r>
          </a:p>
        </p:txBody>
      </p:sp>
      <p:sp>
        <p:nvSpPr>
          <p:cNvPr id="5" name="back-title">
            <a:extLst xmlns:a="http://schemas.openxmlformats.org/drawingml/2006/main">
              <a:ext uri="{FF2B5EF4-FFF2-40B4-BE49-F238E27FC236}">
                <a16:creationId xmlns:a16="http://schemas.microsoft.com/office/drawing/2014/main" id="{8D042B47-0EED-460C-9DF3-45BD266A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5905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근거를 만들고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사람이 결정하며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변경을 추적합니다</a:t>
            </a:r>
          </a:p>
        </p:txBody>
      </p:sp>
      <p:sp>
        <p:nvSpPr>
          <p:cNvPr id="6" name="back-body">
            <a:extLst xmlns:a="http://schemas.openxmlformats.org/drawingml/2006/main">
              <a:ext uri="{FF2B5EF4-FFF2-40B4-BE49-F238E27FC236}">
                <a16:creationId xmlns:a16="http://schemas.microsoft.com/office/drawing/2014/main" id="{02224AF1-34C0-4530-87CF-1A63EF06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75" b="0">
                <a:solidFill>
                  <a:srgbClr val="D9E3F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9E3F1"/>
                </a:solidFill>
                <a:latin typeface="Malgun Gothic"/>
                <a:ea typeface="Malgun Gothic"/>
                <a:cs typeface="Malgun Gothic"/>
              </a:rPr>
              <a:t>데이터 선정부터 규칙 발굴, Flow 실행, 결과 해석, 편집과 운영 반영까지 — IN-DEPS는 분석과 변경 사이의 책임을 분리하면서 하나의 Run과 감사 이력으로 업무를 연결합니다.</a:t>
            </a:r>
          </a:p>
        </p:txBody>
      </p:sp>
      <p:sp>
        <p:nvSpPr>
          <p:cNvPr id="7" name="back-dot-0">
            <a:extLst xmlns:a="http://schemas.openxmlformats.org/drawingml/2006/main">
              <a:ext uri="{FF2B5EF4-FFF2-40B4-BE49-F238E27FC236}">
                <a16:creationId xmlns:a16="http://schemas.microsoft.com/office/drawing/2014/main" id="{2C3FE19A-D77D-4554-84E4-8DD2AA2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8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92CE"/>
          </a:solidFill>
          <a:ln xmlns:a="http://schemas.openxmlformats.org/drawingml/2006/main" w="0">
            <a:solidFill>
              <a:srgbClr val="5E92CE"/>
            </a:solidFill>
            <a:prstDash val="solid"/>
          </a:ln>
        </p:spPr>
      </p:sp>
      <p:sp>
        <p:nvSpPr>
          <p:cNvPr id="8" name="back-value-0">
            <a:extLst xmlns:a="http://schemas.openxmlformats.org/drawingml/2006/main">
              <a:ext uri="{FF2B5EF4-FFF2-40B4-BE49-F238E27FC236}">
                <a16:creationId xmlns:a16="http://schemas.microsoft.com/office/drawing/2014/main" id="{3A6B87B3-AE24-434E-8A83-CBE14A3A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39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설명 가능한 근거</a:t>
            </a:r>
          </a:p>
        </p:txBody>
      </p:sp>
      <p:sp>
        <p:nvSpPr>
          <p:cNvPr id="9" name="back-dot-1">
            <a:extLst xmlns:a="http://schemas.openxmlformats.org/drawingml/2006/main">
              <a:ext uri="{FF2B5EF4-FFF2-40B4-BE49-F238E27FC236}">
                <a16:creationId xmlns:a16="http://schemas.microsoft.com/office/drawing/2014/main" id="{5CE286C2-73C6-48EC-94E7-DEF3B6AC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0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B8B0"/>
          </a:solidFill>
          <a:ln xmlns:a="http://schemas.openxmlformats.org/drawingml/2006/main" w="0">
            <a:solidFill>
              <a:srgbClr val="4DB8B0"/>
            </a:solidFill>
            <a:prstDash val="solid"/>
          </a:ln>
        </p:spPr>
      </p:sp>
      <p:sp>
        <p:nvSpPr>
          <p:cNvPr id="10" name="back-value-1">
            <a:extLst xmlns:a="http://schemas.openxmlformats.org/drawingml/2006/main">
              <a:ext uri="{FF2B5EF4-FFF2-40B4-BE49-F238E27FC236}">
                <a16:creationId xmlns:a16="http://schemas.microsoft.com/office/drawing/2014/main" id="{920CAB5C-1B8C-468C-A3C8-85549E16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53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검토 가능한 결정</a:t>
            </a:r>
          </a:p>
        </p:txBody>
      </p:sp>
      <p:sp>
        <p:nvSpPr>
          <p:cNvPr id="11" name="back-dot-2">
            <a:extLst xmlns:a="http://schemas.openxmlformats.org/drawingml/2006/main">
              <a:ext uri="{FF2B5EF4-FFF2-40B4-BE49-F238E27FC236}">
                <a16:creationId xmlns:a16="http://schemas.microsoft.com/office/drawing/2014/main" id="{4FE8B1BA-D05A-4548-98B5-E4D48E6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1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391"/>
          </a:solidFill>
          <a:ln xmlns:a="http://schemas.openxmlformats.org/drawingml/2006/main" w="0">
            <a:solidFill>
              <a:srgbClr val="79B391"/>
            </a:solidFill>
            <a:prstDash val="solid"/>
          </a:ln>
        </p:spPr>
      </p:sp>
      <p:sp>
        <p:nvSpPr>
          <p:cNvPr id="12" name="back-value-2">
            <a:extLst xmlns:a="http://schemas.openxmlformats.org/drawingml/2006/main">
              <a:ext uri="{FF2B5EF4-FFF2-40B4-BE49-F238E27FC236}">
                <a16:creationId xmlns:a16="http://schemas.microsoft.com/office/drawing/2014/main" id="{151C9F02-EC30-4DC1-B7AB-C0FCB0A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67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통제 가능한 변경</a:t>
            </a:r>
          </a:p>
        </p:txBody>
      </p:sp>
      <p:sp>
        <p:nvSpPr>
          <p:cNvPr id="13" name="back-dot-3">
            <a:extLst xmlns:a="http://schemas.openxmlformats.org/drawingml/2006/main">
              <a:ext uri="{FF2B5EF4-FFF2-40B4-BE49-F238E27FC236}">
                <a16:creationId xmlns:a16="http://schemas.microsoft.com/office/drawing/2014/main" id="{D6013532-22BA-4ED6-B38F-5220673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8E2"/>
          </a:solidFill>
          <a:ln xmlns:a="http://schemas.openxmlformats.org/drawingml/2006/main" w="0">
            <a:solidFill>
              <a:srgbClr val="B7A8E2"/>
            </a:solidFill>
            <a:prstDash val="solid"/>
          </a:ln>
        </p:spPr>
      </p:sp>
      <p:sp>
        <p:nvSpPr>
          <p:cNvPr id="14" name="back-value-3">
            <a:extLst xmlns:a="http://schemas.openxmlformats.org/drawingml/2006/main">
              <a:ext uri="{FF2B5EF4-FFF2-40B4-BE49-F238E27FC236}">
                <a16:creationId xmlns:a16="http://schemas.microsoft.com/office/drawing/2014/main" id="{ECCD857D-7A6C-4482-BEB9-1C03603E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8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재현 가능한 이력</a:t>
            </a:r>
          </a:p>
        </p:txBody>
      </p:sp>
      <p:sp>
        <p:nvSpPr>
          <p:cNvPr id="15" name="back-init-panel">
            <a:extLst xmlns:a="http://schemas.openxmlformats.org/drawingml/2006/main">
              <a:ext uri="{FF2B5EF4-FFF2-40B4-BE49-F238E27FC236}">
                <a16:creationId xmlns:a16="http://schemas.microsoft.com/office/drawing/2014/main" id="{49ED3B5A-B0F2-4B2C-B309-D9964A8C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9505950"/>
            <a:ext cx="1752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8ad5144844c49"/>
          <a:stretch xmlns:a="http://schemas.openxmlformats.org/drawingml/2006/main"/>
        </p:blipFill>
        <p:spPr>
          <a:xfrm xmlns:a="http://schemas.openxmlformats.org/drawingml/2006/main">
            <a:off x="5353050" y="9600881"/>
            <a:ext cx="1485900" cy="419738"/>
          </a:xfrm>
          <a:prstGeom xmlns:a="http://schemas.openxmlformats.org/drawingml/2006/main" prst="rect">
            <a:avLst/>
          </a:prstGeom>
        </p:spPr>
      </p:pic>
      <p:sp>
        <p:nvSpPr>
          <p:cNvPr id="17" name="back-format">
            <a:extLst xmlns:a="http://schemas.openxmlformats.org/drawingml/2006/main">
              <a:ext uri="{FF2B5EF4-FFF2-40B4-BE49-F238E27FC236}">
                <a16:creationId xmlns:a16="http://schemas.microsoft.com/office/drawing/2014/main" id="{1733AADD-73E0-4C63-AF43-274A83AA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63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8A9C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8A9C0"/>
                </a:solidFill>
                <a:latin typeface="Malgun Gothic"/>
                <a:ea typeface="Malgun Gothic"/>
                <a:cs typeface="Malgun Gothic"/>
              </a:rPr>
              <a:t>A4 PRINT EDITION · 2026</a:t>
            </a:r>
          </a:p>
        </p:txBody>
      </p:sp>
    </p:spTree>
    <p:extLst>
      <p:ext uri="{BB962C8B-B14F-4D97-AF65-F5344CB8AC3E}">
        <p14:creationId xmlns:p14="http://schemas.microsoft.com/office/powerpoint/2010/main" val="1703418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2026-08-26T11:52:11.3730000Z</dcterms:created>
  <dcterms:modified xsi:type="dcterms:W3CDTF">2026-08-26T11:52:11.3730000Z</dcterms:modified>
</coreProperties>
</file>